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69" r:id="rId3"/>
    <p:sldId id="270" r:id="rId4"/>
    <p:sldId id="271" r:id="rId5"/>
    <p:sldId id="275" r:id="rId6"/>
    <p:sldId id="272" r:id="rId7"/>
    <p:sldId id="276" r:id="rId8"/>
    <p:sldId id="277" r:id="rId9"/>
    <p:sldId id="273" r:id="rId10"/>
    <p:sldId id="279" r:id="rId11"/>
    <p:sldId id="274" r:id="rId12"/>
    <p:sldId id="278" r:id="rId13"/>
    <p:sldId id="280" r:id="rId14"/>
    <p:sldId id="281" r:id="rId15"/>
    <p:sldId id="282" r:id="rId16"/>
    <p:sldId id="283" r:id="rId17"/>
    <p:sldId id="28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EC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107"/>
    <p:restoredTop sz="74247"/>
  </p:normalViewPr>
  <p:slideViewPr>
    <p:cSldViewPr snapToGrid="0">
      <p:cViewPr varScale="1">
        <p:scale>
          <a:sx n="92" d="100"/>
          <a:sy n="92" d="100"/>
        </p:scale>
        <p:origin x="80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95A223-E7C9-A243-9A70-FE01E1A1DD65}" type="datetimeFigureOut">
              <a:rPr lang="en-US" smtClean="0"/>
              <a:t>8/18/26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7D17FD-8842-8E4F-8C3E-EC8B634B2D5A}" type="slidenum">
              <a:rPr lang="en-US" smtClean="0"/>
              <a:t>‹#›</a:t>
            </a:fld>
            <a:endParaRPr lang="en-US"/>
          </a:p>
        </p:txBody>
      </p:sp>
    </p:spTree>
    <p:extLst>
      <p:ext uri="{BB962C8B-B14F-4D97-AF65-F5344CB8AC3E}">
        <p14:creationId xmlns:p14="http://schemas.microsoft.com/office/powerpoint/2010/main" val="20038813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kern="1200" dirty="0">
                <a:solidFill>
                  <a:schemeClr val="tx1"/>
                </a:solidFill>
                <a:effectLst/>
                <a:latin typeface="+mn-lt"/>
                <a:ea typeface="+mn-ea"/>
                <a:cs typeface="+mn-cs"/>
              </a:rPr>
              <a:t>Overview of the three domains (Tracking, Scouting, Strategy) and how data changes sports decisions.</a:t>
            </a:r>
          </a:p>
          <a:p>
            <a:endParaRPr lang="en-US" dirty="0"/>
          </a:p>
        </p:txBody>
      </p:sp>
      <p:sp>
        <p:nvSpPr>
          <p:cNvPr id="4" name="Slide Number Placeholder 3"/>
          <p:cNvSpPr>
            <a:spLocks noGrp="1"/>
          </p:cNvSpPr>
          <p:nvPr>
            <p:ph type="sldNum" sz="quarter" idx="5"/>
          </p:nvPr>
        </p:nvSpPr>
        <p:spPr/>
        <p:txBody>
          <a:bodyPr/>
          <a:lstStyle/>
          <a:p>
            <a:fld id="{117D17FD-8842-8E4F-8C3E-EC8B634B2D5A}" type="slidenum">
              <a:rPr lang="en-US" smtClean="0"/>
              <a:t>1</a:t>
            </a:fld>
            <a:endParaRPr lang="en-US"/>
          </a:p>
        </p:txBody>
      </p:sp>
    </p:spTree>
    <p:extLst>
      <p:ext uri="{BB962C8B-B14F-4D97-AF65-F5344CB8AC3E}">
        <p14:creationId xmlns:p14="http://schemas.microsoft.com/office/powerpoint/2010/main" val="24824580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Sports analytics is not defined by how complicated the method is. It is defined by whether data are being used thoughtfully to understand a problem and support a decision. Sometimes that requires a predictive model. </a:t>
            </a:r>
            <a:r>
              <a:rPr lang="en-GB"/>
              <a:t>Often, it requires accurate reporting, appropriate context, and clear communication.</a:t>
            </a:r>
          </a:p>
          <a:p>
            <a:endParaRPr lang="en-US"/>
          </a:p>
        </p:txBody>
      </p:sp>
      <p:sp>
        <p:nvSpPr>
          <p:cNvPr id="4" name="Slide Number Placeholder 3"/>
          <p:cNvSpPr>
            <a:spLocks noGrp="1"/>
          </p:cNvSpPr>
          <p:nvPr>
            <p:ph type="sldNum" sz="quarter" idx="5"/>
          </p:nvPr>
        </p:nvSpPr>
        <p:spPr/>
        <p:txBody>
          <a:bodyPr/>
          <a:lstStyle/>
          <a:p>
            <a:fld id="{117D17FD-8842-8E4F-8C3E-EC8B634B2D5A}" type="slidenum">
              <a:rPr lang="en-US" smtClean="0"/>
              <a:t>17</a:t>
            </a:fld>
            <a:endParaRPr lang="en-US"/>
          </a:p>
        </p:txBody>
      </p:sp>
    </p:spTree>
    <p:extLst>
      <p:ext uri="{BB962C8B-B14F-4D97-AF65-F5344CB8AC3E}">
        <p14:creationId xmlns:p14="http://schemas.microsoft.com/office/powerpoint/2010/main" val="17829730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EEECD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78C46-97B5-06A6-FCEF-1A1F72D6F7BD}"/>
              </a:ext>
            </a:extLst>
          </p:cNvPr>
          <p:cNvSpPr>
            <a:spLocks noGrp="1"/>
          </p:cNvSpPr>
          <p:nvPr>
            <p:ph type="ctrTitle"/>
          </p:nvPr>
        </p:nvSpPr>
        <p:spPr>
          <a:xfrm>
            <a:off x="838200" y="1122363"/>
            <a:ext cx="10515600" cy="2387600"/>
          </a:xfrm>
        </p:spPr>
        <p:txBody>
          <a:bodyPr anchor="b"/>
          <a:lstStyle>
            <a:lvl1pPr algn="l">
              <a:defRPr sz="6000"/>
            </a:lvl1pPr>
          </a:lstStyle>
          <a:p>
            <a:r>
              <a:rPr lang="en-GB" dirty="0"/>
              <a:t>Click to edit Master title style</a:t>
            </a:r>
            <a:endParaRPr lang="en-US" dirty="0"/>
          </a:p>
        </p:txBody>
      </p:sp>
      <p:sp>
        <p:nvSpPr>
          <p:cNvPr id="3" name="Subtitle 2">
            <a:extLst>
              <a:ext uri="{FF2B5EF4-FFF2-40B4-BE49-F238E27FC236}">
                <a16:creationId xmlns:a16="http://schemas.microsoft.com/office/drawing/2014/main" id="{DED3A6AC-3ACF-3E00-27EA-CDC21E0D0CE2}"/>
              </a:ext>
            </a:extLst>
          </p:cNvPr>
          <p:cNvSpPr>
            <a:spLocks noGrp="1"/>
          </p:cNvSpPr>
          <p:nvPr>
            <p:ph type="subTitle" idx="1"/>
          </p:nvPr>
        </p:nvSpPr>
        <p:spPr>
          <a:xfrm>
            <a:off x="838199" y="3602038"/>
            <a:ext cx="10515599"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4" name="Date Placeholder 3">
            <a:extLst>
              <a:ext uri="{FF2B5EF4-FFF2-40B4-BE49-F238E27FC236}">
                <a16:creationId xmlns:a16="http://schemas.microsoft.com/office/drawing/2014/main" id="{E82D74E7-FB50-6453-FBC4-4FF2059E7DD6}"/>
              </a:ext>
            </a:extLst>
          </p:cNvPr>
          <p:cNvSpPr>
            <a:spLocks noGrp="1"/>
          </p:cNvSpPr>
          <p:nvPr>
            <p:ph type="dt" sz="half" idx="10"/>
          </p:nvPr>
        </p:nvSpPr>
        <p:spPr/>
        <p:txBody>
          <a:bodyPr/>
          <a:lstStyle/>
          <a:p>
            <a:fld id="{1BF61C71-767E-B84C-BFB3-7B18856D27F4}" type="datetimeFigureOut">
              <a:rPr lang="en-US" smtClean="0"/>
              <a:t>8/18/26</a:t>
            </a:fld>
            <a:endParaRPr lang="en-US"/>
          </a:p>
        </p:txBody>
      </p:sp>
      <p:sp>
        <p:nvSpPr>
          <p:cNvPr id="5" name="Footer Placeholder 4">
            <a:extLst>
              <a:ext uri="{FF2B5EF4-FFF2-40B4-BE49-F238E27FC236}">
                <a16:creationId xmlns:a16="http://schemas.microsoft.com/office/drawing/2014/main" id="{D3DEC381-9EAC-65CA-E2D4-E9753C63FC8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8E85E49-459E-7153-8DCA-00BFA12DD9A8}"/>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25335308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44AAB-14A7-7BCA-3837-4F570792F39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33DB745-E89B-BA25-707B-D3F4B483C33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1A29DF3-7131-344B-BE29-3470A6E4AD53}"/>
              </a:ext>
            </a:extLst>
          </p:cNvPr>
          <p:cNvSpPr>
            <a:spLocks noGrp="1"/>
          </p:cNvSpPr>
          <p:nvPr>
            <p:ph type="dt" sz="half" idx="10"/>
          </p:nvPr>
        </p:nvSpPr>
        <p:spPr/>
        <p:txBody>
          <a:bodyPr/>
          <a:lstStyle/>
          <a:p>
            <a:fld id="{1BF61C71-767E-B84C-BFB3-7B18856D27F4}" type="datetimeFigureOut">
              <a:rPr lang="en-US" smtClean="0"/>
              <a:t>8/18/26</a:t>
            </a:fld>
            <a:endParaRPr lang="en-US"/>
          </a:p>
        </p:txBody>
      </p:sp>
      <p:sp>
        <p:nvSpPr>
          <p:cNvPr id="5" name="Footer Placeholder 4">
            <a:extLst>
              <a:ext uri="{FF2B5EF4-FFF2-40B4-BE49-F238E27FC236}">
                <a16:creationId xmlns:a16="http://schemas.microsoft.com/office/drawing/2014/main" id="{2E19C8A0-82E3-D43A-B433-03BD0E8A131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9EC3461-EED3-DA55-3A67-403D2D4F6038}"/>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1590894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DEF06-5D11-579D-7B22-EDF525B072C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6C3F87EE-121E-981D-94B0-7DD81A76080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A509C7F-68AA-F83B-0CC2-643C7451C3BF}"/>
              </a:ext>
            </a:extLst>
          </p:cNvPr>
          <p:cNvSpPr>
            <a:spLocks noGrp="1"/>
          </p:cNvSpPr>
          <p:nvPr>
            <p:ph type="dt" sz="half" idx="10"/>
          </p:nvPr>
        </p:nvSpPr>
        <p:spPr/>
        <p:txBody>
          <a:bodyPr/>
          <a:lstStyle/>
          <a:p>
            <a:fld id="{1BF61C71-767E-B84C-BFB3-7B18856D27F4}" type="datetimeFigureOut">
              <a:rPr lang="en-US" smtClean="0"/>
              <a:t>8/18/26</a:t>
            </a:fld>
            <a:endParaRPr lang="en-US"/>
          </a:p>
        </p:txBody>
      </p:sp>
      <p:sp>
        <p:nvSpPr>
          <p:cNvPr id="5" name="Footer Placeholder 4">
            <a:extLst>
              <a:ext uri="{FF2B5EF4-FFF2-40B4-BE49-F238E27FC236}">
                <a16:creationId xmlns:a16="http://schemas.microsoft.com/office/drawing/2014/main" id="{5ABFDF23-F262-A143-3D94-2E03C5E8059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A01BCC86-AF79-D336-B20B-1E34423D79D2}"/>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646671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E23E6-4994-ADDB-53EF-33DAC620482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511385E-3FBA-00D8-820B-01457DE095D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C400107-976D-189B-D5B8-F3309A029F3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C8421288-007A-64D1-177C-EC493AB351E6}"/>
              </a:ext>
            </a:extLst>
          </p:cNvPr>
          <p:cNvSpPr>
            <a:spLocks noGrp="1"/>
          </p:cNvSpPr>
          <p:nvPr>
            <p:ph type="dt" sz="half" idx="10"/>
          </p:nvPr>
        </p:nvSpPr>
        <p:spPr/>
        <p:txBody>
          <a:bodyPr/>
          <a:lstStyle/>
          <a:p>
            <a:fld id="{1BF61C71-767E-B84C-BFB3-7B18856D27F4}" type="datetimeFigureOut">
              <a:rPr lang="en-US" smtClean="0"/>
              <a:t>8/18/26</a:t>
            </a:fld>
            <a:endParaRPr lang="en-US"/>
          </a:p>
        </p:txBody>
      </p:sp>
      <p:sp>
        <p:nvSpPr>
          <p:cNvPr id="6" name="Footer Placeholder 5">
            <a:extLst>
              <a:ext uri="{FF2B5EF4-FFF2-40B4-BE49-F238E27FC236}">
                <a16:creationId xmlns:a16="http://schemas.microsoft.com/office/drawing/2014/main" id="{D18BDC7E-1ED0-A64E-B741-2BD6DCC161E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97110B18-79B2-CA9A-54E7-8E270EA6CAF9}"/>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11561133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DBA0C-D408-C89D-A5A4-EE49BFEFE6E9}"/>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5C15059-44C0-5CAB-DD62-331CAEACC2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E8210DA-60F4-E204-139F-488557C3AC4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99C6D382-4432-4F54-9B2C-18EA1D3502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00DFF74-3B74-1F87-68E5-7C634623838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63D8442-0A79-241F-AD71-72BAE08747AF}"/>
              </a:ext>
            </a:extLst>
          </p:cNvPr>
          <p:cNvSpPr>
            <a:spLocks noGrp="1"/>
          </p:cNvSpPr>
          <p:nvPr>
            <p:ph type="dt" sz="half" idx="10"/>
          </p:nvPr>
        </p:nvSpPr>
        <p:spPr/>
        <p:txBody>
          <a:bodyPr/>
          <a:lstStyle/>
          <a:p>
            <a:fld id="{1BF61C71-767E-B84C-BFB3-7B18856D27F4}" type="datetimeFigureOut">
              <a:rPr lang="en-US" smtClean="0"/>
              <a:t>8/18/26</a:t>
            </a:fld>
            <a:endParaRPr lang="en-US"/>
          </a:p>
        </p:txBody>
      </p:sp>
      <p:sp>
        <p:nvSpPr>
          <p:cNvPr id="8" name="Footer Placeholder 7">
            <a:extLst>
              <a:ext uri="{FF2B5EF4-FFF2-40B4-BE49-F238E27FC236}">
                <a16:creationId xmlns:a16="http://schemas.microsoft.com/office/drawing/2014/main" id="{81BD044B-09B6-F478-2B54-1F15413514F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E5518B98-54E9-0248-CDC2-25F053D11E93}"/>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477298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98611-FF70-0739-AB12-3A0D4D68852C}"/>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1D6340F8-BFC2-15DC-7097-138E7417B933}"/>
              </a:ext>
            </a:extLst>
          </p:cNvPr>
          <p:cNvSpPr>
            <a:spLocks noGrp="1"/>
          </p:cNvSpPr>
          <p:nvPr>
            <p:ph type="dt" sz="half" idx="10"/>
          </p:nvPr>
        </p:nvSpPr>
        <p:spPr/>
        <p:txBody>
          <a:bodyPr/>
          <a:lstStyle/>
          <a:p>
            <a:fld id="{1BF61C71-767E-B84C-BFB3-7B18856D27F4}" type="datetimeFigureOut">
              <a:rPr lang="en-US" smtClean="0"/>
              <a:t>8/18/26</a:t>
            </a:fld>
            <a:endParaRPr lang="en-US"/>
          </a:p>
        </p:txBody>
      </p:sp>
      <p:sp>
        <p:nvSpPr>
          <p:cNvPr id="4" name="Footer Placeholder 3">
            <a:extLst>
              <a:ext uri="{FF2B5EF4-FFF2-40B4-BE49-F238E27FC236}">
                <a16:creationId xmlns:a16="http://schemas.microsoft.com/office/drawing/2014/main" id="{0987FFF2-E8C5-FBDB-D95A-12987FF75CB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4B02AAC0-7C6B-411F-8B27-54187B087820}"/>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17188407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C24E59-43B1-B0E4-7BB5-449B4E620269}"/>
              </a:ext>
            </a:extLst>
          </p:cNvPr>
          <p:cNvSpPr>
            <a:spLocks noGrp="1"/>
          </p:cNvSpPr>
          <p:nvPr>
            <p:ph type="dt" sz="half" idx="10"/>
          </p:nvPr>
        </p:nvSpPr>
        <p:spPr/>
        <p:txBody>
          <a:bodyPr/>
          <a:lstStyle/>
          <a:p>
            <a:fld id="{1BF61C71-767E-B84C-BFB3-7B18856D27F4}" type="datetimeFigureOut">
              <a:rPr lang="en-US" smtClean="0"/>
              <a:t>8/18/26</a:t>
            </a:fld>
            <a:endParaRPr lang="en-US"/>
          </a:p>
        </p:txBody>
      </p:sp>
      <p:sp>
        <p:nvSpPr>
          <p:cNvPr id="3" name="Footer Placeholder 2">
            <a:extLst>
              <a:ext uri="{FF2B5EF4-FFF2-40B4-BE49-F238E27FC236}">
                <a16:creationId xmlns:a16="http://schemas.microsoft.com/office/drawing/2014/main" id="{209DB2FC-A612-3F77-71B9-89F90F23EC7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BE7EA5C7-5EFB-A99C-8686-6EB2C8FCFA5F}"/>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27151730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6815E-33A2-36BD-141A-20E6987BFB9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E64EB718-3207-923E-BB2A-3A6A8B97CF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B6D8BF2C-0530-D542-CEA1-66680DF2CF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91246F5-476E-F02E-8D52-52095AD76408}"/>
              </a:ext>
            </a:extLst>
          </p:cNvPr>
          <p:cNvSpPr>
            <a:spLocks noGrp="1"/>
          </p:cNvSpPr>
          <p:nvPr>
            <p:ph type="dt" sz="half" idx="10"/>
          </p:nvPr>
        </p:nvSpPr>
        <p:spPr/>
        <p:txBody>
          <a:bodyPr/>
          <a:lstStyle/>
          <a:p>
            <a:fld id="{1BF61C71-767E-B84C-BFB3-7B18856D27F4}" type="datetimeFigureOut">
              <a:rPr lang="en-US" smtClean="0"/>
              <a:t>8/18/26</a:t>
            </a:fld>
            <a:endParaRPr lang="en-US"/>
          </a:p>
        </p:txBody>
      </p:sp>
      <p:sp>
        <p:nvSpPr>
          <p:cNvPr id="6" name="Footer Placeholder 5">
            <a:extLst>
              <a:ext uri="{FF2B5EF4-FFF2-40B4-BE49-F238E27FC236}">
                <a16:creationId xmlns:a16="http://schemas.microsoft.com/office/drawing/2014/main" id="{4ACCBF9F-FEBA-A17C-67EF-779BF698253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33091D5-A6B8-C1A9-58A4-732980B56A18}"/>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26873461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F53C8-34AC-4EC3-9EF2-7646130C5F5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CD95296B-D06F-EC13-3B4B-D0804D56AD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AC15AD4-D0C4-4B3F-01A9-C4EB16F15D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B85DC77-4EA3-68F2-C1B1-3B61F9D48ACD}"/>
              </a:ext>
            </a:extLst>
          </p:cNvPr>
          <p:cNvSpPr>
            <a:spLocks noGrp="1"/>
          </p:cNvSpPr>
          <p:nvPr>
            <p:ph type="dt" sz="half" idx="10"/>
          </p:nvPr>
        </p:nvSpPr>
        <p:spPr/>
        <p:txBody>
          <a:bodyPr/>
          <a:lstStyle/>
          <a:p>
            <a:fld id="{1BF61C71-767E-B84C-BFB3-7B18856D27F4}" type="datetimeFigureOut">
              <a:rPr lang="en-US" smtClean="0"/>
              <a:t>8/18/26</a:t>
            </a:fld>
            <a:endParaRPr lang="en-US"/>
          </a:p>
        </p:txBody>
      </p:sp>
      <p:sp>
        <p:nvSpPr>
          <p:cNvPr id="6" name="Footer Placeholder 5">
            <a:extLst>
              <a:ext uri="{FF2B5EF4-FFF2-40B4-BE49-F238E27FC236}">
                <a16:creationId xmlns:a16="http://schemas.microsoft.com/office/drawing/2014/main" id="{5028E95B-5416-3489-B8F3-9294F9EAD56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E7231B0D-A406-6B24-1768-98B5238CCD11}"/>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17744629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7492E-5097-4D4A-B212-B9541B6D396F}"/>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D2B2462-C37E-9A16-D9B2-03FE3550DC7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765E3E0-2253-2E4B-C45D-9DD87541ECCF}"/>
              </a:ext>
            </a:extLst>
          </p:cNvPr>
          <p:cNvSpPr>
            <a:spLocks noGrp="1"/>
          </p:cNvSpPr>
          <p:nvPr>
            <p:ph type="dt" sz="half" idx="10"/>
          </p:nvPr>
        </p:nvSpPr>
        <p:spPr/>
        <p:txBody>
          <a:bodyPr/>
          <a:lstStyle/>
          <a:p>
            <a:fld id="{1BF61C71-767E-B84C-BFB3-7B18856D27F4}" type="datetimeFigureOut">
              <a:rPr lang="en-US" smtClean="0"/>
              <a:t>8/18/26</a:t>
            </a:fld>
            <a:endParaRPr lang="en-US"/>
          </a:p>
        </p:txBody>
      </p:sp>
      <p:sp>
        <p:nvSpPr>
          <p:cNvPr id="5" name="Footer Placeholder 4">
            <a:extLst>
              <a:ext uri="{FF2B5EF4-FFF2-40B4-BE49-F238E27FC236}">
                <a16:creationId xmlns:a16="http://schemas.microsoft.com/office/drawing/2014/main" id="{A3E8D6ED-F324-5EA4-EBC1-32D8A8A8046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78926162-D880-6B17-AFBB-2555E585E2D8}"/>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23558128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27EF97A-4C14-3B96-B570-63221FE42632}"/>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61FCF3E-3E21-12E5-F093-CD2EBC62CD8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6EEB50E-0940-C414-1C80-43A1C4CBF31A}"/>
              </a:ext>
            </a:extLst>
          </p:cNvPr>
          <p:cNvSpPr>
            <a:spLocks noGrp="1"/>
          </p:cNvSpPr>
          <p:nvPr>
            <p:ph type="dt" sz="half" idx="10"/>
          </p:nvPr>
        </p:nvSpPr>
        <p:spPr/>
        <p:txBody>
          <a:bodyPr/>
          <a:lstStyle/>
          <a:p>
            <a:fld id="{1BF61C71-767E-B84C-BFB3-7B18856D27F4}" type="datetimeFigureOut">
              <a:rPr lang="en-US" smtClean="0"/>
              <a:t>8/18/26</a:t>
            </a:fld>
            <a:endParaRPr lang="en-US"/>
          </a:p>
        </p:txBody>
      </p:sp>
      <p:sp>
        <p:nvSpPr>
          <p:cNvPr id="5" name="Footer Placeholder 4">
            <a:extLst>
              <a:ext uri="{FF2B5EF4-FFF2-40B4-BE49-F238E27FC236}">
                <a16:creationId xmlns:a16="http://schemas.microsoft.com/office/drawing/2014/main" id="{01434562-A92B-8D3C-4A79-2489A997521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247ADD3-AF08-2898-D3BF-4768616B38DE}"/>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28915101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ECDD"/>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C7E355-A6C3-ABB7-5FB3-07B7718D6981}"/>
              </a:ext>
            </a:extLst>
          </p:cNvPr>
          <p:cNvSpPr>
            <a:spLocks noGrp="1"/>
          </p:cNvSpPr>
          <p:nvPr>
            <p:ph type="title"/>
          </p:nvPr>
        </p:nvSpPr>
        <p:spPr>
          <a:xfrm>
            <a:off x="838200" y="365126"/>
            <a:ext cx="10515600" cy="912690"/>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73BE3536-C253-FE9A-75A8-6625508B8089}"/>
              </a:ext>
            </a:extLst>
          </p:cNvPr>
          <p:cNvSpPr>
            <a:spLocks noGrp="1"/>
          </p:cNvSpPr>
          <p:nvPr>
            <p:ph type="body" idx="1"/>
          </p:nvPr>
        </p:nvSpPr>
        <p:spPr>
          <a:xfrm>
            <a:off x="838200" y="1441938"/>
            <a:ext cx="10515600" cy="4735025"/>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727838E-35A9-F96A-354A-AE0FF3F853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BF61C71-767E-B84C-BFB3-7B18856D27F4}" type="datetimeFigureOut">
              <a:rPr lang="en-US" smtClean="0"/>
              <a:t>8/18/26</a:t>
            </a:fld>
            <a:endParaRPr lang="en-US"/>
          </a:p>
        </p:txBody>
      </p:sp>
      <p:sp>
        <p:nvSpPr>
          <p:cNvPr id="6" name="Slide Number Placeholder 5">
            <a:extLst>
              <a:ext uri="{FF2B5EF4-FFF2-40B4-BE49-F238E27FC236}">
                <a16:creationId xmlns:a16="http://schemas.microsoft.com/office/drawing/2014/main" id="{8E6CBC5A-10F1-AA57-C7EC-9CDC8A53A5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BCCEFD2-39D4-B845-AAFB-DDCB27801685}" type="slidenum">
              <a:rPr lang="en-US" smtClean="0"/>
              <a:t>‹#›</a:t>
            </a:fld>
            <a:endParaRPr lang="en-US"/>
          </a:p>
        </p:txBody>
      </p:sp>
      <p:sp>
        <p:nvSpPr>
          <p:cNvPr id="7" name="Footer Placeholder 6">
            <a:extLst>
              <a:ext uri="{FF2B5EF4-FFF2-40B4-BE49-F238E27FC236}">
                <a16:creationId xmlns:a16="http://schemas.microsoft.com/office/drawing/2014/main" id="{2EEC1130-6658-3CAB-3F94-0FA0AAB844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Tree>
    <p:extLst>
      <p:ext uri="{BB962C8B-B14F-4D97-AF65-F5344CB8AC3E}">
        <p14:creationId xmlns:p14="http://schemas.microsoft.com/office/powerpoint/2010/main" val="41232072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EECD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9270D-14C3-FED3-E83A-AD4E36EC7A85}"/>
              </a:ext>
            </a:extLst>
          </p:cNvPr>
          <p:cNvSpPr>
            <a:spLocks noGrp="1"/>
          </p:cNvSpPr>
          <p:nvPr>
            <p:ph type="ctrTitle"/>
          </p:nvPr>
        </p:nvSpPr>
        <p:spPr/>
        <p:txBody>
          <a:bodyPr>
            <a:normAutofit/>
          </a:bodyPr>
          <a:lstStyle/>
          <a:p>
            <a:r>
              <a:rPr lang="en-GB" b="1" dirty="0"/>
              <a:t>The Three Domains: Tracking, Scouting, and Strategy</a:t>
            </a:r>
          </a:p>
        </p:txBody>
      </p:sp>
      <p:sp>
        <p:nvSpPr>
          <p:cNvPr id="3" name="Subtitle 2">
            <a:extLst>
              <a:ext uri="{FF2B5EF4-FFF2-40B4-BE49-F238E27FC236}">
                <a16:creationId xmlns:a16="http://schemas.microsoft.com/office/drawing/2014/main" id="{FE03FB66-255C-9B0B-8F15-F85AACB34CEA}"/>
              </a:ext>
            </a:extLst>
          </p:cNvPr>
          <p:cNvSpPr>
            <a:spLocks noGrp="1"/>
          </p:cNvSpPr>
          <p:nvPr>
            <p:ph type="subTitle" idx="1"/>
          </p:nvPr>
        </p:nvSpPr>
        <p:spPr/>
        <p:txBody>
          <a:bodyPr/>
          <a:lstStyle/>
          <a:p>
            <a:r>
              <a:rPr lang="en-GB" dirty="0"/>
              <a:t>Saryu Onishi</a:t>
            </a:r>
          </a:p>
          <a:p>
            <a:r>
              <a:rPr lang="en-GB" dirty="0"/>
              <a:t>HES 3000-002, Sport Performance Analytics</a:t>
            </a:r>
          </a:p>
        </p:txBody>
      </p:sp>
    </p:spTree>
    <p:extLst>
      <p:ext uri="{BB962C8B-B14F-4D97-AF65-F5344CB8AC3E}">
        <p14:creationId xmlns:p14="http://schemas.microsoft.com/office/powerpoint/2010/main" val="3294273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94A9F-BEA2-0A56-8DED-BA72C91B7E48}"/>
              </a:ext>
            </a:extLst>
          </p:cNvPr>
          <p:cNvSpPr>
            <a:spLocks noGrp="1"/>
          </p:cNvSpPr>
          <p:nvPr>
            <p:ph type="title"/>
          </p:nvPr>
        </p:nvSpPr>
        <p:spPr/>
        <p:txBody>
          <a:bodyPr>
            <a:normAutofit/>
          </a:bodyPr>
          <a:lstStyle/>
          <a:p>
            <a:r>
              <a:rPr lang="en-GB" dirty="0"/>
              <a:t>Three Pillars of Sport Performance Analytics</a:t>
            </a:r>
          </a:p>
        </p:txBody>
      </p:sp>
      <p:sp>
        <p:nvSpPr>
          <p:cNvPr id="3" name="Content Placeholder 2">
            <a:extLst>
              <a:ext uri="{FF2B5EF4-FFF2-40B4-BE49-F238E27FC236}">
                <a16:creationId xmlns:a16="http://schemas.microsoft.com/office/drawing/2014/main" id="{B047F0A6-90B9-9DE0-F578-AF97E3143894}"/>
              </a:ext>
            </a:extLst>
          </p:cNvPr>
          <p:cNvSpPr>
            <a:spLocks noGrp="1"/>
          </p:cNvSpPr>
          <p:nvPr>
            <p:ph idx="1"/>
          </p:nvPr>
        </p:nvSpPr>
        <p:spPr/>
        <p:txBody>
          <a:bodyPr/>
          <a:lstStyle/>
          <a:p>
            <a:pPr lvl="0"/>
            <a:r>
              <a:rPr lang="en-GB" dirty="0"/>
              <a:t>Scouting &amp; Talent Evaluation</a:t>
            </a:r>
          </a:p>
          <a:p>
            <a:pPr lvl="1"/>
            <a:r>
              <a:rPr lang="en-GB" dirty="0"/>
              <a:t>Objective profiling, tracking performance trajectories, and building predictive models for athlete recruitment.</a:t>
            </a:r>
          </a:p>
          <a:p>
            <a:pPr lvl="0"/>
            <a:r>
              <a:rPr lang="en-GB" dirty="0"/>
              <a:t>Athlete Tracking (Physical &amp; Spatial)</a:t>
            </a:r>
          </a:p>
          <a:p>
            <a:pPr lvl="1"/>
            <a:r>
              <a:rPr lang="en-GB" dirty="0"/>
              <a:t>Monitoring external load (distance, acceleration) and internal load (heart rate, RPE) to manage training stress and prevent injuries.</a:t>
            </a:r>
          </a:p>
          <a:p>
            <a:pPr lvl="0"/>
            <a:r>
              <a:rPr lang="en-GB" dirty="0"/>
              <a:t>Strategy &amp; Tactical Optimization</a:t>
            </a:r>
          </a:p>
          <a:p>
            <a:pPr lvl="1"/>
            <a:r>
              <a:rPr lang="en-GB" dirty="0"/>
              <a:t>Leveraging situational probabilities and spatial efficiency to guide play-calling, defensive alignment, and game plans.</a:t>
            </a:r>
          </a:p>
          <a:p>
            <a:endParaRPr lang="en-US" dirty="0"/>
          </a:p>
        </p:txBody>
      </p:sp>
    </p:spTree>
    <p:extLst>
      <p:ext uri="{BB962C8B-B14F-4D97-AF65-F5344CB8AC3E}">
        <p14:creationId xmlns:p14="http://schemas.microsoft.com/office/powerpoint/2010/main" val="2184717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92A2B-5817-51A8-D2A2-29D0DEAEF021}"/>
              </a:ext>
            </a:extLst>
          </p:cNvPr>
          <p:cNvSpPr>
            <a:spLocks noGrp="1"/>
          </p:cNvSpPr>
          <p:nvPr>
            <p:ph type="title"/>
          </p:nvPr>
        </p:nvSpPr>
        <p:spPr/>
        <p:txBody>
          <a:bodyPr>
            <a:normAutofit/>
          </a:bodyPr>
          <a:lstStyle/>
          <a:p>
            <a:r>
              <a:rPr lang="en-GB" dirty="0"/>
              <a:t>Overview of the Three Domains</a:t>
            </a:r>
            <a:endParaRPr lang="en-US" dirty="0"/>
          </a:p>
        </p:txBody>
      </p:sp>
      <p:sp>
        <p:nvSpPr>
          <p:cNvPr id="3" name="Content Placeholder 2">
            <a:extLst>
              <a:ext uri="{FF2B5EF4-FFF2-40B4-BE49-F238E27FC236}">
                <a16:creationId xmlns:a16="http://schemas.microsoft.com/office/drawing/2014/main" id="{01A1AA7A-7F93-5D7D-958E-1D9C62FF0B50}"/>
              </a:ext>
            </a:extLst>
          </p:cNvPr>
          <p:cNvSpPr>
            <a:spLocks noGrp="1"/>
          </p:cNvSpPr>
          <p:nvPr>
            <p:ph idx="1"/>
          </p:nvPr>
        </p:nvSpPr>
        <p:spPr/>
        <p:txBody>
          <a:bodyPr>
            <a:normAutofit/>
          </a:bodyPr>
          <a:lstStyle/>
          <a:p>
            <a:pPr lvl="0"/>
            <a:r>
              <a:rPr lang="en-GB" dirty="0"/>
              <a:t>Objective: Understand how each domain transforms raw data into competitive advantages and changes real-world sports decisions.</a:t>
            </a:r>
          </a:p>
          <a:p>
            <a:pPr lvl="1"/>
            <a:r>
              <a:rPr lang="en-GB" dirty="0"/>
              <a:t>Scouting &amp; Talent Evaluation</a:t>
            </a:r>
          </a:p>
          <a:p>
            <a:pPr lvl="1"/>
            <a:r>
              <a:rPr lang="en-GB" dirty="0"/>
              <a:t>Athlete Tracking (Physical &amp; Spatial)</a:t>
            </a:r>
          </a:p>
          <a:p>
            <a:pPr lvl="1"/>
            <a:r>
              <a:rPr lang="en-GB" dirty="0"/>
              <a:t>Strategy &amp; Tactical Optimization</a:t>
            </a:r>
          </a:p>
        </p:txBody>
      </p:sp>
    </p:spTree>
    <p:extLst>
      <p:ext uri="{BB962C8B-B14F-4D97-AF65-F5344CB8AC3E}">
        <p14:creationId xmlns:p14="http://schemas.microsoft.com/office/powerpoint/2010/main" val="7555552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54136-6AB5-567E-BCA2-30F498FB6009}"/>
              </a:ext>
            </a:extLst>
          </p:cNvPr>
          <p:cNvSpPr>
            <a:spLocks noGrp="1"/>
          </p:cNvSpPr>
          <p:nvPr>
            <p:ph type="title"/>
          </p:nvPr>
        </p:nvSpPr>
        <p:spPr/>
        <p:txBody>
          <a:bodyPr>
            <a:normAutofit/>
          </a:bodyPr>
          <a:lstStyle/>
          <a:p>
            <a:r>
              <a:rPr lang="en-GB" dirty="0"/>
              <a:t>Domain 1: Scouting &amp; Talent Evaluation</a:t>
            </a:r>
            <a:endParaRPr lang="en-US" dirty="0"/>
          </a:p>
        </p:txBody>
      </p:sp>
      <p:sp>
        <p:nvSpPr>
          <p:cNvPr id="3" name="Content Placeholder 2">
            <a:extLst>
              <a:ext uri="{FF2B5EF4-FFF2-40B4-BE49-F238E27FC236}">
                <a16:creationId xmlns:a16="http://schemas.microsoft.com/office/drawing/2014/main" id="{363BB0BD-3051-24B4-5424-4207D8E4259C}"/>
              </a:ext>
            </a:extLst>
          </p:cNvPr>
          <p:cNvSpPr>
            <a:spLocks noGrp="1"/>
          </p:cNvSpPr>
          <p:nvPr>
            <p:ph idx="1"/>
          </p:nvPr>
        </p:nvSpPr>
        <p:spPr/>
        <p:txBody>
          <a:bodyPr>
            <a:normAutofit/>
          </a:bodyPr>
          <a:lstStyle/>
          <a:p>
            <a:pPr lvl="0"/>
            <a:r>
              <a:rPr lang="en-GB" dirty="0"/>
              <a:t>The Shift from Subjective to Objective:</a:t>
            </a:r>
          </a:p>
          <a:p>
            <a:pPr lvl="1"/>
            <a:r>
              <a:rPr lang="en-GB" dirty="0"/>
              <a:t>Traditional scouting relies heavily on subjective visual grades and small sample sizes ("he passes the eye test").</a:t>
            </a:r>
          </a:p>
          <a:p>
            <a:pPr lvl="1"/>
            <a:r>
              <a:rPr lang="en-GB" dirty="0"/>
              <a:t>Modern scouting uses contextualized performance metrics, tracking data, and predictive modelling to project future value</a:t>
            </a:r>
          </a:p>
        </p:txBody>
      </p:sp>
    </p:spTree>
    <p:extLst>
      <p:ext uri="{BB962C8B-B14F-4D97-AF65-F5344CB8AC3E}">
        <p14:creationId xmlns:p14="http://schemas.microsoft.com/office/powerpoint/2010/main" val="20699122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A080A-FF16-E781-D07F-0F8E3AE243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015040-9745-B08E-B90F-4DD5B76328F7}"/>
              </a:ext>
            </a:extLst>
          </p:cNvPr>
          <p:cNvSpPr>
            <a:spLocks noGrp="1"/>
          </p:cNvSpPr>
          <p:nvPr>
            <p:ph type="title"/>
          </p:nvPr>
        </p:nvSpPr>
        <p:spPr/>
        <p:txBody>
          <a:bodyPr>
            <a:normAutofit/>
          </a:bodyPr>
          <a:lstStyle/>
          <a:p>
            <a:r>
              <a:rPr lang="en-GB" dirty="0"/>
              <a:t>Domain 1: Scouting &amp; Talent Evaluation</a:t>
            </a:r>
            <a:endParaRPr lang="en-US" dirty="0"/>
          </a:p>
        </p:txBody>
      </p:sp>
      <p:sp>
        <p:nvSpPr>
          <p:cNvPr id="3" name="Content Placeholder 2">
            <a:extLst>
              <a:ext uri="{FF2B5EF4-FFF2-40B4-BE49-F238E27FC236}">
                <a16:creationId xmlns:a16="http://schemas.microsoft.com/office/drawing/2014/main" id="{7817721B-AEF6-B318-A8EB-E04EFE256AB8}"/>
              </a:ext>
            </a:extLst>
          </p:cNvPr>
          <p:cNvSpPr>
            <a:spLocks noGrp="1"/>
          </p:cNvSpPr>
          <p:nvPr>
            <p:ph idx="1"/>
          </p:nvPr>
        </p:nvSpPr>
        <p:spPr/>
        <p:txBody>
          <a:bodyPr>
            <a:normAutofit/>
          </a:bodyPr>
          <a:lstStyle/>
          <a:p>
            <a:pPr lvl="0"/>
            <a:r>
              <a:rPr lang="en-GB" dirty="0"/>
              <a:t>Key Components:</a:t>
            </a:r>
          </a:p>
          <a:p>
            <a:pPr lvl="1"/>
            <a:r>
              <a:rPr lang="en-GB" dirty="0"/>
              <a:t>Player Profiling: Finding statistical </a:t>
            </a:r>
            <a:r>
              <a:rPr lang="en-GB" dirty="0" err="1"/>
              <a:t>analogs</a:t>
            </a:r>
            <a:r>
              <a:rPr lang="en-GB" dirty="0"/>
              <a:t> and skill-set matches across leagues.</a:t>
            </a:r>
          </a:p>
          <a:p>
            <a:pPr lvl="1"/>
            <a:r>
              <a:rPr lang="en-GB" dirty="0"/>
              <a:t>Valuation &amp; Efficiency: Assessing production relative to cost or draft position.</a:t>
            </a:r>
          </a:p>
          <a:p>
            <a:pPr lvl="1"/>
            <a:r>
              <a:rPr lang="en-GB" dirty="0"/>
              <a:t>Injury History Integration: Merging medical screening data with tracking metrics to project durability.</a:t>
            </a:r>
          </a:p>
        </p:txBody>
      </p:sp>
    </p:spTree>
    <p:extLst>
      <p:ext uri="{BB962C8B-B14F-4D97-AF65-F5344CB8AC3E}">
        <p14:creationId xmlns:p14="http://schemas.microsoft.com/office/powerpoint/2010/main" val="7049072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8469D-40F7-7830-05F1-2D005D4F89DE}"/>
              </a:ext>
            </a:extLst>
          </p:cNvPr>
          <p:cNvSpPr>
            <a:spLocks noGrp="1"/>
          </p:cNvSpPr>
          <p:nvPr>
            <p:ph type="title"/>
          </p:nvPr>
        </p:nvSpPr>
        <p:spPr/>
        <p:txBody>
          <a:bodyPr>
            <a:normAutofit fontScale="90000"/>
          </a:bodyPr>
          <a:lstStyle/>
          <a:p>
            <a:r>
              <a:rPr lang="en-GB" dirty="0"/>
              <a:t>Domain 2: Athlete Tracking (Physical &amp; Spatial)</a:t>
            </a:r>
            <a:endParaRPr lang="en-US" dirty="0"/>
          </a:p>
        </p:txBody>
      </p:sp>
      <p:sp>
        <p:nvSpPr>
          <p:cNvPr id="3" name="Content Placeholder 2">
            <a:extLst>
              <a:ext uri="{FF2B5EF4-FFF2-40B4-BE49-F238E27FC236}">
                <a16:creationId xmlns:a16="http://schemas.microsoft.com/office/drawing/2014/main" id="{6A687C13-1F8F-6A9D-FF31-C0F3288FE451}"/>
              </a:ext>
            </a:extLst>
          </p:cNvPr>
          <p:cNvSpPr>
            <a:spLocks noGrp="1"/>
          </p:cNvSpPr>
          <p:nvPr>
            <p:ph idx="1"/>
          </p:nvPr>
        </p:nvSpPr>
        <p:spPr/>
        <p:txBody>
          <a:bodyPr>
            <a:normAutofit/>
          </a:bodyPr>
          <a:lstStyle/>
          <a:p>
            <a:pPr lvl="0"/>
            <a:r>
              <a:rPr lang="en-GB" dirty="0"/>
              <a:t>What We Measure:</a:t>
            </a:r>
          </a:p>
          <a:p>
            <a:pPr lvl="1"/>
            <a:r>
              <a:rPr lang="en-GB" dirty="0"/>
              <a:t>External Load: Distance covered, high-speed running meters, accelerations, decelerations, and mechanical load (via GPS/accelerometers like Catapult).</a:t>
            </a:r>
          </a:p>
          <a:p>
            <a:pPr lvl="1"/>
            <a:r>
              <a:rPr lang="en-GB" dirty="0"/>
              <a:t>Internal Load: Heart rate response, session RPE (Rate of Perceived Exertion), and physiological stress markers.</a:t>
            </a:r>
          </a:p>
        </p:txBody>
      </p:sp>
    </p:spTree>
    <p:extLst>
      <p:ext uri="{BB962C8B-B14F-4D97-AF65-F5344CB8AC3E}">
        <p14:creationId xmlns:p14="http://schemas.microsoft.com/office/powerpoint/2010/main" val="3814524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20C65-AACC-AC0A-76CE-4647060FAA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51E9B5-E8BC-BC83-E6EF-9F91BC10D46E}"/>
              </a:ext>
            </a:extLst>
          </p:cNvPr>
          <p:cNvSpPr>
            <a:spLocks noGrp="1"/>
          </p:cNvSpPr>
          <p:nvPr>
            <p:ph type="title"/>
          </p:nvPr>
        </p:nvSpPr>
        <p:spPr/>
        <p:txBody>
          <a:bodyPr>
            <a:normAutofit fontScale="90000"/>
          </a:bodyPr>
          <a:lstStyle/>
          <a:p>
            <a:r>
              <a:rPr lang="en-GB" dirty="0"/>
              <a:t>Domain 2: Athlete Tracking (Physical &amp; Spatial)</a:t>
            </a:r>
            <a:endParaRPr lang="en-US" dirty="0"/>
          </a:p>
        </p:txBody>
      </p:sp>
      <p:sp>
        <p:nvSpPr>
          <p:cNvPr id="3" name="Content Placeholder 2">
            <a:extLst>
              <a:ext uri="{FF2B5EF4-FFF2-40B4-BE49-F238E27FC236}">
                <a16:creationId xmlns:a16="http://schemas.microsoft.com/office/drawing/2014/main" id="{E2888A1B-7759-ED77-C7D4-03E0BC0B381C}"/>
              </a:ext>
            </a:extLst>
          </p:cNvPr>
          <p:cNvSpPr>
            <a:spLocks noGrp="1"/>
          </p:cNvSpPr>
          <p:nvPr>
            <p:ph idx="1"/>
          </p:nvPr>
        </p:nvSpPr>
        <p:spPr/>
        <p:txBody>
          <a:bodyPr>
            <a:normAutofit/>
          </a:bodyPr>
          <a:lstStyle/>
          <a:p>
            <a:pPr lvl="0"/>
            <a:r>
              <a:rPr lang="en-GB" dirty="0"/>
              <a:t>Key Components:</a:t>
            </a:r>
          </a:p>
          <a:p>
            <a:pPr lvl="1"/>
            <a:r>
              <a:rPr lang="en-GB" dirty="0"/>
              <a:t>Load Management: Moves training protocols away from "gut-feel" fatigue management to systematic load monitoring.</a:t>
            </a:r>
          </a:p>
          <a:p>
            <a:pPr lvl="1"/>
            <a:r>
              <a:rPr lang="en-GB" dirty="0"/>
              <a:t>Injury prevention: Helps flag injury risk by tracking workload spikes.</a:t>
            </a:r>
            <a:endParaRPr lang="en-US" dirty="0"/>
          </a:p>
        </p:txBody>
      </p:sp>
    </p:spTree>
    <p:extLst>
      <p:ext uri="{BB962C8B-B14F-4D97-AF65-F5344CB8AC3E}">
        <p14:creationId xmlns:p14="http://schemas.microsoft.com/office/powerpoint/2010/main" val="33263461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7492E-1A95-E2DA-32AA-CCE155FA43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39C891-583F-87DA-AC76-852BE7EE3482}"/>
              </a:ext>
            </a:extLst>
          </p:cNvPr>
          <p:cNvSpPr>
            <a:spLocks noGrp="1"/>
          </p:cNvSpPr>
          <p:nvPr>
            <p:ph type="title"/>
          </p:nvPr>
        </p:nvSpPr>
        <p:spPr/>
        <p:txBody>
          <a:bodyPr>
            <a:normAutofit/>
          </a:bodyPr>
          <a:lstStyle/>
          <a:p>
            <a:r>
              <a:rPr lang="en-GB" dirty="0"/>
              <a:t>Domain 3: Strategy &amp; Tactical Optimization</a:t>
            </a:r>
            <a:endParaRPr lang="en-US" dirty="0"/>
          </a:p>
        </p:txBody>
      </p:sp>
      <p:sp>
        <p:nvSpPr>
          <p:cNvPr id="3" name="Content Placeholder 2">
            <a:extLst>
              <a:ext uri="{FF2B5EF4-FFF2-40B4-BE49-F238E27FC236}">
                <a16:creationId xmlns:a16="http://schemas.microsoft.com/office/drawing/2014/main" id="{64A63C36-4A2B-4B2F-2821-321706FDBBFE}"/>
              </a:ext>
            </a:extLst>
          </p:cNvPr>
          <p:cNvSpPr>
            <a:spLocks noGrp="1"/>
          </p:cNvSpPr>
          <p:nvPr>
            <p:ph idx="1"/>
          </p:nvPr>
        </p:nvSpPr>
        <p:spPr/>
        <p:txBody>
          <a:bodyPr>
            <a:normAutofit/>
          </a:bodyPr>
          <a:lstStyle/>
          <a:p>
            <a:pPr lvl="0"/>
            <a:r>
              <a:rPr lang="en-GB" dirty="0"/>
              <a:t>In-Game and Pre-Match Decision Making:</a:t>
            </a:r>
          </a:p>
          <a:p>
            <a:pPr lvl="1"/>
            <a:r>
              <a:rPr lang="en-GB" dirty="0"/>
              <a:t>Moving from intuition-based game plans to probabilistic </a:t>
            </a:r>
            <a:r>
              <a:rPr lang="en-GB" dirty="0" err="1"/>
              <a:t>modeling</a:t>
            </a:r>
            <a:r>
              <a:rPr lang="en-GB" dirty="0"/>
              <a:t>.</a:t>
            </a:r>
          </a:p>
          <a:p>
            <a:pPr lvl="1"/>
            <a:r>
              <a:rPr lang="en-GB" dirty="0"/>
              <a:t>Assessing risk vs. reward in high-leverage situations (e.g., fourth-down conversions in football, defensive shifting in baseball, spacing geometry in basketball).</a:t>
            </a:r>
          </a:p>
        </p:txBody>
      </p:sp>
    </p:spTree>
    <p:extLst>
      <p:ext uri="{BB962C8B-B14F-4D97-AF65-F5344CB8AC3E}">
        <p14:creationId xmlns:p14="http://schemas.microsoft.com/office/powerpoint/2010/main" val="42331461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00091-86A6-44ED-8B85-AF5B811FD243}"/>
              </a:ext>
            </a:extLst>
          </p:cNvPr>
          <p:cNvSpPr>
            <a:spLocks noGrp="1"/>
          </p:cNvSpPr>
          <p:nvPr>
            <p:ph type="title"/>
          </p:nvPr>
        </p:nvSpPr>
        <p:spPr/>
        <p:txBody>
          <a:bodyPr>
            <a:normAutofit/>
          </a:bodyPr>
          <a:lstStyle/>
          <a:p>
            <a:r>
              <a:rPr lang="en-GB" dirty="0"/>
              <a:t>Domain 3: Strategy &amp; Tactical Optimization</a:t>
            </a:r>
            <a:endParaRPr lang="en-US" dirty="0"/>
          </a:p>
        </p:txBody>
      </p:sp>
      <p:sp>
        <p:nvSpPr>
          <p:cNvPr id="3" name="Content Placeholder 2">
            <a:extLst>
              <a:ext uri="{FF2B5EF4-FFF2-40B4-BE49-F238E27FC236}">
                <a16:creationId xmlns:a16="http://schemas.microsoft.com/office/drawing/2014/main" id="{70846D2A-36B4-B854-420B-C54066EF71E3}"/>
              </a:ext>
            </a:extLst>
          </p:cNvPr>
          <p:cNvSpPr>
            <a:spLocks noGrp="1"/>
          </p:cNvSpPr>
          <p:nvPr>
            <p:ph idx="1"/>
          </p:nvPr>
        </p:nvSpPr>
        <p:spPr/>
        <p:txBody>
          <a:bodyPr>
            <a:normAutofit/>
          </a:bodyPr>
          <a:lstStyle/>
          <a:p>
            <a:pPr lvl="0"/>
            <a:r>
              <a:rPr lang="en-GB" dirty="0"/>
              <a:t>Key Components:</a:t>
            </a:r>
          </a:p>
          <a:p>
            <a:pPr lvl="1"/>
            <a:r>
              <a:rPr lang="en-GB" dirty="0"/>
              <a:t>Pre-Match: Identifying opponent tendencies, structural vulnerabilities, and optimal tactical matchups.</a:t>
            </a:r>
          </a:p>
          <a:p>
            <a:pPr lvl="1"/>
            <a:r>
              <a:rPr lang="en-GB" dirty="0"/>
              <a:t>In-Game: Real-time adjustments based on spatial tracking feedback and macro-tendencies.</a:t>
            </a:r>
          </a:p>
        </p:txBody>
      </p:sp>
    </p:spTree>
    <p:extLst>
      <p:ext uri="{BB962C8B-B14F-4D97-AF65-F5344CB8AC3E}">
        <p14:creationId xmlns:p14="http://schemas.microsoft.com/office/powerpoint/2010/main" val="18601062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E6276-AB28-4A8F-BE16-1AB7E321C3A8}"/>
              </a:ext>
            </a:extLst>
          </p:cNvPr>
          <p:cNvSpPr>
            <a:spLocks noGrp="1"/>
          </p:cNvSpPr>
          <p:nvPr>
            <p:ph type="title"/>
          </p:nvPr>
        </p:nvSpPr>
        <p:spPr/>
        <p:txBody>
          <a:bodyPr/>
          <a:lstStyle/>
          <a:p>
            <a:r>
              <a:rPr lang="en-GB" dirty="0"/>
              <a:t>How Data Changes Sports Decisions</a:t>
            </a:r>
            <a:endParaRPr lang="en-US" dirty="0"/>
          </a:p>
        </p:txBody>
      </p:sp>
      <p:sp>
        <p:nvSpPr>
          <p:cNvPr id="3" name="Text Placeholder 2">
            <a:extLst>
              <a:ext uri="{FF2B5EF4-FFF2-40B4-BE49-F238E27FC236}">
                <a16:creationId xmlns:a16="http://schemas.microsoft.com/office/drawing/2014/main" id="{225EDE7E-26BD-3851-2E6E-F93F78BE049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6079376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6E687-775F-7437-EDC7-D51CFF5AD815}"/>
              </a:ext>
            </a:extLst>
          </p:cNvPr>
          <p:cNvSpPr>
            <a:spLocks noGrp="1"/>
          </p:cNvSpPr>
          <p:nvPr>
            <p:ph type="title"/>
          </p:nvPr>
        </p:nvSpPr>
        <p:spPr/>
        <p:txBody>
          <a:bodyPr>
            <a:normAutofit/>
          </a:bodyPr>
          <a:lstStyle/>
          <a:p>
            <a:r>
              <a:rPr lang="en-GB" dirty="0"/>
              <a:t>How Data Changes Sports Decisions</a:t>
            </a:r>
            <a:endParaRPr lang="en-US" dirty="0"/>
          </a:p>
        </p:txBody>
      </p:sp>
      <p:sp>
        <p:nvSpPr>
          <p:cNvPr id="3" name="Content Placeholder 2">
            <a:extLst>
              <a:ext uri="{FF2B5EF4-FFF2-40B4-BE49-F238E27FC236}">
                <a16:creationId xmlns:a16="http://schemas.microsoft.com/office/drawing/2014/main" id="{60645188-827F-B13B-2441-FE238398A190}"/>
              </a:ext>
            </a:extLst>
          </p:cNvPr>
          <p:cNvSpPr>
            <a:spLocks noGrp="1"/>
          </p:cNvSpPr>
          <p:nvPr>
            <p:ph idx="1"/>
          </p:nvPr>
        </p:nvSpPr>
        <p:spPr/>
        <p:txBody>
          <a:bodyPr>
            <a:normAutofit/>
          </a:bodyPr>
          <a:lstStyle/>
          <a:p>
            <a:pPr marL="0" lvl="0" indent="0">
              <a:buNone/>
            </a:pPr>
            <a:r>
              <a:rPr lang="en-GB" dirty="0"/>
              <a:t>1. Descriptive (What happened?)</a:t>
            </a:r>
          </a:p>
          <a:p>
            <a:pPr lvl="1"/>
            <a:r>
              <a:rPr lang="en-GB" dirty="0"/>
              <a:t>Standard reporting of past matches and box scores.</a:t>
            </a:r>
          </a:p>
          <a:p>
            <a:pPr marL="0" lvl="0" indent="0">
              <a:buNone/>
            </a:pPr>
            <a:r>
              <a:rPr lang="en-GB" dirty="0"/>
              <a:t>2. Diagnostic (Why did it happen?)</a:t>
            </a:r>
          </a:p>
          <a:p>
            <a:pPr lvl="1"/>
            <a:r>
              <a:rPr lang="en-GB" dirty="0"/>
              <a:t>Uncovering the underlying mechanics, spatial breakdowns, or physical fatigue states that caused an outcome.</a:t>
            </a:r>
          </a:p>
          <a:p>
            <a:pPr marL="0" lvl="0" indent="0">
              <a:buNone/>
            </a:pPr>
            <a:r>
              <a:rPr lang="en-GB" dirty="0"/>
              <a:t>3. Predictive (What is likely to happen?)</a:t>
            </a:r>
          </a:p>
          <a:p>
            <a:pPr lvl="1"/>
            <a:r>
              <a:rPr lang="en-GB" dirty="0"/>
              <a:t>Projecting future performance, injury probability, or tactical success rates.</a:t>
            </a:r>
          </a:p>
          <a:p>
            <a:pPr marL="0" lvl="0" indent="0">
              <a:buNone/>
            </a:pPr>
            <a:r>
              <a:rPr lang="en-GB" dirty="0"/>
              <a:t>4. Prescriptive (What should we do about it?)</a:t>
            </a:r>
          </a:p>
          <a:p>
            <a:pPr lvl="1"/>
            <a:r>
              <a:rPr lang="en-GB" dirty="0"/>
              <a:t>Actionable recommendations that directly alter coaching, training, or roster decisions.</a:t>
            </a:r>
          </a:p>
        </p:txBody>
      </p:sp>
    </p:spTree>
    <p:extLst>
      <p:ext uri="{BB962C8B-B14F-4D97-AF65-F5344CB8AC3E}">
        <p14:creationId xmlns:p14="http://schemas.microsoft.com/office/powerpoint/2010/main" val="28127422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75FA4-E434-23A9-7B99-775F67F02828}"/>
              </a:ext>
            </a:extLst>
          </p:cNvPr>
          <p:cNvSpPr>
            <a:spLocks noGrp="1"/>
          </p:cNvSpPr>
          <p:nvPr>
            <p:ph type="title"/>
          </p:nvPr>
        </p:nvSpPr>
        <p:spPr/>
        <p:txBody>
          <a:bodyPr/>
          <a:lstStyle/>
          <a:p>
            <a:r>
              <a:rPr lang="en-GB" dirty="0"/>
              <a:t>Group Activity</a:t>
            </a:r>
            <a:endParaRPr lang="en-US" dirty="0"/>
          </a:p>
        </p:txBody>
      </p:sp>
      <p:sp>
        <p:nvSpPr>
          <p:cNvPr id="3" name="Content Placeholder 2">
            <a:extLst>
              <a:ext uri="{FF2B5EF4-FFF2-40B4-BE49-F238E27FC236}">
                <a16:creationId xmlns:a16="http://schemas.microsoft.com/office/drawing/2014/main" id="{AA6FD731-E03D-15A3-6104-3691E3E5E0BE}"/>
              </a:ext>
            </a:extLst>
          </p:cNvPr>
          <p:cNvSpPr>
            <a:spLocks noGrp="1"/>
          </p:cNvSpPr>
          <p:nvPr>
            <p:ph idx="1"/>
          </p:nvPr>
        </p:nvSpPr>
        <p:spPr/>
        <p:txBody>
          <a:bodyPr/>
          <a:lstStyle/>
          <a:p>
            <a:r>
              <a:rPr lang="en-GB" dirty="0"/>
              <a:t>Working with your group, read the assigned scenario and create a four-step analytics chain:</a:t>
            </a:r>
          </a:p>
          <a:p>
            <a:pPr lvl="1"/>
            <a:r>
              <a:rPr lang="en-GB" dirty="0"/>
              <a:t>Descriptive: State what happened.</a:t>
            </a:r>
          </a:p>
          <a:p>
            <a:pPr lvl="1"/>
            <a:r>
              <a:rPr lang="en-GB" dirty="0"/>
              <a:t>Diagnostic: Identify the most likely reason it happened.</a:t>
            </a:r>
          </a:p>
          <a:p>
            <a:pPr lvl="1"/>
            <a:r>
              <a:rPr lang="en-GB" dirty="0"/>
              <a:t>Predictive: Explain what could happen next if nothing changes.</a:t>
            </a:r>
          </a:p>
          <a:p>
            <a:pPr lvl="1"/>
            <a:r>
              <a:rPr lang="en-GB" dirty="0"/>
              <a:t>Prescriptive: Recommend what the team should do.</a:t>
            </a:r>
          </a:p>
          <a:p>
            <a:r>
              <a:rPr lang="en-GB" dirty="0"/>
              <a:t>Write one clear sentence for each step.</a:t>
            </a:r>
          </a:p>
          <a:p>
            <a:endParaRPr lang="en-US" dirty="0"/>
          </a:p>
        </p:txBody>
      </p:sp>
    </p:spTree>
    <p:extLst>
      <p:ext uri="{BB962C8B-B14F-4D97-AF65-F5344CB8AC3E}">
        <p14:creationId xmlns:p14="http://schemas.microsoft.com/office/powerpoint/2010/main" val="37853041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F4149-77C5-51D6-6364-A5DC1666CA69}"/>
              </a:ext>
            </a:extLst>
          </p:cNvPr>
          <p:cNvSpPr>
            <a:spLocks noGrp="1"/>
          </p:cNvSpPr>
          <p:nvPr>
            <p:ph type="title"/>
          </p:nvPr>
        </p:nvSpPr>
        <p:spPr/>
        <p:txBody>
          <a:bodyPr/>
          <a:lstStyle/>
          <a:p>
            <a:r>
              <a:rPr lang="en-US" dirty="0"/>
              <a:t>Example </a:t>
            </a:r>
          </a:p>
        </p:txBody>
      </p:sp>
      <p:sp>
        <p:nvSpPr>
          <p:cNvPr id="3" name="Content Placeholder 2">
            <a:extLst>
              <a:ext uri="{FF2B5EF4-FFF2-40B4-BE49-F238E27FC236}">
                <a16:creationId xmlns:a16="http://schemas.microsoft.com/office/drawing/2014/main" id="{F4AC8398-083C-ED0D-65C7-FA16DBE6BCED}"/>
              </a:ext>
            </a:extLst>
          </p:cNvPr>
          <p:cNvSpPr>
            <a:spLocks noGrp="1"/>
          </p:cNvSpPr>
          <p:nvPr>
            <p:ph idx="1"/>
          </p:nvPr>
        </p:nvSpPr>
        <p:spPr/>
        <p:txBody>
          <a:bodyPr/>
          <a:lstStyle/>
          <a:p>
            <a:r>
              <a:rPr lang="en-GB" b="1" dirty="0"/>
              <a:t>Domain:</a:t>
            </a:r>
            <a:r>
              <a:rPr lang="en-GB" dirty="0"/>
              <a:t> Athlete monitoring</a:t>
            </a:r>
          </a:p>
          <a:p>
            <a:r>
              <a:rPr lang="en-GB" b="1" dirty="0"/>
              <a:t>Decision:</a:t>
            </a:r>
            <a:r>
              <a:rPr lang="en-GB" dirty="0"/>
              <a:t> Should a player’s training load be reduced today?</a:t>
            </a:r>
          </a:p>
          <a:p>
            <a:pPr lvl="1"/>
            <a:r>
              <a:rPr lang="en-GB" b="1" dirty="0"/>
              <a:t>Descriptive:</a:t>
            </a:r>
            <a:r>
              <a:rPr lang="en-GB" dirty="0"/>
              <a:t> The player completed substantially more high-intensity work than usual during the previous three days. </a:t>
            </a:r>
          </a:p>
          <a:p>
            <a:pPr lvl="1"/>
            <a:r>
              <a:rPr lang="en-GB" b="1" dirty="0"/>
              <a:t>Diagnostic:</a:t>
            </a:r>
            <a:r>
              <a:rPr lang="en-GB" dirty="0"/>
              <a:t> The increase resulted from additional drill repetitions and reduced recovery time. </a:t>
            </a:r>
          </a:p>
          <a:p>
            <a:pPr lvl="1"/>
            <a:r>
              <a:rPr lang="en-GB" b="1" dirty="0"/>
              <a:t>Predictive:</a:t>
            </a:r>
            <a:r>
              <a:rPr lang="en-GB" dirty="0"/>
              <a:t> Maintaining the planned load may increase the probability of poor performance or incomplete recovery tomorrow. </a:t>
            </a:r>
          </a:p>
          <a:p>
            <a:pPr lvl="1"/>
            <a:r>
              <a:rPr lang="en-GB" b="1" dirty="0"/>
              <a:t>Prescriptive:</a:t>
            </a:r>
            <a:r>
              <a:rPr lang="en-GB" dirty="0"/>
              <a:t> Reduce today’s high-intensity volume while maintaining lower-intensity tactical participation.</a:t>
            </a:r>
          </a:p>
          <a:p>
            <a:endParaRPr lang="en-US" dirty="0"/>
          </a:p>
        </p:txBody>
      </p:sp>
    </p:spTree>
    <p:extLst>
      <p:ext uri="{BB962C8B-B14F-4D97-AF65-F5344CB8AC3E}">
        <p14:creationId xmlns:p14="http://schemas.microsoft.com/office/powerpoint/2010/main" val="10690478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610FF-6703-8068-7ABF-ED20489ECABF}"/>
              </a:ext>
            </a:extLst>
          </p:cNvPr>
          <p:cNvSpPr>
            <a:spLocks noGrp="1"/>
          </p:cNvSpPr>
          <p:nvPr>
            <p:ph type="title"/>
          </p:nvPr>
        </p:nvSpPr>
        <p:spPr/>
        <p:txBody>
          <a:bodyPr/>
          <a:lstStyle/>
          <a:p>
            <a:r>
              <a:rPr lang="en-US" dirty="0"/>
              <a:t>Scenarios </a:t>
            </a:r>
          </a:p>
        </p:txBody>
      </p:sp>
      <p:sp>
        <p:nvSpPr>
          <p:cNvPr id="3" name="Content Placeholder 2">
            <a:extLst>
              <a:ext uri="{FF2B5EF4-FFF2-40B4-BE49-F238E27FC236}">
                <a16:creationId xmlns:a16="http://schemas.microsoft.com/office/drawing/2014/main" id="{63906137-364A-DE22-57E2-CF9CEDECC6B1}"/>
              </a:ext>
            </a:extLst>
          </p:cNvPr>
          <p:cNvSpPr>
            <a:spLocks noGrp="1"/>
          </p:cNvSpPr>
          <p:nvPr>
            <p:ph idx="1"/>
          </p:nvPr>
        </p:nvSpPr>
        <p:spPr/>
        <p:txBody>
          <a:bodyPr>
            <a:normAutofit fontScale="92500" lnSpcReduction="10000"/>
          </a:bodyPr>
          <a:lstStyle/>
          <a:p>
            <a:r>
              <a:rPr lang="en-GB" dirty="0"/>
              <a:t>A basketball player completed considerably more high-intensity work than usual during the previous three days. The coaching staff added extra drill repetitions and shortened the recovery periods between drills. The player has an important game tomorrow.</a:t>
            </a:r>
          </a:p>
          <a:p>
            <a:r>
              <a:rPr lang="en-GB" dirty="0"/>
              <a:t>A basketball prospect scores 22 points per game, but most of those points come against weaker opponents. Against highly ranked teams, the player’s scoring efficiency and assists decrease while turnovers increase. Your team is deciding whether to select the player in the first round of the draft.</a:t>
            </a:r>
          </a:p>
          <a:p>
            <a:r>
              <a:rPr lang="en-GB" dirty="0"/>
              <a:t>A soccer team has allowed five goals during its last four matches. Four of the goals occurred after the team lost possession while its fullbacks were positioned high up the field. The team is preparing to play an opponent with fast attacking players.</a:t>
            </a:r>
            <a:endParaRPr lang="en-US" dirty="0"/>
          </a:p>
        </p:txBody>
      </p:sp>
    </p:spTree>
    <p:extLst>
      <p:ext uri="{BB962C8B-B14F-4D97-AF65-F5344CB8AC3E}">
        <p14:creationId xmlns:p14="http://schemas.microsoft.com/office/powerpoint/2010/main" val="12670128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3AABE-630C-BE7E-C207-7F502C7BE442}"/>
              </a:ext>
            </a:extLst>
          </p:cNvPr>
          <p:cNvSpPr>
            <a:spLocks noGrp="1"/>
          </p:cNvSpPr>
          <p:nvPr>
            <p:ph type="title"/>
          </p:nvPr>
        </p:nvSpPr>
        <p:spPr/>
        <p:txBody>
          <a:bodyPr/>
          <a:lstStyle/>
          <a:p>
            <a:r>
              <a:rPr lang="en-GB" dirty="0"/>
              <a:t>Analytics Is a Connected Process</a:t>
            </a:r>
            <a:endParaRPr lang="en-US" dirty="0"/>
          </a:p>
        </p:txBody>
      </p:sp>
      <p:sp>
        <p:nvSpPr>
          <p:cNvPr id="3" name="Content Placeholder 2">
            <a:extLst>
              <a:ext uri="{FF2B5EF4-FFF2-40B4-BE49-F238E27FC236}">
                <a16:creationId xmlns:a16="http://schemas.microsoft.com/office/drawing/2014/main" id="{DBB74CFF-8068-9093-0DB3-427FA9D01C70}"/>
              </a:ext>
            </a:extLst>
          </p:cNvPr>
          <p:cNvSpPr>
            <a:spLocks noGrp="1"/>
          </p:cNvSpPr>
          <p:nvPr>
            <p:ph idx="1"/>
          </p:nvPr>
        </p:nvSpPr>
        <p:spPr/>
        <p:txBody>
          <a:bodyPr/>
          <a:lstStyle/>
          <a:p>
            <a:endParaRPr lang="en-US"/>
          </a:p>
        </p:txBody>
      </p:sp>
      <p:sp>
        <p:nvSpPr>
          <p:cNvPr id="4" name="Rounded Rectangle 3">
            <a:extLst>
              <a:ext uri="{FF2B5EF4-FFF2-40B4-BE49-F238E27FC236}">
                <a16:creationId xmlns:a16="http://schemas.microsoft.com/office/drawing/2014/main" id="{4A782F88-38E0-4B72-24A8-1306D30D5582}"/>
              </a:ext>
            </a:extLst>
          </p:cNvPr>
          <p:cNvSpPr/>
          <p:nvPr/>
        </p:nvSpPr>
        <p:spPr>
          <a:xfrm>
            <a:off x="1148937" y="3352250"/>
            <a:ext cx="1840675"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Descriptive</a:t>
            </a:r>
          </a:p>
        </p:txBody>
      </p:sp>
      <p:sp>
        <p:nvSpPr>
          <p:cNvPr id="7" name="Right Arrow 6">
            <a:extLst>
              <a:ext uri="{FF2B5EF4-FFF2-40B4-BE49-F238E27FC236}">
                <a16:creationId xmlns:a16="http://schemas.microsoft.com/office/drawing/2014/main" id="{8588D409-93BC-51D5-47E6-7F11165C0988}"/>
              </a:ext>
            </a:extLst>
          </p:cNvPr>
          <p:cNvSpPr/>
          <p:nvPr/>
        </p:nvSpPr>
        <p:spPr>
          <a:xfrm>
            <a:off x="3139043" y="3567134"/>
            <a:ext cx="558141"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6EAEB840-F944-BEEA-38E9-63C242B5BBF2}"/>
              </a:ext>
            </a:extLst>
          </p:cNvPr>
          <p:cNvSpPr/>
          <p:nvPr/>
        </p:nvSpPr>
        <p:spPr>
          <a:xfrm>
            <a:off x="3846615" y="3354530"/>
            <a:ext cx="1840675"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Diagnostic</a:t>
            </a:r>
          </a:p>
        </p:txBody>
      </p:sp>
      <p:sp>
        <p:nvSpPr>
          <p:cNvPr id="9" name="Right Arrow 8">
            <a:extLst>
              <a:ext uri="{FF2B5EF4-FFF2-40B4-BE49-F238E27FC236}">
                <a16:creationId xmlns:a16="http://schemas.microsoft.com/office/drawing/2014/main" id="{6D3B2D4F-E522-6E84-5A49-48B9DD093CFA}"/>
              </a:ext>
            </a:extLst>
          </p:cNvPr>
          <p:cNvSpPr/>
          <p:nvPr/>
        </p:nvSpPr>
        <p:spPr>
          <a:xfrm>
            <a:off x="5836721" y="3569414"/>
            <a:ext cx="558141"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740115D1-850B-3AF9-77F6-E126493420F4}"/>
              </a:ext>
            </a:extLst>
          </p:cNvPr>
          <p:cNvSpPr/>
          <p:nvPr/>
        </p:nvSpPr>
        <p:spPr>
          <a:xfrm>
            <a:off x="6504710" y="3352250"/>
            <a:ext cx="1840675"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Predictive</a:t>
            </a:r>
          </a:p>
        </p:txBody>
      </p:sp>
      <p:sp>
        <p:nvSpPr>
          <p:cNvPr id="11" name="Right Arrow 10">
            <a:extLst>
              <a:ext uri="{FF2B5EF4-FFF2-40B4-BE49-F238E27FC236}">
                <a16:creationId xmlns:a16="http://schemas.microsoft.com/office/drawing/2014/main" id="{26C186F5-3E52-E86C-00AF-9BB5162BA1B8}"/>
              </a:ext>
            </a:extLst>
          </p:cNvPr>
          <p:cNvSpPr/>
          <p:nvPr/>
        </p:nvSpPr>
        <p:spPr>
          <a:xfrm>
            <a:off x="8494816" y="3567134"/>
            <a:ext cx="558141"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92ECBD38-13DC-59A9-C95E-2D7966D40DDC}"/>
              </a:ext>
            </a:extLst>
          </p:cNvPr>
          <p:cNvSpPr/>
          <p:nvPr/>
        </p:nvSpPr>
        <p:spPr>
          <a:xfrm>
            <a:off x="9202388" y="3331908"/>
            <a:ext cx="1840675"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Prescriptive</a:t>
            </a:r>
          </a:p>
        </p:txBody>
      </p:sp>
    </p:spTree>
    <p:extLst>
      <p:ext uri="{BB962C8B-B14F-4D97-AF65-F5344CB8AC3E}">
        <p14:creationId xmlns:p14="http://schemas.microsoft.com/office/powerpoint/2010/main" val="8015085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8D775-A112-9AF9-5D1F-F62BCE0203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DC6960-7901-AB28-CBA3-949C04823044}"/>
              </a:ext>
            </a:extLst>
          </p:cNvPr>
          <p:cNvSpPr>
            <a:spLocks noGrp="1"/>
          </p:cNvSpPr>
          <p:nvPr>
            <p:ph type="title"/>
          </p:nvPr>
        </p:nvSpPr>
        <p:spPr/>
        <p:txBody>
          <a:bodyPr/>
          <a:lstStyle/>
          <a:p>
            <a:r>
              <a:rPr lang="en-GB" dirty="0"/>
              <a:t>Analytics Is a Connected Process</a:t>
            </a:r>
            <a:endParaRPr lang="en-US" dirty="0"/>
          </a:p>
        </p:txBody>
      </p:sp>
      <p:sp>
        <p:nvSpPr>
          <p:cNvPr id="3" name="Content Placeholder 2">
            <a:extLst>
              <a:ext uri="{FF2B5EF4-FFF2-40B4-BE49-F238E27FC236}">
                <a16:creationId xmlns:a16="http://schemas.microsoft.com/office/drawing/2014/main" id="{1BC90F12-59E9-B91B-B183-BF4016A59BD7}"/>
              </a:ext>
            </a:extLst>
          </p:cNvPr>
          <p:cNvSpPr>
            <a:spLocks noGrp="1"/>
          </p:cNvSpPr>
          <p:nvPr>
            <p:ph idx="1"/>
          </p:nvPr>
        </p:nvSpPr>
        <p:spPr/>
        <p:txBody>
          <a:bodyPr/>
          <a:lstStyle/>
          <a:p>
            <a:endParaRPr lang="en-US" dirty="0"/>
          </a:p>
        </p:txBody>
      </p:sp>
      <p:grpSp>
        <p:nvGrpSpPr>
          <p:cNvPr id="24" name="Group 23">
            <a:extLst>
              <a:ext uri="{FF2B5EF4-FFF2-40B4-BE49-F238E27FC236}">
                <a16:creationId xmlns:a16="http://schemas.microsoft.com/office/drawing/2014/main" id="{0D908DE7-418E-BB55-D0CC-996FC9BEB1E0}"/>
              </a:ext>
            </a:extLst>
          </p:cNvPr>
          <p:cNvGrpSpPr/>
          <p:nvPr/>
        </p:nvGrpSpPr>
        <p:grpSpPr>
          <a:xfrm>
            <a:off x="1467592" y="2015504"/>
            <a:ext cx="9256816" cy="2826993"/>
            <a:chOff x="1395845" y="1845698"/>
            <a:chExt cx="9256816" cy="2826993"/>
          </a:xfrm>
        </p:grpSpPr>
        <p:sp>
          <p:nvSpPr>
            <p:cNvPr id="10" name="Rounded Rectangle 9">
              <a:extLst>
                <a:ext uri="{FF2B5EF4-FFF2-40B4-BE49-F238E27FC236}">
                  <a16:creationId xmlns:a16="http://schemas.microsoft.com/office/drawing/2014/main" id="{66CAA5F0-6E53-A555-1152-E733DCFDF09C}"/>
                </a:ext>
              </a:extLst>
            </p:cNvPr>
            <p:cNvSpPr/>
            <p:nvPr/>
          </p:nvSpPr>
          <p:spPr>
            <a:xfrm>
              <a:off x="7433952" y="1995037"/>
              <a:ext cx="1840675"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Predictive</a:t>
              </a:r>
            </a:p>
          </p:txBody>
        </p:sp>
        <p:sp>
          <p:nvSpPr>
            <p:cNvPr id="11" name="Right Arrow 10">
              <a:extLst>
                <a:ext uri="{FF2B5EF4-FFF2-40B4-BE49-F238E27FC236}">
                  <a16:creationId xmlns:a16="http://schemas.microsoft.com/office/drawing/2014/main" id="{DD0D4C3A-526C-76CB-F794-7165AB6441E1}"/>
                </a:ext>
              </a:extLst>
            </p:cNvPr>
            <p:cNvSpPr/>
            <p:nvPr/>
          </p:nvSpPr>
          <p:spPr>
            <a:xfrm rot="3743277">
              <a:off x="8809953" y="3090407"/>
              <a:ext cx="558141"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2A07DF87-DD44-BEA8-AA52-58A227E0FACD}"/>
                </a:ext>
              </a:extLst>
            </p:cNvPr>
            <p:cNvSpPr/>
            <p:nvPr/>
          </p:nvSpPr>
          <p:spPr>
            <a:xfrm>
              <a:off x="3416630" y="3756011"/>
              <a:ext cx="1840675"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Descriptive</a:t>
              </a:r>
            </a:p>
          </p:txBody>
        </p:sp>
        <p:sp>
          <p:nvSpPr>
            <p:cNvPr id="7" name="Right Arrow 6">
              <a:extLst>
                <a:ext uri="{FF2B5EF4-FFF2-40B4-BE49-F238E27FC236}">
                  <a16:creationId xmlns:a16="http://schemas.microsoft.com/office/drawing/2014/main" id="{90FB8E53-FB0C-259D-CD09-AFD9C3DD9245}"/>
                </a:ext>
              </a:extLst>
            </p:cNvPr>
            <p:cNvSpPr/>
            <p:nvPr/>
          </p:nvSpPr>
          <p:spPr>
            <a:xfrm>
              <a:off x="5406736" y="3970895"/>
              <a:ext cx="558141"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133E3A46-654D-3745-1B1B-F084CE632680}"/>
                </a:ext>
              </a:extLst>
            </p:cNvPr>
            <p:cNvSpPr/>
            <p:nvPr/>
          </p:nvSpPr>
          <p:spPr>
            <a:xfrm>
              <a:off x="6114308" y="3758291"/>
              <a:ext cx="1840675"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Diagnostic</a:t>
              </a:r>
            </a:p>
          </p:txBody>
        </p:sp>
        <p:sp>
          <p:nvSpPr>
            <p:cNvPr id="9" name="Right Arrow 8">
              <a:extLst>
                <a:ext uri="{FF2B5EF4-FFF2-40B4-BE49-F238E27FC236}">
                  <a16:creationId xmlns:a16="http://schemas.microsoft.com/office/drawing/2014/main" id="{FA98941D-8F63-F9AC-5CD5-3FAB4E59CC08}"/>
                </a:ext>
              </a:extLst>
            </p:cNvPr>
            <p:cNvSpPr/>
            <p:nvPr/>
          </p:nvSpPr>
          <p:spPr>
            <a:xfrm rot="18801083">
              <a:off x="7366795" y="3057202"/>
              <a:ext cx="558141"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F000CD9E-121F-6BC0-0916-DBD2C2A662F2}"/>
                </a:ext>
              </a:extLst>
            </p:cNvPr>
            <p:cNvSpPr/>
            <p:nvPr/>
          </p:nvSpPr>
          <p:spPr>
            <a:xfrm>
              <a:off x="8811986" y="3756011"/>
              <a:ext cx="1840675"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Prescriptive</a:t>
              </a:r>
            </a:p>
          </p:txBody>
        </p:sp>
        <p:sp>
          <p:nvSpPr>
            <p:cNvPr id="15" name="Magnetic Disk 14">
              <a:extLst>
                <a:ext uri="{FF2B5EF4-FFF2-40B4-BE49-F238E27FC236}">
                  <a16:creationId xmlns:a16="http://schemas.microsoft.com/office/drawing/2014/main" id="{DDD59D53-0BF2-CBEC-7D6F-5D7CA63637DE}"/>
                </a:ext>
              </a:extLst>
            </p:cNvPr>
            <p:cNvSpPr/>
            <p:nvPr/>
          </p:nvSpPr>
          <p:spPr>
            <a:xfrm>
              <a:off x="1395845" y="4070458"/>
              <a:ext cx="1163782" cy="410595"/>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Data</a:t>
              </a:r>
            </a:p>
          </p:txBody>
        </p:sp>
        <p:sp>
          <p:nvSpPr>
            <p:cNvPr id="18" name="Right Arrow 17">
              <a:extLst>
                <a:ext uri="{FF2B5EF4-FFF2-40B4-BE49-F238E27FC236}">
                  <a16:creationId xmlns:a16="http://schemas.microsoft.com/office/drawing/2014/main" id="{85C562E6-0EB2-6FF1-9937-9E86B58AF423}"/>
                </a:ext>
              </a:extLst>
            </p:cNvPr>
            <p:cNvSpPr/>
            <p:nvPr/>
          </p:nvSpPr>
          <p:spPr>
            <a:xfrm>
              <a:off x="2709058" y="4032552"/>
              <a:ext cx="558141"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54595E51-A76C-EB48-AF77-7A2F954F66A6}"/>
                </a:ext>
              </a:extLst>
            </p:cNvPr>
            <p:cNvGrpSpPr/>
            <p:nvPr/>
          </p:nvGrpSpPr>
          <p:grpSpPr>
            <a:xfrm>
              <a:off x="5406736" y="1845698"/>
              <a:ext cx="1163782" cy="1108548"/>
              <a:chOff x="997527" y="4004676"/>
              <a:chExt cx="1163782" cy="1108548"/>
            </a:xfrm>
          </p:grpSpPr>
          <p:sp>
            <p:nvSpPr>
              <p:cNvPr id="20" name="Magnetic Disk 19">
                <a:extLst>
                  <a:ext uri="{FF2B5EF4-FFF2-40B4-BE49-F238E27FC236}">
                    <a16:creationId xmlns:a16="http://schemas.microsoft.com/office/drawing/2014/main" id="{C75A93FE-8E1C-DE7F-3F48-024E6627F04B}"/>
                  </a:ext>
                </a:extLst>
              </p:cNvPr>
              <p:cNvSpPr/>
              <p:nvPr/>
            </p:nvSpPr>
            <p:spPr>
              <a:xfrm>
                <a:off x="997527" y="4702629"/>
                <a:ext cx="1163782" cy="410595"/>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Magnetic Disk 20">
                <a:extLst>
                  <a:ext uri="{FF2B5EF4-FFF2-40B4-BE49-F238E27FC236}">
                    <a16:creationId xmlns:a16="http://schemas.microsoft.com/office/drawing/2014/main" id="{F5AB6600-3CE9-1A67-845B-C6554A26236F}"/>
                  </a:ext>
                </a:extLst>
              </p:cNvPr>
              <p:cNvSpPr/>
              <p:nvPr/>
            </p:nvSpPr>
            <p:spPr>
              <a:xfrm>
                <a:off x="997527" y="4344931"/>
                <a:ext cx="1163782" cy="410595"/>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Magnetic Disk 21">
                <a:extLst>
                  <a:ext uri="{FF2B5EF4-FFF2-40B4-BE49-F238E27FC236}">
                    <a16:creationId xmlns:a16="http://schemas.microsoft.com/office/drawing/2014/main" id="{B7DDCEDA-194C-3B5F-DD08-FD26C999F49E}"/>
                  </a:ext>
                </a:extLst>
              </p:cNvPr>
              <p:cNvSpPr/>
              <p:nvPr/>
            </p:nvSpPr>
            <p:spPr>
              <a:xfrm>
                <a:off x="997527" y="4004676"/>
                <a:ext cx="1163782" cy="410595"/>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Right Arrow 22">
              <a:extLst>
                <a:ext uri="{FF2B5EF4-FFF2-40B4-BE49-F238E27FC236}">
                  <a16:creationId xmlns:a16="http://schemas.microsoft.com/office/drawing/2014/main" id="{1C945C0C-1E0E-1C8E-FFC4-B8AAFAEB88FE}"/>
                </a:ext>
              </a:extLst>
            </p:cNvPr>
            <p:cNvSpPr/>
            <p:nvPr/>
          </p:nvSpPr>
          <p:spPr>
            <a:xfrm>
              <a:off x="6719949" y="2199565"/>
              <a:ext cx="558141"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3749161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BC448-0E80-7EFF-4754-8229B404CA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416AE1-4E7C-4C41-76FF-F2538718C69D}"/>
              </a:ext>
            </a:extLst>
          </p:cNvPr>
          <p:cNvSpPr>
            <a:spLocks noGrp="1"/>
          </p:cNvSpPr>
          <p:nvPr>
            <p:ph type="title"/>
          </p:nvPr>
        </p:nvSpPr>
        <p:spPr/>
        <p:txBody>
          <a:bodyPr>
            <a:normAutofit fontScale="90000"/>
          </a:bodyPr>
          <a:lstStyle/>
          <a:p>
            <a:r>
              <a:rPr lang="en-GB" dirty="0"/>
              <a:t>More Advanced Does Not Mean More Valuable</a:t>
            </a:r>
            <a:endParaRPr lang="en-US" dirty="0"/>
          </a:p>
        </p:txBody>
      </p:sp>
      <p:sp>
        <p:nvSpPr>
          <p:cNvPr id="3" name="Content Placeholder 2">
            <a:extLst>
              <a:ext uri="{FF2B5EF4-FFF2-40B4-BE49-F238E27FC236}">
                <a16:creationId xmlns:a16="http://schemas.microsoft.com/office/drawing/2014/main" id="{7FFAA4CE-A3EC-AB3B-0675-93654EC1B928}"/>
              </a:ext>
            </a:extLst>
          </p:cNvPr>
          <p:cNvSpPr>
            <a:spLocks noGrp="1"/>
          </p:cNvSpPr>
          <p:nvPr>
            <p:ph idx="1"/>
          </p:nvPr>
        </p:nvSpPr>
        <p:spPr/>
        <p:txBody>
          <a:bodyPr>
            <a:normAutofit lnSpcReduction="10000"/>
          </a:bodyPr>
          <a:lstStyle/>
          <a:p>
            <a:r>
              <a:rPr lang="en-GB" dirty="0"/>
              <a:t>Much of the daily work in sports analytics is descriptive and diagnostic:</a:t>
            </a:r>
          </a:p>
          <a:p>
            <a:pPr lvl="1"/>
            <a:r>
              <a:rPr lang="en-GB" dirty="0"/>
              <a:t>Collecting, cleaning, and organizing data</a:t>
            </a:r>
          </a:p>
          <a:p>
            <a:pPr lvl="1"/>
            <a:r>
              <a:rPr lang="en-GB" dirty="0"/>
              <a:t>Defining metrics consistently</a:t>
            </a:r>
          </a:p>
          <a:p>
            <a:pPr lvl="1"/>
            <a:r>
              <a:rPr lang="en-GB" dirty="0"/>
              <a:t>Monitoring recent performance and workload</a:t>
            </a:r>
          </a:p>
          <a:p>
            <a:pPr lvl="1"/>
            <a:r>
              <a:rPr lang="en-GB" dirty="0"/>
              <a:t>Identifying meaningful changes or patterns</a:t>
            </a:r>
          </a:p>
          <a:p>
            <a:pPr lvl="1"/>
            <a:r>
              <a:rPr lang="en-GB" dirty="0"/>
              <a:t>Communicating findings to coaches, athletes, and decision-makers</a:t>
            </a:r>
          </a:p>
          <a:p>
            <a:r>
              <a:rPr lang="en-GB" dirty="0"/>
              <a:t>Predictive models can be valuable, but only when they address a real decision and are supported by reliable foundational work.</a:t>
            </a:r>
          </a:p>
          <a:p>
            <a:r>
              <a:rPr lang="en-GB" dirty="0"/>
              <a:t>The best analysis is not necessarily the most complicated analysis. It is the analysis that helps someone make a better decision.</a:t>
            </a:r>
          </a:p>
        </p:txBody>
      </p:sp>
    </p:spTree>
    <p:extLst>
      <p:ext uri="{BB962C8B-B14F-4D97-AF65-F5344CB8AC3E}">
        <p14:creationId xmlns:p14="http://schemas.microsoft.com/office/powerpoint/2010/main" val="23293368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438</TotalTime>
  <Words>983</Words>
  <Application>Microsoft Macintosh PowerPoint</Application>
  <PresentationFormat>Widescreen</PresentationFormat>
  <Paragraphs>92</Paragraphs>
  <Slides>17</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Aptos</vt:lpstr>
      <vt:lpstr>Aptos Display</vt:lpstr>
      <vt:lpstr>Arial</vt:lpstr>
      <vt:lpstr>Office Theme</vt:lpstr>
      <vt:lpstr>The Three Domains: Tracking, Scouting, and Strategy</vt:lpstr>
      <vt:lpstr>Three Pillars of Sport Performance Analytics</vt:lpstr>
      <vt:lpstr>Overview of the Three Domains</vt:lpstr>
      <vt:lpstr>Domain 1: Scouting &amp; Talent Evaluation</vt:lpstr>
      <vt:lpstr>Domain 1: Scouting &amp; Talent Evaluation</vt:lpstr>
      <vt:lpstr>Domain 2: Athlete Tracking (Physical &amp; Spatial)</vt:lpstr>
      <vt:lpstr>Domain 2: Athlete Tracking (Physical &amp; Spatial)</vt:lpstr>
      <vt:lpstr>Domain 3: Strategy &amp; Tactical Optimization</vt:lpstr>
      <vt:lpstr>Domain 3: Strategy &amp; Tactical Optimization</vt:lpstr>
      <vt:lpstr>How Data Changes Sports Decisions</vt:lpstr>
      <vt:lpstr>How Data Changes Sports Decisions</vt:lpstr>
      <vt:lpstr>Group Activity</vt:lpstr>
      <vt:lpstr>Example </vt:lpstr>
      <vt:lpstr>Scenarios </vt:lpstr>
      <vt:lpstr>Analytics Is a Connected Process</vt:lpstr>
      <vt:lpstr>Analytics Is a Connected Process</vt:lpstr>
      <vt:lpstr>More Advanced Does Not Mean More Valuable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Onishi, Saryu</dc:creator>
  <cp:lastModifiedBy>Onishi, Saryu</cp:lastModifiedBy>
  <cp:revision>5</cp:revision>
  <dcterms:created xsi:type="dcterms:W3CDTF">2026-08-17T13:48:23Z</dcterms:created>
  <dcterms:modified xsi:type="dcterms:W3CDTF">2026-08-18T18:20:05Z</dcterms:modified>
</cp:coreProperties>
</file>