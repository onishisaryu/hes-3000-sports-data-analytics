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2" r:id="rId7"/>
    <p:sldId id="261" r:id="rId8"/>
    <p:sldId id="267" r:id="rId9"/>
    <p:sldId id="265" r:id="rId10"/>
    <p:sldId id="266" r:id="rId11"/>
    <p:sldId id="263" r:id="rId12"/>
    <p:sldId id="269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07"/>
    <p:restoredTop sz="94606"/>
  </p:normalViewPr>
  <p:slideViewPr>
    <p:cSldViewPr snapToGrid="0">
      <p:cViewPr varScale="1">
        <p:scale>
          <a:sx n="71" d="100"/>
          <a:sy n="71" d="100"/>
        </p:scale>
        <p:origin x="168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fivethirtyeight.com/features/how-one-mans-bad-math-helped-ruin-decades-of-english-socce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jpardis.medium.com/?source=post_page---byline--074fc2435b07---------------------------------------" TargetMode="External"/><Relationship Id="rId2" Type="http://schemas.openxmlformats.org/officeDocument/2006/relationships/hyperlink" Target="https://djpardis.medium.com/revisiting-moneyball-074fc2435b0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Evolution of Sports Analytics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DFC2-9A93-82A5-F36E-EC2E7C63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Exercise: The Box Score Blind Spot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55F98-BC30-8ACC-5ACC-AE9E4DB7A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2747963"/>
          </a:xfrm>
        </p:spPr>
        <p:txBody>
          <a:bodyPr/>
          <a:lstStyle/>
          <a:p>
            <a:pPr lvl="0"/>
            <a:r>
              <a:rPr lang="en-GB" dirty="0"/>
              <a:t>Pair &amp; Share (5 mins): </a:t>
            </a:r>
            <a:r>
              <a:rPr lang="en-GB" i="1" dirty="0"/>
              <a:t>What is something a traditional box score completely hides that modern tracking might reveals?</a:t>
            </a:r>
            <a:endParaRPr lang="en-GB" dirty="0"/>
          </a:p>
          <a:p>
            <a:pPr lvl="0"/>
            <a:r>
              <a:rPr lang="en-GB" dirty="0"/>
              <a:t>What did the box score miss?</a:t>
            </a:r>
          </a:p>
          <a:p>
            <a:pPr lvl="1"/>
            <a:r>
              <a:rPr lang="en-GB" dirty="0"/>
              <a:t>Shot quality and defensive pressure?</a:t>
            </a:r>
          </a:p>
          <a:p>
            <a:pPr lvl="1"/>
            <a:r>
              <a:rPr lang="en-GB" dirty="0"/>
              <a:t>Physical workload and fatigue accumulation?</a:t>
            </a:r>
          </a:p>
          <a:p>
            <a:pPr lvl="1"/>
            <a:r>
              <a:rPr lang="en-GB" dirty="0"/>
              <a:t>Spacing impact when off the ball?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F9FF09-E521-EA6A-818F-85A4F1A22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726048"/>
              </p:ext>
            </p:extLst>
          </p:nvPr>
        </p:nvGraphicFramePr>
        <p:xfrm>
          <a:off x="1689101" y="1982568"/>
          <a:ext cx="881379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114">
                  <a:extLst>
                    <a:ext uri="{9D8B030D-6E8A-4147-A177-3AD203B41FA5}">
                      <a16:colId xmlns:a16="http://schemas.microsoft.com/office/drawing/2014/main" val="2193826968"/>
                    </a:ext>
                  </a:extLst>
                </a:gridCol>
                <a:gridCol w="1259114">
                  <a:extLst>
                    <a:ext uri="{9D8B030D-6E8A-4147-A177-3AD203B41FA5}">
                      <a16:colId xmlns:a16="http://schemas.microsoft.com/office/drawing/2014/main" val="595690686"/>
                    </a:ext>
                  </a:extLst>
                </a:gridCol>
                <a:gridCol w="1259114">
                  <a:extLst>
                    <a:ext uri="{9D8B030D-6E8A-4147-A177-3AD203B41FA5}">
                      <a16:colId xmlns:a16="http://schemas.microsoft.com/office/drawing/2014/main" val="1156797430"/>
                    </a:ext>
                  </a:extLst>
                </a:gridCol>
                <a:gridCol w="1259114">
                  <a:extLst>
                    <a:ext uri="{9D8B030D-6E8A-4147-A177-3AD203B41FA5}">
                      <a16:colId xmlns:a16="http://schemas.microsoft.com/office/drawing/2014/main" val="3301045484"/>
                    </a:ext>
                  </a:extLst>
                </a:gridCol>
                <a:gridCol w="1259114">
                  <a:extLst>
                    <a:ext uri="{9D8B030D-6E8A-4147-A177-3AD203B41FA5}">
                      <a16:colId xmlns:a16="http://schemas.microsoft.com/office/drawing/2014/main" val="1384021310"/>
                    </a:ext>
                  </a:extLst>
                </a:gridCol>
                <a:gridCol w="1259114">
                  <a:extLst>
                    <a:ext uri="{9D8B030D-6E8A-4147-A177-3AD203B41FA5}">
                      <a16:colId xmlns:a16="http://schemas.microsoft.com/office/drawing/2014/main" val="664837290"/>
                    </a:ext>
                  </a:extLst>
                </a:gridCol>
                <a:gridCol w="1259114">
                  <a:extLst>
                    <a:ext uri="{9D8B030D-6E8A-4147-A177-3AD203B41FA5}">
                      <a16:colId xmlns:a16="http://schemas.microsoft.com/office/drawing/2014/main" val="1738672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Rebounds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572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Player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9/22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730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2459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48926-31C0-7A3A-D4C5-8469F2C4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The Paradigm Shift: Eye Test vs.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69C09-0664-9687-E3AA-352CB4AB2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The Traditional Mindset: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Heavy reliance on expert intuition, scouting lore, and decades of visual confirmation.</a:t>
            </a:r>
          </a:p>
          <a:p>
            <a:pPr lvl="1"/>
            <a:r>
              <a:rPr lang="en-GB" dirty="0"/>
              <a:t>The "gut feeling" approach to training and game planning.</a:t>
            </a:r>
          </a:p>
          <a:p>
            <a:pPr lvl="0"/>
            <a:r>
              <a:rPr lang="en-GB" b="1" dirty="0"/>
              <a:t>The Modern Reality: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Data doesn't replace the eye test; it </a:t>
            </a:r>
            <a:r>
              <a:rPr lang="en-GB" b="1" dirty="0"/>
              <a:t>calibrates and enhances</a:t>
            </a:r>
            <a:r>
              <a:rPr lang="en-GB" dirty="0"/>
              <a:t> it.</a:t>
            </a:r>
          </a:p>
          <a:p>
            <a:pPr lvl="1"/>
            <a:r>
              <a:rPr lang="en-GB" dirty="0"/>
              <a:t>Uncovering hidden patterns that human cognitive biases naturally filter out or miss.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98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17817-E14F-F219-0B1A-8AA0F424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Measurement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290BB-5C5E-C7D9-90C6-E6BB1A776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0364" y="1441938"/>
            <a:ext cx="7303435" cy="4735025"/>
          </a:xfrm>
        </p:spPr>
        <p:txBody>
          <a:bodyPr/>
          <a:lstStyle/>
          <a:p>
            <a:r>
              <a:rPr lang="en-US" dirty="0"/>
              <a:t>1859: Henry Chadwick</a:t>
            </a:r>
          </a:p>
          <a:p>
            <a:pPr lvl="1"/>
            <a:r>
              <a:rPr lang="en-US" dirty="0"/>
              <a:t>Invented the modern box score by quantifying hits, runs, and errors</a:t>
            </a:r>
          </a:p>
          <a:p>
            <a:pPr lvl="1"/>
            <a:r>
              <a:rPr lang="en-US" dirty="0"/>
              <a:t>Foundational for systematics talent evaluation.</a:t>
            </a:r>
          </a:p>
          <a:p>
            <a:r>
              <a:rPr lang="en-US" dirty="0"/>
              <a:t>1950: Charles Reep</a:t>
            </a:r>
          </a:p>
          <a:p>
            <a:pPr lvl="1"/>
            <a:r>
              <a:rPr lang="en-US" dirty="0"/>
              <a:t>Manually recorded all passes and shots of 2500+ games across 45 years</a:t>
            </a:r>
          </a:p>
          <a:p>
            <a:pPr lvl="1"/>
            <a:r>
              <a:rPr lang="en-US" dirty="0"/>
              <a:t>Concluded that most goals came from three or fewer passes, leading to the "Long Ball" Gameplay Strategy (</a:t>
            </a:r>
            <a:r>
              <a:rPr lang="en-US" i="1" dirty="0"/>
              <a:t>note: </a:t>
            </a:r>
            <a:r>
              <a:rPr lang="en-US" i="1" dirty="0">
                <a:hlinkClick r:id="rId2"/>
              </a:rPr>
              <a:t>he was wrong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FDEBBC0-9F21-7502-FE9A-EF2AF4E41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0" y="1441938"/>
            <a:ext cx="3355675" cy="210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16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371F-8EB9-B1CB-16FD-4D5028B78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Traditional Era (Pre-1970s)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C5CA5-808E-4EF7-ED49-60145BDC8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Characteristics:</a:t>
            </a:r>
          </a:p>
          <a:p>
            <a:pPr lvl="1"/>
            <a:r>
              <a:rPr lang="en-US" dirty="0"/>
              <a:t>Performance was evaluated through observation, memory, and counting</a:t>
            </a:r>
            <a:endParaRPr lang="en-GB" dirty="0"/>
          </a:p>
          <a:p>
            <a:pPr lvl="2"/>
            <a:r>
              <a:rPr lang="en-GB" dirty="0"/>
              <a:t>Heavily reliant on </a:t>
            </a:r>
            <a:r>
              <a:rPr lang="en-GB" u="sng" dirty="0"/>
              <a:t>basic</a:t>
            </a:r>
            <a:r>
              <a:rPr lang="en-GB" dirty="0"/>
              <a:t> box scores (BA, PPG, completion percentages).</a:t>
            </a:r>
          </a:p>
          <a:p>
            <a:pPr lvl="2"/>
            <a:r>
              <a:rPr lang="en-GB" dirty="0"/>
              <a:t>Anecdotal scouting reports and qualitative grading systems.</a:t>
            </a:r>
          </a:p>
          <a:p>
            <a:pPr lvl="2"/>
            <a:endParaRPr lang="en-GB" dirty="0"/>
          </a:p>
          <a:p>
            <a:r>
              <a:rPr lang="en-GB" dirty="0"/>
              <a:t>Limitations:</a:t>
            </a:r>
          </a:p>
          <a:p>
            <a:pPr lvl="1"/>
            <a:r>
              <a:rPr lang="en-GB" dirty="0"/>
              <a:t>Box scores capture the </a:t>
            </a:r>
            <a:r>
              <a:rPr lang="en-GB" i="1" dirty="0"/>
              <a:t>what</a:t>
            </a:r>
            <a:r>
              <a:rPr lang="en-GB" dirty="0"/>
              <a:t> but entirely miss the how and why (i.e., context).</a:t>
            </a:r>
          </a:p>
          <a:p>
            <a:pPr lvl="1"/>
            <a:r>
              <a:rPr lang="en-GB" dirty="0"/>
              <a:t>High susceptibility to </a:t>
            </a:r>
            <a:r>
              <a:rPr lang="en-GB" b="1" dirty="0"/>
              <a:t>confirmation bias </a:t>
            </a:r>
            <a:r>
              <a:rPr lang="en-GB" dirty="0"/>
              <a:t>and small-sample-size </a:t>
            </a:r>
            <a:r>
              <a:rPr lang="en-GB" dirty="0" err="1"/>
              <a:t>theater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47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3170-FE53-47E0-1A1B-F4BD49D7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Pioneers of Sports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1B5E1-E192-CCEA-4081-97831FB65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1950s: Paul Brown</a:t>
            </a:r>
          </a:p>
          <a:p>
            <a:pPr lvl="1"/>
            <a:r>
              <a:rPr lang="en-US" dirty="0"/>
              <a:t>First to use game film for scouting and opponent analysis. (amongst many other innovations)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Developed a system for evaluating college players that became the blueprint for the modern NFL Draft. </a:t>
            </a:r>
          </a:p>
          <a:p>
            <a:r>
              <a:rPr lang="en-US" dirty="0"/>
              <a:t>1977: Bill James</a:t>
            </a:r>
          </a:p>
          <a:p>
            <a:pPr lvl="1"/>
            <a:r>
              <a:rPr lang="en-US" dirty="0"/>
              <a:t>He coined the term "Sabermetrics" and published the </a:t>
            </a:r>
            <a:r>
              <a:rPr lang="en-US" i="1" dirty="0"/>
              <a:t>Baseball Abstract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Challenged conventional metrics that valued the wrong skills, working largely outside the establishment.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1984: Davey Johnson</a:t>
            </a:r>
          </a:p>
          <a:p>
            <a:pPr lvl="1"/>
            <a:r>
              <a:rPr lang="en-US" dirty="0"/>
              <a:t>used a computer to run simulations for gameplay strategy, optimizing lineups and understanding opponent tendencies</a:t>
            </a:r>
          </a:p>
        </p:txBody>
      </p:sp>
    </p:spTree>
    <p:extLst>
      <p:ext uri="{BB962C8B-B14F-4D97-AF65-F5344CB8AC3E}">
        <p14:creationId xmlns:p14="http://schemas.microsoft.com/office/powerpoint/2010/main" val="315595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5CB5B-9908-17FF-3740-3BAF2BD4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Statistical Awakening (1970s–2000s)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7E0BA-A49C-C3A2-CEE4-15DFC387E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Characteristics:</a:t>
            </a:r>
          </a:p>
          <a:p>
            <a:pPr lvl="1"/>
            <a:r>
              <a:rPr lang="en-GB" dirty="0"/>
              <a:t>Independent pioneers digging beneath standard box scores to find true indicators of success (e.g., Bill James and Sabermetrics).</a:t>
            </a:r>
          </a:p>
          <a:p>
            <a:pPr lvl="1"/>
            <a:r>
              <a:rPr lang="en-GB" dirty="0"/>
              <a:t>Shift toward efficiency ratings and adjusted metrics rather than raw counting stats.</a:t>
            </a:r>
          </a:p>
          <a:p>
            <a:pPr lvl="0"/>
            <a:r>
              <a:rPr lang="en-GB" dirty="0"/>
              <a:t>The </a:t>
            </a:r>
            <a:r>
              <a:rPr lang="en-GB" i="1" dirty="0"/>
              <a:t>Moneyball</a:t>
            </a:r>
            <a:r>
              <a:rPr lang="en-GB" dirty="0"/>
              <a:t> Effect:</a:t>
            </a:r>
          </a:p>
          <a:p>
            <a:pPr lvl="1"/>
            <a:r>
              <a:rPr lang="en-GB" dirty="0"/>
              <a:t>Popularized the framework of exploiting market inefficiencies.</a:t>
            </a:r>
          </a:p>
          <a:p>
            <a:pPr lvl="1"/>
            <a:r>
              <a:rPr lang="en-GB" dirty="0"/>
              <a:t>Proved that analytical frameworks could compete with (and often beat) massive financial budgets.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3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9328-63E7-F283-786D-C9341805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was analytics still limited?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3BF0E-3CFE-EF87-2E46-64D11545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availability</a:t>
            </a:r>
          </a:p>
        </p:txBody>
      </p:sp>
    </p:spTree>
    <p:extLst>
      <p:ext uri="{BB962C8B-B14F-4D97-AF65-F5344CB8AC3E}">
        <p14:creationId xmlns:p14="http://schemas.microsoft.com/office/powerpoint/2010/main" val="219712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CDDF-29A0-DBD6-E375-089B8697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Tracking and wearable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AF487-E8D2-0FAC-0523-22B66DA5B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some examples of technologies that increased analytics in your sport?</a:t>
            </a:r>
          </a:p>
        </p:txBody>
      </p:sp>
    </p:spTree>
    <p:extLst>
      <p:ext uri="{BB962C8B-B14F-4D97-AF65-F5344CB8AC3E}">
        <p14:creationId xmlns:p14="http://schemas.microsoft.com/office/powerpoint/2010/main" val="2501267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815F-37BE-9B21-58EA-EC5293EB4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Tracking and wearable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55DCA-8299-BBBA-BA3D-B515EF929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1978: Seppo </a:t>
            </a:r>
            <a:r>
              <a:rPr lang="en-US" dirty="0" err="1"/>
              <a:t>Säynäjäkangas</a:t>
            </a:r>
            <a:r>
              <a:rPr lang="en-US" dirty="0"/>
              <a:t> (Polar)</a:t>
            </a:r>
          </a:p>
          <a:p>
            <a:pPr lvl="1"/>
            <a:r>
              <a:rPr lang="en-US" dirty="0"/>
              <a:t>filed the first wireless heart rate monitor patent</a:t>
            </a:r>
          </a:p>
          <a:p>
            <a:pPr lvl="1"/>
            <a:r>
              <a:rPr lang="en-US" dirty="0"/>
              <a:t>marking the beginning of portable physiological monitoring in sports</a:t>
            </a:r>
          </a:p>
          <a:p>
            <a:r>
              <a:rPr lang="en-US" dirty="0"/>
              <a:t>2003: Gary Burrell &amp; Min Kao (Garmin)</a:t>
            </a:r>
          </a:p>
          <a:p>
            <a:pPr lvl="1"/>
            <a:r>
              <a:rPr lang="en-US" dirty="0"/>
              <a:t>Brought GPS technology to the masses.</a:t>
            </a:r>
          </a:p>
          <a:p>
            <a:r>
              <a:rPr lang="en-US" dirty="0"/>
              <a:t>2003: Trackman </a:t>
            </a:r>
          </a:p>
          <a:p>
            <a:pPr lvl="1"/>
            <a:r>
              <a:rPr lang="en-US" dirty="0"/>
              <a:t>Began as a golf start up aimed at measuring ball ballistics</a:t>
            </a:r>
          </a:p>
          <a:p>
            <a:pPr lvl="1"/>
            <a:r>
              <a:rPr lang="en-US" dirty="0"/>
              <a:t>Opened a baseball division in 2008</a:t>
            </a:r>
          </a:p>
          <a:p>
            <a:r>
              <a:rPr lang="en-US" dirty="0"/>
              <a:t>2006: Catapult</a:t>
            </a:r>
          </a:p>
          <a:p>
            <a:pPr lvl="1"/>
            <a:r>
              <a:rPr lang="en-US" dirty="0"/>
              <a:t>Commercialized team oriented wearable GPS technology based on research by founders and Australian Institute of Sport (AIS)</a:t>
            </a:r>
          </a:p>
          <a:p>
            <a:pPr lvl="1"/>
            <a:r>
              <a:rPr lang="en-US" dirty="0"/>
              <a:t>Enabled coaches to track player distances and movement data across team</a:t>
            </a:r>
          </a:p>
        </p:txBody>
      </p:sp>
    </p:spTree>
    <p:extLst>
      <p:ext uri="{BB962C8B-B14F-4D97-AF65-F5344CB8AC3E}">
        <p14:creationId xmlns:p14="http://schemas.microsoft.com/office/powerpoint/2010/main" val="3792205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08B9-3618-4FDF-3962-5D649CBF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Tracking &amp; Wearables Revolution (2010s - 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D9779-4C7F-B80E-1D55-FC5858125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Characteristics:</a:t>
            </a:r>
          </a:p>
          <a:p>
            <a:pPr lvl="1"/>
            <a:r>
              <a:rPr lang="en-GB" dirty="0"/>
              <a:t>Proliferation of optical tracking cameras (</a:t>
            </a:r>
            <a:r>
              <a:rPr lang="en-GB" dirty="0" err="1"/>
              <a:t>SportVU</a:t>
            </a:r>
            <a:r>
              <a:rPr lang="en-GB" dirty="0"/>
              <a:t>, Hawk-Eye) and internal/external physical load monitors (GPS, Catapult, accelerometers).</a:t>
            </a:r>
          </a:p>
          <a:p>
            <a:pPr lvl="1"/>
            <a:r>
              <a:rPr lang="en-GB" dirty="0"/>
              <a:t>Real-time tracking of spatial data, player velocity, and biomechanical stress.</a:t>
            </a:r>
          </a:p>
          <a:p>
            <a:pPr lvl="0"/>
            <a:r>
              <a:rPr lang="en-GB" dirty="0"/>
              <a:t>The Shift:</a:t>
            </a:r>
          </a:p>
          <a:p>
            <a:pPr lvl="1"/>
            <a:r>
              <a:rPr lang="en-GB" dirty="0"/>
              <a:t>Moving from macro-level game summaries to micro-level movement data.</a:t>
            </a:r>
          </a:p>
          <a:p>
            <a:pPr lvl="1"/>
            <a:r>
              <a:rPr lang="en-GB" dirty="0"/>
              <a:t>Quantifying fatigue and workload before soft-tissue injuries manifest.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2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4A9F-BEA2-0A56-8DED-BA72C91B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Three Pillars of Sport Performance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7F0A6-90B9-9DE0-F578-AF97E3143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Scouting &amp; Talent Evaluation</a:t>
            </a:r>
          </a:p>
          <a:p>
            <a:pPr lvl="1"/>
            <a:r>
              <a:rPr lang="en-GB" dirty="0"/>
              <a:t>Objective profiling, tracking performance trajectories, and building predictive models for athlete recruitment.</a:t>
            </a:r>
          </a:p>
          <a:p>
            <a:pPr lvl="0"/>
            <a:r>
              <a:rPr lang="en-GB" dirty="0"/>
              <a:t>Athlete Tracking (Physical &amp; Spatial)</a:t>
            </a:r>
          </a:p>
          <a:p>
            <a:pPr lvl="1"/>
            <a:r>
              <a:rPr lang="en-GB" dirty="0"/>
              <a:t>Monitoring external load (distance, acceleration) and internal load (heart rate, RPE) to manage training stress and prevent injuries.</a:t>
            </a:r>
          </a:p>
          <a:p>
            <a:pPr lvl="0"/>
            <a:r>
              <a:rPr lang="en-GB" dirty="0"/>
              <a:t>Strategy &amp; Tactical Optimization</a:t>
            </a:r>
          </a:p>
          <a:p>
            <a:pPr lvl="1"/>
            <a:r>
              <a:rPr lang="en-GB" dirty="0"/>
              <a:t>Leveraging situational probabilities and spatial efficiency to guide play-calling, defensive alignment, and game plans.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717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FFCD-A6D7-1A74-9C69-2EC99B6B2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Challenges &amp; Cultural Friction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396EC-4609-2FC2-21B9-A6593D7EC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Cognitive Biases:</a:t>
            </a:r>
          </a:p>
          <a:p>
            <a:pPr lvl="1"/>
            <a:r>
              <a:rPr lang="en-GB" dirty="0"/>
              <a:t>Overcoming the "hot hand" fallacy, </a:t>
            </a:r>
            <a:r>
              <a:rPr lang="en-GB" b="1" dirty="0"/>
              <a:t>outcome bias</a:t>
            </a:r>
            <a:r>
              <a:rPr lang="en-GB" dirty="0"/>
              <a:t>, and selective memory.</a:t>
            </a:r>
          </a:p>
          <a:p>
            <a:pPr lvl="0"/>
            <a:r>
              <a:rPr lang="en-GB" dirty="0"/>
              <a:t>Signal vs. Noise:</a:t>
            </a:r>
          </a:p>
          <a:p>
            <a:pPr lvl="1"/>
            <a:r>
              <a:rPr lang="en-GB" dirty="0"/>
              <a:t>Avoiding data overload. Not everything that can be measured matters, and not everything that matters can be easily measured.</a:t>
            </a:r>
          </a:p>
          <a:p>
            <a:pPr lvl="0"/>
            <a:r>
              <a:rPr lang="en-GB" dirty="0"/>
              <a:t>The Human Element:</a:t>
            </a:r>
          </a:p>
          <a:p>
            <a:pPr lvl="1"/>
            <a:r>
              <a:rPr lang="en-GB" dirty="0"/>
              <a:t>Analytics is only as powerful as its implementation on the ground.</a:t>
            </a:r>
          </a:p>
          <a:p>
            <a:pPr lvl="1"/>
            <a:r>
              <a:rPr lang="en-GB" dirty="0"/>
              <a:t>Pushing past cultural resistance from traditional coaches, staff, and athletes.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529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EC62E-5986-B48B-6BA5-692F731A5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Moneyball: The art of winning an unfair game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C866B-3ED2-68D3-4C36-BAF372DD1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hlinkClick r:id="rId2"/>
              </a:rPr>
              <a:t>Revisiting Moneyball</a:t>
            </a:r>
            <a:r>
              <a:rPr lang="en-GB" b="1" dirty="0"/>
              <a:t> by </a:t>
            </a:r>
            <a:r>
              <a:rPr lang="en-GB" dirty="0">
                <a:hlinkClick r:id="rId3"/>
              </a:rPr>
              <a:t>Pardis Noorzad</a:t>
            </a:r>
            <a:endParaRPr lang="en-GB" b="1" dirty="0"/>
          </a:p>
          <a:p>
            <a:pPr lvl="1"/>
            <a:r>
              <a:rPr lang="en-GB" i="1" dirty="0"/>
              <a:t>What specific problem were the A’s trying to solve?</a:t>
            </a:r>
          </a:p>
          <a:p>
            <a:pPr lvl="1"/>
            <a:r>
              <a:rPr lang="en-GB" i="1" dirty="0"/>
              <a:t>How did they use data to solve it?</a:t>
            </a:r>
          </a:p>
          <a:p>
            <a:pPr lvl="1"/>
            <a:r>
              <a:rPr lang="en-GB" i="1" dirty="0"/>
              <a:t>How did analytics impact the scouting job?</a:t>
            </a:r>
          </a:p>
          <a:p>
            <a:pPr lvl="1"/>
            <a:r>
              <a:rPr lang="en-GB" i="1" dirty="0"/>
              <a:t>How has baseball analytics changed since?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657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857</Words>
  <Application>Microsoft Macintosh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Evolution of Sports Analytics</vt:lpstr>
      <vt:lpstr>Exercise: The Box Score Blind Spot</vt:lpstr>
      <vt:lpstr>The Paradigm Shift: Eye Test vs. Data</vt:lpstr>
      <vt:lpstr>Analog Measurement and Analysis</vt:lpstr>
      <vt:lpstr>The Traditional Era (Pre-1970s)</vt:lpstr>
      <vt:lpstr>Pioneers of Sports Analytics</vt:lpstr>
      <vt:lpstr>The Statistical Awakening (1970s–2000s)</vt:lpstr>
      <vt:lpstr>Why was analytics still limited?</vt:lpstr>
      <vt:lpstr>Tracking and wearable technology</vt:lpstr>
      <vt:lpstr>Tracking and wearable technology</vt:lpstr>
      <vt:lpstr>The Tracking &amp; Wearables Revolution (2010s - )</vt:lpstr>
      <vt:lpstr>Three Pillars of Sport Performance Analytics</vt:lpstr>
      <vt:lpstr>Challenges &amp; Cultural Friction</vt:lpstr>
      <vt:lpstr>Moneyball: The art of winning an unfair game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Onishi, Saryu</cp:lastModifiedBy>
  <cp:revision>3</cp:revision>
  <dcterms:created xsi:type="dcterms:W3CDTF">2026-08-17T13:48:23Z</dcterms:created>
  <dcterms:modified xsi:type="dcterms:W3CDTF">2026-08-18T15:36:56Z</dcterms:modified>
</cp:coreProperties>
</file>