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364" r:id="rId3"/>
    <p:sldId id="365" r:id="rId4"/>
    <p:sldId id="316" r:id="rId5"/>
    <p:sldId id="295" r:id="rId6"/>
    <p:sldId id="334" r:id="rId7"/>
    <p:sldId id="358" r:id="rId8"/>
    <p:sldId id="296" r:id="rId9"/>
    <p:sldId id="317" r:id="rId10"/>
    <p:sldId id="325" r:id="rId11"/>
    <p:sldId id="335" r:id="rId12"/>
    <p:sldId id="344" r:id="rId13"/>
    <p:sldId id="359" r:id="rId14"/>
    <p:sldId id="360" r:id="rId15"/>
    <p:sldId id="361" r:id="rId16"/>
    <p:sldId id="351" r:id="rId17"/>
    <p:sldId id="362" r:id="rId18"/>
    <p:sldId id="352" r:id="rId19"/>
    <p:sldId id="354" r:id="rId20"/>
    <p:sldId id="322" r:id="rId21"/>
    <p:sldId id="338" r:id="rId22"/>
    <p:sldId id="356" r:id="rId23"/>
    <p:sldId id="357" r:id="rId24"/>
    <p:sldId id="353" r:id="rId25"/>
    <p:sldId id="327" r:id="rId26"/>
    <p:sldId id="340" r:id="rId27"/>
    <p:sldId id="341" r:id="rId28"/>
    <p:sldId id="355" r:id="rId29"/>
    <p:sldId id="342" r:id="rId30"/>
    <p:sldId id="343" r:id="rId31"/>
    <p:sldId id="329" r:id="rId32"/>
    <p:sldId id="345" r:id="rId33"/>
    <p:sldId id="326" r:id="rId34"/>
    <p:sldId id="346" r:id="rId35"/>
    <p:sldId id="347" r:id="rId36"/>
    <p:sldId id="348" r:id="rId37"/>
    <p:sldId id="349"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EC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8BA75F-BB6E-9F18-1648-74F52ADBFB50}" v="317" dt="2026-09-14T21:32:23.5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4044"/>
    <p:restoredTop sz="78492" autoAdjust="0"/>
  </p:normalViewPr>
  <p:slideViewPr>
    <p:cSldViewPr snapToGrid="0">
      <p:cViewPr varScale="1">
        <p:scale>
          <a:sx n="97" d="100"/>
          <a:sy n="97" d="100"/>
        </p:scale>
        <p:origin x="640" y="192"/>
      </p:cViewPr>
      <p:guideLst/>
    </p:cSldViewPr>
  </p:slideViewPr>
  <p:notesTextViewPr>
    <p:cViewPr>
      <p:scale>
        <a:sx n="1" d="1"/>
        <a:sy n="1" d="1"/>
      </p:scale>
      <p:origin x="0" y="0"/>
    </p:cViewPr>
  </p:notesTextViewPr>
  <p:sorterViewPr>
    <p:cViewPr varScale="1">
      <p:scale>
        <a:sx n="1" d="1"/>
        <a:sy n="1" d="1"/>
      </p:scale>
      <p:origin x="0" y="-327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nishi, Saryu" userId="S::saryu@ou.edu::24ec4854-0e9b-4cd9-95b4-b9d15917116b" providerId="AD" clId="Web-{D68BA75F-BB6E-9F18-1648-74F52ADBFB50}"/>
    <pc:docChg chg="addSld modSld">
      <pc:chgData name="Onishi, Saryu" userId="S::saryu@ou.edu::24ec4854-0e9b-4cd9-95b4-b9d15917116b" providerId="AD" clId="Web-{D68BA75F-BB6E-9F18-1648-74F52ADBFB50}" dt="2026-09-14T21:32:21.071" v="322"/>
      <pc:docMkLst>
        <pc:docMk/>
      </pc:docMkLst>
      <pc:sldChg chg="modSp">
        <pc:chgData name="Onishi, Saryu" userId="S::saryu@ou.edu::24ec4854-0e9b-4cd9-95b4-b9d15917116b" providerId="AD" clId="Web-{D68BA75F-BB6E-9F18-1648-74F52ADBFB50}" dt="2026-09-14T21:23:01.601" v="188" actId="20577"/>
        <pc:sldMkLst>
          <pc:docMk/>
          <pc:sldMk cId="2206692154" sldId="301"/>
        </pc:sldMkLst>
        <pc:spChg chg="mod">
          <ac:chgData name="Onishi, Saryu" userId="S::saryu@ou.edu::24ec4854-0e9b-4cd9-95b4-b9d15917116b" providerId="AD" clId="Web-{D68BA75F-BB6E-9F18-1648-74F52ADBFB50}" dt="2026-09-14T21:23:01.601" v="188" actId="20577"/>
          <ac:spMkLst>
            <pc:docMk/>
            <pc:sldMk cId="2206692154" sldId="301"/>
            <ac:spMk id="3" creationId="{B7781857-C6C4-CF29-7D9F-C7FCD74ECA0D}"/>
          </ac:spMkLst>
        </pc:spChg>
      </pc:sldChg>
      <pc:sldChg chg="modSp">
        <pc:chgData name="Onishi, Saryu" userId="S::saryu@ou.edu::24ec4854-0e9b-4cd9-95b4-b9d15917116b" providerId="AD" clId="Web-{D68BA75F-BB6E-9F18-1648-74F52ADBFB50}" dt="2026-09-14T21:16:29.569" v="91" actId="20577"/>
        <pc:sldMkLst>
          <pc:docMk/>
          <pc:sldMk cId="404022894" sldId="309"/>
        </pc:sldMkLst>
        <pc:spChg chg="mod">
          <ac:chgData name="Onishi, Saryu" userId="S::saryu@ou.edu::24ec4854-0e9b-4cd9-95b4-b9d15917116b" providerId="AD" clId="Web-{D68BA75F-BB6E-9F18-1648-74F52ADBFB50}" dt="2026-09-14T21:16:29.569" v="91" actId="20577"/>
          <ac:spMkLst>
            <pc:docMk/>
            <pc:sldMk cId="404022894" sldId="309"/>
            <ac:spMk id="3" creationId="{51729538-923D-458B-77DC-2E172E5670ED}"/>
          </ac:spMkLst>
        </pc:spChg>
      </pc:sldChg>
      <pc:sldChg chg="modSp">
        <pc:chgData name="Onishi, Saryu" userId="S::saryu@ou.edu::24ec4854-0e9b-4cd9-95b4-b9d15917116b" providerId="AD" clId="Web-{D68BA75F-BB6E-9F18-1648-74F52ADBFB50}" dt="2026-09-14T21:07:36.208" v="9" actId="1076"/>
        <pc:sldMkLst>
          <pc:docMk/>
          <pc:sldMk cId="2375312425" sldId="341"/>
        </pc:sldMkLst>
        <pc:spChg chg="mod">
          <ac:chgData name="Onishi, Saryu" userId="S::saryu@ou.edu::24ec4854-0e9b-4cd9-95b4-b9d15917116b" providerId="AD" clId="Web-{D68BA75F-BB6E-9F18-1648-74F52ADBFB50}" dt="2026-09-14T21:07:32.817" v="8" actId="20577"/>
          <ac:spMkLst>
            <pc:docMk/>
            <pc:sldMk cId="2375312425" sldId="341"/>
            <ac:spMk id="3" creationId="{81DA9FF1-2CFE-687B-73EB-63D88B461873}"/>
          </ac:spMkLst>
        </pc:spChg>
        <pc:spChg chg="mod">
          <ac:chgData name="Onishi, Saryu" userId="S::saryu@ou.edu::24ec4854-0e9b-4cd9-95b4-b9d15917116b" providerId="AD" clId="Web-{D68BA75F-BB6E-9F18-1648-74F52ADBFB50}" dt="2026-09-14T21:07:36.208" v="9" actId="1076"/>
          <ac:spMkLst>
            <pc:docMk/>
            <pc:sldMk cId="2375312425" sldId="341"/>
            <ac:spMk id="5" creationId="{6F87B829-A4B6-1F78-9DA5-137B29194ED2}"/>
          </ac:spMkLst>
        </pc:spChg>
      </pc:sldChg>
      <pc:sldChg chg="modSp new">
        <pc:chgData name="Onishi, Saryu" userId="S::saryu@ou.edu::24ec4854-0e9b-4cd9-95b4-b9d15917116b" providerId="AD" clId="Web-{D68BA75F-BB6E-9F18-1648-74F52ADBFB50}" dt="2026-09-14T21:24:18.789" v="206" actId="20577"/>
        <pc:sldMkLst>
          <pc:docMk/>
          <pc:sldMk cId="2874847518" sldId="354"/>
        </pc:sldMkLst>
        <pc:spChg chg="mod">
          <ac:chgData name="Onishi, Saryu" userId="S::saryu@ou.edu::24ec4854-0e9b-4cd9-95b4-b9d15917116b" providerId="AD" clId="Web-{D68BA75F-BB6E-9F18-1648-74F52ADBFB50}" dt="2026-09-14T21:15:16.819" v="74" actId="20577"/>
          <ac:spMkLst>
            <pc:docMk/>
            <pc:sldMk cId="2874847518" sldId="354"/>
            <ac:spMk id="2" creationId="{B112D2BE-C4C4-4D20-846C-3EF3A9972AED}"/>
          </ac:spMkLst>
        </pc:spChg>
        <pc:spChg chg="mod">
          <ac:chgData name="Onishi, Saryu" userId="S::saryu@ou.edu::24ec4854-0e9b-4cd9-95b4-b9d15917116b" providerId="AD" clId="Web-{D68BA75F-BB6E-9F18-1648-74F52ADBFB50}" dt="2026-09-14T21:24:18.789" v="206" actId="20577"/>
          <ac:spMkLst>
            <pc:docMk/>
            <pc:sldMk cId="2874847518" sldId="354"/>
            <ac:spMk id="3" creationId="{D45FD767-E1AA-9C8B-849F-6E11EB3CB6C0}"/>
          </ac:spMkLst>
        </pc:spChg>
      </pc:sldChg>
      <pc:sldChg chg="modSp new">
        <pc:chgData name="Onishi, Saryu" userId="S::saryu@ou.edu::24ec4854-0e9b-4cd9-95b4-b9d15917116b" providerId="AD" clId="Web-{D68BA75F-BB6E-9F18-1648-74F52ADBFB50}" dt="2026-09-14T21:17:39.194" v="127" actId="20577"/>
        <pc:sldMkLst>
          <pc:docMk/>
          <pc:sldMk cId="809028509" sldId="355"/>
        </pc:sldMkLst>
        <pc:spChg chg="mod">
          <ac:chgData name="Onishi, Saryu" userId="S::saryu@ou.edu::24ec4854-0e9b-4cd9-95b4-b9d15917116b" providerId="AD" clId="Web-{D68BA75F-BB6E-9F18-1648-74F52ADBFB50}" dt="2026-09-14T21:17:39.194" v="127" actId="20577"/>
          <ac:spMkLst>
            <pc:docMk/>
            <pc:sldMk cId="809028509" sldId="355"/>
            <ac:spMk id="2" creationId="{9B3B2596-FD5F-03B2-820D-4B9F36FB3D0A}"/>
          </ac:spMkLst>
        </pc:spChg>
        <pc:spChg chg="mod">
          <ac:chgData name="Onishi, Saryu" userId="S::saryu@ou.edu::24ec4854-0e9b-4cd9-95b4-b9d15917116b" providerId="AD" clId="Web-{D68BA75F-BB6E-9F18-1648-74F52ADBFB50}" dt="2026-09-14T21:17:17.678" v="121" actId="20577"/>
          <ac:spMkLst>
            <pc:docMk/>
            <pc:sldMk cId="809028509" sldId="355"/>
            <ac:spMk id="3" creationId="{FAB2016C-BC61-0A1A-E451-7B3E637EF84A}"/>
          </ac:spMkLst>
        </pc:spChg>
      </pc:sldChg>
      <pc:sldChg chg="modSp new">
        <pc:chgData name="Onishi, Saryu" userId="S::saryu@ou.edu::24ec4854-0e9b-4cd9-95b4-b9d15917116b" providerId="AD" clId="Web-{D68BA75F-BB6E-9F18-1648-74F52ADBFB50}" dt="2026-09-14T21:17:57.460" v="132" actId="20577"/>
        <pc:sldMkLst>
          <pc:docMk/>
          <pc:sldMk cId="4290967881" sldId="356"/>
        </pc:sldMkLst>
        <pc:spChg chg="mod">
          <ac:chgData name="Onishi, Saryu" userId="S::saryu@ou.edu::24ec4854-0e9b-4cd9-95b4-b9d15917116b" providerId="AD" clId="Web-{D68BA75F-BB6E-9F18-1648-74F52ADBFB50}" dt="2026-09-14T21:17:53.944" v="130" actId="20577"/>
          <ac:spMkLst>
            <pc:docMk/>
            <pc:sldMk cId="4290967881" sldId="356"/>
            <ac:spMk id="2" creationId="{E2FA18D7-28B2-133F-662F-90CC8F55869B}"/>
          </ac:spMkLst>
        </pc:spChg>
        <pc:spChg chg="mod">
          <ac:chgData name="Onishi, Saryu" userId="S::saryu@ou.edu::24ec4854-0e9b-4cd9-95b4-b9d15917116b" providerId="AD" clId="Web-{D68BA75F-BB6E-9F18-1648-74F52ADBFB50}" dt="2026-09-14T21:17:57.460" v="132" actId="20577"/>
          <ac:spMkLst>
            <pc:docMk/>
            <pc:sldMk cId="4290967881" sldId="356"/>
            <ac:spMk id="3" creationId="{C603F302-AE7F-8CE3-9FC5-7C9203D4C4E2}"/>
          </ac:spMkLst>
        </pc:spChg>
      </pc:sldChg>
      <pc:sldChg chg="modSp add replId">
        <pc:chgData name="Onishi, Saryu" userId="S::saryu@ou.edu::24ec4854-0e9b-4cd9-95b4-b9d15917116b" providerId="AD" clId="Web-{D68BA75F-BB6E-9F18-1648-74F52ADBFB50}" dt="2026-09-14T21:18:30.835" v="139" actId="20577"/>
        <pc:sldMkLst>
          <pc:docMk/>
          <pc:sldMk cId="1767871761" sldId="357"/>
        </pc:sldMkLst>
        <pc:spChg chg="mod">
          <ac:chgData name="Onishi, Saryu" userId="S::saryu@ou.edu::24ec4854-0e9b-4cd9-95b4-b9d15917116b" providerId="AD" clId="Web-{D68BA75F-BB6E-9F18-1648-74F52ADBFB50}" dt="2026-09-14T21:18:30.835" v="139" actId="20577"/>
          <ac:spMkLst>
            <pc:docMk/>
            <pc:sldMk cId="1767871761" sldId="357"/>
            <ac:spMk id="3" creationId="{F328F1A0-F2E2-C4F6-63D0-F385C2C08D80}"/>
          </ac:spMkLst>
        </pc:spChg>
      </pc:sldChg>
      <pc:sldChg chg="add mod replId modShow">
        <pc:chgData name="Onishi, Saryu" userId="S::saryu@ou.edu::24ec4854-0e9b-4cd9-95b4-b9d15917116b" providerId="AD" clId="Web-{D68BA75F-BB6E-9F18-1648-74F52ADBFB50}" dt="2026-09-14T21:24:20.117" v="207"/>
        <pc:sldMkLst>
          <pc:docMk/>
          <pc:sldMk cId="2995389737" sldId="358"/>
        </pc:sldMkLst>
      </pc:sldChg>
      <pc:sldChg chg="modSp add replId">
        <pc:chgData name="Onishi, Saryu" userId="S::saryu@ou.edu::24ec4854-0e9b-4cd9-95b4-b9d15917116b" providerId="AD" clId="Web-{D68BA75F-BB6E-9F18-1648-74F52ADBFB50}" dt="2026-09-14T21:25:34.258" v="214" actId="20577"/>
        <pc:sldMkLst>
          <pc:docMk/>
          <pc:sldMk cId="1243830769" sldId="359"/>
        </pc:sldMkLst>
        <pc:spChg chg="mod">
          <ac:chgData name="Onishi, Saryu" userId="S::saryu@ou.edu::24ec4854-0e9b-4cd9-95b4-b9d15917116b" providerId="AD" clId="Web-{D68BA75F-BB6E-9F18-1648-74F52ADBFB50}" dt="2026-09-14T21:25:34.258" v="214" actId="20577"/>
          <ac:spMkLst>
            <pc:docMk/>
            <pc:sldMk cId="1243830769" sldId="359"/>
            <ac:spMk id="3" creationId="{451547EC-8C64-0100-020D-0D8510686817}"/>
          </ac:spMkLst>
        </pc:spChg>
      </pc:sldChg>
      <pc:sldChg chg="modSp new">
        <pc:chgData name="Onishi, Saryu" userId="S::saryu@ou.edu::24ec4854-0e9b-4cd9-95b4-b9d15917116b" providerId="AD" clId="Web-{D68BA75F-BB6E-9F18-1648-74F52ADBFB50}" dt="2026-09-14T21:26:53.070" v="229" actId="20577"/>
        <pc:sldMkLst>
          <pc:docMk/>
          <pc:sldMk cId="2381630488" sldId="360"/>
        </pc:sldMkLst>
        <pc:spChg chg="mod">
          <ac:chgData name="Onishi, Saryu" userId="S::saryu@ou.edu::24ec4854-0e9b-4cd9-95b4-b9d15917116b" providerId="AD" clId="Web-{D68BA75F-BB6E-9F18-1648-74F52ADBFB50}" dt="2026-09-14T21:26:53.070" v="229" actId="20577"/>
          <ac:spMkLst>
            <pc:docMk/>
            <pc:sldMk cId="2381630488" sldId="360"/>
            <ac:spMk id="3" creationId="{573F9774-8134-A9A4-DA1E-3A021D0E75A4}"/>
          </ac:spMkLst>
        </pc:spChg>
      </pc:sldChg>
      <pc:sldChg chg="addSp modSp new">
        <pc:chgData name="Onishi, Saryu" userId="S::saryu@ou.edu::24ec4854-0e9b-4cd9-95b4-b9d15917116b" providerId="AD" clId="Web-{D68BA75F-BB6E-9F18-1648-74F52ADBFB50}" dt="2026-09-14T21:28:09.180" v="264"/>
        <pc:sldMkLst>
          <pc:docMk/>
          <pc:sldMk cId="1486169029" sldId="361"/>
        </pc:sldMkLst>
        <pc:spChg chg="mod">
          <ac:chgData name="Onishi, Saryu" userId="S::saryu@ou.edu::24ec4854-0e9b-4cd9-95b4-b9d15917116b" providerId="AD" clId="Web-{D68BA75F-BB6E-9F18-1648-74F52ADBFB50}" dt="2026-09-14T21:27:11.758" v="238" actId="20577"/>
          <ac:spMkLst>
            <pc:docMk/>
            <pc:sldMk cId="1486169029" sldId="361"/>
            <ac:spMk id="2" creationId="{519443A2-C56F-F6DF-D387-0E48376C5816}"/>
          </ac:spMkLst>
        </pc:spChg>
        <pc:spChg chg="mod">
          <ac:chgData name="Onishi, Saryu" userId="S::saryu@ou.edu::24ec4854-0e9b-4cd9-95b4-b9d15917116b" providerId="AD" clId="Web-{D68BA75F-BB6E-9F18-1648-74F52ADBFB50}" dt="2026-09-14T21:27:21.649" v="246" actId="20577"/>
          <ac:spMkLst>
            <pc:docMk/>
            <pc:sldMk cId="1486169029" sldId="361"/>
            <ac:spMk id="3" creationId="{B4660DEF-0C6D-4352-D4C1-3F9EDC657A6D}"/>
          </ac:spMkLst>
        </pc:spChg>
        <pc:spChg chg="add mod">
          <ac:chgData name="Onishi, Saryu" userId="S::saryu@ou.edu::24ec4854-0e9b-4cd9-95b4-b9d15917116b" providerId="AD" clId="Web-{D68BA75F-BB6E-9F18-1648-74F52ADBFB50}" dt="2026-09-14T21:28:09.180" v="264"/>
          <ac:spMkLst>
            <pc:docMk/>
            <pc:sldMk cId="1486169029" sldId="361"/>
            <ac:spMk id="4" creationId="{ADEF0CF4-9F0B-9BCC-D6D4-49A532E4AD93}"/>
          </ac:spMkLst>
        </pc:spChg>
      </pc:sldChg>
      <pc:sldChg chg="addSp modSp new">
        <pc:chgData name="Onishi, Saryu" userId="S::saryu@ou.edu::24ec4854-0e9b-4cd9-95b4-b9d15917116b" providerId="AD" clId="Web-{D68BA75F-BB6E-9F18-1648-74F52ADBFB50}" dt="2026-09-14T21:32:21.071" v="322"/>
        <pc:sldMkLst>
          <pc:docMk/>
          <pc:sldMk cId="2995797760" sldId="362"/>
        </pc:sldMkLst>
        <pc:spChg chg="mod">
          <ac:chgData name="Onishi, Saryu" userId="S::saryu@ou.edu::24ec4854-0e9b-4cd9-95b4-b9d15917116b" providerId="AD" clId="Web-{D68BA75F-BB6E-9F18-1648-74F52ADBFB50}" dt="2026-09-14T21:28:52.883" v="278" actId="20577"/>
          <ac:spMkLst>
            <pc:docMk/>
            <pc:sldMk cId="2995797760" sldId="362"/>
            <ac:spMk id="2" creationId="{79865F0B-0A66-FF8B-3F5C-3BDD7AF304A8}"/>
          </ac:spMkLst>
        </pc:spChg>
        <pc:spChg chg="mod">
          <ac:chgData name="Onishi, Saryu" userId="S::saryu@ou.edu::24ec4854-0e9b-4cd9-95b4-b9d15917116b" providerId="AD" clId="Web-{D68BA75F-BB6E-9F18-1648-74F52ADBFB50}" dt="2026-09-14T21:32:16.696" v="320" actId="20577"/>
          <ac:spMkLst>
            <pc:docMk/>
            <pc:sldMk cId="2995797760" sldId="362"/>
            <ac:spMk id="3" creationId="{44203125-B9A9-9921-B918-608635B0F058}"/>
          </ac:spMkLst>
        </pc:spChg>
        <pc:graphicFrameChg chg="add mod modGraphic">
          <ac:chgData name="Onishi, Saryu" userId="S::saryu@ou.edu::24ec4854-0e9b-4cd9-95b4-b9d15917116b" providerId="AD" clId="Web-{D68BA75F-BB6E-9F18-1648-74F52ADBFB50}" dt="2026-09-14T21:32:21.071" v="322"/>
          <ac:graphicFrameMkLst>
            <pc:docMk/>
            <pc:sldMk cId="2995797760" sldId="362"/>
            <ac:graphicFrameMk id="5" creationId="{0EB1E87E-8339-EF70-96ED-F69529683223}"/>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95A223-E7C9-A243-9A70-FE01E1A1DD65}" type="datetimeFigureOut">
              <a:rPr lang="en-US" smtClean="0"/>
              <a:t>9/24/26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7D17FD-8842-8E4F-8C3E-EC8B634B2D5A}" type="slidenum">
              <a:rPr lang="en-US" smtClean="0"/>
              <a:t>‹#›</a:t>
            </a:fld>
            <a:endParaRPr lang="en-US"/>
          </a:p>
        </p:txBody>
      </p:sp>
    </p:spTree>
    <p:extLst>
      <p:ext uri="{BB962C8B-B14F-4D97-AF65-F5344CB8AC3E}">
        <p14:creationId xmlns:p14="http://schemas.microsoft.com/office/powerpoint/2010/main" val="2003881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117D17FD-8842-8E4F-8C3E-EC8B634B2D5A}" type="slidenum">
              <a:rPr lang="en-US" smtClean="0"/>
              <a:t>1</a:t>
            </a:fld>
            <a:endParaRPr lang="en-US"/>
          </a:p>
        </p:txBody>
      </p:sp>
    </p:spTree>
    <p:extLst>
      <p:ext uri="{BB962C8B-B14F-4D97-AF65-F5344CB8AC3E}">
        <p14:creationId xmlns:p14="http://schemas.microsoft.com/office/powerpoint/2010/main" val="2482458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Section 1: Central tendency</a:t>
            </a:r>
          </a:p>
          <a:p>
            <a:r>
              <a:rPr lang="en-US" dirty="0"/>
              <a:t>What is typical?</a:t>
            </a:r>
          </a:p>
        </p:txBody>
      </p:sp>
      <p:sp>
        <p:nvSpPr>
          <p:cNvPr id="4" name="Slide Number Placeholder 3"/>
          <p:cNvSpPr>
            <a:spLocks noGrp="1"/>
          </p:cNvSpPr>
          <p:nvPr>
            <p:ph type="sldNum" sz="quarter" idx="5"/>
          </p:nvPr>
        </p:nvSpPr>
        <p:spPr/>
        <p:txBody>
          <a:bodyPr/>
          <a:lstStyle/>
          <a:p>
            <a:fld id="{1560C251-82B7-4253-A774-38D73C276BCE}" type="slidenum">
              <a:rPr lang="en-US" smtClean="0"/>
              <a:t>4</a:t>
            </a:fld>
            <a:endParaRPr lang="en-US"/>
          </a:p>
        </p:txBody>
      </p:sp>
    </p:spTree>
    <p:extLst>
      <p:ext uri="{BB962C8B-B14F-4D97-AF65-F5344CB8AC3E}">
        <p14:creationId xmlns:p14="http://schemas.microsoft.com/office/powerpoint/2010/main" val="2814295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do we mean by “typical”?</a:t>
            </a:r>
            <a:br>
              <a:rPr lang="en-US" dirty="0"/>
            </a:br>
            <a:r>
              <a:rPr lang="en-US" dirty="0"/>
              <a:t>Central tendency attempts to describe where most values in a dataset tend to cluster.</a:t>
            </a:r>
          </a:p>
          <a:p>
            <a:r>
              <a:rPr lang="en-US" b="1" dirty="0"/>
              <a:t>Mean, median, and mode: same goal, different behavior</a:t>
            </a:r>
            <a:br>
              <a:rPr lang="en-US" dirty="0"/>
            </a:br>
            <a:r>
              <a:rPr lang="en-US" dirty="0"/>
              <a:t>Different measures of central tendency respond differently to skew and extreme values.</a:t>
            </a:r>
          </a:p>
          <a:p>
            <a:endParaRPr lang="en-US" dirty="0"/>
          </a:p>
        </p:txBody>
      </p:sp>
      <p:sp>
        <p:nvSpPr>
          <p:cNvPr id="4" name="Slide Number Placeholder 3"/>
          <p:cNvSpPr>
            <a:spLocks noGrp="1"/>
          </p:cNvSpPr>
          <p:nvPr>
            <p:ph type="sldNum" sz="quarter" idx="5"/>
          </p:nvPr>
        </p:nvSpPr>
        <p:spPr/>
        <p:txBody>
          <a:bodyPr/>
          <a:lstStyle/>
          <a:p>
            <a:fld id="{1560C251-82B7-4253-A774-38D73C276BCE}" type="slidenum">
              <a:rPr lang="en-US" smtClean="0"/>
              <a:t>5</a:t>
            </a:fld>
            <a:endParaRPr lang="en-US"/>
          </a:p>
        </p:txBody>
      </p:sp>
    </p:spTree>
    <p:extLst>
      <p:ext uri="{BB962C8B-B14F-4D97-AF65-F5344CB8AC3E}">
        <p14:creationId xmlns:p14="http://schemas.microsoft.com/office/powerpoint/2010/main" val="29123105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BDC1D-7FED-A634-8685-B5CAA1A081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1E8EA8-D27A-F409-E04B-D99FF3BE6B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EE92CE-7BDB-7F9B-C51B-CFFEA705F324}"/>
              </a:ext>
            </a:extLst>
          </p:cNvPr>
          <p:cNvSpPr>
            <a:spLocks noGrp="1"/>
          </p:cNvSpPr>
          <p:nvPr>
            <p:ph type="body" idx="1"/>
          </p:nvPr>
        </p:nvSpPr>
        <p:spPr/>
        <p:txBody>
          <a:bodyPr/>
          <a:lstStyle/>
          <a:p>
            <a:r>
              <a:rPr lang="en-US" b="1" dirty="0"/>
              <a:t>Sensitivity to outliers</a:t>
            </a:r>
            <a:br>
              <a:rPr lang="en-US" dirty="0"/>
            </a:br>
            <a:r>
              <a:rPr lang="en-US" dirty="0"/>
              <a:t>Some measures shift dramatically with extreme values, others are more resistant.</a:t>
            </a:r>
          </a:p>
          <a:p>
            <a:r>
              <a:rPr lang="en-US" b="1" dirty="0"/>
              <a:t>When the average is misleading</a:t>
            </a:r>
            <a:br>
              <a:rPr lang="en-US" dirty="0"/>
            </a:br>
            <a:r>
              <a:rPr lang="en-US" dirty="0"/>
              <a:t>A single “typical” value can fail to represent most observations.</a:t>
            </a:r>
          </a:p>
          <a:p>
            <a:r>
              <a:rPr lang="en-US" b="1" dirty="0"/>
              <a:t>What central tendency hides</a:t>
            </a:r>
            <a:br>
              <a:rPr lang="en-US" dirty="0"/>
            </a:br>
            <a:r>
              <a:rPr lang="en-US" dirty="0"/>
              <a:t>Central tendency tells us nothing about spread, shape, or subgroups.</a:t>
            </a:r>
          </a:p>
          <a:p>
            <a:endParaRPr lang="en-US" dirty="0"/>
          </a:p>
        </p:txBody>
      </p:sp>
      <p:sp>
        <p:nvSpPr>
          <p:cNvPr id="4" name="Slide Number Placeholder 3">
            <a:extLst>
              <a:ext uri="{FF2B5EF4-FFF2-40B4-BE49-F238E27FC236}">
                <a16:creationId xmlns:a16="http://schemas.microsoft.com/office/drawing/2014/main" id="{E39BB5B1-0835-A1F8-0730-A8F28E31C62B}"/>
              </a:ext>
            </a:extLst>
          </p:cNvPr>
          <p:cNvSpPr>
            <a:spLocks noGrp="1"/>
          </p:cNvSpPr>
          <p:nvPr>
            <p:ph type="sldNum" sz="quarter" idx="5"/>
          </p:nvPr>
        </p:nvSpPr>
        <p:spPr/>
        <p:txBody>
          <a:bodyPr/>
          <a:lstStyle/>
          <a:p>
            <a:fld id="{1560C251-82B7-4253-A774-38D73C276BCE}" type="slidenum">
              <a:rPr lang="en-US" smtClean="0"/>
              <a:t>6</a:t>
            </a:fld>
            <a:endParaRPr lang="en-US"/>
          </a:p>
        </p:txBody>
      </p:sp>
    </p:spTree>
    <p:extLst>
      <p:ext uri="{BB962C8B-B14F-4D97-AF65-F5344CB8AC3E}">
        <p14:creationId xmlns:p14="http://schemas.microsoft.com/office/powerpoint/2010/main" val="14102160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AD8B0-4784-2C08-9D81-704C41ACDE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33DA0-5A87-B5F5-F90B-6917DA6C28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B6F244-E693-F9F3-49D7-1BDFF85A6B0B}"/>
              </a:ext>
            </a:extLst>
          </p:cNvPr>
          <p:cNvSpPr>
            <a:spLocks noGrp="1"/>
          </p:cNvSpPr>
          <p:nvPr>
            <p:ph type="body" idx="1"/>
          </p:nvPr>
        </p:nvSpPr>
        <p:spPr/>
        <p:txBody>
          <a:bodyPr/>
          <a:lstStyle/>
          <a:p>
            <a:r>
              <a:rPr lang="en-US" b="1" dirty="0"/>
              <a:t>Sensitivity to outliers</a:t>
            </a:r>
            <a:br>
              <a:rPr lang="en-US" dirty="0"/>
            </a:br>
            <a:r>
              <a:rPr lang="en-US" dirty="0"/>
              <a:t>Some measures shift dramatically with extreme values, others are more resistant.</a:t>
            </a:r>
          </a:p>
          <a:p>
            <a:r>
              <a:rPr lang="en-US" b="1" dirty="0"/>
              <a:t>When the average is misleading</a:t>
            </a:r>
            <a:br>
              <a:rPr lang="en-US" dirty="0"/>
            </a:br>
            <a:r>
              <a:rPr lang="en-US" dirty="0"/>
              <a:t>A single “typical” value can fail to represent most observations.</a:t>
            </a:r>
          </a:p>
          <a:p>
            <a:r>
              <a:rPr lang="en-US" b="1" dirty="0"/>
              <a:t>What central tendency hides</a:t>
            </a:r>
            <a:br>
              <a:rPr lang="en-US" dirty="0"/>
            </a:br>
            <a:r>
              <a:rPr lang="en-US" dirty="0"/>
              <a:t>Central tendency tells us nothing about spread, shape, or subgroups.</a:t>
            </a:r>
          </a:p>
          <a:p>
            <a:endParaRPr lang="en-US" dirty="0"/>
          </a:p>
        </p:txBody>
      </p:sp>
      <p:sp>
        <p:nvSpPr>
          <p:cNvPr id="4" name="Slide Number Placeholder 3">
            <a:extLst>
              <a:ext uri="{FF2B5EF4-FFF2-40B4-BE49-F238E27FC236}">
                <a16:creationId xmlns:a16="http://schemas.microsoft.com/office/drawing/2014/main" id="{B518ED68-0CC4-8684-6AC5-9E515A8038C9}"/>
              </a:ext>
            </a:extLst>
          </p:cNvPr>
          <p:cNvSpPr>
            <a:spLocks noGrp="1"/>
          </p:cNvSpPr>
          <p:nvPr>
            <p:ph type="sldNum" sz="quarter" idx="5"/>
          </p:nvPr>
        </p:nvSpPr>
        <p:spPr/>
        <p:txBody>
          <a:bodyPr/>
          <a:lstStyle/>
          <a:p>
            <a:fld id="{1560C251-82B7-4253-A774-38D73C276BCE}" type="slidenum">
              <a:rPr lang="en-US" smtClean="0"/>
              <a:t>7</a:t>
            </a:fld>
            <a:endParaRPr lang="en-US"/>
          </a:p>
        </p:txBody>
      </p:sp>
    </p:spTree>
    <p:extLst>
      <p:ext uri="{BB962C8B-B14F-4D97-AF65-F5344CB8AC3E}">
        <p14:creationId xmlns:p14="http://schemas.microsoft.com/office/powerpoint/2010/main" val="801353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Section 2: Variability</a:t>
            </a:r>
          </a:p>
          <a:p>
            <a:endParaRPr lang="en-US" dirty="0"/>
          </a:p>
        </p:txBody>
      </p:sp>
      <p:sp>
        <p:nvSpPr>
          <p:cNvPr id="4" name="Slide Number Placeholder 3"/>
          <p:cNvSpPr>
            <a:spLocks noGrp="1"/>
          </p:cNvSpPr>
          <p:nvPr>
            <p:ph type="sldNum" sz="quarter" idx="5"/>
          </p:nvPr>
        </p:nvSpPr>
        <p:spPr/>
        <p:txBody>
          <a:bodyPr/>
          <a:lstStyle/>
          <a:p>
            <a:fld id="{1560C251-82B7-4253-A774-38D73C276BCE}" type="slidenum">
              <a:rPr lang="en-US" smtClean="0"/>
              <a:t>8</a:t>
            </a:fld>
            <a:endParaRPr lang="en-US"/>
          </a:p>
        </p:txBody>
      </p:sp>
    </p:spTree>
    <p:extLst>
      <p:ext uri="{BB962C8B-B14F-4D97-AF65-F5344CB8AC3E}">
        <p14:creationId xmlns:p14="http://schemas.microsoft.com/office/powerpoint/2010/main" val="6221880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Why variability matters</a:t>
            </a:r>
            <a:br>
              <a:rPr lang="en-US" dirty="0"/>
            </a:br>
            <a:r>
              <a:rPr lang="en-US" dirty="0"/>
              <a:t>Variability describes how much observations differ, not just where they center.</a:t>
            </a:r>
          </a:p>
          <a:p>
            <a:r>
              <a:rPr lang="en-US" b="1" dirty="0"/>
              <a:t>Variability as information, not noise</a:t>
            </a:r>
            <a:br>
              <a:rPr lang="en-US" dirty="0"/>
            </a:br>
            <a:r>
              <a:rPr lang="en-US" dirty="0"/>
              <a:t>High variability can signal inconsistency, risk, or meaningful differences.</a:t>
            </a:r>
          </a:p>
          <a:p>
            <a:r>
              <a:rPr lang="en-US" b="1" dirty="0"/>
              <a:t>Same mean, different variability</a:t>
            </a:r>
            <a:br>
              <a:rPr lang="en-US" dirty="0"/>
            </a:br>
            <a:r>
              <a:rPr lang="en-US" dirty="0"/>
              <a:t>Datasets with identical averages can imply very different interpretations.</a:t>
            </a:r>
          </a:p>
          <a:p>
            <a:endParaRPr lang="en-US" b="1" dirty="0"/>
          </a:p>
          <a:p>
            <a:endParaRPr lang="en-US" dirty="0"/>
          </a:p>
          <a:p>
            <a:r>
              <a:rPr lang="en-US" b="1" dirty="0"/>
              <a:t>What variability still does not show</a:t>
            </a:r>
            <a:br>
              <a:rPr lang="en-US" dirty="0"/>
            </a:br>
            <a:r>
              <a:rPr lang="en-US" dirty="0"/>
              <a:t>Variability alone does not reveal structure, trends, or relationships.</a:t>
            </a:r>
          </a:p>
          <a:p>
            <a:endParaRPr lang="en-US" dirty="0"/>
          </a:p>
        </p:txBody>
      </p:sp>
      <p:sp>
        <p:nvSpPr>
          <p:cNvPr id="4" name="Slide Number Placeholder 3"/>
          <p:cNvSpPr>
            <a:spLocks noGrp="1"/>
          </p:cNvSpPr>
          <p:nvPr>
            <p:ph type="sldNum" sz="quarter" idx="5"/>
          </p:nvPr>
        </p:nvSpPr>
        <p:spPr/>
        <p:txBody>
          <a:bodyPr/>
          <a:lstStyle/>
          <a:p>
            <a:fld id="{1560C251-82B7-4253-A774-38D73C276BCE}" type="slidenum">
              <a:rPr lang="en-US" smtClean="0"/>
              <a:t>9</a:t>
            </a:fld>
            <a:endParaRPr lang="en-US"/>
          </a:p>
        </p:txBody>
      </p:sp>
    </p:spTree>
    <p:extLst>
      <p:ext uri="{BB962C8B-B14F-4D97-AF65-F5344CB8AC3E}">
        <p14:creationId xmlns:p14="http://schemas.microsoft.com/office/powerpoint/2010/main" val="15981672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Range, IQR, and standard deviation</a:t>
            </a:r>
            <a:br>
              <a:rPr lang="en-US" dirty="0"/>
            </a:br>
            <a:r>
              <a:rPr lang="en-US" dirty="0"/>
              <a:t>Different variability measures capture different aspects of spread.</a:t>
            </a:r>
          </a:p>
          <a:p>
            <a:r>
              <a:rPr lang="en-US" b="1" dirty="0"/>
              <a:t>Range</a:t>
            </a:r>
            <a:r>
              <a:rPr lang="en-US" dirty="0"/>
              <a:t> is the simplest lens. It shows the extremes, which is useful for sanity checks and identifying possible outliers, but it tells you nothing about how the rest of the data behave.</a:t>
            </a:r>
          </a:p>
          <a:p>
            <a:r>
              <a:rPr lang="en-US" b="1" dirty="0"/>
              <a:t>IQR</a:t>
            </a:r>
            <a:r>
              <a:rPr lang="en-US" dirty="0"/>
              <a:t> focuses on the middle of the distribution. It’s more robust to outliers and gives a sense of where most athletes sit, but it intentionally ignores the tails.</a:t>
            </a:r>
          </a:p>
          <a:p>
            <a:endParaRPr lang="en-US" dirty="0"/>
          </a:p>
          <a:p>
            <a:r>
              <a:rPr lang="en-US" dirty="0"/>
              <a:t>These two are useful for data validation. Next 2 are used for interpretation</a:t>
            </a:r>
          </a:p>
          <a:p>
            <a:endParaRPr lang="en-US" dirty="0"/>
          </a:p>
          <a:p>
            <a:r>
              <a:rPr lang="en-US" b="1" dirty="0"/>
              <a:t>Variance</a:t>
            </a:r>
            <a:r>
              <a:rPr lang="en-US" dirty="0"/>
              <a:t> and </a:t>
            </a:r>
            <a:r>
              <a:rPr lang="en-US" b="1" dirty="0"/>
              <a:t>SD</a:t>
            </a:r>
            <a:r>
              <a:rPr lang="en-US" dirty="0"/>
              <a:t> describe how values typically deviate from the mean. This is usually the most informative for applied work because it connects naturally to ideas like consistency, typical error, and thresholds. SD is easier to interpret than variance, which is why we usually report SD.</a:t>
            </a:r>
          </a:p>
          <a:p>
            <a:endParaRPr lang="en-US" dirty="0"/>
          </a:p>
        </p:txBody>
      </p:sp>
      <p:sp>
        <p:nvSpPr>
          <p:cNvPr id="4" name="Slide Number Placeholder 3"/>
          <p:cNvSpPr>
            <a:spLocks noGrp="1"/>
          </p:cNvSpPr>
          <p:nvPr>
            <p:ph type="sldNum" sz="quarter" idx="5"/>
          </p:nvPr>
        </p:nvSpPr>
        <p:spPr/>
        <p:txBody>
          <a:bodyPr/>
          <a:lstStyle/>
          <a:p>
            <a:fld id="{1560C251-82B7-4253-A774-38D73C276BCE}" type="slidenum">
              <a:rPr lang="en-US" smtClean="0"/>
              <a:t>10</a:t>
            </a:fld>
            <a:endParaRPr lang="en-US"/>
          </a:p>
        </p:txBody>
      </p:sp>
    </p:spTree>
    <p:extLst>
      <p:ext uri="{BB962C8B-B14F-4D97-AF65-F5344CB8AC3E}">
        <p14:creationId xmlns:p14="http://schemas.microsoft.com/office/powerpoint/2010/main" val="14432625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24790-24FF-023E-10BC-7375D19FA8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4064AF-DFEC-E902-AD4C-A856CB90E1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9A7F02-70FC-3667-D378-646EAA368453}"/>
              </a:ext>
            </a:extLst>
          </p:cNvPr>
          <p:cNvSpPr>
            <a:spLocks noGrp="1"/>
          </p:cNvSpPr>
          <p:nvPr>
            <p:ph type="body" idx="1"/>
          </p:nvPr>
        </p:nvSpPr>
        <p:spPr/>
        <p:txBody>
          <a:bodyPr/>
          <a:lstStyle/>
          <a:p>
            <a:r>
              <a:rPr lang="en-US" b="1" dirty="0"/>
              <a:t>Range, IQR, and standard deviation</a:t>
            </a:r>
            <a:br>
              <a:rPr lang="en-US" dirty="0"/>
            </a:br>
            <a:r>
              <a:rPr lang="en-US" dirty="0"/>
              <a:t>Different variability measures capture different aspects of spread.</a:t>
            </a:r>
          </a:p>
          <a:p>
            <a:r>
              <a:rPr lang="en-US" b="1" dirty="0"/>
              <a:t>Range</a:t>
            </a:r>
            <a:r>
              <a:rPr lang="en-US" dirty="0"/>
              <a:t> is the simplest lens. It shows the extremes, which is useful for sanity checks and identifying possible outliers, but it tells you nothing about how the rest of the data behave.</a:t>
            </a:r>
          </a:p>
          <a:p>
            <a:r>
              <a:rPr lang="en-US" b="1" dirty="0"/>
              <a:t>IQR</a:t>
            </a:r>
            <a:r>
              <a:rPr lang="en-US" dirty="0"/>
              <a:t> focuses on the middle of the distribution. It’s more robust to outliers and gives a sense of where most athletes sit, but it intentionally ignores the tails.</a:t>
            </a:r>
          </a:p>
          <a:p>
            <a:endParaRPr lang="en-US" dirty="0"/>
          </a:p>
          <a:p>
            <a:r>
              <a:rPr lang="en-US" dirty="0"/>
              <a:t>These two are useful for data validation. Next 2 are used for interpretation</a:t>
            </a:r>
          </a:p>
          <a:p>
            <a:endParaRPr lang="en-US" dirty="0"/>
          </a:p>
          <a:p>
            <a:r>
              <a:rPr lang="en-US" b="1" dirty="0"/>
              <a:t>Variance</a:t>
            </a:r>
            <a:r>
              <a:rPr lang="en-US" dirty="0"/>
              <a:t> and </a:t>
            </a:r>
            <a:r>
              <a:rPr lang="en-US" b="1" dirty="0"/>
              <a:t>SD</a:t>
            </a:r>
            <a:r>
              <a:rPr lang="en-US" dirty="0"/>
              <a:t> describe how values typically deviate from the mean. This is usually the most informative for applied work because it connects naturally to ideas like consistency, typical error, and thresholds. SD is easier to interpret than variance, which is why we usually report SD.</a:t>
            </a:r>
          </a:p>
          <a:p>
            <a:endParaRPr lang="en-US" dirty="0"/>
          </a:p>
        </p:txBody>
      </p:sp>
      <p:sp>
        <p:nvSpPr>
          <p:cNvPr id="4" name="Slide Number Placeholder 3">
            <a:extLst>
              <a:ext uri="{FF2B5EF4-FFF2-40B4-BE49-F238E27FC236}">
                <a16:creationId xmlns:a16="http://schemas.microsoft.com/office/drawing/2014/main" id="{15CC0EEB-0FDE-7FA1-3197-A389384E5B8C}"/>
              </a:ext>
            </a:extLst>
          </p:cNvPr>
          <p:cNvSpPr>
            <a:spLocks noGrp="1"/>
          </p:cNvSpPr>
          <p:nvPr>
            <p:ph type="sldNum" sz="quarter" idx="5"/>
          </p:nvPr>
        </p:nvSpPr>
        <p:spPr/>
        <p:txBody>
          <a:bodyPr/>
          <a:lstStyle/>
          <a:p>
            <a:fld id="{1560C251-82B7-4253-A774-38D73C276BCE}" type="slidenum">
              <a:rPr lang="en-US" smtClean="0"/>
              <a:t>11</a:t>
            </a:fld>
            <a:endParaRPr lang="en-US"/>
          </a:p>
        </p:txBody>
      </p:sp>
    </p:spTree>
    <p:extLst>
      <p:ext uri="{BB962C8B-B14F-4D97-AF65-F5344CB8AC3E}">
        <p14:creationId xmlns:p14="http://schemas.microsoft.com/office/powerpoint/2010/main" val="17945440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DAC94-16AC-E9D8-E19B-F562CB6347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BDDEC2-C08F-37A0-4164-BA64478F1B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DB20AB-D938-75C2-033C-7CFEFB5ABF49}"/>
              </a:ext>
            </a:extLst>
          </p:cNvPr>
          <p:cNvSpPr>
            <a:spLocks noGrp="1"/>
          </p:cNvSpPr>
          <p:nvPr>
            <p:ph type="body" idx="1"/>
          </p:nvPr>
        </p:nvSpPr>
        <p:spPr/>
        <p:txBody>
          <a:bodyPr/>
          <a:lstStyle/>
          <a:p>
            <a:r>
              <a:rPr lang="en-US" b="1" dirty="0"/>
              <a:t>Range, IQR, and standard deviation</a:t>
            </a:r>
            <a:br>
              <a:rPr lang="en-US" dirty="0"/>
            </a:br>
            <a:r>
              <a:rPr lang="en-US" dirty="0"/>
              <a:t>Different variability measures capture different aspects of spread.</a:t>
            </a:r>
          </a:p>
          <a:p>
            <a:r>
              <a:rPr lang="en-US" b="1" dirty="0"/>
              <a:t>Range</a:t>
            </a:r>
            <a:r>
              <a:rPr lang="en-US" dirty="0"/>
              <a:t> is the simplest lens. It shows the extremes, which is useful for sanity checks and identifying possible outliers, but it tells you nothing about how the rest of the data behave.</a:t>
            </a:r>
          </a:p>
          <a:p>
            <a:r>
              <a:rPr lang="en-US" b="1" dirty="0"/>
              <a:t>IQR</a:t>
            </a:r>
            <a:r>
              <a:rPr lang="en-US" dirty="0"/>
              <a:t> focuses on the middle of the distribution. It’s more robust to outliers and gives a sense of where most athletes sit, but it intentionally ignores the tails.</a:t>
            </a:r>
          </a:p>
          <a:p>
            <a:endParaRPr lang="en-US" dirty="0"/>
          </a:p>
          <a:p>
            <a:r>
              <a:rPr lang="en-US" dirty="0"/>
              <a:t>These two are useful for data validation. Next 2 are used for interpretation</a:t>
            </a:r>
          </a:p>
          <a:p>
            <a:endParaRPr lang="en-US" dirty="0"/>
          </a:p>
          <a:p>
            <a:r>
              <a:rPr lang="en-US" b="1" dirty="0"/>
              <a:t>Variance</a:t>
            </a:r>
            <a:r>
              <a:rPr lang="en-US" dirty="0"/>
              <a:t> and </a:t>
            </a:r>
            <a:r>
              <a:rPr lang="en-US" b="1" dirty="0"/>
              <a:t>SD</a:t>
            </a:r>
            <a:r>
              <a:rPr lang="en-US" dirty="0"/>
              <a:t> describe how values typically deviate from the mean. This is usually the most informative for applied work because it connects naturally to ideas like consistency, typical error, and thresholds. SD is easier to interpret than variance, which is why we usually report SD.</a:t>
            </a:r>
          </a:p>
          <a:p>
            <a:endParaRPr lang="en-US" dirty="0"/>
          </a:p>
        </p:txBody>
      </p:sp>
      <p:sp>
        <p:nvSpPr>
          <p:cNvPr id="4" name="Slide Number Placeholder 3">
            <a:extLst>
              <a:ext uri="{FF2B5EF4-FFF2-40B4-BE49-F238E27FC236}">
                <a16:creationId xmlns:a16="http://schemas.microsoft.com/office/drawing/2014/main" id="{2E81C213-85DC-F3F2-B236-B13ACFAA6A2A}"/>
              </a:ext>
            </a:extLst>
          </p:cNvPr>
          <p:cNvSpPr>
            <a:spLocks noGrp="1"/>
          </p:cNvSpPr>
          <p:nvPr>
            <p:ph type="sldNum" sz="quarter" idx="5"/>
          </p:nvPr>
        </p:nvSpPr>
        <p:spPr/>
        <p:txBody>
          <a:bodyPr/>
          <a:lstStyle/>
          <a:p>
            <a:fld id="{1560C251-82B7-4253-A774-38D73C276BCE}" type="slidenum">
              <a:rPr lang="en-US" smtClean="0"/>
              <a:t>12</a:t>
            </a:fld>
            <a:endParaRPr lang="en-US"/>
          </a:p>
        </p:txBody>
      </p:sp>
    </p:spTree>
    <p:extLst>
      <p:ext uri="{BB962C8B-B14F-4D97-AF65-F5344CB8AC3E}">
        <p14:creationId xmlns:p14="http://schemas.microsoft.com/office/powerpoint/2010/main" val="2618089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14F47-6EC6-EB32-DA87-185197C2BF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D0A74-6B37-0846-2BD8-5C81650C0B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C8BCB-8023-6F39-BABD-5242C1FA446C}"/>
              </a:ext>
            </a:extLst>
          </p:cNvPr>
          <p:cNvSpPr>
            <a:spLocks noGrp="1"/>
          </p:cNvSpPr>
          <p:nvPr>
            <p:ph type="body" idx="1"/>
          </p:nvPr>
        </p:nvSpPr>
        <p:spPr/>
        <p:txBody>
          <a:bodyPr/>
          <a:lstStyle/>
          <a:p>
            <a:r>
              <a:rPr lang="en-US" b="1" dirty="0"/>
              <a:t>Range, IQR, and standard deviation</a:t>
            </a:r>
            <a:br>
              <a:rPr lang="en-US" dirty="0"/>
            </a:br>
            <a:r>
              <a:rPr lang="en-US" dirty="0"/>
              <a:t>Different variability measures capture different aspects of spread.</a:t>
            </a:r>
          </a:p>
          <a:p>
            <a:r>
              <a:rPr lang="en-US" b="1" dirty="0"/>
              <a:t>Range</a:t>
            </a:r>
            <a:r>
              <a:rPr lang="en-US" dirty="0"/>
              <a:t> is the simplest lens. It shows the extremes, which is useful for sanity checks and identifying possible outliers, but it tells you nothing about how the rest of the data behave.</a:t>
            </a:r>
          </a:p>
          <a:p>
            <a:r>
              <a:rPr lang="en-US" b="1" dirty="0"/>
              <a:t>IQR</a:t>
            </a:r>
            <a:r>
              <a:rPr lang="en-US" dirty="0"/>
              <a:t> focuses on the middle of the distribution. It’s more robust to outliers and gives a sense of where most athletes sit, but it intentionally ignores the tails.</a:t>
            </a:r>
          </a:p>
          <a:p>
            <a:endParaRPr lang="en-US" dirty="0"/>
          </a:p>
          <a:p>
            <a:r>
              <a:rPr lang="en-US" dirty="0"/>
              <a:t>These two are useful for data validation. Next 2 are used for interpretation</a:t>
            </a:r>
          </a:p>
          <a:p>
            <a:endParaRPr lang="en-US" dirty="0"/>
          </a:p>
          <a:p>
            <a:r>
              <a:rPr lang="en-US" b="1" dirty="0"/>
              <a:t>Variance</a:t>
            </a:r>
            <a:r>
              <a:rPr lang="en-US" dirty="0"/>
              <a:t> and </a:t>
            </a:r>
            <a:r>
              <a:rPr lang="en-US" b="1" dirty="0"/>
              <a:t>SD</a:t>
            </a:r>
            <a:r>
              <a:rPr lang="en-US" dirty="0"/>
              <a:t> describe how values typically deviate from the mean. This is usually the most informative for applied work because it connects naturally to ideas like consistency, typical error, and thresholds. SD is easier to interpret than variance, which is why we usually report SD.</a:t>
            </a:r>
          </a:p>
          <a:p>
            <a:endParaRPr lang="en-US" dirty="0"/>
          </a:p>
        </p:txBody>
      </p:sp>
      <p:sp>
        <p:nvSpPr>
          <p:cNvPr id="4" name="Slide Number Placeholder 3">
            <a:extLst>
              <a:ext uri="{FF2B5EF4-FFF2-40B4-BE49-F238E27FC236}">
                <a16:creationId xmlns:a16="http://schemas.microsoft.com/office/drawing/2014/main" id="{8DFF5EB2-AFA2-91EC-9DCF-89AE51768006}"/>
              </a:ext>
            </a:extLst>
          </p:cNvPr>
          <p:cNvSpPr>
            <a:spLocks noGrp="1"/>
          </p:cNvSpPr>
          <p:nvPr>
            <p:ph type="sldNum" sz="quarter" idx="5"/>
          </p:nvPr>
        </p:nvSpPr>
        <p:spPr/>
        <p:txBody>
          <a:bodyPr/>
          <a:lstStyle/>
          <a:p>
            <a:fld id="{1560C251-82B7-4253-A774-38D73C276BCE}" type="slidenum">
              <a:rPr lang="en-US" smtClean="0"/>
              <a:t>13</a:t>
            </a:fld>
            <a:endParaRPr lang="en-US"/>
          </a:p>
        </p:txBody>
      </p:sp>
    </p:spTree>
    <p:extLst>
      <p:ext uri="{BB962C8B-B14F-4D97-AF65-F5344CB8AC3E}">
        <p14:creationId xmlns:p14="http://schemas.microsoft.com/office/powerpoint/2010/main" val="35786092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2DB58-44E9-A336-712F-3DD37881C5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130C80-0EB3-0C7E-A162-7612A9E714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E87C2F-649E-03FD-98CD-7EC9E1EB81CC}"/>
              </a:ext>
            </a:extLst>
          </p:cNvPr>
          <p:cNvSpPr>
            <a:spLocks noGrp="1"/>
          </p:cNvSpPr>
          <p:nvPr>
            <p:ph type="body" idx="1"/>
          </p:nvPr>
        </p:nvSpPr>
        <p:spPr/>
        <p:txBody>
          <a:bodyPr/>
          <a:lstStyle/>
          <a:p>
            <a:r>
              <a:rPr lang="en-US" b="1" dirty="0"/>
              <a:t>Section 2: Variability</a:t>
            </a:r>
          </a:p>
          <a:p>
            <a:endParaRPr lang="en-US" dirty="0"/>
          </a:p>
        </p:txBody>
      </p:sp>
      <p:sp>
        <p:nvSpPr>
          <p:cNvPr id="4" name="Slide Number Placeholder 3">
            <a:extLst>
              <a:ext uri="{FF2B5EF4-FFF2-40B4-BE49-F238E27FC236}">
                <a16:creationId xmlns:a16="http://schemas.microsoft.com/office/drawing/2014/main" id="{5F576433-BF6F-962A-5108-B9323B283B85}"/>
              </a:ext>
            </a:extLst>
          </p:cNvPr>
          <p:cNvSpPr>
            <a:spLocks noGrp="1"/>
          </p:cNvSpPr>
          <p:nvPr>
            <p:ph type="sldNum" sz="quarter" idx="5"/>
          </p:nvPr>
        </p:nvSpPr>
        <p:spPr/>
        <p:txBody>
          <a:bodyPr/>
          <a:lstStyle/>
          <a:p>
            <a:fld id="{1560C251-82B7-4253-A774-38D73C276BCE}" type="slidenum">
              <a:rPr lang="en-US" smtClean="0"/>
              <a:t>14</a:t>
            </a:fld>
            <a:endParaRPr lang="en-US"/>
          </a:p>
        </p:txBody>
      </p:sp>
    </p:spTree>
    <p:extLst>
      <p:ext uri="{BB962C8B-B14F-4D97-AF65-F5344CB8AC3E}">
        <p14:creationId xmlns:p14="http://schemas.microsoft.com/office/powerpoint/2010/main" val="36332555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85800" marR="0" lvl="1"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Measurements within one athlete may be more symmetric, especially under similar conditions, but we should check the plot rather than assume a normal distribution.</a:t>
            </a:r>
            <a:endParaRPr lang="en-US" dirty="0"/>
          </a:p>
          <a:p>
            <a:endParaRPr lang="en-US" dirty="0"/>
          </a:p>
        </p:txBody>
      </p:sp>
      <p:sp>
        <p:nvSpPr>
          <p:cNvPr id="4" name="Slide Number Placeholder 3"/>
          <p:cNvSpPr>
            <a:spLocks noGrp="1"/>
          </p:cNvSpPr>
          <p:nvPr>
            <p:ph type="sldNum" sz="quarter" idx="5"/>
          </p:nvPr>
        </p:nvSpPr>
        <p:spPr/>
        <p:txBody>
          <a:bodyPr/>
          <a:lstStyle/>
          <a:p>
            <a:fld id="{117D17FD-8842-8E4F-8C3E-EC8B634B2D5A}" type="slidenum">
              <a:rPr lang="en-US" smtClean="0"/>
              <a:t>17</a:t>
            </a:fld>
            <a:endParaRPr lang="en-US"/>
          </a:p>
        </p:txBody>
      </p:sp>
    </p:spTree>
    <p:extLst>
      <p:ext uri="{BB962C8B-B14F-4D97-AF65-F5344CB8AC3E}">
        <p14:creationId xmlns:p14="http://schemas.microsoft.com/office/powerpoint/2010/main" val="40140372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lvl="0" indent="-228600">
              <a:buFont typeface="Arial" panose="020B0604020202020204" pitchFamily="34" charset="0"/>
              <a:buChar char="•"/>
            </a:pPr>
            <a:r>
              <a:rPr lang="en-US" dirty="0"/>
              <a:t>Right-Skewed (Positive Skew):</a:t>
            </a:r>
          </a:p>
          <a:p>
            <a:pPr marL="685800" lvl="1" indent="-228600">
              <a:buFont typeface="Arial" panose="020B0604020202020204" pitchFamily="34" charset="0"/>
              <a:buChar char="•"/>
            </a:pPr>
            <a:r>
              <a:rPr lang="en-US" dirty="0"/>
              <a:t>Most players have low counts, but a few superstars skew the tail high.</a:t>
            </a:r>
          </a:p>
          <a:p>
            <a:pPr marL="685800" lvl="1" indent="-228600">
              <a:buFont typeface="Arial" panose="020B0604020202020204" pitchFamily="34" charset="0"/>
              <a:buChar char="•"/>
            </a:pPr>
            <a:r>
              <a:rPr lang="en-US" i="1" dirty="0"/>
              <a:t>Examples:</a:t>
            </a:r>
            <a:r>
              <a:rPr lang="en-US" dirty="0"/>
              <a:t> Goals scored per match, career home runs, yellow cards.</a:t>
            </a:r>
          </a:p>
          <a:p>
            <a:pPr marL="228600" lvl="0" indent="-228600">
              <a:buFont typeface="Arial" panose="020B0604020202020204" pitchFamily="34" charset="0"/>
              <a:buChar char="•"/>
            </a:pPr>
            <a:r>
              <a:rPr lang="en-US" dirty="0"/>
              <a:t>Left-Skewed (Negative Skew):</a:t>
            </a:r>
          </a:p>
          <a:p>
            <a:pPr marL="685800" lvl="1" indent="-228600">
              <a:buFont typeface="Arial" panose="020B0604020202020204" pitchFamily="34" charset="0"/>
              <a:buChar char="•"/>
            </a:pPr>
            <a:r>
              <a:rPr lang="en-US" dirty="0"/>
              <a:t>Values clustered near the maximum ceiling, with a few poor performances trailing off.</a:t>
            </a:r>
          </a:p>
          <a:p>
            <a:pPr marL="685800" lvl="1" indent="-228600">
              <a:buFont typeface="Arial" panose="020B0604020202020204" pitchFamily="34" charset="0"/>
              <a:buChar char="•"/>
            </a:pPr>
            <a:r>
              <a:rPr lang="en-US" i="1" dirty="0"/>
              <a:t>Examples:</a:t>
            </a:r>
            <a:r>
              <a:rPr lang="en-US" dirty="0"/>
              <a:t> Passing completion percentages for elite quarterbacks, free-throw percentages.</a:t>
            </a:r>
          </a:p>
          <a:p>
            <a:pPr marL="228600" lvl="0" indent="-228600">
              <a:buFont typeface="Arial" panose="020B0604020202020204" pitchFamily="34" charset="0"/>
              <a:buChar char="•"/>
            </a:pPr>
            <a:endParaRPr lang="en-US" dirty="0"/>
          </a:p>
          <a:p>
            <a:endParaRPr lang="en-US" dirty="0"/>
          </a:p>
        </p:txBody>
      </p:sp>
      <p:sp>
        <p:nvSpPr>
          <p:cNvPr id="4" name="Slide Number Placeholder 3"/>
          <p:cNvSpPr>
            <a:spLocks noGrp="1"/>
          </p:cNvSpPr>
          <p:nvPr>
            <p:ph type="sldNum" sz="quarter" idx="5"/>
          </p:nvPr>
        </p:nvSpPr>
        <p:spPr/>
        <p:txBody>
          <a:bodyPr/>
          <a:lstStyle/>
          <a:p>
            <a:fld id="{117D17FD-8842-8E4F-8C3E-EC8B634B2D5A}" type="slidenum">
              <a:rPr lang="en-US" smtClean="0"/>
              <a:t>18</a:t>
            </a:fld>
            <a:endParaRPr lang="en-US"/>
          </a:p>
        </p:txBody>
      </p:sp>
    </p:spTree>
    <p:extLst>
      <p:ext uri="{BB962C8B-B14F-4D97-AF65-F5344CB8AC3E}">
        <p14:creationId xmlns:p14="http://schemas.microsoft.com/office/powerpoint/2010/main" val="15420965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D562F-2C47-EBAF-4107-F21F391ADB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16D336-C282-F6FD-CDAE-143042C684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2D0F4-31C6-DADC-3AEF-FD51743AC33C}"/>
              </a:ext>
            </a:extLst>
          </p:cNvPr>
          <p:cNvSpPr>
            <a:spLocks noGrp="1"/>
          </p:cNvSpPr>
          <p:nvPr>
            <p:ph type="body" idx="1"/>
          </p:nvPr>
        </p:nvSpPr>
        <p:spPr/>
        <p:txBody>
          <a:bodyPr/>
          <a:lstStyle/>
          <a:p>
            <a:r>
              <a:rPr lang="en-US" b="1" dirty="0"/>
              <a:t>Section 2: Variability</a:t>
            </a:r>
          </a:p>
          <a:p>
            <a:endParaRPr lang="en-US" dirty="0"/>
          </a:p>
        </p:txBody>
      </p:sp>
      <p:sp>
        <p:nvSpPr>
          <p:cNvPr id="4" name="Slide Number Placeholder 3">
            <a:extLst>
              <a:ext uri="{FF2B5EF4-FFF2-40B4-BE49-F238E27FC236}">
                <a16:creationId xmlns:a16="http://schemas.microsoft.com/office/drawing/2014/main" id="{54D6204F-8D95-2CC9-548F-25EB58745D05}"/>
              </a:ext>
            </a:extLst>
          </p:cNvPr>
          <p:cNvSpPr>
            <a:spLocks noGrp="1"/>
          </p:cNvSpPr>
          <p:nvPr>
            <p:ph type="sldNum" sz="quarter" idx="5"/>
          </p:nvPr>
        </p:nvSpPr>
        <p:spPr/>
        <p:txBody>
          <a:bodyPr/>
          <a:lstStyle/>
          <a:p>
            <a:fld id="{1560C251-82B7-4253-A774-38D73C276BCE}" type="slidenum">
              <a:rPr lang="en-US" smtClean="0"/>
              <a:t>19</a:t>
            </a:fld>
            <a:endParaRPr lang="en-US"/>
          </a:p>
        </p:txBody>
      </p:sp>
    </p:spTree>
    <p:extLst>
      <p:ext uri="{BB962C8B-B14F-4D97-AF65-F5344CB8AC3E}">
        <p14:creationId xmlns:p14="http://schemas.microsoft.com/office/powerpoint/2010/main" val="14508696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arithmetic mean </a:t>
            </a:r>
          </a:p>
          <a:p>
            <a:pPr lvl="1"/>
            <a:r>
              <a:rPr lang="en-US" dirty="0"/>
              <a:t>Determined by the sum of the values in the distribution divided by the number of values.</a:t>
            </a:r>
          </a:p>
          <a:p>
            <a:pPr lvl="1"/>
            <a:r>
              <a:rPr lang="en-US" dirty="0"/>
              <a:t>Misleading if outliers or asymmetries are present</a:t>
            </a:r>
          </a:p>
          <a:p>
            <a:r>
              <a:rPr lang="en-US" dirty="0"/>
              <a:t>Median: the middle value</a:t>
            </a:r>
          </a:p>
          <a:p>
            <a:pPr lvl="1"/>
            <a:r>
              <a:rPr lang="en-US" dirty="0"/>
              <a:t>the data point below which half of the values lie</a:t>
            </a:r>
          </a:p>
          <a:p>
            <a:pPr lvl="1"/>
            <a:r>
              <a:rPr lang="en-US" dirty="0"/>
              <a:t>Ignores magnitude, focused on order</a:t>
            </a:r>
          </a:p>
          <a:p>
            <a:r>
              <a:rPr lang="en-US" dirty="0"/>
              <a:t>Mode: most frequent value</a:t>
            </a:r>
          </a:p>
          <a:p>
            <a:pPr lvl="1"/>
            <a:r>
              <a:rPr lang="en-US" dirty="0"/>
              <a:t>Rarely used for interval or ratio data</a:t>
            </a:r>
          </a:p>
        </p:txBody>
      </p:sp>
      <p:sp>
        <p:nvSpPr>
          <p:cNvPr id="4" name="Slide Number Placeholder 3"/>
          <p:cNvSpPr>
            <a:spLocks noGrp="1"/>
          </p:cNvSpPr>
          <p:nvPr>
            <p:ph type="sldNum" sz="quarter" idx="5"/>
          </p:nvPr>
        </p:nvSpPr>
        <p:spPr/>
        <p:txBody>
          <a:bodyPr/>
          <a:lstStyle/>
          <a:p>
            <a:fld id="{1560C251-82B7-4253-A774-38D73C276BCE}" type="slidenum">
              <a:rPr lang="en-US" smtClean="0"/>
              <a:t>20</a:t>
            </a:fld>
            <a:endParaRPr lang="en-US"/>
          </a:p>
        </p:txBody>
      </p:sp>
    </p:spTree>
    <p:extLst>
      <p:ext uri="{BB962C8B-B14F-4D97-AF65-F5344CB8AC3E}">
        <p14:creationId xmlns:p14="http://schemas.microsoft.com/office/powerpoint/2010/main" val="20640844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877B8-616D-D4F2-FA7D-C2867BEFD4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E4064F-4EF6-4E35-97C5-48E5DE38D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3637FD-10A9-AAE1-40AB-BF5C3B0522E9}"/>
              </a:ext>
            </a:extLst>
          </p:cNvPr>
          <p:cNvSpPr>
            <a:spLocks noGrp="1"/>
          </p:cNvSpPr>
          <p:nvPr>
            <p:ph type="body" idx="1"/>
          </p:nvPr>
        </p:nvSpPr>
        <p:spPr/>
        <p:txBody>
          <a:bodyPr/>
          <a:lstStyle/>
          <a:p>
            <a:r>
              <a:rPr lang="en-US" dirty="0"/>
              <a:t>Mean: arithmetic mean </a:t>
            </a:r>
          </a:p>
          <a:p>
            <a:pPr lvl="1"/>
            <a:r>
              <a:rPr lang="en-US" dirty="0"/>
              <a:t>Determined by the sum of the values in the distribution divided by the number of values.</a:t>
            </a:r>
          </a:p>
          <a:p>
            <a:pPr lvl="1"/>
            <a:r>
              <a:rPr lang="en-US" dirty="0"/>
              <a:t>Misleading if outliers or asymmetries are present</a:t>
            </a:r>
          </a:p>
          <a:p>
            <a:r>
              <a:rPr lang="en-US" dirty="0"/>
              <a:t>Median: the middle value</a:t>
            </a:r>
          </a:p>
          <a:p>
            <a:pPr lvl="1"/>
            <a:r>
              <a:rPr lang="en-US" dirty="0"/>
              <a:t>the data point below which half of the values lie</a:t>
            </a:r>
          </a:p>
          <a:p>
            <a:pPr lvl="1"/>
            <a:r>
              <a:rPr lang="en-US" dirty="0"/>
              <a:t>Ignores magnitude, focused on order</a:t>
            </a:r>
          </a:p>
          <a:p>
            <a:r>
              <a:rPr lang="en-US" dirty="0"/>
              <a:t>Mode: most frequent value</a:t>
            </a:r>
          </a:p>
          <a:p>
            <a:pPr lvl="1"/>
            <a:r>
              <a:rPr lang="en-US" dirty="0"/>
              <a:t>Rarely used for interval or ratio data</a:t>
            </a:r>
          </a:p>
        </p:txBody>
      </p:sp>
      <p:sp>
        <p:nvSpPr>
          <p:cNvPr id="4" name="Slide Number Placeholder 3">
            <a:extLst>
              <a:ext uri="{FF2B5EF4-FFF2-40B4-BE49-F238E27FC236}">
                <a16:creationId xmlns:a16="http://schemas.microsoft.com/office/drawing/2014/main" id="{CBF1D531-E726-2ED3-9674-6906ADD6F3DD}"/>
              </a:ext>
            </a:extLst>
          </p:cNvPr>
          <p:cNvSpPr>
            <a:spLocks noGrp="1"/>
          </p:cNvSpPr>
          <p:nvPr>
            <p:ph type="sldNum" sz="quarter" idx="5"/>
          </p:nvPr>
        </p:nvSpPr>
        <p:spPr/>
        <p:txBody>
          <a:bodyPr/>
          <a:lstStyle/>
          <a:p>
            <a:fld id="{1560C251-82B7-4253-A774-38D73C276BCE}" type="slidenum">
              <a:rPr lang="en-US" smtClean="0"/>
              <a:t>21</a:t>
            </a:fld>
            <a:endParaRPr lang="en-US"/>
          </a:p>
        </p:txBody>
      </p:sp>
    </p:spTree>
    <p:extLst>
      <p:ext uri="{BB962C8B-B14F-4D97-AF65-F5344CB8AC3E}">
        <p14:creationId xmlns:p14="http://schemas.microsoft.com/office/powerpoint/2010/main" val="12674499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4F201-A674-8CF9-7A31-FE86BB85BB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E9FBED-8263-23EA-0C38-30D85D3A54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CD0657-094A-8BA4-5DB9-3165930136F4}"/>
              </a:ext>
            </a:extLst>
          </p:cNvPr>
          <p:cNvSpPr>
            <a:spLocks noGrp="1"/>
          </p:cNvSpPr>
          <p:nvPr>
            <p:ph type="body" idx="1"/>
          </p:nvPr>
        </p:nvSpPr>
        <p:spPr/>
        <p:txBody>
          <a:bodyPr/>
          <a:lstStyle/>
          <a:p>
            <a:r>
              <a:rPr lang="en-US" dirty="0"/>
              <a:t>Mean: arithmetic mean </a:t>
            </a:r>
          </a:p>
          <a:p>
            <a:pPr lvl="1"/>
            <a:r>
              <a:rPr lang="en-US" dirty="0"/>
              <a:t>Determined by the sum of the values in the distribution divided by the number of values.</a:t>
            </a:r>
          </a:p>
          <a:p>
            <a:pPr lvl="1"/>
            <a:r>
              <a:rPr lang="en-US" dirty="0"/>
              <a:t>Misleading if outliers or asymmetries are present</a:t>
            </a:r>
          </a:p>
          <a:p>
            <a:r>
              <a:rPr lang="en-US" dirty="0"/>
              <a:t>Median: the middle value</a:t>
            </a:r>
          </a:p>
          <a:p>
            <a:pPr lvl="1"/>
            <a:r>
              <a:rPr lang="en-US" dirty="0"/>
              <a:t>the data point below which half of the values lie</a:t>
            </a:r>
          </a:p>
          <a:p>
            <a:pPr lvl="1"/>
            <a:r>
              <a:rPr lang="en-US" dirty="0"/>
              <a:t>Ignores magnitude, focused on order</a:t>
            </a:r>
          </a:p>
          <a:p>
            <a:r>
              <a:rPr lang="en-US" dirty="0"/>
              <a:t>Mode: most frequent value</a:t>
            </a:r>
          </a:p>
          <a:p>
            <a:pPr lvl="1"/>
            <a:r>
              <a:rPr lang="en-US" dirty="0"/>
              <a:t>Rarely used for interval or ratio data</a:t>
            </a:r>
          </a:p>
        </p:txBody>
      </p:sp>
      <p:sp>
        <p:nvSpPr>
          <p:cNvPr id="4" name="Slide Number Placeholder 3">
            <a:extLst>
              <a:ext uri="{FF2B5EF4-FFF2-40B4-BE49-F238E27FC236}">
                <a16:creationId xmlns:a16="http://schemas.microsoft.com/office/drawing/2014/main" id="{33CF5E50-CD8F-FB46-E925-9750B62EF7FE}"/>
              </a:ext>
            </a:extLst>
          </p:cNvPr>
          <p:cNvSpPr>
            <a:spLocks noGrp="1"/>
          </p:cNvSpPr>
          <p:nvPr>
            <p:ph type="sldNum" sz="quarter" idx="5"/>
          </p:nvPr>
        </p:nvSpPr>
        <p:spPr/>
        <p:txBody>
          <a:bodyPr/>
          <a:lstStyle/>
          <a:p>
            <a:fld id="{1560C251-82B7-4253-A774-38D73C276BCE}" type="slidenum">
              <a:rPr lang="en-US" smtClean="0"/>
              <a:t>22</a:t>
            </a:fld>
            <a:endParaRPr lang="en-US"/>
          </a:p>
        </p:txBody>
      </p:sp>
    </p:spTree>
    <p:extLst>
      <p:ext uri="{BB962C8B-B14F-4D97-AF65-F5344CB8AC3E}">
        <p14:creationId xmlns:p14="http://schemas.microsoft.com/office/powerpoint/2010/main" val="7263347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45235-E355-F4FF-23D0-19260B21AA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8CDA99-76BD-5D58-55BB-D1D5CB1D6C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438E69-5AB6-A5A7-734A-B8EFADE41ACA}"/>
              </a:ext>
            </a:extLst>
          </p:cNvPr>
          <p:cNvSpPr>
            <a:spLocks noGrp="1"/>
          </p:cNvSpPr>
          <p:nvPr>
            <p:ph type="body" idx="1"/>
          </p:nvPr>
        </p:nvSpPr>
        <p:spPr/>
        <p:txBody>
          <a:bodyPr/>
          <a:lstStyle/>
          <a:p>
            <a:r>
              <a:rPr lang="en-US" b="1" dirty="0"/>
              <a:t>Section 2: Variability</a:t>
            </a:r>
          </a:p>
          <a:p>
            <a:endParaRPr lang="en-US" dirty="0"/>
          </a:p>
        </p:txBody>
      </p:sp>
      <p:sp>
        <p:nvSpPr>
          <p:cNvPr id="4" name="Slide Number Placeholder 3">
            <a:extLst>
              <a:ext uri="{FF2B5EF4-FFF2-40B4-BE49-F238E27FC236}">
                <a16:creationId xmlns:a16="http://schemas.microsoft.com/office/drawing/2014/main" id="{CEEEB194-CEFE-90EB-8749-2F87645192D6}"/>
              </a:ext>
            </a:extLst>
          </p:cNvPr>
          <p:cNvSpPr>
            <a:spLocks noGrp="1"/>
          </p:cNvSpPr>
          <p:nvPr>
            <p:ph type="sldNum" sz="quarter" idx="5"/>
          </p:nvPr>
        </p:nvSpPr>
        <p:spPr/>
        <p:txBody>
          <a:bodyPr/>
          <a:lstStyle/>
          <a:p>
            <a:fld id="{1560C251-82B7-4253-A774-38D73C276BCE}" type="slidenum">
              <a:rPr lang="en-US" smtClean="0"/>
              <a:t>23</a:t>
            </a:fld>
            <a:endParaRPr lang="en-US"/>
          </a:p>
        </p:txBody>
      </p:sp>
    </p:spTree>
    <p:extLst>
      <p:ext uri="{BB962C8B-B14F-4D97-AF65-F5344CB8AC3E}">
        <p14:creationId xmlns:p14="http://schemas.microsoft.com/office/powerpoint/2010/main" val="36394058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We’ve talked about comparing players by position. Here’s a case where grouping changes the conclusion entirely.</a:t>
            </a:r>
            <a:endParaRPr lang="en-US" dirty="0"/>
          </a:p>
        </p:txBody>
      </p:sp>
      <p:sp>
        <p:nvSpPr>
          <p:cNvPr id="4" name="Slide Number Placeholder 3"/>
          <p:cNvSpPr>
            <a:spLocks noGrp="1"/>
          </p:cNvSpPr>
          <p:nvPr>
            <p:ph type="sldNum" sz="quarter" idx="5"/>
          </p:nvPr>
        </p:nvSpPr>
        <p:spPr/>
        <p:txBody>
          <a:bodyPr/>
          <a:lstStyle/>
          <a:p>
            <a:fld id="{117D17FD-8842-8E4F-8C3E-EC8B634B2D5A}" type="slidenum">
              <a:rPr lang="en-US" smtClean="0"/>
              <a:t>24</a:t>
            </a:fld>
            <a:endParaRPr lang="en-US"/>
          </a:p>
        </p:txBody>
      </p:sp>
    </p:spTree>
    <p:extLst>
      <p:ext uri="{BB962C8B-B14F-4D97-AF65-F5344CB8AC3E}">
        <p14:creationId xmlns:p14="http://schemas.microsoft.com/office/powerpoint/2010/main" val="27330124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mistaken expectation that aggregate data will reflect the same relationships found within subgroups such as categories, classes, or individuals that comprise the aggregate.</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In this example, summarizing (aggregating) the two types of shots leading to the devaluing of the 3 point shot</a:t>
            </a:r>
          </a:p>
          <a:p>
            <a:r>
              <a:rPr lang="en-US" sz="1200" b="0" i="0" u="none" strike="noStrike" kern="1200" baseline="0" dirty="0">
                <a:solidFill>
                  <a:schemeClr val="tx1"/>
                </a:solidFill>
                <a:latin typeface="+mn-lt"/>
                <a:ea typeface="+mn-ea"/>
                <a:cs typeface="+mn-cs"/>
              </a:rPr>
              <a:t>- </a:t>
            </a:r>
            <a:r>
              <a:rPr lang="en-US" dirty="0"/>
              <a:t>Since Larry Bird took far more two-point shots, his overall percentage is dominated by two-point efficiency. Reggie Miller took many more three-point shots, so his overall percentage is more influenced by three-point efficiency. Because three-pointers are harder shots, that weighting pulls Miller’s overall percentage down</a:t>
            </a:r>
          </a:p>
        </p:txBody>
      </p:sp>
      <p:sp>
        <p:nvSpPr>
          <p:cNvPr id="4" name="Slide Number Placeholder 3"/>
          <p:cNvSpPr>
            <a:spLocks noGrp="1"/>
          </p:cNvSpPr>
          <p:nvPr>
            <p:ph type="sldNum" sz="quarter" idx="5"/>
          </p:nvPr>
        </p:nvSpPr>
        <p:spPr/>
        <p:txBody>
          <a:bodyPr/>
          <a:lstStyle/>
          <a:p>
            <a:fld id="{1560C251-82B7-4253-A774-38D73C276BCE}" type="slidenum">
              <a:rPr lang="en-US" smtClean="0"/>
              <a:t>25</a:t>
            </a:fld>
            <a:endParaRPr lang="en-US"/>
          </a:p>
        </p:txBody>
      </p:sp>
    </p:spTree>
    <p:extLst>
      <p:ext uri="{BB962C8B-B14F-4D97-AF65-F5344CB8AC3E}">
        <p14:creationId xmlns:p14="http://schemas.microsoft.com/office/powerpoint/2010/main" val="34487693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0DC8A-6810-40BA-9A21-65ADD52FC4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C33718-7968-2173-D3B1-F4CB83B6C6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B4976B-C5A5-EC2D-B80F-EEE496B493E0}"/>
              </a:ext>
            </a:extLst>
          </p:cNvPr>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mistaken expectation that aggregate data will reflect the same relationships found within subgroups such as categories, classes, or individuals that comprise the aggregate.</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In this example, summarizing (aggregating) the two types of shots leading to the devaluing of the 3 point shot</a:t>
            </a:r>
          </a:p>
          <a:p>
            <a:r>
              <a:rPr lang="en-US" sz="1200" b="0" i="0" u="none" strike="noStrike" kern="1200" baseline="0" dirty="0">
                <a:solidFill>
                  <a:schemeClr val="tx1"/>
                </a:solidFill>
                <a:latin typeface="+mn-lt"/>
                <a:ea typeface="+mn-ea"/>
                <a:cs typeface="+mn-cs"/>
              </a:rPr>
              <a:t>- </a:t>
            </a:r>
            <a:r>
              <a:rPr lang="en-US" dirty="0"/>
              <a:t>Since Larry Bird took far more two-point shots, his overall percentage is dominated by two-point efficiency. Reggie Miller took many more three-point shots, so his overall percentage is more influenced by three-point efficiency. Because three-pointers are harder shots, that weighting pulls Miller’s overall percentage down</a:t>
            </a:r>
          </a:p>
        </p:txBody>
      </p:sp>
      <p:sp>
        <p:nvSpPr>
          <p:cNvPr id="4" name="Slide Number Placeholder 3">
            <a:extLst>
              <a:ext uri="{FF2B5EF4-FFF2-40B4-BE49-F238E27FC236}">
                <a16:creationId xmlns:a16="http://schemas.microsoft.com/office/drawing/2014/main" id="{2E1C6A0F-54ED-C467-17A0-22FDEDA8B53F}"/>
              </a:ext>
            </a:extLst>
          </p:cNvPr>
          <p:cNvSpPr>
            <a:spLocks noGrp="1"/>
          </p:cNvSpPr>
          <p:nvPr>
            <p:ph type="sldNum" sz="quarter" idx="5"/>
          </p:nvPr>
        </p:nvSpPr>
        <p:spPr/>
        <p:txBody>
          <a:bodyPr/>
          <a:lstStyle/>
          <a:p>
            <a:fld id="{1560C251-82B7-4253-A774-38D73C276BCE}" type="slidenum">
              <a:rPr lang="en-US" smtClean="0"/>
              <a:t>26</a:t>
            </a:fld>
            <a:endParaRPr lang="en-US"/>
          </a:p>
        </p:txBody>
      </p:sp>
    </p:spTree>
    <p:extLst>
      <p:ext uri="{BB962C8B-B14F-4D97-AF65-F5344CB8AC3E}">
        <p14:creationId xmlns:p14="http://schemas.microsoft.com/office/powerpoint/2010/main" val="5739499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C46F1-7D2F-254A-9AF0-E2ACFB834C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A28AA2-1467-D1E5-A856-B1A1475B97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5639F7-C82A-55B0-AF94-22962613F9B3}"/>
              </a:ext>
            </a:extLst>
          </p:cNvPr>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mistaken expectation that aggregate data will reflect the same relationships found within subgroups such as categories, classes, or individuals that comprise the aggregate.</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In this example, summarizing (aggregating) the two types of shots leading to the devaluing of the 3 point shot</a:t>
            </a:r>
          </a:p>
          <a:p>
            <a:r>
              <a:rPr lang="en-US" sz="1200" b="0" i="0" u="none" strike="noStrike" kern="1200" baseline="0" dirty="0">
                <a:solidFill>
                  <a:schemeClr val="tx1"/>
                </a:solidFill>
                <a:latin typeface="+mn-lt"/>
                <a:ea typeface="+mn-ea"/>
                <a:cs typeface="+mn-cs"/>
              </a:rPr>
              <a:t>- </a:t>
            </a:r>
            <a:r>
              <a:rPr lang="en-US" dirty="0"/>
              <a:t>Since Larry Bird took far more two-point shots, his overall percentage is dominated by two-point efficiency. Reggie Miller took many more three-point shots, so his overall percentage is more influenced by three-point efficiency. Because three-pointers are harder shots, that weighting pulls Miller’s overall percentage down</a:t>
            </a:r>
          </a:p>
        </p:txBody>
      </p:sp>
      <p:sp>
        <p:nvSpPr>
          <p:cNvPr id="4" name="Slide Number Placeholder 3">
            <a:extLst>
              <a:ext uri="{FF2B5EF4-FFF2-40B4-BE49-F238E27FC236}">
                <a16:creationId xmlns:a16="http://schemas.microsoft.com/office/drawing/2014/main" id="{F6B5DF38-086D-60C0-6A7A-929C4C3A4A69}"/>
              </a:ext>
            </a:extLst>
          </p:cNvPr>
          <p:cNvSpPr>
            <a:spLocks noGrp="1"/>
          </p:cNvSpPr>
          <p:nvPr>
            <p:ph type="sldNum" sz="quarter" idx="5"/>
          </p:nvPr>
        </p:nvSpPr>
        <p:spPr/>
        <p:txBody>
          <a:bodyPr/>
          <a:lstStyle/>
          <a:p>
            <a:fld id="{1560C251-82B7-4253-A774-38D73C276BCE}" type="slidenum">
              <a:rPr lang="en-US" smtClean="0"/>
              <a:t>27</a:t>
            </a:fld>
            <a:endParaRPr lang="en-US"/>
          </a:p>
        </p:txBody>
      </p:sp>
    </p:spTree>
    <p:extLst>
      <p:ext uri="{BB962C8B-B14F-4D97-AF65-F5344CB8AC3E}">
        <p14:creationId xmlns:p14="http://schemas.microsoft.com/office/powerpoint/2010/main" val="40108147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Anscombe’s quartet, in case you ever come across it outside of this class</a:t>
            </a:r>
          </a:p>
        </p:txBody>
      </p:sp>
      <p:sp>
        <p:nvSpPr>
          <p:cNvPr id="4" name="Slide Number Placeholder 3"/>
          <p:cNvSpPr>
            <a:spLocks noGrp="1"/>
          </p:cNvSpPr>
          <p:nvPr>
            <p:ph type="sldNum" sz="quarter" idx="5"/>
          </p:nvPr>
        </p:nvSpPr>
        <p:spPr/>
        <p:txBody>
          <a:bodyPr/>
          <a:lstStyle/>
          <a:p>
            <a:fld id="{1560C251-82B7-4253-A774-38D73C276BCE}" type="slidenum">
              <a:rPr lang="en-US" smtClean="0"/>
              <a:t>31</a:t>
            </a:fld>
            <a:endParaRPr lang="en-US"/>
          </a:p>
        </p:txBody>
      </p:sp>
    </p:spTree>
    <p:extLst>
      <p:ext uri="{BB962C8B-B14F-4D97-AF65-F5344CB8AC3E}">
        <p14:creationId xmlns:p14="http://schemas.microsoft.com/office/powerpoint/2010/main" val="4507486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6C3BF-1410-282C-E358-4DAEDAD30E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13BA8-57D9-8395-C333-5A57AD9C0D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7B752B-7357-A385-8B29-763FD6749BDC}"/>
              </a:ext>
            </a:extLst>
          </p:cNvPr>
          <p:cNvSpPr>
            <a:spLocks noGrp="1"/>
          </p:cNvSpPr>
          <p:nvPr>
            <p:ph type="body" idx="1"/>
          </p:nvPr>
        </p:nvSpPr>
        <p:spPr/>
        <p:txBody>
          <a:bodyPr/>
          <a:lstStyle/>
          <a:p>
            <a:r>
              <a:rPr lang="en-US" b="1" dirty="0"/>
              <a:t>Section 3: What summaries reveal vs. what they hide</a:t>
            </a:r>
          </a:p>
        </p:txBody>
      </p:sp>
      <p:sp>
        <p:nvSpPr>
          <p:cNvPr id="4" name="Slide Number Placeholder 3">
            <a:extLst>
              <a:ext uri="{FF2B5EF4-FFF2-40B4-BE49-F238E27FC236}">
                <a16:creationId xmlns:a16="http://schemas.microsoft.com/office/drawing/2014/main" id="{644BD303-86C6-3EB0-E571-19959F856032}"/>
              </a:ext>
            </a:extLst>
          </p:cNvPr>
          <p:cNvSpPr>
            <a:spLocks noGrp="1"/>
          </p:cNvSpPr>
          <p:nvPr>
            <p:ph type="sldNum" sz="quarter" idx="5"/>
          </p:nvPr>
        </p:nvSpPr>
        <p:spPr/>
        <p:txBody>
          <a:bodyPr/>
          <a:lstStyle/>
          <a:p>
            <a:fld id="{1560C251-82B7-4253-A774-38D73C276BCE}" type="slidenum">
              <a:rPr lang="en-US" smtClean="0"/>
              <a:t>32</a:t>
            </a:fld>
            <a:endParaRPr lang="en-US"/>
          </a:p>
        </p:txBody>
      </p:sp>
    </p:spTree>
    <p:extLst>
      <p:ext uri="{BB962C8B-B14F-4D97-AF65-F5344CB8AC3E}">
        <p14:creationId xmlns:p14="http://schemas.microsoft.com/office/powerpoint/2010/main" val="4148801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Which summary statistics are </a:t>
            </a:r>
            <a:r>
              <a:rPr lang="en-US" b="1" dirty="0"/>
              <a:t>invalid</a:t>
            </a:r>
            <a:r>
              <a:rPr lang="en-US" dirty="0"/>
              <a:t> for Position, and why?</a:t>
            </a:r>
          </a:p>
          <a:p>
            <a:r>
              <a:rPr lang="en-US" dirty="0"/>
              <a:t>– What is the </a:t>
            </a:r>
            <a:r>
              <a:rPr lang="en-US" b="1" dirty="0"/>
              <a:t>mode</a:t>
            </a:r>
            <a:r>
              <a:rPr lang="en-US" dirty="0"/>
              <a:t> of Position?</a:t>
            </a:r>
            <a:br>
              <a:rPr lang="en-US" dirty="0"/>
            </a:br>
            <a:endParaRPr lang="en-US" dirty="0"/>
          </a:p>
          <a:p>
            <a:r>
              <a:rPr lang="en-US" dirty="0"/>
              <a:t>– For </a:t>
            </a:r>
            <a:r>
              <a:rPr lang="en-US" dirty="0" err="1"/>
              <a:t>JumpHeight_cm</a:t>
            </a:r>
            <a:r>
              <a:rPr lang="en-US" dirty="0"/>
              <a:t>, which is more representative of a “typical” athlete: </a:t>
            </a:r>
            <a:r>
              <a:rPr lang="en-US" b="1" dirty="0"/>
              <a:t>mean or median</a:t>
            </a:r>
            <a:r>
              <a:rPr lang="en-US" dirty="0"/>
              <a:t>?</a:t>
            </a:r>
          </a:p>
          <a:p>
            <a:endParaRPr lang="en-US" dirty="0"/>
          </a:p>
          <a:p>
            <a:r>
              <a:rPr lang="en-US" dirty="0"/>
              <a:t>– Which variability measure is </a:t>
            </a:r>
            <a:r>
              <a:rPr lang="en-US" b="1" dirty="0"/>
              <a:t>most affected</a:t>
            </a:r>
            <a:r>
              <a:rPr lang="en-US" dirty="0"/>
              <a:t> by Athlete A10?</a:t>
            </a:r>
            <a:br>
              <a:rPr lang="en-US" dirty="0"/>
            </a:br>
            <a:r>
              <a:rPr lang="en-US" dirty="0"/>
              <a:t>– Which variability measure is </a:t>
            </a:r>
            <a:r>
              <a:rPr lang="en-US" b="1" dirty="0"/>
              <a:t>least affected</a:t>
            </a:r>
            <a:r>
              <a:rPr lang="en-US" dirty="0"/>
              <a:t> by Athlete A10?</a:t>
            </a:r>
          </a:p>
          <a:p>
            <a:endParaRPr lang="en-US" dirty="0"/>
          </a:p>
          <a:p>
            <a:r>
              <a:rPr lang="en-US" dirty="0"/>
              <a:t>– If you were </a:t>
            </a:r>
            <a:r>
              <a:rPr lang="en-US" b="1" dirty="0"/>
              <a:t>validating the data</a:t>
            </a:r>
            <a:r>
              <a:rPr lang="en-US" dirty="0"/>
              <a:t>, which variability measure would you look at first?</a:t>
            </a:r>
            <a:br>
              <a:rPr lang="en-US" dirty="0"/>
            </a:br>
            <a:r>
              <a:rPr lang="en-US" dirty="0"/>
              <a:t>– If you were </a:t>
            </a:r>
            <a:r>
              <a:rPr lang="en-US" b="1" dirty="0"/>
              <a:t>describing performance consistency</a:t>
            </a:r>
            <a:r>
              <a:rPr lang="en-US" dirty="0"/>
              <a:t>, which would you report?</a:t>
            </a:r>
          </a:p>
          <a:p>
            <a:endParaRPr lang="en-US" dirty="0"/>
          </a:p>
          <a:p>
            <a:r>
              <a:rPr lang="en-US" dirty="0"/>
              <a:t>– If you could report </a:t>
            </a:r>
            <a:r>
              <a:rPr lang="en-US" b="1" dirty="0"/>
              <a:t>one number for “typical performance”</a:t>
            </a:r>
            <a:r>
              <a:rPr lang="en-US" dirty="0"/>
              <a:t> and </a:t>
            </a:r>
            <a:r>
              <a:rPr lang="en-US" b="1" dirty="0"/>
              <a:t>one number for “spread”</a:t>
            </a:r>
            <a:r>
              <a:rPr lang="en-US" dirty="0"/>
              <a:t> to a coach, what would you choose and why?</a:t>
            </a:r>
          </a:p>
        </p:txBody>
      </p:sp>
      <p:sp>
        <p:nvSpPr>
          <p:cNvPr id="4" name="Slide Number Placeholder 3"/>
          <p:cNvSpPr>
            <a:spLocks noGrp="1"/>
          </p:cNvSpPr>
          <p:nvPr>
            <p:ph type="sldNum" sz="quarter" idx="5"/>
          </p:nvPr>
        </p:nvSpPr>
        <p:spPr/>
        <p:txBody>
          <a:bodyPr/>
          <a:lstStyle/>
          <a:p>
            <a:fld id="{1560C251-82B7-4253-A774-38D73C276BCE}" type="slidenum">
              <a:rPr lang="en-US" smtClean="0"/>
              <a:t>33</a:t>
            </a:fld>
            <a:endParaRPr lang="en-US"/>
          </a:p>
        </p:txBody>
      </p:sp>
    </p:spTree>
    <p:extLst>
      <p:ext uri="{BB962C8B-B14F-4D97-AF65-F5344CB8AC3E}">
        <p14:creationId xmlns:p14="http://schemas.microsoft.com/office/powerpoint/2010/main" val="13652174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C8DD0-AA2E-9D28-DCCB-2096BE0C09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67813B-799C-F80C-6D92-ABC410468F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016463-9B4D-A6FF-430C-656E93595E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B80C08-ECE5-BD10-2AC6-00F8353F1BCE}"/>
              </a:ext>
            </a:extLst>
          </p:cNvPr>
          <p:cNvSpPr>
            <a:spLocks noGrp="1"/>
          </p:cNvSpPr>
          <p:nvPr>
            <p:ph type="sldNum" sz="quarter" idx="5"/>
          </p:nvPr>
        </p:nvSpPr>
        <p:spPr/>
        <p:txBody>
          <a:bodyPr/>
          <a:lstStyle/>
          <a:p>
            <a:fld id="{1560C251-82B7-4253-A774-38D73C276BCE}" type="slidenum">
              <a:rPr lang="en-US" smtClean="0"/>
              <a:t>34</a:t>
            </a:fld>
            <a:endParaRPr lang="en-US"/>
          </a:p>
        </p:txBody>
      </p:sp>
    </p:spTree>
    <p:extLst>
      <p:ext uri="{BB962C8B-B14F-4D97-AF65-F5344CB8AC3E}">
        <p14:creationId xmlns:p14="http://schemas.microsoft.com/office/powerpoint/2010/main" val="11909737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EEECD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78C46-97B5-06A6-FCEF-1A1F72D6F7BD}"/>
              </a:ext>
            </a:extLst>
          </p:cNvPr>
          <p:cNvSpPr>
            <a:spLocks noGrp="1"/>
          </p:cNvSpPr>
          <p:nvPr>
            <p:ph type="ctrTitle"/>
          </p:nvPr>
        </p:nvSpPr>
        <p:spPr>
          <a:xfrm>
            <a:off x="838200" y="1122363"/>
            <a:ext cx="10515600" cy="2387600"/>
          </a:xfrm>
        </p:spPr>
        <p:txBody>
          <a:bodyPr anchor="b"/>
          <a:lstStyle>
            <a:lvl1pPr algn="l">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ED3A6AC-3ACF-3E00-27EA-CDC21E0D0CE2}"/>
              </a:ext>
            </a:extLst>
          </p:cNvPr>
          <p:cNvSpPr>
            <a:spLocks noGrp="1"/>
          </p:cNvSpPr>
          <p:nvPr>
            <p:ph type="subTitle" idx="1"/>
          </p:nvPr>
        </p:nvSpPr>
        <p:spPr>
          <a:xfrm>
            <a:off x="838199" y="3602038"/>
            <a:ext cx="10515599"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82D74E7-FB50-6453-FBC4-4FF2059E7DD6}"/>
              </a:ext>
            </a:extLst>
          </p:cNvPr>
          <p:cNvSpPr>
            <a:spLocks noGrp="1"/>
          </p:cNvSpPr>
          <p:nvPr>
            <p:ph type="dt" sz="half" idx="10"/>
          </p:nvPr>
        </p:nvSpPr>
        <p:spPr/>
        <p:txBody>
          <a:bodyPr/>
          <a:lstStyle/>
          <a:p>
            <a:fld id="{1BF61C71-767E-B84C-BFB3-7B18856D27F4}" type="datetimeFigureOut">
              <a:rPr lang="en-US" smtClean="0"/>
              <a:t>9/24/26</a:t>
            </a:fld>
            <a:endParaRPr lang="en-US"/>
          </a:p>
        </p:txBody>
      </p:sp>
      <p:sp>
        <p:nvSpPr>
          <p:cNvPr id="5" name="Footer Placeholder 4">
            <a:extLst>
              <a:ext uri="{FF2B5EF4-FFF2-40B4-BE49-F238E27FC236}">
                <a16:creationId xmlns:a16="http://schemas.microsoft.com/office/drawing/2014/main" id="{D3DEC381-9EAC-65CA-E2D4-E9753C63FC8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8E85E49-459E-7153-8DCA-00BFA12DD9A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533530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44AAB-14A7-7BCA-3837-4F570792F39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33DB745-E89B-BA25-707B-D3F4B483C33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1A29DF3-7131-344B-BE29-3470A6E4AD53}"/>
              </a:ext>
            </a:extLst>
          </p:cNvPr>
          <p:cNvSpPr>
            <a:spLocks noGrp="1"/>
          </p:cNvSpPr>
          <p:nvPr>
            <p:ph type="dt" sz="half" idx="10"/>
          </p:nvPr>
        </p:nvSpPr>
        <p:spPr/>
        <p:txBody>
          <a:bodyPr/>
          <a:lstStyle/>
          <a:p>
            <a:fld id="{1BF61C71-767E-B84C-BFB3-7B18856D27F4}" type="datetimeFigureOut">
              <a:rPr lang="en-US" smtClean="0"/>
              <a:t>9/24/26</a:t>
            </a:fld>
            <a:endParaRPr lang="en-US"/>
          </a:p>
        </p:txBody>
      </p:sp>
      <p:sp>
        <p:nvSpPr>
          <p:cNvPr id="5" name="Footer Placeholder 4">
            <a:extLst>
              <a:ext uri="{FF2B5EF4-FFF2-40B4-BE49-F238E27FC236}">
                <a16:creationId xmlns:a16="http://schemas.microsoft.com/office/drawing/2014/main" id="{2E19C8A0-82E3-D43A-B433-03BD0E8A131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9EC3461-EED3-DA55-3A67-403D2D4F603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590894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DEF06-5D11-579D-7B22-EDF525B072C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C3F87EE-121E-981D-94B0-7DD81A7608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A509C7F-68AA-F83B-0CC2-643C7451C3BF}"/>
              </a:ext>
            </a:extLst>
          </p:cNvPr>
          <p:cNvSpPr>
            <a:spLocks noGrp="1"/>
          </p:cNvSpPr>
          <p:nvPr>
            <p:ph type="dt" sz="half" idx="10"/>
          </p:nvPr>
        </p:nvSpPr>
        <p:spPr/>
        <p:txBody>
          <a:bodyPr/>
          <a:lstStyle/>
          <a:p>
            <a:fld id="{1BF61C71-767E-B84C-BFB3-7B18856D27F4}" type="datetimeFigureOut">
              <a:rPr lang="en-US" smtClean="0"/>
              <a:t>9/24/26</a:t>
            </a:fld>
            <a:endParaRPr lang="en-US"/>
          </a:p>
        </p:txBody>
      </p:sp>
      <p:sp>
        <p:nvSpPr>
          <p:cNvPr id="5" name="Footer Placeholder 4">
            <a:extLst>
              <a:ext uri="{FF2B5EF4-FFF2-40B4-BE49-F238E27FC236}">
                <a16:creationId xmlns:a16="http://schemas.microsoft.com/office/drawing/2014/main" id="{5ABFDF23-F262-A143-3D94-2E03C5E8059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A01BCC86-AF79-D336-B20B-1E34423D79D2}"/>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646671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E23E6-4994-ADDB-53EF-33DAC620482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511385E-3FBA-00D8-820B-01457DE095D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C400107-976D-189B-D5B8-F3309A029F3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8421288-007A-64D1-177C-EC493AB351E6}"/>
              </a:ext>
            </a:extLst>
          </p:cNvPr>
          <p:cNvSpPr>
            <a:spLocks noGrp="1"/>
          </p:cNvSpPr>
          <p:nvPr>
            <p:ph type="dt" sz="half" idx="10"/>
          </p:nvPr>
        </p:nvSpPr>
        <p:spPr/>
        <p:txBody>
          <a:bodyPr/>
          <a:lstStyle/>
          <a:p>
            <a:fld id="{1BF61C71-767E-B84C-BFB3-7B18856D27F4}" type="datetimeFigureOut">
              <a:rPr lang="en-US" smtClean="0"/>
              <a:t>9/24/26</a:t>
            </a:fld>
            <a:endParaRPr lang="en-US"/>
          </a:p>
        </p:txBody>
      </p:sp>
      <p:sp>
        <p:nvSpPr>
          <p:cNvPr id="6" name="Footer Placeholder 5">
            <a:extLst>
              <a:ext uri="{FF2B5EF4-FFF2-40B4-BE49-F238E27FC236}">
                <a16:creationId xmlns:a16="http://schemas.microsoft.com/office/drawing/2014/main" id="{D18BDC7E-1ED0-A64E-B741-2BD6DCC161E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97110B18-79B2-CA9A-54E7-8E270EA6CAF9}"/>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156113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DBA0C-D408-C89D-A5A4-EE49BFEFE6E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5C15059-44C0-5CAB-DD62-331CAEACC2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E8210DA-60F4-E204-139F-488557C3AC4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9C6D382-4432-4F54-9B2C-18EA1D3502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00DFF74-3B74-1F87-68E5-7C634623838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63D8442-0A79-241F-AD71-72BAE08747AF}"/>
              </a:ext>
            </a:extLst>
          </p:cNvPr>
          <p:cNvSpPr>
            <a:spLocks noGrp="1"/>
          </p:cNvSpPr>
          <p:nvPr>
            <p:ph type="dt" sz="half" idx="10"/>
          </p:nvPr>
        </p:nvSpPr>
        <p:spPr/>
        <p:txBody>
          <a:bodyPr/>
          <a:lstStyle/>
          <a:p>
            <a:fld id="{1BF61C71-767E-B84C-BFB3-7B18856D27F4}" type="datetimeFigureOut">
              <a:rPr lang="en-US" smtClean="0"/>
              <a:t>9/24/26</a:t>
            </a:fld>
            <a:endParaRPr lang="en-US"/>
          </a:p>
        </p:txBody>
      </p:sp>
      <p:sp>
        <p:nvSpPr>
          <p:cNvPr id="8" name="Footer Placeholder 7">
            <a:extLst>
              <a:ext uri="{FF2B5EF4-FFF2-40B4-BE49-F238E27FC236}">
                <a16:creationId xmlns:a16="http://schemas.microsoft.com/office/drawing/2014/main" id="{81BD044B-09B6-F478-2B54-1F15413514F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E5518B98-54E9-0248-CDC2-25F053D11E93}"/>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477298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98611-FF70-0739-AB12-3A0D4D68852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D6340F8-BFC2-15DC-7097-138E7417B933}"/>
              </a:ext>
            </a:extLst>
          </p:cNvPr>
          <p:cNvSpPr>
            <a:spLocks noGrp="1"/>
          </p:cNvSpPr>
          <p:nvPr>
            <p:ph type="dt" sz="half" idx="10"/>
          </p:nvPr>
        </p:nvSpPr>
        <p:spPr/>
        <p:txBody>
          <a:bodyPr/>
          <a:lstStyle/>
          <a:p>
            <a:fld id="{1BF61C71-767E-B84C-BFB3-7B18856D27F4}" type="datetimeFigureOut">
              <a:rPr lang="en-US" smtClean="0"/>
              <a:t>9/24/26</a:t>
            </a:fld>
            <a:endParaRPr lang="en-US"/>
          </a:p>
        </p:txBody>
      </p:sp>
      <p:sp>
        <p:nvSpPr>
          <p:cNvPr id="4" name="Footer Placeholder 3">
            <a:extLst>
              <a:ext uri="{FF2B5EF4-FFF2-40B4-BE49-F238E27FC236}">
                <a16:creationId xmlns:a16="http://schemas.microsoft.com/office/drawing/2014/main" id="{0987FFF2-E8C5-FBDB-D95A-12987FF75CB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B02AAC0-7C6B-411F-8B27-54187B087820}"/>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718840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C24E59-43B1-B0E4-7BB5-449B4E620269}"/>
              </a:ext>
            </a:extLst>
          </p:cNvPr>
          <p:cNvSpPr>
            <a:spLocks noGrp="1"/>
          </p:cNvSpPr>
          <p:nvPr>
            <p:ph type="dt" sz="half" idx="10"/>
          </p:nvPr>
        </p:nvSpPr>
        <p:spPr/>
        <p:txBody>
          <a:bodyPr/>
          <a:lstStyle/>
          <a:p>
            <a:fld id="{1BF61C71-767E-B84C-BFB3-7B18856D27F4}" type="datetimeFigureOut">
              <a:rPr lang="en-US" smtClean="0"/>
              <a:t>9/24/26</a:t>
            </a:fld>
            <a:endParaRPr lang="en-US"/>
          </a:p>
        </p:txBody>
      </p:sp>
      <p:sp>
        <p:nvSpPr>
          <p:cNvPr id="3" name="Footer Placeholder 2">
            <a:extLst>
              <a:ext uri="{FF2B5EF4-FFF2-40B4-BE49-F238E27FC236}">
                <a16:creationId xmlns:a16="http://schemas.microsoft.com/office/drawing/2014/main" id="{209DB2FC-A612-3F77-71B9-89F90F23EC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BE7EA5C7-5EFB-A99C-8686-6EB2C8FCFA5F}"/>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715173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6815E-33A2-36BD-141A-20E6987BFB9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64EB718-3207-923E-BB2A-3A6A8B97CF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6D8BF2C-0530-D542-CEA1-66680DF2CF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91246F5-476E-F02E-8D52-52095AD76408}"/>
              </a:ext>
            </a:extLst>
          </p:cNvPr>
          <p:cNvSpPr>
            <a:spLocks noGrp="1"/>
          </p:cNvSpPr>
          <p:nvPr>
            <p:ph type="dt" sz="half" idx="10"/>
          </p:nvPr>
        </p:nvSpPr>
        <p:spPr/>
        <p:txBody>
          <a:bodyPr/>
          <a:lstStyle/>
          <a:p>
            <a:fld id="{1BF61C71-767E-B84C-BFB3-7B18856D27F4}" type="datetimeFigureOut">
              <a:rPr lang="en-US" smtClean="0"/>
              <a:t>9/24/26</a:t>
            </a:fld>
            <a:endParaRPr lang="en-US"/>
          </a:p>
        </p:txBody>
      </p:sp>
      <p:sp>
        <p:nvSpPr>
          <p:cNvPr id="6" name="Footer Placeholder 5">
            <a:extLst>
              <a:ext uri="{FF2B5EF4-FFF2-40B4-BE49-F238E27FC236}">
                <a16:creationId xmlns:a16="http://schemas.microsoft.com/office/drawing/2014/main" id="{4ACCBF9F-FEBA-A17C-67EF-779BF698253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33091D5-A6B8-C1A9-58A4-732980B56A1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687346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F53C8-34AC-4EC3-9EF2-7646130C5F5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D95296B-D06F-EC13-3B4B-D0804D56AD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AC15AD4-D0C4-4B3F-01A9-C4EB16F15D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B85DC77-4EA3-68F2-C1B1-3B61F9D48ACD}"/>
              </a:ext>
            </a:extLst>
          </p:cNvPr>
          <p:cNvSpPr>
            <a:spLocks noGrp="1"/>
          </p:cNvSpPr>
          <p:nvPr>
            <p:ph type="dt" sz="half" idx="10"/>
          </p:nvPr>
        </p:nvSpPr>
        <p:spPr/>
        <p:txBody>
          <a:bodyPr/>
          <a:lstStyle/>
          <a:p>
            <a:fld id="{1BF61C71-767E-B84C-BFB3-7B18856D27F4}" type="datetimeFigureOut">
              <a:rPr lang="en-US" smtClean="0"/>
              <a:t>9/24/26</a:t>
            </a:fld>
            <a:endParaRPr lang="en-US"/>
          </a:p>
        </p:txBody>
      </p:sp>
      <p:sp>
        <p:nvSpPr>
          <p:cNvPr id="6" name="Footer Placeholder 5">
            <a:extLst>
              <a:ext uri="{FF2B5EF4-FFF2-40B4-BE49-F238E27FC236}">
                <a16:creationId xmlns:a16="http://schemas.microsoft.com/office/drawing/2014/main" id="{5028E95B-5416-3489-B8F3-9294F9EAD56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7231B0D-A406-6B24-1768-98B5238CCD11}"/>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774462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7492E-5097-4D4A-B212-B9541B6D396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D2B2462-C37E-9A16-D9B2-03FE3550DC7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765E3E0-2253-2E4B-C45D-9DD87541ECCF}"/>
              </a:ext>
            </a:extLst>
          </p:cNvPr>
          <p:cNvSpPr>
            <a:spLocks noGrp="1"/>
          </p:cNvSpPr>
          <p:nvPr>
            <p:ph type="dt" sz="half" idx="10"/>
          </p:nvPr>
        </p:nvSpPr>
        <p:spPr/>
        <p:txBody>
          <a:bodyPr/>
          <a:lstStyle/>
          <a:p>
            <a:fld id="{1BF61C71-767E-B84C-BFB3-7B18856D27F4}" type="datetimeFigureOut">
              <a:rPr lang="en-US" smtClean="0"/>
              <a:t>9/24/26</a:t>
            </a:fld>
            <a:endParaRPr lang="en-US"/>
          </a:p>
        </p:txBody>
      </p:sp>
      <p:sp>
        <p:nvSpPr>
          <p:cNvPr id="5" name="Footer Placeholder 4">
            <a:extLst>
              <a:ext uri="{FF2B5EF4-FFF2-40B4-BE49-F238E27FC236}">
                <a16:creationId xmlns:a16="http://schemas.microsoft.com/office/drawing/2014/main" id="{A3E8D6ED-F324-5EA4-EBC1-32D8A8A8046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8926162-D880-6B17-AFBB-2555E585E2D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355812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7EF97A-4C14-3B96-B570-63221FE4263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61FCF3E-3E21-12E5-F093-CD2EBC62CD8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6EEB50E-0940-C414-1C80-43A1C4CBF31A}"/>
              </a:ext>
            </a:extLst>
          </p:cNvPr>
          <p:cNvSpPr>
            <a:spLocks noGrp="1"/>
          </p:cNvSpPr>
          <p:nvPr>
            <p:ph type="dt" sz="half" idx="10"/>
          </p:nvPr>
        </p:nvSpPr>
        <p:spPr/>
        <p:txBody>
          <a:bodyPr/>
          <a:lstStyle/>
          <a:p>
            <a:fld id="{1BF61C71-767E-B84C-BFB3-7B18856D27F4}" type="datetimeFigureOut">
              <a:rPr lang="en-US" smtClean="0"/>
              <a:t>9/24/26</a:t>
            </a:fld>
            <a:endParaRPr lang="en-US"/>
          </a:p>
        </p:txBody>
      </p:sp>
      <p:sp>
        <p:nvSpPr>
          <p:cNvPr id="5" name="Footer Placeholder 4">
            <a:extLst>
              <a:ext uri="{FF2B5EF4-FFF2-40B4-BE49-F238E27FC236}">
                <a16:creationId xmlns:a16="http://schemas.microsoft.com/office/drawing/2014/main" id="{01434562-A92B-8D3C-4A79-2489A997521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247ADD3-AF08-2898-D3BF-4768616B38DE}"/>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8915101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E096579-E85F-CE49-A1E7-090D69C7D3D9}"/>
              </a:ext>
            </a:extLst>
          </p:cNvPr>
          <p:cNvSpPr>
            <a:spLocks noGrp="1"/>
          </p:cNvSpPr>
          <p:nvPr>
            <p:ph type="sldNum" sz="quarter" idx="11"/>
          </p:nvPr>
        </p:nvSpPr>
        <p:spPr/>
        <p:txBody>
          <a:bodyPr/>
          <a:lstStyle/>
          <a:p>
            <a:fld id="{45C00377-489B-40EC-B059-26BDDD2E89B9}" type="slidenum">
              <a:rPr lang="en-US" smtClean="0"/>
              <a:pPr/>
              <a:t>‹#›</a:t>
            </a:fld>
            <a:endParaRPr lang="en-US"/>
          </a:p>
        </p:txBody>
      </p:sp>
      <p:sp>
        <p:nvSpPr>
          <p:cNvPr id="3" name="Title Placeholder 1">
            <a:extLst>
              <a:ext uri="{FF2B5EF4-FFF2-40B4-BE49-F238E27FC236}">
                <a16:creationId xmlns:a16="http://schemas.microsoft.com/office/drawing/2014/main" id="{46E8C1D3-413D-3F8C-2B71-1C4EB0ADE93B}"/>
              </a:ext>
            </a:extLst>
          </p:cNvPr>
          <p:cNvSpPr>
            <a:spLocks noGrp="1"/>
          </p:cNvSpPr>
          <p:nvPr>
            <p:ph type="title" hasCustomPrompt="1"/>
          </p:nvPr>
        </p:nvSpPr>
        <p:spPr>
          <a:xfrm>
            <a:off x="838200" y="3110401"/>
            <a:ext cx="10515600" cy="637198"/>
          </a:xfrm>
          <a:prstGeom prst="rect">
            <a:avLst/>
          </a:prstGeom>
        </p:spPr>
        <p:txBody>
          <a:bodyPr vert="horz" lIns="91440" tIns="45720" rIns="91440" bIns="45720" rtlCol="0" anchor="ctr">
            <a:normAutofit/>
          </a:bodyPr>
          <a:lstStyle>
            <a:lvl1pPr algn="ctr">
              <a:defRPr/>
            </a:lvl1pPr>
          </a:lstStyle>
          <a:p>
            <a:r>
              <a:rPr lang="en-US"/>
              <a:t>CLICK TO EDIT MASTER TITLE STYLE</a:t>
            </a:r>
          </a:p>
        </p:txBody>
      </p:sp>
    </p:spTree>
    <p:extLst>
      <p:ext uri="{BB962C8B-B14F-4D97-AF65-F5344CB8AC3E}">
        <p14:creationId xmlns:p14="http://schemas.microsoft.com/office/powerpoint/2010/main" val="1382772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CDD"/>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C7E355-A6C3-ABB7-5FB3-07B7718D6981}"/>
              </a:ext>
            </a:extLst>
          </p:cNvPr>
          <p:cNvSpPr>
            <a:spLocks noGrp="1"/>
          </p:cNvSpPr>
          <p:nvPr>
            <p:ph type="title"/>
          </p:nvPr>
        </p:nvSpPr>
        <p:spPr>
          <a:xfrm>
            <a:off x="838200" y="365126"/>
            <a:ext cx="10515600" cy="91269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3BE3536-C253-FE9A-75A8-6625508B8089}"/>
              </a:ext>
            </a:extLst>
          </p:cNvPr>
          <p:cNvSpPr>
            <a:spLocks noGrp="1"/>
          </p:cNvSpPr>
          <p:nvPr>
            <p:ph type="body" idx="1"/>
          </p:nvPr>
        </p:nvSpPr>
        <p:spPr>
          <a:xfrm>
            <a:off x="838200" y="1441938"/>
            <a:ext cx="10515600" cy="473502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727838E-35A9-F96A-354A-AE0FF3F853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F61C71-767E-B84C-BFB3-7B18856D27F4}" type="datetimeFigureOut">
              <a:rPr lang="en-US" smtClean="0"/>
              <a:t>9/24/26</a:t>
            </a:fld>
            <a:endParaRPr lang="en-US"/>
          </a:p>
        </p:txBody>
      </p:sp>
      <p:sp>
        <p:nvSpPr>
          <p:cNvPr id="6" name="Slide Number Placeholder 5">
            <a:extLst>
              <a:ext uri="{FF2B5EF4-FFF2-40B4-BE49-F238E27FC236}">
                <a16:creationId xmlns:a16="http://schemas.microsoft.com/office/drawing/2014/main" id="{8E6CBC5A-10F1-AA57-C7EC-9CDC8A53A5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CCEFD2-39D4-B845-AAFB-DDCB27801685}" type="slidenum">
              <a:rPr lang="en-US" smtClean="0"/>
              <a:t>‹#›</a:t>
            </a:fld>
            <a:endParaRPr lang="en-US"/>
          </a:p>
        </p:txBody>
      </p:sp>
      <p:sp>
        <p:nvSpPr>
          <p:cNvPr id="7" name="Footer Placeholder 6">
            <a:extLst>
              <a:ext uri="{FF2B5EF4-FFF2-40B4-BE49-F238E27FC236}">
                <a16:creationId xmlns:a16="http://schemas.microsoft.com/office/drawing/2014/main" id="{2EEC1130-6658-3CAB-3F94-0FA0AAB844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Tree>
    <p:extLst>
      <p:ext uri="{BB962C8B-B14F-4D97-AF65-F5344CB8AC3E}">
        <p14:creationId xmlns:p14="http://schemas.microsoft.com/office/powerpoint/2010/main" val="41232072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ECD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9270D-14C3-FED3-E83A-AD4E36EC7A85}"/>
              </a:ext>
            </a:extLst>
          </p:cNvPr>
          <p:cNvSpPr>
            <a:spLocks noGrp="1"/>
          </p:cNvSpPr>
          <p:nvPr>
            <p:ph type="ctrTitle"/>
          </p:nvPr>
        </p:nvSpPr>
        <p:spPr/>
        <p:txBody>
          <a:bodyPr>
            <a:normAutofit/>
          </a:bodyPr>
          <a:lstStyle/>
          <a:p>
            <a:r>
              <a:rPr lang="en-GB" sz="4800" dirty="0" err="1"/>
              <a:t>Center</a:t>
            </a:r>
            <a:r>
              <a:rPr lang="en-GB" sz="4800" dirty="0"/>
              <a:t>, spread, and distributions</a:t>
            </a:r>
          </a:p>
        </p:txBody>
      </p:sp>
      <p:sp>
        <p:nvSpPr>
          <p:cNvPr id="3" name="Subtitle 2">
            <a:extLst>
              <a:ext uri="{FF2B5EF4-FFF2-40B4-BE49-F238E27FC236}">
                <a16:creationId xmlns:a16="http://schemas.microsoft.com/office/drawing/2014/main" id="{FE03FB66-255C-9B0B-8F15-F85AACB34CEA}"/>
              </a:ext>
            </a:extLst>
          </p:cNvPr>
          <p:cNvSpPr>
            <a:spLocks noGrp="1"/>
          </p:cNvSpPr>
          <p:nvPr>
            <p:ph type="subTitle" idx="1"/>
          </p:nvPr>
        </p:nvSpPr>
        <p:spPr/>
        <p:txBody>
          <a:bodyPr/>
          <a:lstStyle/>
          <a:p>
            <a:r>
              <a:rPr lang="en-GB" dirty="0"/>
              <a:t>Saryu Onishi</a:t>
            </a:r>
          </a:p>
          <a:p>
            <a:r>
              <a:rPr lang="en-GB" dirty="0"/>
              <a:t>HES 3000-002, Sport Performance Analytics</a:t>
            </a:r>
          </a:p>
        </p:txBody>
      </p:sp>
    </p:spTree>
    <p:extLst>
      <p:ext uri="{BB962C8B-B14F-4D97-AF65-F5344CB8AC3E}">
        <p14:creationId xmlns:p14="http://schemas.microsoft.com/office/powerpoint/2010/main" val="3294273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5E7F1-6F00-B722-B640-807806D80B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80A8B1-AB71-1D8C-7777-70A489C5500A}"/>
              </a:ext>
            </a:extLst>
          </p:cNvPr>
          <p:cNvSpPr>
            <a:spLocks noGrp="1"/>
          </p:cNvSpPr>
          <p:nvPr>
            <p:ph type="title"/>
          </p:nvPr>
        </p:nvSpPr>
        <p:spPr/>
        <p:txBody>
          <a:bodyPr/>
          <a:lstStyle/>
          <a:p>
            <a:r>
              <a:rPr lang="en-US" dirty="0"/>
              <a:t>levels of granularity</a:t>
            </a:r>
          </a:p>
        </p:txBody>
      </p:sp>
      <p:pic>
        <p:nvPicPr>
          <p:cNvPr id="4" name="Picture 3">
            <a:extLst>
              <a:ext uri="{FF2B5EF4-FFF2-40B4-BE49-F238E27FC236}">
                <a16:creationId xmlns:a16="http://schemas.microsoft.com/office/drawing/2014/main" id="{88D06B48-FFB8-FEB6-A2DF-AD7F6DF6E251}"/>
              </a:ext>
            </a:extLst>
          </p:cNvPr>
          <p:cNvPicPr>
            <a:picLocks noChangeAspect="1"/>
          </p:cNvPicPr>
          <p:nvPr/>
        </p:nvPicPr>
        <p:blipFill>
          <a:blip r:embed="rId2"/>
          <a:stretch>
            <a:fillRect/>
          </a:stretch>
        </p:blipFill>
        <p:spPr>
          <a:xfrm>
            <a:off x="811420" y="1271779"/>
            <a:ext cx="4825784" cy="3599478"/>
          </a:xfrm>
          <a:prstGeom prst="rect">
            <a:avLst/>
          </a:prstGeom>
        </p:spPr>
      </p:pic>
      <p:pic>
        <p:nvPicPr>
          <p:cNvPr id="5" name="Picture 4">
            <a:extLst>
              <a:ext uri="{FF2B5EF4-FFF2-40B4-BE49-F238E27FC236}">
                <a16:creationId xmlns:a16="http://schemas.microsoft.com/office/drawing/2014/main" id="{1F1C5F7A-3CE5-BAAD-6ED4-8F34A389D153}"/>
              </a:ext>
            </a:extLst>
          </p:cNvPr>
          <p:cNvPicPr>
            <a:picLocks noChangeAspect="1"/>
          </p:cNvPicPr>
          <p:nvPr/>
        </p:nvPicPr>
        <p:blipFill>
          <a:blip r:embed="rId3"/>
          <a:stretch>
            <a:fillRect/>
          </a:stretch>
        </p:blipFill>
        <p:spPr>
          <a:xfrm>
            <a:off x="7570262" y="4582281"/>
            <a:ext cx="2743200" cy="1494168"/>
          </a:xfrm>
          <a:prstGeom prst="rect">
            <a:avLst/>
          </a:prstGeom>
        </p:spPr>
      </p:pic>
      <p:pic>
        <p:nvPicPr>
          <p:cNvPr id="7" name="Picture 6">
            <a:extLst>
              <a:ext uri="{FF2B5EF4-FFF2-40B4-BE49-F238E27FC236}">
                <a16:creationId xmlns:a16="http://schemas.microsoft.com/office/drawing/2014/main" id="{A00BE1A1-4E14-1D8E-B9B8-4FD4CFC3E47F}"/>
              </a:ext>
            </a:extLst>
          </p:cNvPr>
          <p:cNvPicPr>
            <a:picLocks noChangeAspect="1"/>
          </p:cNvPicPr>
          <p:nvPr/>
        </p:nvPicPr>
        <p:blipFill>
          <a:blip r:embed="rId4"/>
          <a:stretch>
            <a:fillRect/>
          </a:stretch>
        </p:blipFill>
        <p:spPr>
          <a:xfrm>
            <a:off x="7570262" y="2945619"/>
            <a:ext cx="2743200" cy="1472540"/>
          </a:xfrm>
          <a:prstGeom prst="rect">
            <a:avLst/>
          </a:prstGeom>
        </p:spPr>
      </p:pic>
      <p:pic>
        <p:nvPicPr>
          <p:cNvPr id="8" name="Picture 7">
            <a:extLst>
              <a:ext uri="{FF2B5EF4-FFF2-40B4-BE49-F238E27FC236}">
                <a16:creationId xmlns:a16="http://schemas.microsoft.com/office/drawing/2014/main" id="{0BD59E24-2FCC-3465-1022-843CB08B22FD}"/>
              </a:ext>
            </a:extLst>
          </p:cNvPr>
          <p:cNvPicPr>
            <a:picLocks noChangeAspect="1"/>
          </p:cNvPicPr>
          <p:nvPr/>
        </p:nvPicPr>
        <p:blipFill>
          <a:blip r:embed="rId5"/>
          <a:stretch>
            <a:fillRect/>
          </a:stretch>
        </p:blipFill>
        <p:spPr>
          <a:xfrm>
            <a:off x="7570262" y="1277816"/>
            <a:ext cx="2789515" cy="1494168"/>
          </a:xfrm>
          <a:prstGeom prst="rect">
            <a:avLst/>
          </a:prstGeom>
        </p:spPr>
      </p:pic>
      <p:sp>
        <p:nvSpPr>
          <p:cNvPr id="9" name="Rectangle 8">
            <a:extLst>
              <a:ext uri="{FF2B5EF4-FFF2-40B4-BE49-F238E27FC236}">
                <a16:creationId xmlns:a16="http://schemas.microsoft.com/office/drawing/2014/main" id="{798E73D1-CCDC-7990-EEAE-FD76CD5F5AA0}"/>
              </a:ext>
            </a:extLst>
          </p:cNvPr>
          <p:cNvSpPr/>
          <p:nvPr/>
        </p:nvSpPr>
        <p:spPr>
          <a:xfrm>
            <a:off x="4452729" y="1389899"/>
            <a:ext cx="182880" cy="338328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C80B174-D9F4-46C7-05F5-40C40FD7418F}"/>
              </a:ext>
            </a:extLst>
          </p:cNvPr>
          <p:cNvSpPr/>
          <p:nvPr/>
        </p:nvSpPr>
        <p:spPr>
          <a:xfrm>
            <a:off x="2318137" y="1389899"/>
            <a:ext cx="182880" cy="338328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10B58B3-5AAE-2F19-03EB-1EC30558CC65}"/>
              </a:ext>
            </a:extLst>
          </p:cNvPr>
          <p:cNvSpPr/>
          <p:nvPr/>
        </p:nvSpPr>
        <p:spPr>
          <a:xfrm>
            <a:off x="3256171" y="1389899"/>
            <a:ext cx="182880" cy="338328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D4BF29-C42A-30D3-FAC5-42650E8A22C8}"/>
              </a:ext>
            </a:extLst>
          </p:cNvPr>
          <p:cNvSpPr/>
          <p:nvPr/>
        </p:nvSpPr>
        <p:spPr>
          <a:xfrm>
            <a:off x="10045147" y="1972242"/>
            <a:ext cx="301377" cy="21445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E767374-0EF2-5237-1EE2-1BF2DE75B21B}"/>
              </a:ext>
            </a:extLst>
          </p:cNvPr>
          <p:cNvSpPr/>
          <p:nvPr/>
        </p:nvSpPr>
        <p:spPr>
          <a:xfrm>
            <a:off x="10045146" y="3854500"/>
            <a:ext cx="295095" cy="23151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FBFCED9-E2B8-0E86-F934-F2AD3A40DE75}"/>
              </a:ext>
            </a:extLst>
          </p:cNvPr>
          <p:cNvSpPr/>
          <p:nvPr/>
        </p:nvSpPr>
        <p:spPr>
          <a:xfrm>
            <a:off x="10045146" y="4763381"/>
            <a:ext cx="295096" cy="23151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8DE91AA4-992F-23CF-F830-52BD3A79CD1E}"/>
              </a:ext>
            </a:extLst>
          </p:cNvPr>
          <p:cNvCxnSpPr>
            <a:cxnSpLocks/>
          </p:cNvCxnSpPr>
          <p:nvPr/>
        </p:nvCxnSpPr>
        <p:spPr>
          <a:xfrm flipV="1">
            <a:off x="5919537" y="2186698"/>
            <a:ext cx="1363579" cy="585286"/>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B2234BDD-8AF8-8D27-01CD-6EAE75E964B9}"/>
              </a:ext>
            </a:extLst>
          </p:cNvPr>
          <p:cNvCxnSpPr>
            <a:cxnSpLocks/>
          </p:cNvCxnSpPr>
          <p:nvPr/>
        </p:nvCxnSpPr>
        <p:spPr>
          <a:xfrm>
            <a:off x="5919537" y="3074504"/>
            <a:ext cx="1363579" cy="901148"/>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0C155799-8229-B82D-DDE9-8C53FDE7FB7D}"/>
              </a:ext>
            </a:extLst>
          </p:cNvPr>
          <p:cNvCxnSpPr>
            <a:cxnSpLocks/>
          </p:cNvCxnSpPr>
          <p:nvPr/>
        </p:nvCxnSpPr>
        <p:spPr>
          <a:xfrm>
            <a:off x="5919537" y="3429000"/>
            <a:ext cx="1501680" cy="1442257"/>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0872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A69EA-9357-FEFF-8BA9-92D09596807E}"/>
              </a:ext>
            </a:extLst>
          </p:cNvPr>
          <p:cNvSpPr>
            <a:spLocks noGrp="1"/>
          </p:cNvSpPr>
          <p:nvPr>
            <p:ph type="title"/>
          </p:nvPr>
        </p:nvSpPr>
        <p:spPr/>
        <p:txBody>
          <a:bodyPr/>
          <a:lstStyle/>
          <a:p>
            <a:r>
              <a:rPr lang="en-US" dirty="0"/>
              <a:t>Summarizing your data</a:t>
            </a:r>
          </a:p>
        </p:txBody>
      </p:sp>
      <p:sp>
        <p:nvSpPr>
          <p:cNvPr id="3" name="Content Placeholder 2">
            <a:extLst>
              <a:ext uri="{FF2B5EF4-FFF2-40B4-BE49-F238E27FC236}">
                <a16:creationId xmlns:a16="http://schemas.microsoft.com/office/drawing/2014/main" id="{52C6A547-4297-8050-2D3C-A9ABA2E9C4DE}"/>
              </a:ext>
            </a:extLst>
          </p:cNvPr>
          <p:cNvSpPr>
            <a:spLocks noGrp="1"/>
          </p:cNvSpPr>
          <p:nvPr>
            <p:ph idx="1"/>
          </p:nvPr>
        </p:nvSpPr>
        <p:spPr/>
        <p:txBody>
          <a:bodyPr/>
          <a:lstStyle/>
          <a:p>
            <a:pPr lvl="0"/>
            <a:r>
              <a:rPr lang="en-GB" dirty="0"/>
              <a:t>A single number can answer different questions:</a:t>
            </a:r>
            <a:endParaRPr lang="en-US" dirty="0"/>
          </a:p>
        </p:txBody>
      </p:sp>
      <p:graphicFrame>
        <p:nvGraphicFramePr>
          <p:cNvPr id="4" name="Table 3">
            <a:extLst>
              <a:ext uri="{FF2B5EF4-FFF2-40B4-BE49-F238E27FC236}">
                <a16:creationId xmlns:a16="http://schemas.microsoft.com/office/drawing/2014/main" id="{CB727180-4864-B6DB-8F0D-9B3D110D220F}"/>
              </a:ext>
            </a:extLst>
          </p:cNvPr>
          <p:cNvGraphicFramePr>
            <a:graphicFrameLocks noGrp="1"/>
          </p:cNvGraphicFramePr>
          <p:nvPr>
            <p:extLst>
              <p:ext uri="{D42A27DB-BD31-4B8C-83A1-F6EECF244321}">
                <p14:modId xmlns:p14="http://schemas.microsoft.com/office/powerpoint/2010/main" val="1335827930"/>
              </p:ext>
            </p:extLst>
          </p:nvPr>
        </p:nvGraphicFramePr>
        <p:xfrm>
          <a:off x="838200" y="2894806"/>
          <a:ext cx="10515600" cy="1828800"/>
        </p:xfrm>
        <a:graphic>
          <a:graphicData uri="http://schemas.openxmlformats.org/drawingml/2006/table">
            <a:tbl>
              <a:tblPr firstRow="1">
                <a:tableStyleId>{5C22544A-7EE6-4342-B048-85BDC9FD1C3A}</a:tableStyleId>
              </a:tblPr>
              <a:tblGrid>
                <a:gridCol w="3505200">
                  <a:extLst>
                    <a:ext uri="{9D8B030D-6E8A-4147-A177-3AD203B41FA5}">
                      <a16:colId xmlns:a16="http://schemas.microsoft.com/office/drawing/2014/main" val="684497730"/>
                    </a:ext>
                  </a:extLst>
                </a:gridCol>
                <a:gridCol w="3505200">
                  <a:extLst>
                    <a:ext uri="{9D8B030D-6E8A-4147-A177-3AD203B41FA5}">
                      <a16:colId xmlns:a16="http://schemas.microsoft.com/office/drawing/2014/main" val="839638803"/>
                    </a:ext>
                  </a:extLst>
                </a:gridCol>
                <a:gridCol w="3505200">
                  <a:extLst>
                    <a:ext uri="{9D8B030D-6E8A-4147-A177-3AD203B41FA5}">
                      <a16:colId xmlns:a16="http://schemas.microsoft.com/office/drawing/2014/main" val="4114828517"/>
                    </a:ext>
                  </a:extLst>
                </a:gridCol>
              </a:tblGrid>
              <a:tr h="0">
                <a:tc>
                  <a:txBody>
                    <a:bodyPr/>
                    <a:lstStyle/>
                    <a:p>
                      <a:pPr>
                        <a:buNone/>
                      </a:pPr>
                      <a:r>
                        <a:rPr lang="en-GB" dirty="0"/>
                        <a:t>Question</a:t>
                      </a:r>
                    </a:p>
                  </a:txBody>
                  <a:tcPr anchor="ctr"/>
                </a:tc>
                <a:tc>
                  <a:txBody>
                    <a:bodyPr/>
                    <a:lstStyle/>
                    <a:p>
                      <a:pPr>
                        <a:buNone/>
                      </a:pPr>
                      <a:r>
                        <a:rPr lang="en-GB" dirty="0"/>
                        <a:t>Method</a:t>
                      </a:r>
                    </a:p>
                  </a:txBody>
                  <a:tcPr anchor="ctr"/>
                </a:tc>
                <a:tc>
                  <a:txBody>
                    <a:bodyPr/>
                    <a:lstStyle/>
                    <a:p>
                      <a:pPr>
                        <a:buNone/>
                      </a:pPr>
                      <a:r>
                        <a:rPr lang="en-GB" dirty="0"/>
                        <a:t>Example</a:t>
                      </a:r>
                    </a:p>
                  </a:txBody>
                  <a:tcPr anchor="ctr"/>
                </a:tc>
                <a:extLst>
                  <a:ext uri="{0D108BD9-81ED-4DB2-BD59-A6C34878D82A}">
                    <a16:rowId xmlns:a16="http://schemas.microsoft.com/office/drawing/2014/main" val="4036436087"/>
                  </a:ext>
                </a:extLst>
              </a:tr>
              <a:tr h="0">
                <a:tc>
                  <a:txBody>
                    <a:bodyPr/>
                    <a:lstStyle/>
                    <a:p>
                      <a:pPr>
                        <a:buNone/>
                      </a:pPr>
                      <a:r>
                        <a:rPr lang="en-GB"/>
                        <a:t>How much happened?</a:t>
                      </a:r>
                    </a:p>
                  </a:txBody>
                  <a:tcPr anchor="ctr"/>
                </a:tc>
                <a:tc>
                  <a:txBody>
                    <a:bodyPr/>
                    <a:lstStyle/>
                    <a:p>
                      <a:pPr>
                        <a:buNone/>
                      </a:pPr>
                      <a:r>
                        <a:rPr lang="en-GB" dirty="0"/>
                        <a:t>Sum</a:t>
                      </a:r>
                    </a:p>
                  </a:txBody>
                  <a:tcPr anchor="ctr"/>
                </a:tc>
                <a:tc>
                  <a:txBody>
                    <a:bodyPr/>
                    <a:lstStyle/>
                    <a:p>
                      <a:pPr>
                        <a:buNone/>
                      </a:pPr>
                      <a:r>
                        <a:rPr lang="en-GB"/>
                        <a:t>Total points scored</a:t>
                      </a:r>
                    </a:p>
                  </a:txBody>
                  <a:tcPr anchor="ctr"/>
                </a:tc>
                <a:extLst>
                  <a:ext uri="{0D108BD9-81ED-4DB2-BD59-A6C34878D82A}">
                    <a16:rowId xmlns:a16="http://schemas.microsoft.com/office/drawing/2014/main" val="153217137"/>
                  </a:ext>
                </a:extLst>
              </a:tr>
              <a:tr h="0">
                <a:tc>
                  <a:txBody>
                    <a:bodyPr/>
                    <a:lstStyle/>
                    <a:p>
                      <a:pPr>
                        <a:buNone/>
                      </a:pPr>
                      <a:r>
                        <a:rPr lang="en-GB"/>
                        <a:t>How much per game?</a:t>
                      </a:r>
                    </a:p>
                  </a:txBody>
                  <a:tcPr anchor="ctr"/>
                </a:tc>
                <a:tc>
                  <a:txBody>
                    <a:bodyPr/>
                    <a:lstStyle/>
                    <a:p>
                      <a:pPr>
                        <a:buNone/>
                      </a:pPr>
                      <a:r>
                        <a:rPr lang="en-GB" dirty="0"/>
                        <a:t>Rate</a:t>
                      </a:r>
                    </a:p>
                  </a:txBody>
                  <a:tcPr anchor="ctr"/>
                </a:tc>
                <a:tc>
                  <a:txBody>
                    <a:bodyPr/>
                    <a:lstStyle/>
                    <a:p>
                      <a:pPr>
                        <a:buNone/>
                      </a:pPr>
                      <a:r>
                        <a:rPr lang="en-GB"/>
                        <a:t>Points per game</a:t>
                      </a:r>
                    </a:p>
                  </a:txBody>
                  <a:tcPr anchor="ctr"/>
                </a:tc>
                <a:extLst>
                  <a:ext uri="{0D108BD9-81ED-4DB2-BD59-A6C34878D82A}">
                    <a16:rowId xmlns:a16="http://schemas.microsoft.com/office/drawing/2014/main" val="3775018292"/>
                  </a:ext>
                </a:extLst>
              </a:tr>
              <a:tr h="0">
                <a:tc>
                  <a:txBody>
                    <a:bodyPr/>
                    <a:lstStyle/>
                    <a:p>
                      <a:pPr>
                        <a:buNone/>
                      </a:pPr>
                      <a:r>
                        <a:rPr lang="en-GB"/>
                        <a:t>What is typical?</a:t>
                      </a:r>
                    </a:p>
                  </a:txBody>
                  <a:tcPr anchor="ctr"/>
                </a:tc>
                <a:tc>
                  <a:txBody>
                    <a:bodyPr/>
                    <a:lstStyle/>
                    <a:p>
                      <a:pPr>
                        <a:buNone/>
                      </a:pPr>
                      <a:r>
                        <a:rPr lang="en-GB" dirty="0" err="1"/>
                        <a:t>Center</a:t>
                      </a:r>
                      <a:endParaRPr lang="en-GB" dirty="0"/>
                    </a:p>
                  </a:txBody>
                  <a:tcPr anchor="ctr"/>
                </a:tc>
                <a:tc>
                  <a:txBody>
                    <a:bodyPr/>
                    <a:lstStyle/>
                    <a:p>
                      <a:pPr>
                        <a:buNone/>
                      </a:pPr>
                      <a:r>
                        <a:rPr lang="en-GB"/>
                        <a:t>Mean or median points in a game</a:t>
                      </a:r>
                    </a:p>
                  </a:txBody>
                  <a:tcPr anchor="ctr"/>
                </a:tc>
                <a:extLst>
                  <a:ext uri="{0D108BD9-81ED-4DB2-BD59-A6C34878D82A}">
                    <a16:rowId xmlns:a16="http://schemas.microsoft.com/office/drawing/2014/main" val="3264308777"/>
                  </a:ext>
                </a:extLst>
              </a:tr>
              <a:tr h="0">
                <a:tc>
                  <a:txBody>
                    <a:bodyPr/>
                    <a:lstStyle/>
                    <a:p>
                      <a:pPr>
                        <a:buNone/>
                      </a:pPr>
                      <a:r>
                        <a:rPr lang="en-GB"/>
                        <a:t>How much does it vary?</a:t>
                      </a:r>
                    </a:p>
                  </a:txBody>
                  <a:tcPr anchor="ctr"/>
                </a:tc>
                <a:tc>
                  <a:txBody>
                    <a:bodyPr/>
                    <a:lstStyle/>
                    <a:p>
                      <a:pPr>
                        <a:buNone/>
                      </a:pPr>
                      <a:r>
                        <a:rPr lang="en-GB" dirty="0"/>
                        <a:t>Spread</a:t>
                      </a:r>
                    </a:p>
                  </a:txBody>
                  <a:tcPr anchor="ctr"/>
                </a:tc>
                <a:tc>
                  <a:txBody>
                    <a:bodyPr/>
                    <a:lstStyle/>
                    <a:p>
                      <a:pPr>
                        <a:buNone/>
                      </a:pPr>
                      <a:r>
                        <a:rPr lang="en-GB" dirty="0"/>
                        <a:t>Range or standard deviation</a:t>
                      </a:r>
                    </a:p>
                  </a:txBody>
                  <a:tcPr anchor="ctr"/>
                </a:tc>
                <a:extLst>
                  <a:ext uri="{0D108BD9-81ED-4DB2-BD59-A6C34878D82A}">
                    <a16:rowId xmlns:a16="http://schemas.microsoft.com/office/drawing/2014/main" val="4096049664"/>
                  </a:ext>
                </a:extLst>
              </a:tr>
            </a:tbl>
          </a:graphicData>
        </a:graphic>
      </p:graphicFrame>
    </p:spTree>
    <p:extLst>
      <p:ext uri="{BB962C8B-B14F-4D97-AF65-F5344CB8AC3E}">
        <p14:creationId xmlns:p14="http://schemas.microsoft.com/office/powerpoint/2010/main" val="3281068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F00E21B-1982-E0CA-1F9E-8355997AAE51}"/>
              </a:ext>
            </a:extLst>
          </p:cNvPr>
          <p:cNvSpPr>
            <a:spLocks noGrp="1"/>
          </p:cNvSpPr>
          <p:nvPr>
            <p:ph type="sldNum" sz="quarter" idx="11"/>
          </p:nvPr>
        </p:nvSpPr>
        <p:spPr/>
        <p:txBody>
          <a:bodyPr/>
          <a:lstStyle/>
          <a:p>
            <a:fld id="{45C00377-489B-40EC-B059-26BDDD2E89B9}" type="slidenum">
              <a:rPr lang="en-US" smtClean="0"/>
              <a:pPr/>
              <a:t>4</a:t>
            </a:fld>
            <a:endParaRPr lang="en-US"/>
          </a:p>
        </p:txBody>
      </p:sp>
      <p:sp>
        <p:nvSpPr>
          <p:cNvPr id="3" name="Title 1">
            <a:extLst>
              <a:ext uri="{FF2B5EF4-FFF2-40B4-BE49-F238E27FC236}">
                <a16:creationId xmlns:a16="http://schemas.microsoft.com/office/drawing/2014/main" id="{B2604BDD-1EB2-C9AE-AD81-128821271322}"/>
              </a:ext>
            </a:extLst>
          </p:cNvPr>
          <p:cNvSpPr txBox="1">
            <a:spLocks/>
          </p:cNvSpPr>
          <p:nvPr/>
        </p:nvSpPr>
        <p:spPr>
          <a:xfrm>
            <a:off x="838200" y="3110401"/>
            <a:ext cx="10515600" cy="637198"/>
          </a:xfrm>
          <a:prstGeom prst="rect">
            <a:avLst/>
          </a:prstGeom>
        </p:spPr>
        <p:txBody>
          <a:bodyPr/>
          <a:lst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a:lstStyle>
          <a:p>
            <a:pPr algn="ctr"/>
            <a:r>
              <a:rPr lang="en-US" b="0" dirty="0"/>
              <a:t>What is “typical”?</a:t>
            </a:r>
          </a:p>
        </p:txBody>
      </p:sp>
    </p:spTree>
    <p:extLst>
      <p:ext uri="{BB962C8B-B14F-4D97-AF65-F5344CB8AC3E}">
        <p14:creationId xmlns:p14="http://schemas.microsoft.com/office/powerpoint/2010/main" val="944151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7EFF20-7721-22CF-0B9C-0225448146B6}"/>
              </a:ext>
            </a:extLst>
          </p:cNvPr>
          <p:cNvSpPr>
            <a:spLocks noGrp="1"/>
          </p:cNvSpPr>
          <p:nvPr>
            <p:ph idx="1"/>
          </p:nvPr>
        </p:nvSpPr>
        <p:spPr/>
        <p:txBody>
          <a:bodyPr>
            <a:normAutofit/>
          </a:bodyPr>
          <a:lstStyle/>
          <a:p>
            <a:r>
              <a:rPr lang="en-US" dirty="0"/>
              <a:t>A method of describing a data set with a single figure</a:t>
            </a:r>
          </a:p>
          <a:p>
            <a:pPr lvl="1"/>
            <a:endParaRPr lang="en-US" dirty="0"/>
          </a:p>
          <a:p>
            <a:r>
              <a:rPr lang="en-US" dirty="0"/>
              <a:t>Main methods:</a:t>
            </a:r>
          </a:p>
          <a:p>
            <a:pPr lvl="1"/>
            <a:r>
              <a:rPr lang="en-US" dirty="0"/>
              <a:t>Mean</a:t>
            </a:r>
          </a:p>
          <a:p>
            <a:pPr lvl="1"/>
            <a:r>
              <a:rPr lang="en-US" dirty="0"/>
              <a:t>Median</a:t>
            </a:r>
          </a:p>
          <a:p>
            <a:pPr lvl="1"/>
            <a:r>
              <a:rPr lang="en-US" dirty="0"/>
              <a:t>Mode </a:t>
            </a:r>
          </a:p>
          <a:p>
            <a:pPr lvl="1"/>
            <a:endParaRPr lang="en-US" dirty="0"/>
          </a:p>
          <a:p>
            <a:r>
              <a:rPr lang="en-US" dirty="0"/>
              <a:t>Most appropriate method depends on the data and question</a:t>
            </a:r>
          </a:p>
          <a:p>
            <a:pPr lvl="1"/>
            <a:r>
              <a:rPr lang="en-US" dirty="0"/>
              <a:t>Scale of measurement</a:t>
            </a:r>
          </a:p>
          <a:p>
            <a:pPr lvl="1"/>
            <a:r>
              <a:rPr lang="en-US" dirty="0"/>
              <a:t>Outliers and data distribution</a:t>
            </a:r>
          </a:p>
        </p:txBody>
      </p:sp>
      <p:sp>
        <p:nvSpPr>
          <p:cNvPr id="4" name="Slide Number Placeholder 3">
            <a:extLst>
              <a:ext uri="{FF2B5EF4-FFF2-40B4-BE49-F238E27FC236}">
                <a16:creationId xmlns:a16="http://schemas.microsoft.com/office/drawing/2014/main" id="{320425CF-433B-BA64-63C0-A6A6E36B0490}"/>
              </a:ext>
            </a:extLst>
          </p:cNvPr>
          <p:cNvSpPr>
            <a:spLocks noGrp="1"/>
          </p:cNvSpPr>
          <p:nvPr>
            <p:ph type="sldNum" sz="quarter" idx="12"/>
          </p:nvPr>
        </p:nvSpPr>
        <p:spPr/>
        <p:txBody>
          <a:bodyPr/>
          <a:lstStyle/>
          <a:p>
            <a:fld id="{45C00377-489B-40EC-B059-26BDDD2E89B9}" type="slidenum">
              <a:rPr lang="en-US" smtClean="0"/>
              <a:pPr/>
              <a:t>5</a:t>
            </a:fld>
            <a:endParaRPr lang="en-US"/>
          </a:p>
        </p:txBody>
      </p:sp>
      <p:sp>
        <p:nvSpPr>
          <p:cNvPr id="2" name="Title 1">
            <a:extLst>
              <a:ext uri="{FF2B5EF4-FFF2-40B4-BE49-F238E27FC236}">
                <a16:creationId xmlns:a16="http://schemas.microsoft.com/office/drawing/2014/main" id="{537E157F-E6F6-FE34-3C0A-A701E167D090}"/>
              </a:ext>
            </a:extLst>
          </p:cNvPr>
          <p:cNvSpPr>
            <a:spLocks noGrp="1"/>
          </p:cNvSpPr>
          <p:nvPr>
            <p:ph type="title"/>
          </p:nvPr>
        </p:nvSpPr>
        <p:spPr/>
        <p:txBody>
          <a:bodyPr/>
          <a:lstStyle/>
          <a:p>
            <a:r>
              <a:rPr lang="en-US" dirty="0"/>
              <a:t>Measures of central tendency</a:t>
            </a:r>
          </a:p>
        </p:txBody>
      </p:sp>
    </p:spTree>
    <p:extLst>
      <p:ext uri="{BB962C8B-B14F-4D97-AF65-F5344CB8AC3E}">
        <p14:creationId xmlns:p14="http://schemas.microsoft.com/office/powerpoint/2010/main" val="2698741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D22BB-FD16-96CE-85B0-13D619F19E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4EF5EC-1A9E-DDC3-DBFA-C7F7A42B3F83}"/>
              </a:ext>
            </a:extLst>
          </p:cNvPr>
          <p:cNvSpPr>
            <a:spLocks noGrp="1"/>
          </p:cNvSpPr>
          <p:nvPr>
            <p:ph type="title"/>
          </p:nvPr>
        </p:nvSpPr>
        <p:spPr/>
        <p:txBody>
          <a:bodyPr/>
          <a:lstStyle/>
          <a:p>
            <a:r>
              <a:rPr lang="en-US" dirty="0"/>
              <a:t>Mean, Median and Mode</a:t>
            </a:r>
          </a:p>
        </p:txBody>
      </p:sp>
      <p:sp>
        <p:nvSpPr>
          <p:cNvPr id="3" name="Content Placeholder 2">
            <a:extLst>
              <a:ext uri="{FF2B5EF4-FFF2-40B4-BE49-F238E27FC236}">
                <a16:creationId xmlns:a16="http://schemas.microsoft.com/office/drawing/2014/main" id="{D9F83990-63DF-C1E7-CB5D-672EC20E5059}"/>
              </a:ext>
            </a:extLst>
          </p:cNvPr>
          <p:cNvSpPr>
            <a:spLocks noGrp="1"/>
          </p:cNvSpPr>
          <p:nvPr>
            <p:ph idx="1"/>
          </p:nvPr>
        </p:nvSpPr>
        <p:spPr/>
        <p:txBody>
          <a:bodyPr/>
          <a:lstStyle/>
          <a:p>
            <a:r>
              <a:rPr lang="en-US" dirty="0"/>
              <a:t>Mean: arithmetic mean </a:t>
            </a:r>
          </a:p>
          <a:p>
            <a:pPr lvl="1"/>
            <a:r>
              <a:rPr lang="en-US" dirty="0"/>
              <a:t>Determined by the sum of the values in the distribution divided by the number of values.</a:t>
            </a:r>
          </a:p>
          <a:p>
            <a:pPr lvl="1"/>
            <a:r>
              <a:rPr lang="en-US" dirty="0"/>
              <a:t>Misleading if outliers or asymmetries are present</a:t>
            </a:r>
          </a:p>
          <a:p>
            <a:pPr lvl="1"/>
            <a:endParaRPr lang="en-US" dirty="0"/>
          </a:p>
          <a:p>
            <a:r>
              <a:rPr lang="en-US" dirty="0"/>
              <a:t>Median: the middle value</a:t>
            </a:r>
          </a:p>
          <a:p>
            <a:pPr lvl="1"/>
            <a:r>
              <a:rPr lang="en-US" dirty="0"/>
              <a:t>the data point below which half of the values lie</a:t>
            </a:r>
          </a:p>
          <a:p>
            <a:pPr lvl="1"/>
            <a:r>
              <a:rPr lang="en-US" dirty="0"/>
              <a:t>Ignores magnitude, focused on order</a:t>
            </a:r>
          </a:p>
          <a:p>
            <a:pPr lvl="1"/>
            <a:endParaRPr lang="en-US" dirty="0"/>
          </a:p>
          <a:p>
            <a:r>
              <a:rPr lang="en-US" dirty="0"/>
              <a:t>Mode: most frequent value</a:t>
            </a:r>
          </a:p>
          <a:p>
            <a:pPr lvl="1"/>
            <a:r>
              <a:rPr lang="en-US" dirty="0"/>
              <a:t>Rarely used for interval or ratio data</a:t>
            </a:r>
          </a:p>
        </p:txBody>
      </p:sp>
      <p:sp>
        <p:nvSpPr>
          <p:cNvPr id="4" name="Slide Number Placeholder 3">
            <a:extLst>
              <a:ext uri="{FF2B5EF4-FFF2-40B4-BE49-F238E27FC236}">
                <a16:creationId xmlns:a16="http://schemas.microsoft.com/office/drawing/2014/main" id="{4A4D32E9-1577-E359-5868-2FF46783D4B8}"/>
              </a:ext>
            </a:extLst>
          </p:cNvPr>
          <p:cNvSpPr>
            <a:spLocks noGrp="1"/>
          </p:cNvSpPr>
          <p:nvPr>
            <p:ph type="sldNum" sz="quarter" idx="12"/>
          </p:nvPr>
        </p:nvSpPr>
        <p:spPr/>
        <p:txBody>
          <a:bodyPr/>
          <a:lstStyle/>
          <a:p>
            <a:fld id="{45C00377-489B-40EC-B059-26BDDD2E89B9}" type="slidenum">
              <a:rPr lang="en-US" smtClean="0"/>
              <a:pPr/>
              <a:t>6</a:t>
            </a:fld>
            <a:endParaRPr lang="en-US"/>
          </a:p>
        </p:txBody>
      </p:sp>
    </p:spTree>
    <p:extLst>
      <p:ext uri="{BB962C8B-B14F-4D97-AF65-F5344CB8AC3E}">
        <p14:creationId xmlns:p14="http://schemas.microsoft.com/office/powerpoint/2010/main" val="2352837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5B82B-635F-9597-87C0-03E3EE2CB2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EEB948-62B5-FAFC-DB68-54030CD71ADD}"/>
              </a:ext>
            </a:extLst>
          </p:cNvPr>
          <p:cNvSpPr>
            <a:spLocks noGrp="1"/>
          </p:cNvSpPr>
          <p:nvPr>
            <p:ph type="title"/>
          </p:nvPr>
        </p:nvSpPr>
        <p:spPr/>
        <p:txBody>
          <a:bodyPr/>
          <a:lstStyle/>
          <a:p>
            <a:r>
              <a:rPr lang="en-US" dirty="0"/>
              <a:t>Mean, Median and Mode</a:t>
            </a:r>
          </a:p>
        </p:txBody>
      </p:sp>
      <p:sp>
        <p:nvSpPr>
          <p:cNvPr id="3" name="Content Placeholder 2">
            <a:extLst>
              <a:ext uri="{FF2B5EF4-FFF2-40B4-BE49-F238E27FC236}">
                <a16:creationId xmlns:a16="http://schemas.microsoft.com/office/drawing/2014/main" id="{F5495BA0-3956-1BF5-1BF0-B407EC90B010}"/>
              </a:ext>
            </a:extLst>
          </p:cNvPr>
          <p:cNvSpPr>
            <a:spLocks noGrp="1"/>
          </p:cNvSpPr>
          <p:nvPr>
            <p:ph idx="1"/>
          </p:nvPr>
        </p:nvSpPr>
        <p:spPr/>
        <p:txBody>
          <a:bodyPr/>
          <a:lstStyle/>
          <a:p>
            <a:r>
              <a:rPr lang="en-US" dirty="0"/>
              <a:t>Mean: arithmetic mean </a:t>
            </a:r>
          </a:p>
          <a:p>
            <a:pPr lvl="1"/>
            <a:r>
              <a:rPr lang="en-US" dirty="0"/>
              <a:t>=AVERAGE(range)</a:t>
            </a:r>
          </a:p>
          <a:p>
            <a:pPr lvl="1"/>
            <a:endParaRPr lang="en-US" dirty="0"/>
          </a:p>
          <a:p>
            <a:r>
              <a:rPr lang="en-US" dirty="0"/>
              <a:t>Median: the middle value</a:t>
            </a:r>
          </a:p>
          <a:p>
            <a:pPr lvl="1"/>
            <a:r>
              <a:rPr lang="en-US" dirty="0"/>
              <a:t>=MEDIAN(range)</a:t>
            </a:r>
          </a:p>
          <a:p>
            <a:pPr lvl="1"/>
            <a:endParaRPr lang="en-US" dirty="0"/>
          </a:p>
          <a:p>
            <a:r>
              <a:rPr lang="en-US" dirty="0"/>
              <a:t>Mode: most frequent value</a:t>
            </a:r>
          </a:p>
          <a:p>
            <a:pPr lvl="1"/>
            <a:r>
              <a:rPr lang="en-GB" dirty="0"/>
              <a:t>=MODE.SNGL(range)</a:t>
            </a:r>
            <a:endParaRPr lang="en-US" dirty="0"/>
          </a:p>
        </p:txBody>
      </p:sp>
      <p:sp>
        <p:nvSpPr>
          <p:cNvPr id="4" name="Slide Number Placeholder 3">
            <a:extLst>
              <a:ext uri="{FF2B5EF4-FFF2-40B4-BE49-F238E27FC236}">
                <a16:creationId xmlns:a16="http://schemas.microsoft.com/office/drawing/2014/main" id="{CB2714EA-ED95-B042-CB87-CB0054CFFB22}"/>
              </a:ext>
            </a:extLst>
          </p:cNvPr>
          <p:cNvSpPr>
            <a:spLocks noGrp="1"/>
          </p:cNvSpPr>
          <p:nvPr>
            <p:ph type="sldNum" sz="quarter" idx="12"/>
          </p:nvPr>
        </p:nvSpPr>
        <p:spPr/>
        <p:txBody>
          <a:bodyPr/>
          <a:lstStyle/>
          <a:p>
            <a:fld id="{45C00377-489B-40EC-B059-26BDDD2E89B9}" type="slidenum">
              <a:rPr lang="en-US" smtClean="0"/>
              <a:pPr/>
              <a:t>7</a:t>
            </a:fld>
            <a:endParaRPr lang="en-US"/>
          </a:p>
        </p:txBody>
      </p:sp>
    </p:spTree>
    <p:extLst>
      <p:ext uri="{BB962C8B-B14F-4D97-AF65-F5344CB8AC3E}">
        <p14:creationId xmlns:p14="http://schemas.microsoft.com/office/powerpoint/2010/main" val="538422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ED73F4-D104-466A-88A1-7E877D73A09E}"/>
              </a:ext>
            </a:extLst>
          </p:cNvPr>
          <p:cNvSpPr>
            <a:spLocks noGrp="1"/>
          </p:cNvSpPr>
          <p:nvPr>
            <p:ph type="sldNum" sz="quarter" idx="11"/>
          </p:nvPr>
        </p:nvSpPr>
        <p:spPr/>
        <p:txBody>
          <a:bodyPr/>
          <a:lstStyle/>
          <a:p>
            <a:fld id="{45C00377-489B-40EC-B059-26BDDD2E89B9}" type="slidenum">
              <a:rPr lang="en-US" smtClean="0"/>
              <a:pPr/>
              <a:t>8</a:t>
            </a:fld>
            <a:endParaRPr lang="en-US"/>
          </a:p>
        </p:txBody>
      </p:sp>
      <p:sp>
        <p:nvSpPr>
          <p:cNvPr id="2" name="Title 1">
            <a:extLst>
              <a:ext uri="{FF2B5EF4-FFF2-40B4-BE49-F238E27FC236}">
                <a16:creationId xmlns:a16="http://schemas.microsoft.com/office/drawing/2014/main" id="{1727BF50-FD66-6235-C76B-2B50EB662B38}"/>
              </a:ext>
            </a:extLst>
          </p:cNvPr>
          <p:cNvSpPr>
            <a:spLocks noGrp="1"/>
          </p:cNvSpPr>
          <p:nvPr>
            <p:ph type="title"/>
          </p:nvPr>
        </p:nvSpPr>
        <p:spPr/>
        <p:txBody>
          <a:bodyPr>
            <a:normAutofit fontScale="90000"/>
          </a:bodyPr>
          <a:lstStyle/>
          <a:p>
            <a:r>
              <a:rPr lang="en-US" dirty="0"/>
              <a:t>How much does it vary?</a:t>
            </a:r>
          </a:p>
        </p:txBody>
      </p:sp>
    </p:spTree>
    <p:extLst>
      <p:ext uri="{BB962C8B-B14F-4D97-AF65-F5344CB8AC3E}">
        <p14:creationId xmlns:p14="http://schemas.microsoft.com/office/powerpoint/2010/main" val="1868022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6C600-AB03-A85B-A5F6-526034814841}"/>
              </a:ext>
            </a:extLst>
          </p:cNvPr>
          <p:cNvSpPr>
            <a:spLocks noGrp="1"/>
          </p:cNvSpPr>
          <p:nvPr>
            <p:ph type="title"/>
          </p:nvPr>
        </p:nvSpPr>
        <p:spPr/>
        <p:txBody>
          <a:bodyPr/>
          <a:lstStyle/>
          <a:p>
            <a:r>
              <a:rPr lang="en-US" dirty="0"/>
              <a:t>Measures of variability</a:t>
            </a:r>
          </a:p>
        </p:txBody>
      </p:sp>
      <p:sp>
        <p:nvSpPr>
          <p:cNvPr id="3" name="Content Placeholder 2">
            <a:extLst>
              <a:ext uri="{FF2B5EF4-FFF2-40B4-BE49-F238E27FC236}">
                <a16:creationId xmlns:a16="http://schemas.microsoft.com/office/drawing/2014/main" id="{2CF9311E-CBE6-3DD5-8A4F-B5CD2086BC0A}"/>
              </a:ext>
            </a:extLst>
          </p:cNvPr>
          <p:cNvSpPr>
            <a:spLocks noGrp="1"/>
          </p:cNvSpPr>
          <p:nvPr>
            <p:ph idx="1"/>
          </p:nvPr>
        </p:nvSpPr>
        <p:spPr/>
        <p:txBody>
          <a:bodyPr/>
          <a:lstStyle/>
          <a:p>
            <a:r>
              <a:rPr lang="en-US" dirty="0"/>
              <a:t>The degree of spread or distribution of the data.	</a:t>
            </a:r>
          </a:p>
          <a:p>
            <a:pPr lvl="1"/>
            <a:endParaRPr lang="en-US" dirty="0"/>
          </a:p>
          <a:p>
            <a:r>
              <a:rPr lang="en-US" dirty="0"/>
              <a:t>Can be used to show consistency or meaningful differences.</a:t>
            </a:r>
          </a:p>
          <a:p>
            <a:pPr lvl="1"/>
            <a:endParaRPr lang="en-US" dirty="0"/>
          </a:p>
          <a:p>
            <a:r>
              <a:rPr lang="en-US" dirty="0"/>
              <a:t>Methods:</a:t>
            </a:r>
          </a:p>
          <a:p>
            <a:pPr lvl="1"/>
            <a:r>
              <a:rPr lang="en-US" dirty="0"/>
              <a:t>Range</a:t>
            </a:r>
          </a:p>
          <a:p>
            <a:pPr lvl="1"/>
            <a:r>
              <a:rPr lang="en-US" dirty="0"/>
              <a:t>IQR</a:t>
            </a:r>
          </a:p>
          <a:p>
            <a:pPr lvl="1"/>
            <a:r>
              <a:rPr lang="en-US" dirty="0"/>
              <a:t>Variance</a:t>
            </a:r>
          </a:p>
          <a:p>
            <a:pPr lvl="1"/>
            <a:r>
              <a:rPr lang="en-US" dirty="0"/>
              <a:t>Standard Deviation</a:t>
            </a:r>
          </a:p>
        </p:txBody>
      </p:sp>
      <p:sp>
        <p:nvSpPr>
          <p:cNvPr id="4" name="Slide Number Placeholder 3">
            <a:extLst>
              <a:ext uri="{FF2B5EF4-FFF2-40B4-BE49-F238E27FC236}">
                <a16:creationId xmlns:a16="http://schemas.microsoft.com/office/drawing/2014/main" id="{473CEEB2-1A75-D5E1-B376-ADB7F27AA3C7}"/>
              </a:ext>
            </a:extLst>
          </p:cNvPr>
          <p:cNvSpPr>
            <a:spLocks noGrp="1"/>
          </p:cNvSpPr>
          <p:nvPr>
            <p:ph type="sldNum" sz="quarter" idx="12"/>
          </p:nvPr>
        </p:nvSpPr>
        <p:spPr/>
        <p:txBody>
          <a:bodyPr/>
          <a:lstStyle/>
          <a:p>
            <a:fld id="{45C00377-489B-40EC-B059-26BDDD2E89B9}" type="slidenum">
              <a:rPr lang="en-US" smtClean="0"/>
              <a:pPr/>
              <a:t>9</a:t>
            </a:fld>
            <a:endParaRPr lang="en-US"/>
          </a:p>
        </p:txBody>
      </p:sp>
    </p:spTree>
    <p:extLst>
      <p:ext uri="{BB962C8B-B14F-4D97-AF65-F5344CB8AC3E}">
        <p14:creationId xmlns:p14="http://schemas.microsoft.com/office/powerpoint/2010/main" val="3421327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A7D61-3432-671B-3EFC-43F846227E36}"/>
              </a:ext>
            </a:extLst>
          </p:cNvPr>
          <p:cNvSpPr>
            <a:spLocks noGrp="1"/>
          </p:cNvSpPr>
          <p:nvPr>
            <p:ph type="title"/>
          </p:nvPr>
        </p:nvSpPr>
        <p:spPr/>
        <p:txBody>
          <a:bodyPr/>
          <a:lstStyle/>
          <a:p>
            <a:r>
              <a:rPr lang="en-US" dirty="0"/>
              <a:t>Range</a:t>
            </a:r>
          </a:p>
        </p:txBody>
      </p:sp>
      <p:sp>
        <p:nvSpPr>
          <p:cNvPr id="3" name="Content Placeholder 2">
            <a:extLst>
              <a:ext uri="{FF2B5EF4-FFF2-40B4-BE49-F238E27FC236}">
                <a16:creationId xmlns:a16="http://schemas.microsoft.com/office/drawing/2014/main" id="{4BFE3BC2-A03B-D6FE-A07F-A2B5C66A40B1}"/>
              </a:ext>
            </a:extLst>
          </p:cNvPr>
          <p:cNvSpPr>
            <a:spLocks noGrp="1"/>
          </p:cNvSpPr>
          <p:nvPr>
            <p:ph idx="1"/>
          </p:nvPr>
        </p:nvSpPr>
        <p:spPr/>
        <p:txBody>
          <a:bodyPr>
            <a:normAutofit/>
          </a:bodyPr>
          <a:lstStyle/>
          <a:p>
            <a:r>
              <a:rPr lang="en-US" dirty="0"/>
              <a:t>Range: distance between the smallest and largest values.</a:t>
            </a:r>
          </a:p>
          <a:p>
            <a:pPr lvl="1"/>
            <a:r>
              <a:rPr lang="en-US" dirty="0"/>
              <a:t>Sensitive to outliers</a:t>
            </a:r>
          </a:p>
          <a:p>
            <a:pPr lvl="1"/>
            <a:endParaRPr lang="en-US" dirty="0"/>
          </a:p>
          <a:p>
            <a:r>
              <a:rPr lang="en-US" dirty="0"/>
              <a:t>IQR: spread of the middle 50% of the data.</a:t>
            </a:r>
          </a:p>
          <a:p>
            <a:pPr lvl="1"/>
            <a:r>
              <a:rPr lang="en-US" dirty="0"/>
              <a:t>Less sensitive to outliers</a:t>
            </a:r>
          </a:p>
          <a:p>
            <a:pPr lvl="1"/>
            <a:endParaRPr lang="en-US" dirty="0"/>
          </a:p>
          <a:p>
            <a:r>
              <a:rPr lang="en-US" dirty="0">
                <a:solidFill>
                  <a:schemeClr val="bg2">
                    <a:lumMod val="75000"/>
                  </a:schemeClr>
                </a:solidFill>
              </a:rPr>
              <a:t>Standard Deviation: square root of variance</a:t>
            </a:r>
          </a:p>
          <a:p>
            <a:pPr lvl="1"/>
            <a:r>
              <a:rPr lang="en-US" dirty="0">
                <a:solidFill>
                  <a:schemeClr val="bg2">
                    <a:lumMod val="75000"/>
                  </a:schemeClr>
                </a:solidFill>
              </a:rPr>
              <a:t>Typical deviation from the mean </a:t>
            </a:r>
          </a:p>
          <a:p>
            <a:pPr lvl="1"/>
            <a:r>
              <a:rPr lang="en-US" dirty="0">
                <a:solidFill>
                  <a:schemeClr val="bg2">
                    <a:lumMod val="75000"/>
                  </a:schemeClr>
                </a:solidFill>
              </a:rPr>
              <a:t>Same units as the data</a:t>
            </a:r>
          </a:p>
          <a:p>
            <a:endParaRPr lang="en-US" dirty="0"/>
          </a:p>
        </p:txBody>
      </p:sp>
      <p:sp>
        <p:nvSpPr>
          <p:cNvPr id="4" name="Slide Number Placeholder 3">
            <a:extLst>
              <a:ext uri="{FF2B5EF4-FFF2-40B4-BE49-F238E27FC236}">
                <a16:creationId xmlns:a16="http://schemas.microsoft.com/office/drawing/2014/main" id="{F61C70DC-37FB-87E0-5D03-00D92FDD6D3C}"/>
              </a:ext>
            </a:extLst>
          </p:cNvPr>
          <p:cNvSpPr>
            <a:spLocks noGrp="1"/>
          </p:cNvSpPr>
          <p:nvPr>
            <p:ph type="sldNum" sz="quarter" idx="12"/>
          </p:nvPr>
        </p:nvSpPr>
        <p:spPr/>
        <p:txBody>
          <a:bodyPr/>
          <a:lstStyle/>
          <a:p>
            <a:fld id="{45C00377-489B-40EC-B059-26BDDD2E89B9}" type="slidenum">
              <a:rPr lang="en-US" smtClean="0"/>
              <a:pPr/>
              <a:t>10</a:t>
            </a:fld>
            <a:endParaRPr lang="en-US" dirty="0"/>
          </a:p>
        </p:txBody>
      </p:sp>
    </p:spTree>
    <p:extLst>
      <p:ext uri="{BB962C8B-B14F-4D97-AF65-F5344CB8AC3E}">
        <p14:creationId xmlns:p14="http://schemas.microsoft.com/office/powerpoint/2010/main" val="4206175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AEA5E-7577-2AE3-0E8B-A2EACB10EE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BFB0CF-2A71-D3A2-2FF0-1B2A0CE00118}"/>
              </a:ext>
            </a:extLst>
          </p:cNvPr>
          <p:cNvSpPr>
            <a:spLocks noGrp="1"/>
          </p:cNvSpPr>
          <p:nvPr>
            <p:ph type="title"/>
          </p:nvPr>
        </p:nvSpPr>
        <p:spPr/>
        <p:txBody>
          <a:bodyPr/>
          <a:lstStyle/>
          <a:p>
            <a:r>
              <a:rPr lang="en-US" dirty="0"/>
              <a:t>Range and IQR</a:t>
            </a:r>
          </a:p>
        </p:txBody>
      </p:sp>
      <p:sp>
        <p:nvSpPr>
          <p:cNvPr id="4" name="Slide Number Placeholder 3">
            <a:extLst>
              <a:ext uri="{FF2B5EF4-FFF2-40B4-BE49-F238E27FC236}">
                <a16:creationId xmlns:a16="http://schemas.microsoft.com/office/drawing/2014/main" id="{FDD9E4FB-2395-2EC7-0828-BDF71DCE4A66}"/>
              </a:ext>
            </a:extLst>
          </p:cNvPr>
          <p:cNvSpPr>
            <a:spLocks noGrp="1"/>
          </p:cNvSpPr>
          <p:nvPr>
            <p:ph type="sldNum" sz="quarter" idx="12"/>
          </p:nvPr>
        </p:nvSpPr>
        <p:spPr/>
        <p:txBody>
          <a:bodyPr/>
          <a:lstStyle/>
          <a:p>
            <a:fld id="{45C00377-489B-40EC-B059-26BDDD2E89B9}" type="slidenum">
              <a:rPr lang="en-US" smtClean="0"/>
              <a:pPr/>
              <a:t>11</a:t>
            </a:fld>
            <a:endParaRPr lang="en-US"/>
          </a:p>
        </p:txBody>
      </p:sp>
      <p:pic>
        <p:nvPicPr>
          <p:cNvPr id="9" name="Picture 8">
            <a:extLst>
              <a:ext uri="{FF2B5EF4-FFF2-40B4-BE49-F238E27FC236}">
                <a16:creationId xmlns:a16="http://schemas.microsoft.com/office/drawing/2014/main" id="{870C3C5B-B049-1768-3B29-0B864DB2D1B2}"/>
              </a:ext>
            </a:extLst>
          </p:cNvPr>
          <p:cNvPicPr>
            <a:picLocks noChangeAspect="1"/>
          </p:cNvPicPr>
          <p:nvPr/>
        </p:nvPicPr>
        <p:blipFill>
          <a:blip r:embed="rId3"/>
          <a:stretch>
            <a:fillRect/>
          </a:stretch>
        </p:blipFill>
        <p:spPr>
          <a:xfrm>
            <a:off x="3810000" y="2446866"/>
            <a:ext cx="4876800" cy="2767013"/>
          </a:xfrm>
          <a:prstGeom prst="rect">
            <a:avLst/>
          </a:prstGeom>
        </p:spPr>
      </p:pic>
      <p:cxnSp>
        <p:nvCxnSpPr>
          <p:cNvPr id="11" name="Straight Arrow Connector 10">
            <a:extLst>
              <a:ext uri="{FF2B5EF4-FFF2-40B4-BE49-F238E27FC236}">
                <a16:creationId xmlns:a16="http://schemas.microsoft.com/office/drawing/2014/main" id="{4251B779-5782-62AB-EF5A-1689D42E8607}"/>
              </a:ext>
            </a:extLst>
          </p:cNvPr>
          <p:cNvCxnSpPr/>
          <p:nvPr/>
        </p:nvCxnSpPr>
        <p:spPr>
          <a:xfrm>
            <a:off x="5283200" y="4741333"/>
            <a:ext cx="1930400"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9A5919D-D89C-D771-B49D-57D20C3EA9D6}"/>
              </a:ext>
            </a:extLst>
          </p:cNvPr>
          <p:cNvCxnSpPr>
            <a:cxnSpLocks/>
          </p:cNvCxnSpPr>
          <p:nvPr/>
        </p:nvCxnSpPr>
        <p:spPr>
          <a:xfrm>
            <a:off x="4267201" y="2946399"/>
            <a:ext cx="3962399"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C05E2EB-CC66-E792-FE91-C7F6FF66FEB0}"/>
              </a:ext>
            </a:extLst>
          </p:cNvPr>
          <p:cNvSpPr txBox="1"/>
          <p:nvPr/>
        </p:nvSpPr>
        <p:spPr>
          <a:xfrm>
            <a:off x="5890898" y="2473854"/>
            <a:ext cx="715004" cy="369332"/>
          </a:xfrm>
          <a:prstGeom prst="rect">
            <a:avLst/>
          </a:prstGeom>
          <a:noFill/>
        </p:spPr>
        <p:txBody>
          <a:bodyPr wrap="none" rtlCol="0">
            <a:spAutoFit/>
          </a:bodyPr>
          <a:lstStyle/>
          <a:p>
            <a:r>
              <a:rPr lang="en-US" dirty="0"/>
              <a:t>range</a:t>
            </a:r>
          </a:p>
        </p:txBody>
      </p:sp>
      <p:sp>
        <p:nvSpPr>
          <p:cNvPr id="15" name="TextBox 14">
            <a:extLst>
              <a:ext uri="{FF2B5EF4-FFF2-40B4-BE49-F238E27FC236}">
                <a16:creationId xmlns:a16="http://schemas.microsoft.com/office/drawing/2014/main" id="{427B8F54-2B58-134B-0684-97B1817A1CD3}"/>
              </a:ext>
            </a:extLst>
          </p:cNvPr>
          <p:cNvSpPr txBox="1"/>
          <p:nvPr/>
        </p:nvSpPr>
        <p:spPr>
          <a:xfrm>
            <a:off x="5570041" y="4741333"/>
            <a:ext cx="1356718" cy="646331"/>
          </a:xfrm>
          <a:prstGeom prst="rect">
            <a:avLst/>
          </a:prstGeom>
          <a:noFill/>
        </p:spPr>
        <p:txBody>
          <a:bodyPr wrap="none" rtlCol="0">
            <a:spAutoFit/>
          </a:bodyPr>
          <a:lstStyle/>
          <a:p>
            <a:r>
              <a:rPr lang="en-US" dirty="0"/>
              <a:t>Interquartile</a:t>
            </a:r>
          </a:p>
          <a:p>
            <a:pPr algn="ctr"/>
            <a:r>
              <a:rPr lang="en-US" dirty="0"/>
              <a:t>range</a:t>
            </a:r>
          </a:p>
        </p:txBody>
      </p:sp>
    </p:spTree>
    <p:extLst>
      <p:ext uri="{BB962C8B-B14F-4D97-AF65-F5344CB8AC3E}">
        <p14:creationId xmlns:p14="http://schemas.microsoft.com/office/powerpoint/2010/main" val="3410868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095F8-A5E1-1DE8-FD64-3EEB50F8AE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81AD4A-0E19-28D1-0B5B-9B437A95405C}"/>
              </a:ext>
            </a:extLst>
          </p:cNvPr>
          <p:cNvSpPr>
            <a:spLocks noGrp="1"/>
          </p:cNvSpPr>
          <p:nvPr>
            <p:ph type="title"/>
          </p:nvPr>
        </p:nvSpPr>
        <p:spPr/>
        <p:txBody>
          <a:bodyPr/>
          <a:lstStyle/>
          <a:p>
            <a:r>
              <a:rPr lang="en-US" dirty="0"/>
              <a:t>Standard Deviation</a:t>
            </a:r>
          </a:p>
        </p:txBody>
      </p:sp>
      <p:sp>
        <p:nvSpPr>
          <p:cNvPr id="3" name="Content Placeholder 2">
            <a:extLst>
              <a:ext uri="{FF2B5EF4-FFF2-40B4-BE49-F238E27FC236}">
                <a16:creationId xmlns:a16="http://schemas.microsoft.com/office/drawing/2014/main" id="{263FF8F0-D580-9E75-FD88-42E4D8EF06CD}"/>
              </a:ext>
            </a:extLst>
          </p:cNvPr>
          <p:cNvSpPr>
            <a:spLocks noGrp="1"/>
          </p:cNvSpPr>
          <p:nvPr>
            <p:ph idx="1"/>
          </p:nvPr>
        </p:nvSpPr>
        <p:spPr/>
        <p:txBody>
          <a:bodyPr>
            <a:normAutofit/>
          </a:bodyPr>
          <a:lstStyle/>
          <a:p>
            <a:r>
              <a:rPr lang="en-US" dirty="0">
                <a:solidFill>
                  <a:schemeClr val="bg2">
                    <a:lumMod val="75000"/>
                  </a:schemeClr>
                </a:solidFill>
              </a:rPr>
              <a:t>Range: distance between the smallest and largest values.</a:t>
            </a:r>
          </a:p>
          <a:p>
            <a:pPr lvl="1"/>
            <a:r>
              <a:rPr lang="en-US" dirty="0">
                <a:solidFill>
                  <a:schemeClr val="bg2">
                    <a:lumMod val="75000"/>
                  </a:schemeClr>
                </a:solidFill>
              </a:rPr>
              <a:t>Sensitive to outliers</a:t>
            </a:r>
          </a:p>
          <a:p>
            <a:pPr lvl="1"/>
            <a:endParaRPr lang="en-US" dirty="0">
              <a:solidFill>
                <a:schemeClr val="bg2">
                  <a:lumMod val="75000"/>
                </a:schemeClr>
              </a:solidFill>
            </a:endParaRPr>
          </a:p>
          <a:p>
            <a:r>
              <a:rPr lang="en-US" dirty="0">
                <a:solidFill>
                  <a:schemeClr val="bg2">
                    <a:lumMod val="75000"/>
                  </a:schemeClr>
                </a:solidFill>
              </a:rPr>
              <a:t>IQR: spread of the middle 50% of the data.</a:t>
            </a:r>
          </a:p>
          <a:p>
            <a:pPr lvl="1"/>
            <a:r>
              <a:rPr lang="en-US" dirty="0">
                <a:solidFill>
                  <a:schemeClr val="bg2">
                    <a:lumMod val="75000"/>
                  </a:schemeClr>
                </a:solidFill>
              </a:rPr>
              <a:t>Removes outliers</a:t>
            </a:r>
          </a:p>
          <a:p>
            <a:pPr marL="457200" lvl="1" indent="0">
              <a:buNone/>
            </a:pPr>
            <a:endParaRPr lang="en-US" dirty="0"/>
          </a:p>
          <a:p>
            <a:r>
              <a:rPr lang="en-US" dirty="0"/>
              <a:t>Standard Deviation: Typical deviation from the mean</a:t>
            </a:r>
          </a:p>
          <a:p>
            <a:pPr lvl="1"/>
            <a:r>
              <a:rPr lang="en-US" dirty="0"/>
              <a:t>square root of variance</a:t>
            </a:r>
          </a:p>
          <a:p>
            <a:pPr lvl="1"/>
            <a:r>
              <a:rPr lang="en-US" dirty="0"/>
              <a:t>Same units as the data</a:t>
            </a:r>
          </a:p>
          <a:p>
            <a:pPr lvl="1"/>
            <a:r>
              <a:rPr lang="en-GB" dirty="0"/>
              <a:t>=STDEV.S(range)</a:t>
            </a:r>
            <a:endParaRPr lang="en-US" dirty="0"/>
          </a:p>
          <a:p>
            <a:endParaRPr lang="en-US" dirty="0"/>
          </a:p>
        </p:txBody>
      </p:sp>
      <p:sp>
        <p:nvSpPr>
          <p:cNvPr id="4" name="Slide Number Placeholder 3">
            <a:extLst>
              <a:ext uri="{FF2B5EF4-FFF2-40B4-BE49-F238E27FC236}">
                <a16:creationId xmlns:a16="http://schemas.microsoft.com/office/drawing/2014/main" id="{9B7FE7D7-7926-F0EC-AE70-FB839BCBA4C3}"/>
              </a:ext>
            </a:extLst>
          </p:cNvPr>
          <p:cNvSpPr>
            <a:spLocks noGrp="1"/>
          </p:cNvSpPr>
          <p:nvPr>
            <p:ph type="sldNum" sz="quarter" idx="12"/>
          </p:nvPr>
        </p:nvSpPr>
        <p:spPr/>
        <p:txBody>
          <a:bodyPr/>
          <a:lstStyle/>
          <a:p>
            <a:fld id="{45C00377-489B-40EC-B059-26BDDD2E89B9}" type="slidenum">
              <a:rPr lang="en-US" smtClean="0"/>
              <a:pPr/>
              <a:t>12</a:t>
            </a:fld>
            <a:endParaRPr lang="en-US" dirty="0"/>
          </a:p>
        </p:txBody>
      </p:sp>
    </p:spTree>
    <p:extLst>
      <p:ext uri="{BB962C8B-B14F-4D97-AF65-F5344CB8AC3E}">
        <p14:creationId xmlns:p14="http://schemas.microsoft.com/office/powerpoint/2010/main" val="2749560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54927-97FF-95D3-C621-F0E4139BE2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584F3-3710-27AD-E0A2-0B8302CC0025}"/>
              </a:ext>
            </a:extLst>
          </p:cNvPr>
          <p:cNvSpPr>
            <a:spLocks noGrp="1"/>
          </p:cNvSpPr>
          <p:nvPr>
            <p:ph type="title"/>
          </p:nvPr>
        </p:nvSpPr>
        <p:spPr/>
        <p:txBody>
          <a:bodyPr/>
          <a:lstStyle/>
          <a:p>
            <a:r>
              <a:rPr lang="en-US" dirty="0"/>
              <a:t>Standard Deviation</a:t>
            </a:r>
          </a:p>
        </p:txBody>
      </p:sp>
      <p:sp>
        <p:nvSpPr>
          <p:cNvPr id="4" name="Slide Number Placeholder 3">
            <a:extLst>
              <a:ext uri="{FF2B5EF4-FFF2-40B4-BE49-F238E27FC236}">
                <a16:creationId xmlns:a16="http://schemas.microsoft.com/office/drawing/2014/main" id="{3AD25D38-C79D-439B-8A38-47D18B38C6C7}"/>
              </a:ext>
            </a:extLst>
          </p:cNvPr>
          <p:cNvSpPr>
            <a:spLocks noGrp="1"/>
          </p:cNvSpPr>
          <p:nvPr>
            <p:ph type="sldNum" sz="quarter" idx="12"/>
          </p:nvPr>
        </p:nvSpPr>
        <p:spPr/>
        <p:txBody>
          <a:bodyPr/>
          <a:lstStyle/>
          <a:p>
            <a:fld id="{45C00377-489B-40EC-B059-26BDDD2E89B9}" type="slidenum">
              <a:rPr lang="en-US" smtClean="0"/>
              <a:pPr/>
              <a:t>13</a:t>
            </a:fld>
            <a:endParaRPr lang="en-US" dirty="0"/>
          </a:p>
        </p:txBody>
      </p:sp>
      <p:pic>
        <p:nvPicPr>
          <p:cNvPr id="5" name="Content Placeholder 4">
            <a:extLst>
              <a:ext uri="{FF2B5EF4-FFF2-40B4-BE49-F238E27FC236}">
                <a16:creationId xmlns:a16="http://schemas.microsoft.com/office/drawing/2014/main" id="{DC2D5ECF-FC98-FDE8-E520-AA491C782B23}"/>
              </a:ext>
            </a:extLst>
          </p:cNvPr>
          <p:cNvPicPr>
            <a:picLocks noGrp="1" noChangeAspect="1"/>
          </p:cNvPicPr>
          <p:nvPr>
            <p:ph idx="1"/>
          </p:nvPr>
        </p:nvPicPr>
        <p:blipFill>
          <a:blip r:embed="rId3"/>
          <a:stretch>
            <a:fillRect/>
          </a:stretch>
        </p:blipFill>
        <p:spPr>
          <a:xfrm>
            <a:off x="2547138" y="1441450"/>
            <a:ext cx="7097724" cy="4735513"/>
          </a:xfrm>
          <a:prstGeom prst="rect">
            <a:avLst/>
          </a:prstGeom>
        </p:spPr>
      </p:pic>
      <p:sp>
        <p:nvSpPr>
          <p:cNvPr id="6" name="TextBox 5">
            <a:extLst>
              <a:ext uri="{FF2B5EF4-FFF2-40B4-BE49-F238E27FC236}">
                <a16:creationId xmlns:a16="http://schemas.microsoft.com/office/drawing/2014/main" id="{2C8EE3BC-1057-F8D4-9D09-84834D662EEB}"/>
              </a:ext>
            </a:extLst>
          </p:cNvPr>
          <p:cNvSpPr txBox="1"/>
          <p:nvPr/>
        </p:nvSpPr>
        <p:spPr>
          <a:xfrm>
            <a:off x="5719134" y="6189663"/>
            <a:ext cx="753732" cy="369332"/>
          </a:xfrm>
          <a:prstGeom prst="rect">
            <a:avLst/>
          </a:prstGeom>
          <a:noFill/>
        </p:spPr>
        <p:txBody>
          <a:bodyPr wrap="none" rtlCol="0">
            <a:spAutoFit/>
          </a:bodyPr>
          <a:lstStyle/>
          <a:p>
            <a:r>
              <a:rPr lang="en-US" dirty="0">
                <a:solidFill>
                  <a:srgbClr val="FF0000"/>
                </a:solidFill>
              </a:rPr>
              <a:t>mean</a:t>
            </a:r>
          </a:p>
        </p:txBody>
      </p:sp>
      <p:sp>
        <p:nvSpPr>
          <p:cNvPr id="7" name="TextBox 6">
            <a:extLst>
              <a:ext uri="{FF2B5EF4-FFF2-40B4-BE49-F238E27FC236}">
                <a16:creationId xmlns:a16="http://schemas.microsoft.com/office/drawing/2014/main" id="{EE79A5ED-E47F-CCEE-205C-439E62F9D115}"/>
              </a:ext>
            </a:extLst>
          </p:cNvPr>
          <p:cNvSpPr txBox="1"/>
          <p:nvPr/>
        </p:nvSpPr>
        <p:spPr>
          <a:xfrm>
            <a:off x="5508691" y="1105850"/>
            <a:ext cx="1174617" cy="369332"/>
          </a:xfrm>
          <a:prstGeom prst="rect">
            <a:avLst/>
          </a:prstGeom>
          <a:noFill/>
        </p:spPr>
        <p:txBody>
          <a:bodyPr wrap="none" rtlCol="0">
            <a:spAutoFit/>
          </a:bodyPr>
          <a:lstStyle/>
          <a:p>
            <a:pPr algn="ctr"/>
            <a:r>
              <a:rPr lang="en-US" dirty="0">
                <a:solidFill>
                  <a:srgbClr val="FF0000"/>
                </a:solidFill>
              </a:rPr>
              <a:t>Deviation </a:t>
            </a:r>
          </a:p>
        </p:txBody>
      </p:sp>
    </p:spTree>
    <p:extLst>
      <p:ext uri="{BB962C8B-B14F-4D97-AF65-F5344CB8AC3E}">
        <p14:creationId xmlns:p14="http://schemas.microsoft.com/office/powerpoint/2010/main" val="1659471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DC9A6-C360-F240-0097-BBA3F79E1A5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F392EF3-DD2F-400F-BBD3-44ED1D5DEDA6}"/>
              </a:ext>
            </a:extLst>
          </p:cNvPr>
          <p:cNvSpPr>
            <a:spLocks noGrp="1"/>
          </p:cNvSpPr>
          <p:nvPr>
            <p:ph type="sldNum" sz="quarter" idx="11"/>
          </p:nvPr>
        </p:nvSpPr>
        <p:spPr/>
        <p:txBody>
          <a:bodyPr/>
          <a:lstStyle/>
          <a:p>
            <a:fld id="{45C00377-489B-40EC-B059-26BDDD2E89B9}" type="slidenum">
              <a:rPr lang="en-US" smtClean="0"/>
              <a:pPr/>
              <a:t>14</a:t>
            </a:fld>
            <a:endParaRPr lang="en-US"/>
          </a:p>
        </p:txBody>
      </p:sp>
      <p:sp>
        <p:nvSpPr>
          <p:cNvPr id="2" name="Title 1">
            <a:extLst>
              <a:ext uri="{FF2B5EF4-FFF2-40B4-BE49-F238E27FC236}">
                <a16:creationId xmlns:a16="http://schemas.microsoft.com/office/drawing/2014/main" id="{17910A00-46DF-0043-C9B1-82467EFD3DB4}"/>
              </a:ext>
            </a:extLst>
          </p:cNvPr>
          <p:cNvSpPr>
            <a:spLocks noGrp="1"/>
          </p:cNvSpPr>
          <p:nvPr>
            <p:ph type="title"/>
          </p:nvPr>
        </p:nvSpPr>
        <p:spPr/>
        <p:txBody>
          <a:bodyPr>
            <a:normAutofit fontScale="90000"/>
          </a:bodyPr>
          <a:lstStyle/>
          <a:p>
            <a:r>
              <a:rPr lang="en-US" dirty="0"/>
              <a:t>Distribution in data</a:t>
            </a:r>
          </a:p>
        </p:txBody>
      </p:sp>
    </p:spTree>
    <p:extLst>
      <p:ext uri="{BB962C8B-B14F-4D97-AF65-F5344CB8AC3E}">
        <p14:creationId xmlns:p14="http://schemas.microsoft.com/office/powerpoint/2010/main" val="2367110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97CCB-9A6A-A551-5084-FC1FFF3DAF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403DBF-1B2C-03CD-CF30-769EEDF512F5}"/>
              </a:ext>
            </a:extLst>
          </p:cNvPr>
          <p:cNvSpPr>
            <a:spLocks noGrp="1"/>
          </p:cNvSpPr>
          <p:nvPr>
            <p:ph type="title"/>
          </p:nvPr>
        </p:nvSpPr>
        <p:spPr/>
        <p:txBody>
          <a:bodyPr/>
          <a:lstStyle/>
          <a:p>
            <a:r>
              <a:rPr lang="en-US" dirty="0"/>
              <a:t>Understanding Distributions</a:t>
            </a:r>
          </a:p>
        </p:txBody>
      </p:sp>
      <p:sp>
        <p:nvSpPr>
          <p:cNvPr id="3" name="Content Placeholder 2">
            <a:extLst>
              <a:ext uri="{FF2B5EF4-FFF2-40B4-BE49-F238E27FC236}">
                <a16:creationId xmlns:a16="http://schemas.microsoft.com/office/drawing/2014/main" id="{4A2BB526-8B3E-238A-9D1C-BAE6F198FFA5}"/>
              </a:ext>
            </a:extLst>
          </p:cNvPr>
          <p:cNvSpPr>
            <a:spLocks noGrp="1"/>
          </p:cNvSpPr>
          <p:nvPr>
            <p:ph idx="1"/>
          </p:nvPr>
        </p:nvSpPr>
        <p:spPr>
          <a:xfrm>
            <a:off x="838199" y="1441938"/>
            <a:ext cx="10515599" cy="4735025"/>
          </a:xfrm>
        </p:spPr>
        <p:txBody>
          <a:bodyPr>
            <a:normAutofit/>
          </a:bodyPr>
          <a:lstStyle/>
          <a:p>
            <a:pPr lvl="0"/>
            <a:r>
              <a:rPr lang="en-US" dirty="0"/>
              <a:t>The Normal Distribution (Bell Curve):</a:t>
            </a:r>
          </a:p>
          <a:p>
            <a:pPr lvl="1"/>
            <a:r>
              <a:rPr lang="en-US" dirty="0"/>
              <a:t>Many biological and physical traits roughly approximate a normal distribution </a:t>
            </a:r>
          </a:p>
          <a:p>
            <a:pPr lvl="1"/>
            <a:endParaRPr lang="en-US" dirty="0"/>
          </a:p>
          <a:p>
            <a:pPr lvl="1"/>
            <a:endParaRPr lang="en-US" dirty="0"/>
          </a:p>
          <a:p>
            <a:endParaRPr lang="en-US" dirty="0"/>
          </a:p>
        </p:txBody>
      </p:sp>
      <p:pic>
        <p:nvPicPr>
          <p:cNvPr id="4" name="Picture 3" descr="Human Height | Our World in Data">
            <a:extLst>
              <a:ext uri="{FF2B5EF4-FFF2-40B4-BE49-F238E27FC236}">
                <a16:creationId xmlns:a16="http://schemas.microsoft.com/office/drawing/2014/main" id="{91777DA0-2CCE-59ED-8919-07A1339C5AA7}"/>
              </a:ext>
            </a:extLst>
          </p:cNvPr>
          <p:cNvPicPr>
            <a:picLocks noChangeAspect="1"/>
          </p:cNvPicPr>
          <p:nvPr/>
        </p:nvPicPr>
        <p:blipFill>
          <a:blip r:embed="rId2"/>
          <a:stretch>
            <a:fillRect/>
          </a:stretch>
        </p:blipFill>
        <p:spPr>
          <a:xfrm>
            <a:off x="3812685" y="2800471"/>
            <a:ext cx="4919345" cy="3692403"/>
          </a:xfrm>
          <a:prstGeom prst="rect">
            <a:avLst/>
          </a:prstGeom>
        </p:spPr>
      </p:pic>
    </p:spTree>
    <p:extLst>
      <p:ext uri="{BB962C8B-B14F-4D97-AF65-F5344CB8AC3E}">
        <p14:creationId xmlns:p14="http://schemas.microsoft.com/office/powerpoint/2010/main" val="13751678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1D98C-EDF7-7A4A-E717-BD647F35E242}"/>
              </a:ext>
            </a:extLst>
          </p:cNvPr>
          <p:cNvSpPr>
            <a:spLocks noGrp="1"/>
          </p:cNvSpPr>
          <p:nvPr>
            <p:ph type="title"/>
          </p:nvPr>
        </p:nvSpPr>
        <p:spPr/>
        <p:txBody>
          <a:bodyPr/>
          <a:lstStyle/>
          <a:p>
            <a:r>
              <a:rPr lang="en-US" dirty="0"/>
              <a:t>Understanding Distributions</a:t>
            </a:r>
          </a:p>
        </p:txBody>
      </p:sp>
      <p:sp>
        <p:nvSpPr>
          <p:cNvPr id="3" name="Content Placeholder 2">
            <a:extLst>
              <a:ext uri="{FF2B5EF4-FFF2-40B4-BE49-F238E27FC236}">
                <a16:creationId xmlns:a16="http://schemas.microsoft.com/office/drawing/2014/main" id="{AD2F096A-10BD-2D28-1EB7-AD0445BDD920}"/>
              </a:ext>
            </a:extLst>
          </p:cNvPr>
          <p:cNvSpPr>
            <a:spLocks noGrp="1"/>
          </p:cNvSpPr>
          <p:nvPr>
            <p:ph idx="1"/>
          </p:nvPr>
        </p:nvSpPr>
        <p:spPr>
          <a:xfrm>
            <a:off x="838199" y="1441938"/>
            <a:ext cx="10515599" cy="4735025"/>
          </a:xfrm>
        </p:spPr>
        <p:txBody>
          <a:bodyPr>
            <a:normAutofit/>
          </a:bodyPr>
          <a:lstStyle/>
          <a:p>
            <a:pPr lvl="0"/>
            <a:r>
              <a:rPr lang="en-US" dirty="0"/>
              <a:t>The Normal Distribution (Bell Curve):</a:t>
            </a:r>
          </a:p>
          <a:p>
            <a:pPr lvl="1"/>
            <a:r>
              <a:rPr lang="en-US" dirty="0"/>
              <a:t>Many biological and physical traits roughly approximate a normal distribution </a:t>
            </a:r>
          </a:p>
          <a:p>
            <a:pPr lvl="1"/>
            <a:r>
              <a:rPr lang="en-US" dirty="0"/>
              <a:t>Defined by mean and standard deviation (symmetric).</a:t>
            </a:r>
          </a:p>
          <a:p>
            <a:pPr lvl="1"/>
            <a:endParaRPr lang="en-US" dirty="0"/>
          </a:p>
          <a:p>
            <a:endParaRPr lang="en-US" dirty="0"/>
          </a:p>
        </p:txBody>
      </p:sp>
      <p:pic>
        <p:nvPicPr>
          <p:cNvPr id="5" name="Picture 4">
            <a:extLst>
              <a:ext uri="{FF2B5EF4-FFF2-40B4-BE49-F238E27FC236}">
                <a16:creationId xmlns:a16="http://schemas.microsoft.com/office/drawing/2014/main" id="{45BA5960-27F0-632C-A127-0D502FB57F05}"/>
              </a:ext>
            </a:extLst>
          </p:cNvPr>
          <p:cNvPicPr>
            <a:picLocks noChangeAspect="1"/>
          </p:cNvPicPr>
          <p:nvPr/>
        </p:nvPicPr>
        <p:blipFill>
          <a:blip r:embed="rId2"/>
          <a:stretch>
            <a:fillRect/>
          </a:stretch>
        </p:blipFill>
        <p:spPr>
          <a:xfrm>
            <a:off x="3867917" y="3367987"/>
            <a:ext cx="4456166" cy="2973098"/>
          </a:xfrm>
          <a:prstGeom prst="rect">
            <a:avLst/>
          </a:prstGeom>
        </p:spPr>
      </p:pic>
    </p:spTree>
    <p:extLst>
      <p:ext uri="{BB962C8B-B14F-4D97-AF65-F5344CB8AC3E}">
        <p14:creationId xmlns:p14="http://schemas.microsoft.com/office/powerpoint/2010/main" val="21950703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26051-5506-EA7F-E67F-8B839387A6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0A422D-2E5E-3A5F-E0E6-964227428BD2}"/>
              </a:ext>
            </a:extLst>
          </p:cNvPr>
          <p:cNvSpPr>
            <a:spLocks noGrp="1"/>
          </p:cNvSpPr>
          <p:nvPr>
            <p:ph type="title"/>
          </p:nvPr>
        </p:nvSpPr>
        <p:spPr/>
        <p:txBody>
          <a:bodyPr/>
          <a:lstStyle/>
          <a:p>
            <a:r>
              <a:rPr lang="en-US" dirty="0"/>
              <a:t>Distribution in Sports</a:t>
            </a:r>
          </a:p>
        </p:txBody>
      </p:sp>
      <p:sp>
        <p:nvSpPr>
          <p:cNvPr id="3" name="Content Placeholder 2">
            <a:extLst>
              <a:ext uri="{FF2B5EF4-FFF2-40B4-BE49-F238E27FC236}">
                <a16:creationId xmlns:a16="http://schemas.microsoft.com/office/drawing/2014/main" id="{13BD846C-99C1-C619-97FD-5A2666C8C056}"/>
              </a:ext>
            </a:extLst>
          </p:cNvPr>
          <p:cNvSpPr>
            <a:spLocks noGrp="1"/>
          </p:cNvSpPr>
          <p:nvPr>
            <p:ph idx="1"/>
          </p:nvPr>
        </p:nvSpPr>
        <p:spPr>
          <a:xfrm>
            <a:off x="838199" y="1441938"/>
            <a:ext cx="10515599" cy="4735025"/>
          </a:xfrm>
        </p:spPr>
        <p:txBody>
          <a:bodyPr>
            <a:normAutofit/>
          </a:bodyPr>
          <a:lstStyle/>
          <a:p>
            <a:pPr lvl="0"/>
            <a:r>
              <a:rPr lang="en-US" dirty="0"/>
              <a:t>Data in sports often not-normal</a:t>
            </a:r>
          </a:p>
          <a:p>
            <a:pPr lvl="1"/>
            <a:r>
              <a:rPr lang="en-GB" dirty="0"/>
              <a:t>Pooling athletes can create skew because athletes have different roles and opportunities. </a:t>
            </a:r>
          </a:p>
          <a:p>
            <a:pPr lvl="1"/>
            <a:r>
              <a:rPr lang="en-GB" dirty="0"/>
              <a:t>Measurements within one athlete </a:t>
            </a:r>
            <a:r>
              <a:rPr lang="en-GB" b="1" u="sng" dirty="0"/>
              <a:t>may</a:t>
            </a:r>
            <a:r>
              <a:rPr lang="en-GB" dirty="0"/>
              <a:t> be more symmetric</a:t>
            </a:r>
            <a:endParaRPr lang="en-US" dirty="0"/>
          </a:p>
          <a:p>
            <a:endParaRPr lang="en-US" dirty="0"/>
          </a:p>
        </p:txBody>
      </p:sp>
      <p:pic>
        <p:nvPicPr>
          <p:cNvPr id="5" name="Picture 4">
            <a:extLst>
              <a:ext uri="{FF2B5EF4-FFF2-40B4-BE49-F238E27FC236}">
                <a16:creationId xmlns:a16="http://schemas.microsoft.com/office/drawing/2014/main" id="{FE158035-1533-0014-B6A6-C7B3C9C8EAC2}"/>
              </a:ext>
            </a:extLst>
          </p:cNvPr>
          <p:cNvPicPr>
            <a:picLocks noChangeAspect="1"/>
          </p:cNvPicPr>
          <p:nvPr/>
        </p:nvPicPr>
        <p:blipFill>
          <a:blip r:embed="rId3"/>
          <a:stretch>
            <a:fillRect/>
          </a:stretch>
        </p:blipFill>
        <p:spPr>
          <a:xfrm>
            <a:off x="3707069" y="3305146"/>
            <a:ext cx="4777861" cy="3187728"/>
          </a:xfrm>
          <a:prstGeom prst="rect">
            <a:avLst/>
          </a:prstGeom>
        </p:spPr>
      </p:pic>
      <p:sp>
        <p:nvSpPr>
          <p:cNvPr id="4" name="Rectangle 3">
            <a:extLst>
              <a:ext uri="{FF2B5EF4-FFF2-40B4-BE49-F238E27FC236}">
                <a16:creationId xmlns:a16="http://schemas.microsoft.com/office/drawing/2014/main" id="{94B83893-CB97-CAD3-9101-1915466DBDFA}"/>
              </a:ext>
            </a:extLst>
          </p:cNvPr>
          <p:cNvSpPr/>
          <p:nvPr/>
        </p:nvSpPr>
        <p:spPr>
          <a:xfrm>
            <a:off x="7063410" y="5416062"/>
            <a:ext cx="1421520" cy="109923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32793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19533-ED70-0B69-8801-C8B6BD8F71C6}"/>
              </a:ext>
            </a:extLst>
          </p:cNvPr>
          <p:cNvSpPr>
            <a:spLocks noGrp="1"/>
          </p:cNvSpPr>
          <p:nvPr>
            <p:ph type="title"/>
          </p:nvPr>
        </p:nvSpPr>
        <p:spPr/>
        <p:txBody>
          <a:bodyPr/>
          <a:lstStyle/>
          <a:p>
            <a:r>
              <a:rPr lang="en-US" dirty="0"/>
              <a:t>Skew in Data</a:t>
            </a:r>
          </a:p>
        </p:txBody>
      </p:sp>
      <p:sp>
        <p:nvSpPr>
          <p:cNvPr id="3" name="Content Placeholder 2">
            <a:extLst>
              <a:ext uri="{FF2B5EF4-FFF2-40B4-BE49-F238E27FC236}">
                <a16:creationId xmlns:a16="http://schemas.microsoft.com/office/drawing/2014/main" id="{C6B054E5-A712-8E43-2124-3601A1727101}"/>
              </a:ext>
            </a:extLst>
          </p:cNvPr>
          <p:cNvSpPr>
            <a:spLocks noGrp="1"/>
          </p:cNvSpPr>
          <p:nvPr>
            <p:ph idx="1"/>
          </p:nvPr>
        </p:nvSpPr>
        <p:spPr/>
        <p:txBody>
          <a:bodyPr/>
          <a:lstStyle/>
          <a:p>
            <a:pPr lvl="0"/>
            <a:r>
              <a:rPr lang="en-US" dirty="0"/>
              <a:t>Right-Skewed (Positive Skew):</a:t>
            </a:r>
          </a:p>
          <a:p>
            <a:pPr lvl="1"/>
            <a:r>
              <a:rPr lang="en-US" dirty="0"/>
              <a:t>Most players have low counts, but a few superstars skew the tail high.</a:t>
            </a:r>
          </a:p>
          <a:p>
            <a:pPr lvl="1"/>
            <a:endParaRPr lang="en-US" i="1" dirty="0"/>
          </a:p>
          <a:p>
            <a:pPr lvl="0"/>
            <a:r>
              <a:rPr lang="en-US" dirty="0"/>
              <a:t>Left-Skewed (Negative Skew):</a:t>
            </a:r>
          </a:p>
          <a:p>
            <a:pPr lvl="1"/>
            <a:r>
              <a:rPr lang="en-US" dirty="0"/>
              <a:t>Values clustered near the maximum ceiling, with a few poor performances trailing off.</a:t>
            </a:r>
          </a:p>
          <a:p>
            <a:pPr lvl="1"/>
            <a:endParaRPr lang="en-US" i="1" dirty="0"/>
          </a:p>
          <a:p>
            <a:endParaRPr lang="en-US" dirty="0"/>
          </a:p>
        </p:txBody>
      </p:sp>
      <p:pic>
        <p:nvPicPr>
          <p:cNvPr id="4" name="Picture 2" descr="How to Interpret Histograms - LabXchange">
            <a:extLst>
              <a:ext uri="{FF2B5EF4-FFF2-40B4-BE49-F238E27FC236}">
                <a16:creationId xmlns:a16="http://schemas.microsoft.com/office/drawing/2014/main" id="{BD604FB3-5671-0945-684A-0778A9BEDB5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814" t="-447" r="2510" b="447"/>
          <a:stretch>
            <a:fillRect/>
          </a:stretch>
        </p:blipFill>
        <p:spPr bwMode="auto">
          <a:xfrm>
            <a:off x="3606559" y="4225914"/>
            <a:ext cx="5180254" cy="2380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44532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9D63C-244F-4B26-B437-E9A53448383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346BEFC-411A-1AFC-EC85-40372D4451F9}"/>
              </a:ext>
            </a:extLst>
          </p:cNvPr>
          <p:cNvSpPr>
            <a:spLocks noGrp="1"/>
          </p:cNvSpPr>
          <p:nvPr>
            <p:ph type="sldNum" sz="quarter" idx="11"/>
          </p:nvPr>
        </p:nvSpPr>
        <p:spPr/>
        <p:txBody>
          <a:bodyPr/>
          <a:lstStyle/>
          <a:p>
            <a:fld id="{45C00377-489B-40EC-B059-26BDDD2E89B9}" type="slidenum">
              <a:rPr lang="en-US" smtClean="0"/>
              <a:pPr/>
              <a:t>19</a:t>
            </a:fld>
            <a:endParaRPr lang="en-US"/>
          </a:p>
        </p:txBody>
      </p:sp>
      <p:sp>
        <p:nvSpPr>
          <p:cNvPr id="2" name="Title 1">
            <a:extLst>
              <a:ext uri="{FF2B5EF4-FFF2-40B4-BE49-F238E27FC236}">
                <a16:creationId xmlns:a16="http://schemas.microsoft.com/office/drawing/2014/main" id="{858A1A89-AC58-7232-2042-580E071C580B}"/>
              </a:ext>
            </a:extLst>
          </p:cNvPr>
          <p:cNvSpPr>
            <a:spLocks noGrp="1"/>
          </p:cNvSpPr>
          <p:nvPr>
            <p:ph type="title"/>
          </p:nvPr>
        </p:nvSpPr>
        <p:spPr/>
        <p:txBody>
          <a:bodyPr>
            <a:normAutofit fontScale="90000"/>
          </a:bodyPr>
          <a:lstStyle/>
          <a:p>
            <a:r>
              <a:rPr lang="en-US" dirty="0"/>
              <a:t>Measuring the center in non-normal data</a:t>
            </a:r>
          </a:p>
        </p:txBody>
      </p:sp>
    </p:spTree>
    <p:extLst>
      <p:ext uri="{BB962C8B-B14F-4D97-AF65-F5344CB8AC3E}">
        <p14:creationId xmlns:p14="http://schemas.microsoft.com/office/powerpoint/2010/main" val="26131769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C5114-2493-6C4D-FCE6-E9E71FC2B4DB}"/>
              </a:ext>
            </a:extLst>
          </p:cNvPr>
          <p:cNvSpPr>
            <a:spLocks noGrp="1"/>
          </p:cNvSpPr>
          <p:nvPr>
            <p:ph type="title"/>
          </p:nvPr>
        </p:nvSpPr>
        <p:spPr/>
        <p:txBody>
          <a:bodyPr/>
          <a:lstStyle/>
          <a:p>
            <a:r>
              <a:rPr lang="en-US" dirty="0"/>
              <a:t>The center in symmetric data</a:t>
            </a:r>
          </a:p>
        </p:txBody>
      </p:sp>
      <p:sp>
        <p:nvSpPr>
          <p:cNvPr id="4" name="Slide Number Placeholder 3">
            <a:extLst>
              <a:ext uri="{FF2B5EF4-FFF2-40B4-BE49-F238E27FC236}">
                <a16:creationId xmlns:a16="http://schemas.microsoft.com/office/drawing/2014/main" id="{7CC6B867-7845-FDD1-CECB-446A320EF33D}"/>
              </a:ext>
            </a:extLst>
          </p:cNvPr>
          <p:cNvSpPr>
            <a:spLocks noGrp="1"/>
          </p:cNvSpPr>
          <p:nvPr>
            <p:ph type="sldNum" sz="quarter" idx="12"/>
          </p:nvPr>
        </p:nvSpPr>
        <p:spPr/>
        <p:txBody>
          <a:bodyPr/>
          <a:lstStyle/>
          <a:p>
            <a:fld id="{45C00377-489B-40EC-B059-26BDDD2E89B9}" type="slidenum">
              <a:rPr lang="en-US" smtClean="0"/>
              <a:pPr/>
              <a:t>20</a:t>
            </a:fld>
            <a:endParaRPr lang="en-US"/>
          </a:p>
        </p:txBody>
      </p:sp>
      <p:pic>
        <p:nvPicPr>
          <p:cNvPr id="4098" name="Picture 2" descr="How to Interpret Histograms - LabXchange">
            <a:extLst>
              <a:ext uri="{FF2B5EF4-FFF2-40B4-BE49-F238E27FC236}">
                <a16:creationId xmlns:a16="http://schemas.microsoft.com/office/drawing/2014/main" id="{F8CD6BBC-8B3D-70EE-865D-4DF5A9A3790A}"/>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r="66103"/>
          <a:stretch>
            <a:fillRect/>
          </a:stretch>
        </p:blipFill>
        <p:spPr bwMode="auto">
          <a:xfrm>
            <a:off x="3901017" y="1951228"/>
            <a:ext cx="4389966" cy="3789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14198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6F5E7-39BF-696D-8378-92F55112B7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2DD15C-B31F-B99D-1E00-35CDDA3EB94B}"/>
              </a:ext>
            </a:extLst>
          </p:cNvPr>
          <p:cNvSpPr>
            <a:spLocks noGrp="1"/>
          </p:cNvSpPr>
          <p:nvPr>
            <p:ph type="title"/>
          </p:nvPr>
        </p:nvSpPr>
        <p:spPr/>
        <p:txBody>
          <a:bodyPr/>
          <a:lstStyle/>
          <a:p>
            <a:r>
              <a:rPr lang="en-US" dirty="0"/>
              <a:t>The center in asymmetric data</a:t>
            </a:r>
          </a:p>
        </p:txBody>
      </p:sp>
      <p:sp>
        <p:nvSpPr>
          <p:cNvPr id="4" name="Slide Number Placeholder 3">
            <a:extLst>
              <a:ext uri="{FF2B5EF4-FFF2-40B4-BE49-F238E27FC236}">
                <a16:creationId xmlns:a16="http://schemas.microsoft.com/office/drawing/2014/main" id="{5B709428-25C8-E6FD-4688-FD80036813C2}"/>
              </a:ext>
            </a:extLst>
          </p:cNvPr>
          <p:cNvSpPr>
            <a:spLocks noGrp="1"/>
          </p:cNvSpPr>
          <p:nvPr>
            <p:ph type="sldNum" sz="quarter" idx="12"/>
          </p:nvPr>
        </p:nvSpPr>
        <p:spPr/>
        <p:txBody>
          <a:bodyPr/>
          <a:lstStyle/>
          <a:p>
            <a:fld id="{45C00377-489B-40EC-B059-26BDDD2E89B9}" type="slidenum">
              <a:rPr lang="en-US" smtClean="0"/>
              <a:pPr/>
              <a:t>21</a:t>
            </a:fld>
            <a:endParaRPr lang="en-US"/>
          </a:p>
        </p:txBody>
      </p:sp>
      <p:pic>
        <p:nvPicPr>
          <p:cNvPr id="4098" name="Picture 2" descr="How to Interpret Histograms - LabXchange">
            <a:extLst>
              <a:ext uri="{FF2B5EF4-FFF2-40B4-BE49-F238E27FC236}">
                <a16:creationId xmlns:a16="http://schemas.microsoft.com/office/drawing/2014/main" id="{5E07A6AD-6BA3-9343-6F05-9D3ADF059A08}"/>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33814" t="-447" r="2510" b="447"/>
          <a:stretch>
            <a:fillRect/>
          </a:stretch>
        </p:blipFill>
        <p:spPr bwMode="auto">
          <a:xfrm>
            <a:off x="1972733" y="2018961"/>
            <a:ext cx="8246534" cy="378923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65374D5F-FD24-5385-E2BA-049B45FEE8A7}"/>
              </a:ext>
            </a:extLst>
          </p:cNvPr>
          <p:cNvCxnSpPr>
            <a:cxnSpLocks/>
          </p:cNvCxnSpPr>
          <p:nvPr/>
        </p:nvCxnSpPr>
        <p:spPr>
          <a:xfrm flipH="1" flipV="1">
            <a:off x="5723467" y="5554193"/>
            <a:ext cx="575733" cy="5926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8983018-9898-0624-B472-193C5ED2E7B0}"/>
              </a:ext>
            </a:extLst>
          </p:cNvPr>
          <p:cNvSpPr txBox="1"/>
          <p:nvPr/>
        </p:nvSpPr>
        <p:spPr>
          <a:xfrm>
            <a:off x="6356148" y="5987018"/>
            <a:ext cx="1903085" cy="369332"/>
          </a:xfrm>
          <a:prstGeom prst="rect">
            <a:avLst/>
          </a:prstGeom>
          <a:noFill/>
        </p:spPr>
        <p:txBody>
          <a:bodyPr wrap="none" rtlCol="0">
            <a:spAutoFit/>
          </a:bodyPr>
          <a:lstStyle/>
          <a:p>
            <a:r>
              <a:rPr lang="en-US" dirty="0"/>
              <a:t>Common in sports</a:t>
            </a:r>
          </a:p>
        </p:txBody>
      </p:sp>
    </p:spTree>
    <p:extLst>
      <p:ext uri="{BB962C8B-B14F-4D97-AF65-F5344CB8AC3E}">
        <p14:creationId xmlns:p14="http://schemas.microsoft.com/office/powerpoint/2010/main" val="10462557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27734-1538-7DC8-18B4-31FC9E1C96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30EDA4-2884-5C3A-1453-89ED62C3BDD0}"/>
              </a:ext>
            </a:extLst>
          </p:cNvPr>
          <p:cNvSpPr>
            <a:spLocks noGrp="1"/>
          </p:cNvSpPr>
          <p:nvPr>
            <p:ph type="title"/>
          </p:nvPr>
        </p:nvSpPr>
        <p:spPr/>
        <p:txBody>
          <a:bodyPr>
            <a:normAutofit fontScale="90000"/>
          </a:bodyPr>
          <a:lstStyle/>
          <a:p>
            <a:r>
              <a:rPr lang="en-US" dirty="0"/>
              <a:t>Does distribution change appropriate method?</a:t>
            </a:r>
          </a:p>
        </p:txBody>
      </p:sp>
      <p:sp>
        <p:nvSpPr>
          <p:cNvPr id="4" name="Slide Number Placeholder 3">
            <a:extLst>
              <a:ext uri="{FF2B5EF4-FFF2-40B4-BE49-F238E27FC236}">
                <a16:creationId xmlns:a16="http://schemas.microsoft.com/office/drawing/2014/main" id="{8C96CE0E-0732-E9D4-E499-2B84DEA82B46}"/>
              </a:ext>
            </a:extLst>
          </p:cNvPr>
          <p:cNvSpPr>
            <a:spLocks noGrp="1"/>
          </p:cNvSpPr>
          <p:nvPr>
            <p:ph type="sldNum" sz="quarter" idx="12"/>
          </p:nvPr>
        </p:nvSpPr>
        <p:spPr/>
        <p:txBody>
          <a:bodyPr/>
          <a:lstStyle/>
          <a:p>
            <a:fld id="{45C00377-489B-40EC-B059-26BDDD2E89B9}" type="slidenum">
              <a:rPr lang="en-US" smtClean="0"/>
              <a:pPr/>
              <a:t>22</a:t>
            </a:fld>
            <a:endParaRPr lang="en-US"/>
          </a:p>
        </p:txBody>
      </p:sp>
      <p:pic>
        <p:nvPicPr>
          <p:cNvPr id="4098" name="Picture 2" descr="How to Interpret Histograms - LabXchange">
            <a:extLst>
              <a:ext uri="{FF2B5EF4-FFF2-40B4-BE49-F238E27FC236}">
                <a16:creationId xmlns:a16="http://schemas.microsoft.com/office/drawing/2014/main" id="{93CF171A-A016-7C27-0CC5-108FDA526E14}"/>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1165" t="-447" r="2511" b="447"/>
          <a:stretch>
            <a:fillRect/>
          </a:stretch>
        </p:blipFill>
        <p:spPr bwMode="auto">
          <a:xfrm>
            <a:off x="838200" y="2107349"/>
            <a:ext cx="10041538" cy="305013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16F27C4-5B87-D900-73E0-C9E1F2F39871}"/>
              </a:ext>
            </a:extLst>
          </p:cNvPr>
          <p:cNvSpPr txBox="1"/>
          <p:nvPr/>
        </p:nvSpPr>
        <p:spPr>
          <a:xfrm>
            <a:off x="2237411" y="5572251"/>
            <a:ext cx="7717177" cy="369332"/>
          </a:xfrm>
          <a:prstGeom prst="rect">
            <a:avLst/>
          </a:prstGeom>
          <a:noFill/>
        </p:spPr>
        <p:txBody>
          <a:bodyPr wrap="none" rtlCol="0">
            <a:spAutoFit/>
          </a:bodyPr>
          <a:lstStyle/>
          <a:p>
            <a:r>
              <a:rPr lang="en-US" dirty="0">
                <a:solidFill>
                  <a:srgbClr val="FF0000"/>
                </a:solidFill>
              </a:rPr>
              <a:t>Would you / should you change the averaging method based on distribution?</a:t>
            </a:r>
          </a:p>
        </p:txBody>
      </p:sp>
    </p:spTree>
    <p:extLst>
      <p:ext uri="{BB962C8B-B14F-4D97-AF65-F5344CB8AC3E}">
        <p14:creationId xmlns:p14="http://schemas.microsoft.com/office/powerpoint/2010/main" val="19181750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CDC0B-0B2A-1E14-5007-45A1A246833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5DA7F33-C641-8689-7008-5C776B05177D}"/>
              </a:ext>
            </a:extLst>
          </p:cNvPr>
          <p:cNvSpPr>
            <a:spLocks noGrp="1"/>
          </p:cNvSpPr>
          <p:nvPr>
            <p:ph type="sldNum" sz="quarter" idx="11"/>
          </p:nvPr>
        </p:nvSpPr>
        <p:spPr/>
        <p:txBody>
          <a:bodyPr/>
          <a:lstStyle/>
          <a:p>
            <a:fld id="{45C00377-489B-40EC-B059-26BDDD2E89B9}" type="slidenum">
              <a:rPr lang="en-US" smtClean="0"/>
              <a:pPr/>
              <a:t>23</a:t>
            </a:fld>
            <a:endParaRPr lang="en-US"/>
          </a:p>
        </p:txBody>
      </p:sp>
      <p:sp>
        <p:nvSpPr>
          <p:cNvPr id="2" name="Title 1">
            <a:extLst>
              <a:ext uri="{FF2B5EF4-FFF2-40B4-BE49-F238E27FC236}">
                <a16:creationId xmlns:a16="http://schemas.microsoft.com/office/drawing/2014/main" id="{24E378FE-1C47-00EE-09AE-0807820064CE}"/>
              </a:ext>
            </a:extLst>
          </p:cNvPr>
          <p:cNvSpPr>
            <a:spLocks noGrp="1"/>
          </p:cNvSpPr>
          <p:nvPr>
            <p:ph type="title"/>
          </p:nvPr>
        </p:nvSpPr>
        <p:spPr/>
        <p:txBody>
          <a:bodyPr>
            <a:normAutofit fontScale="90000"/>
          </a:bodyPr>
          <a:lstStyle/>
          <a:p>
            <a:r>
              <a:rPr lang="en-US" dirty="0"/>
              <a:t>Grouped summary</a:t>
            </a:r>
          </a:p>
        </p:txBody>
      </p:sp>
    </p:spTree>
    <p:extLst>
      <p:ext uri="{BB962C8B-B14F-4D97-AF65-F5344CB8AC3E}">
        <p14:creationId xmlns:p14="http://schemas.microsoft.com/office/powerpoint/2010/main" val="42323895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7130-5B81-B62D-BA4D-505C3745BDE8}"/>
              </a:ext>
            </a:extLst>
          </p:cNvPr>
          <p:cNvSpPr>
            <a:spLocks noGrp="1"/>
          </p:cNvSpPr>
          <p:nvPr>
            <p:ph type="title"/>
          </p:nvPr>
        </p:nvSpPr>
        <p:spPr/>
        <p:txBody>
          <a:bodyPr/>
          <a:lstStyle/>
          <a:p>
            <a:r>
              <a:rPr lang="en-US" dirty="0"/>
              <a:t>Grouped summary statistics</a:t>
            </a:r>
          </a:p>
        </p:txBody>
      </p:sp>
      <p:sp>
        <p:nvSpPr>
          <p:cNvPr id="3" name="Content Placeholder 2">
            <a:extLst>
              <a:ext uri="{FF2B5EF4-FFF2-40B4-BE49-F238E27FC236}">
                <a16:creationId xmlns:a16="http://schemas.microsoft.com/office/drawing/2014/main" id="{35B77547-6F10-4E09-A289-6D75BEBD3D06}"/>
              </a:ext>
            </a:extLst>
          </p:cNvPr>
          <p:cNvSpPr>
            <a:spLocks noGrp="1"/>
          </p:cNvSpPr>
          <p:nvPr>
            <p:ph idx="1"/>
          </p:nvPr>
        </p:nvSpPr>
        <p:spPr/>
        <p:txBody>
          <a:bodyPr/>
          <a:lstStyle/>
          <a:p>
            <a:pPr marL="0" indent="0">
              <a:buNone/>
            </a:pPr>
            <a:r>
              <a:rPr lang="en-US" dirty="0"/>
              <a:t>Why Segment Your Data?</a:t>
            </a:r>
          </a:p>
          <a:p>
            <a:r>
              <a:rPr lang="en-US" dirty="0"/>
              <a:t>Looking at team / league average often masks the truth because different positions have entirely different physical and tactical requirements.</a:t>
            </a:r>
          </a:p>
          <a:p>
            <a:endParaRPr lang="en-US" dirty="0"/>
          </a:p>
          <a:p>
            <a:r>
              <a:rPr lang="en-US" dirty="0"/>
              <a:t>Example:</a:t>
            </a:r>
          </a:p>
          <a:p>
            <a:pPr lvl="1"/>
            <a:r>
              <a:rPr lang="en-US" dirty="0"/>
              <a:t>Grouping all positions may make total high-speed distance look "average." </a:t>
            </a:r>
          </a:p>
          <a:p>
            <a:pPr lvl="1"/>
            <a:r>
              <a:rPr lang="en-US" dirty="0"/>
              <a:t>Segmenting by position may reveal that certain groups log massive high-speed workloads.</a:t>
            </a:r>
          </a:p>
        </p:txBody>
      </p:sp>
    </p:spTree>
    <p:extLst>
      <p:ext uri="{BB962C8B-B14F-4D97-AF65-F5344CB8AC3E}">
        <p14:creationId xmlns:p14="http://schemas.microsoft.com/office/powerpoint/2010/main" val="2238529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C77A2-34FD-1858-61A9-205601716CEA}"/>
              </a:ext>
            </a:extLst>
          </p:cNvPr>
          <p:cNvSpPr>
            <a:spLocks noGrp="1"/>
          </p:cNvSpPr>
          <p:nvPr>
            <p:ph type="title"/>
          </p:nvPr>
        </p:nvSpPr>
        <p:spPr/>
        <p:txBody>
          <a:bodyPr>
            <a:normAutofit/>
          </a:bodyPr>
          <a:lstStyle/>
          <a:p>
            <a:r>
              <a:rPr lang="en-US" dirty="0"/>
              <a:t>Grouping can change the conclusion</a:t>
            </a:r>
          </a:p>
        </p:txBody>
      </p:sp>
      <p:sp>
        <p:nvSpPr>
          <p:cNvPr id="3" name="Content Placeholder 2">
            <a:extLst>
              <a:ext uri="{FF2B5EF4-FFF2-40B4-BE49-F238E27FC236}">
                <a16:creationId xmlns:a16="http://schemas.microsoft.com/office/drawing/2014/main" id="{DAF53A7B-806F-4483-F09D-140D1D07E017}"/>
              </a:ext>
            </a:extLst>
          </p:cNvPr>
          <p:cNvSpPr>
            <a:spLocks noGrp="1"/>
          </p:cNvSpPr>
          <p:nvPr>
            <p:ph idx="1"/>
          </p:nvPr>
        </p:nvSpPr>
        <p:spPr/>
        <p:txBody>
          <a:bodyPr/>
          <a:lstStyle/>
          <a:p>
            <a:pPr marL="0" indent="0">
              <a:buNone/>
            </a:pPr>
            <a:r>
              <a:rPr lang="en-US" dirty="0"/>
              <a:t>Who is the better shooter?</a:t>
            </a:r>
          </a:p>
        </p:txBody>
      </p:sp>
      <p:sp>
        <p:nvSpPr>
          <p:cNvPr id="4" name="Slide Number Placeholder 3">
            <a:extLst>
              <a:ext uri="{FF2B5EF4-FFF2-40B4-BE49-F238E27FC236}">
                <a16:creationId xmlns:a16="http://schemas.microsoft.com/office/drawing/2014/main" id="{E6B455E8-DB5B-3041-3DF8-A918E98B32BE}"/>
              </a:ext>
            </a:extLst>
          </p:cNvPr>
          <p:cNvSpPr>
            <a:spLocks noGrp="1"/>
          </p:cNvSpPr>
          <p:nvPr>
            <p:ph type="sldNum" sz="quarter" idx="12"/>
          </p:nvPr>
        </p:nvSpPr>
        <p:spPr/>
        <p:txBody>
          <a:bodyPr/>
          <a:lstStyle/>
          <a:p>
            <a:fld id="{45C00377-489B-40EC-B059-26BDDD2E89B9}" type="slidenum">
              <a:rPr lang="en-US" smtClean="0"/>
              <a:pPr/>
              <a:t>25</a:t>
            </a:fld>
            <a:endParaRPr lang="en-US"/>
          </a:p>
        </p:txBody>
      </p:sp>
      <p:graphicFrame>
        <p:nvGraphicFramePr>
          <p:cNvPr id="5" name="Table 4">
            <a:extLst>
              <a:ext uri="{FF2B5EF4-FFF2-40B4-BE49-F238E27FC236}">
                <a16:creationId xmlns:a16="http://schemas.microsoft.com/office/drawing/2014/main" id="{4DB5302D-F333-DACE-0CB6-BE0A82FE29DE}"/>
              </a:ext>
            </a:extLst>
          </p:cNvPr>
          <p:cNvGraphicFramePr>
            <a:graphicFrameLocks noGrp="1"/>
          </p:cNvGraphicFramePr>
          <p:nvPr>
            <p:extLst>
              <p:ext uri="{D42A27DB-BD31-4B8C-83A1-F6EECF244321}">
                <p14:modId xmlns:p14="http://schemas.microsoft.com/office/powerpoint/2010/main" val="2234906972"/>
              </p:ext>
            </p:extLst>
          </p:nvPr>
        </p:nvGraphicFramePr>
        <p:xfrm>
          <a:off x="2032000" y="2696930"/>
          <a:ext cx="8128000" cy="111252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3243521770"/>
                    </a:ext>
                  </a:extLst>
                </a:gridCol>
                <a:gridCol w="1625600">
                  <a:extLst>
                    <a:ext uri="{9D8B030D-6E8A-4147-A177-3AD203B41FA5}">
                      <a16:colId xmlns:a16="http://schemas.microsoft.com/office/drawing/2014/main" val="3381938047"/>
                    </a:ext>
                  </a:extLst>
                </a:gridCol>
                <a:gridCol w="1625600">
                  <a:extLst>
                    <a:ext uri="{9D8B030D-6E8A-4147-A177-3AD203B41FA5}">
                      <a16:colId xmlns:a16="http://schemas.microsoft.com/office/drawing/2014/main" val="175830463"/>
                    </a:ext>
                  </a:extLst>
                </a:gridCol>
                <a:gridCol w="1625600">
                  <a:extLst>
                    <a:ext uri="{9D8B030D-6E8A-4147-A177-3AD203B41FA5}">
                      <a16:colId xmlns:a16="http://schemas.microsoft.com/office/drawing/2014/main" val="3652425783"/>
                    </a:ext>
                  </a:extLst>
                </a:gridCol>
                <a:gridCol w="1625600">
                  <a:extLst>
                    <a:ext uri="{9D8B030D-6E8A-4147-A177-3AD203B41FA5}">
                      <a16:colId xmlns:a16="http://schemas.microsoft.com/office/drawing/2014/main" val="1932414507"/>
                    </a:ext>
                  </a:extLst>
                </a:gridCol>
              </a:tblGrid>
              <a:tr h="370840">
                <a:tc>
                  <a:txBody>
                    <a:bodyPr/>
                    <a:lstStyle/>
                    <a:p>
                      <a:endParaRPr lang="en-US" dirty="0"/>
                    </a:p>
                  </a:txBody>
                  <a:tcPr/>
                </a:tc>
                <a:tc>
                  <a:txBody>
                    <a:bodyPr/>
                    <a:lstStyle/>
                    <a:p>
                      <a:pPr marL="0" algn="ctr" defTabSz="914400" rtl="0" eaLnBrk="1" fontAlgn="b" latinLnBrk="0" hangingPunct="1">
                        <a:buNone/>
                      </a:pPr>
                      <a:r>
                        <a:rPr lang="en-US" sz="1800" b="1" kern="1200" dirty="0">
                          <a:solidFill>
                            <a:schemeClr val="lt1"/>
                          </a:solidFill>
                          <a:latin typeface="+mn-lt"/>
                          <a:ea typeface="+mn-ea"/>
                          <a:cs typeface="+mn-cs"/>
                        </a:rPr>
                        <a:t>2pt made</a:t>
                      </a:r>
                    </a:p>
                  </a:txBody>
                  <a:tcPr marL="28575" marR="28575" marT="19050" marB="19050" anchor="b"/>
                </a:tc>
                <a:tc>
                  <a:txBody>
                    <a:bodyPr/>
                    <a:lstStyle/>
                    <a:p>
                      <a:pPr marL="0" algn="ctr" defTabSz="914400" rtl="0" eaLnBrk="1" fontAlgn="b" latinLnBrk="0" hangingPunct="1">
                        <a:buNone/>
                      </a:pPr>
                      <a:r>
                        <a:rPr lang="en-US" sz="1800" b="1" kern="1200" dirty="0">
                          <a:solidFill>
                            <a:schemeClr val="lt1"/>
                          </a:solidFill>
                          <a:latin typeface="+mn-lt"/>
                          <a:ea typeface="+mn-ea"/>
                          <a:cs typeface="+mn-cs"/>
                        </a:rPr>
                        <a:t>2pt </a:t>
                      </a:r>
                      <a:r>
                        <a:rPr lang="en-US" sz="1800" b="1" kern="1200" dirty="0" err="1">
                          <a:solidFill>
                            <a:schemeClr val="lt1"/>
                          </a:solidFill>
                          <a:latin typeface="+mn-lt"/>
                          <a:ea typeface="+mn-ea"/>
                          <a:cs typeface="+mn-cs"/>
                        </a:rPr>
                        <a:t>att</a:t>
                      </a:r>
                      <a:endParaRPr lang="en-US" sz="1800" b="1" kern="1200" dirty="0">
                        <a:solidFill>
                          <a:schemeClr val="lt1"/>
                        </a:solidFill>
                        <a:latin typeface="+mn-lt"/>
                        <a:ea typeface="+mn-ea"/>
                        <a:cs typeface="+mn-cs"/>
                      </a:endParaRPr>
                    </a:p>
                  </a:txBody>
                  <a:tcPr marL="28575" marR="28575" marT="19050" marB="19050" anchor="b"/>
                </a:tc>
                <a:tc>
                  <a:txBody>
                    <a:bodyPr/>
                    <a:lstStyle/>
                    <a:p>
                      <a:pPr marL="0" algn="ctr" defTabSz="914400" rtl="0" eaLnBrk="1" fontAlgn="b" latinLnBrk="0" hangingPunct="1">
                        <a:buNone/>
                      </a:pPr>
                      <a:r>
                        <a:rPr lang="en-US" sz="1800" b="1" kern="1200" dirty="0">
                          <a:solidFill>
                            <a:schemeClr val="lt1"/>
                          </a:solidFill>
                          <a:latin typeface="+mn-lt"/>
                          <a:ea typeface="+mn-ea"/>
                          <a:cs typeface="+mn-cs"/>
                        </a:rPr>
                        <a:t>3pt made</a:t>
                      </a:r>
                    </a:p>
                  </a:txBody>
                  <a:tcPr marL="28575" marR="28575" marT="19050" marB="19050" anchor="b"/>
                </a:tc>
                <a:tc>
                  <a:txBody>
                    <a:bodyPr/>
                    <a:lstStyle/>
                    <a:p>
                      <a:pPr marL="0" algn="ctr" defTabSz="914400" rtl="0" eaLnBrk="1" fontAlgn="b" latinLnBrk="0" hangingPunct="1">
                        <a:buNone/>
                      </a:pPr>
                      <a:r>
                        <a:rPr lang="en-US" sz="1800" b="1" kern="1200" dirty="0">
                          <a:solidFill>
                            <a:schemeClr val="lt1"/>
                          </a:solidFill>
                          <a:latin typeface="+mn-lt"/>
                          <a:ea typeface="+mn-ea"/>
                          <a:cs typeface="+mn-cs"/>
                        </a:rPr>
                        <a:t>3pt </a:t>
                      </a:r>
                      <a:r>
                        <a:rPr lang="en-US" sz="1800" b="1" kern="1200" dirty="0" err="1">
                          <a:solidFill>
                            <a:schemeClr val="lt1"/>
                          </a:solidFill>
                          <a:latin typeface="+mn-lt"/>
                          <a:ea typeface="+mn-ea"/>
                          <a:cs typeface="+mn-cs"/>
                        </a:rPr>
                        <a:t>att</a:t>
                      </a:r>
                      <a:endParaRPr lang="en-US" sz="1800" b="1" kern="1200" dirty="0">
                        <a:solidFill>
                          <a:schemeClr val="lt1"/>
                        </a:solidFill>
                        <a:latin typeface="+mn-lt"/>
                        <a:ea typeface="+mn-ea"/>
                        <a:cs typeface="+mn-cs"/>
                      </a:endParaRPr>
                    </a:p>
                  </a:txBody>
                  <a:tcPr marL="28575" marR="28575" marT="19050" marB="19050" anchor="b"/>
                </a:tc>
                <a:extLst>
                  <a:ext uri="{0D108BD9-81ED-4DB2-BD59-A6C34878D82A}">
                    <a16:rowId xmlns:a16="http://schemas.microsoft.com/office/drawing/2014/main" val="1350765908"/>
                  </a:ext>
                </a:extLst>
              </a:tr>
              <a:tr h="370840">
                <a:tc>
                  <a:txBody>
                    <a:bodyPr/>
                    <a:lstStyle/>
                    <a:p>
                      <a:r>
                        <a:rPr lang="en-US" dirty="0"/>
                        <a:t>Player A</a:t>
                      </a:r>
                    </a:p>
                  </a:txBody>
                  <a:tcPr/>
                </a:tc>
                <a:tc>
                  <a:txBody>
                    <a:bodyPr/>
                    <a:lstStyle/>
                    <a:p>
                      <a:pPr marL="0" algn="ctr" defTabSz="914400" rtl="0" eaLnBrk="1" fontAlgn="b" latinLnBrk="0" hangingPunct="1">
                        <a:buNone/>
                      </a:pPr>
                      <a:r>
                        <a:rPr lang="en-US" sz="1800" kern="1200" dirty="0">
                          <a:solidFill>
                            <a:schemeClr val="dk1"/>
                          </a:solidFill>
                          <a:latin typeface="+mn-lt"/>
                          <a:ea typeface="+mn-ea"/>
                          <a:cs typeface="+mn-cs"/>
                        </a:rPr>
                        <a:t>12</a:t>
                      </a:r>
                    </a:p>
                  </a:txBody>
                  <a:tcPr marL="28575" marR="28575" marT="19050" marB="19050" anchor="b"/>
                </a:tc>
                <a:tc>
                  <a:txBody>
                    <a:bodyPr/>
                    <a:lstStyle/>
                    <a:p>
                      <a:pPr marL="0" algn="ctr" defTabSz="914400" rtl="0" eaLnBrk="1" fontAlgn="b" latinLnBrk="0" hangingPunct="1">
                        <a:buNone/>
                      </a:pPr>
                      <a:r>
                        <a:rPr lang="en-US" sz="1800" kern="1200" dirty="0">
                          <a:solidFill>
                            <a:schemeClr val="dk1"/>
                          </a:solidFill>
                          <a:latin typeface="+mn-lt"/>
                          <a:ea typeface="+mn-ea"/>
                          <a:cs typeface="+mn-cs"/>
                        </a:rPr>
                        <a:t>16</a:t>
                      </a:r>
                    </a:p>
                  </a:txBody>
                  <a:tcPr marL="28575" marR="28575" marT="19050" marB="19050" anchor="b"/>
                </a:tc>
                <a:tc>
                  <a:txBody>
                    <a:bodyPr/>
                    <a:lstStyle/>
                    <a:p>
                      <a:pPr marL="0" algn="ctr" defTabSz="914400" rtl="0" eaLnBrk="1" fontAlgn="b" latinLnBrk="0" hangingPunct="1">
                        <a:buNone/>
                      </a:pPr>
                      <a:r>
                        <a:rPr lang="en-US" sz="1800" kern="1200" dirty="0">
                          <a:solidFill>
                            <a:schemeClr val="dk1"/>
                          </a:solidFill>
                          <a:latin typeface="+mn-lt"/>
                          <a:ea typeface="+mn-ea"/>
                          <a:cs typeface="+mn-cs"/>
                        </a:rPr>
                        <a:t>1</a:t>
                      </a:r>
                    </a:p>
                  </a:txBody>
                  <a:tcPr marL="28575" marR="28575" marT="19050" marB="19050" anchor="b"/>
                </a:tc>
                <a:tc>
                  <a:txBody>
                    <a:bodyPr/>
                    <a:lstStyle/>
                    <a:p>
                      <a:pPr marL="0" algn="ctr" defTabSz="914400" rtl="0" eaLnBrk="1" fontAlgn="b" latinLnBrk="0" hangingPunct="1">
                        <a:buNone/>
                      </a:pPr>
                      <a:r>
                        <a:rPr lang="en-US" sz="1800" kern="1200">
                          <a:solidFill>
                            <a:schemeClr val="dk1"/>
                          </a:solidFill>
                          <a:latin typeface="+mn-lt"/>
                          <a:ea typeface="+mn-ea"/>
                          <a:cs typeface="+mn-cs"/>
                        </a:rPr>
                        <a:t>4</a:t>
                      </a:r>
                    </a:p>
                  </a:txBody>
                  <a:tcPr marL="28575" marR="28575" marT="19050" marB="19050" anchor="b"/>
                </a:tc>
                <a:extLst>
                  <a:ext uri="{0D108BD9-81ED-4DB2-BD59-A6C34878D82A}">
                    <a16:rowId xmlns:a16="http://schemas.microsoft.com/office/drawing/2014/main" val="1094331597"/>
                  </a:ext>
                </a:extLst>
              </a:tr>
              <a:tr h="370840">
                <a:tc>
                  <a:txBody>
                    <a:bodyPr/>
                    <a:lstStyle/>
                    <a:p>
                      <a:r>
                        <a:rPr lang="en-US" dirty="0"/>
                        <a:t>Player B</a:t>
                      </a:r>
                    </a:p>
                  </a:txBody>
                  <a:tcPr/>
                </a:tc>
                <a:tc>
                  <a:txBody>
                    <a:bodyPr/>
                    <a:lstStyle/>
                    <a:p>
                      <a:pPr marL="0" algn="ctr" defTabSz="914400" rtl="0" eaLnBrk="1" fontAlgn="b" latinLnBrk="0" hangingPunct="1">
                        <a:buNone/>
                      </a:pPr>
                      <a:r>
                        <a:rPr lang="en-US" sz="1800" kern="1200">
                          <a:solidFill>
                            <a:schemeClr val="dk1"/>
                          </a:solidFill>
                          <a:latin typeface="+mn-lt"/>
                          <a:ea typeface="+mn-ea"/>
                          <a:cs typeface="+mn-cs"/>
                        </a:rPr>
                        <a:t>4</a:t>
                      </a:r>
                    </a:p>
                  </a:txBody>
                  <a:tcPr marL="28575" marR="28575" marT="19050" marB="19050" anchor="b"/>
                </a:tc>
                <a:tc>
                  <a:txBody>
                    <a:bodyPr/>
                    <a:lstStyle/>
                    <a:p>
                      <a:pPr marL="0" algn="ctr" defTabSz="914400" rtl="0" eaLnBrk="1" fontAlgn="b" latinLnBrk="0" hangingPunct="1">
                        <a:buNone/>
                      </a:pPr>
                      <a:r>
                        <a:rPr lang="en-US" sz="1800" kern="1200" dirty="0">
                          <a:solidFill>
                            <a:schemeClr val="dk1"/>
                          </a:solidFill>
                          <a:latin typeface="+mn-lt"/>
                          <a:ea typeface="+mn-ea"/>
                          <a:cs typeface="+mn-cs"/>
                        </a:rPr>
                        <a:t>4</a:t>
                      </a:r>
                    </a:p>
                  </a:txBody>
                  <a:tcPr marL="28575" marR="28575" marT="19050" marB="19050" anchor="b"/>
                </a:tc>
                <a:tc>
                  <a:txBody>
                    <a:bodyPr/>
                    <a:lstStyle/>
                    <a:p>
                      <a:pPr marL="0" algn="ctr" defTabSz="914400" rtl="0" eaLnBrk="1" fontAlgn="b" latinLnBrk="0" hangingPunct="1">
                        <a:buNone/>
                      </a:pPr>
                      <a:r>
                        <a:rPr lang="en-US" sz="1800" kern="1200" dirty="0">
                          <a:solidFill>
                            <a:schemeClr val="dk1"/>
                          </a:solidFill>
                          <a:latin typeface="+mn-lt"/>
                          <a:ea typeface="+mn-ea"/>
                          <a:cs typeface="+mn-cs"/>
                        </a:rPr>
                        <a:t>8</a:t>
                      </a:r>
                    </a:p>
                  </a:txBody>
                  <a:tcPr marL="28575" marR="28575" marT="19050" marB="19050" anchor="b"/>
                </a:tc>
                <a:tc>
                  <a:txBody>
                    <a:bodyPr/>
                    <a:lstStyle/>
                    <a:p>
                      <a:pPr marL="0" algn="ctr" defTabSz="914400" rtl="0" eaLnBrk="1" fontAlgn="b" latinLnBrk="0" hangingPunct="1">
                        <a:buNone/>
                      </a:pPr>
                      <a:r>
                        <a:rPr lang="en-US" sz="1800" kern="1200" dirty="0">
                          <a:solidFill>
                            <a:schemeClr val="dk1"/>
                          </a:solidFill>
                          <a:latin typeface="+mn-lt"/>
                          <a:ea typeface="+mn-ea"/>
                          <a:cs typeface="+mn-cs"/>
                        </a:rPr>
                        <a:t>16</a:t>
                      </a:r>
                    </a:p>
                  </a:txBody>
                  <a:tcPr marL="28575" marR="28575" marT="19050" marB="19050" anchor="b"/>
                </a:tc>
                <a:extLst>
                  <a:ext uri="{0D108BD9-81ED-4DB2-BD59-A6C34878D82A}">
                    <a16:rowId xmlns:a16="http://schemas.microsoft.com/office/drawing/2014/main" val="512187133"/>
                  </a:ext>
                </a:extLst>
              </a:tr>
            </a:tbl>
          </a:graphicData>
        </a:graphic>
      </p:graphicFrame>
      <p:graphicFrame>
        <p:nvGraphicFramePr>
          <p:cNvPr id="9" name="Table 8">
            <a:extLst>
              <a:ext uri="{FF2B5EF4-FFF2-40B4-BE49-F238E27FC236}">
                <a16:creationId xmlns:a16="http://schemas.microsoft.com/office/drawing/2014/main" id="{72275F22-D446-7397-B63D-36CB7E5F7564}"/>
              </a:ext>
            </a:extLst>
          </p:cNvPr>
          <p:cNvGraphicFramePr>
            <a:graphicFrameLocks noGrp="1"/>
          </p:cNvGraphicFramePr>
          <p:nvPr>
            <p:extLst>
              <p:ext uri="{D42A27DB-BD31-4B8C-83A1-F6EECF244321}">
                <p14:modId xmlns:p14="http://schemas.microsoft.com/office/powerpoint/2010/main" val="3030309607"/>
              </p:ext>
            </p:extLst>
          </p:nvPr>
        </p:nvGraphicFramePr>
        <p:xfrm>
          <a:off x="3657600" y="4303542"/>
          <a:ext cx="4876800" cy="111252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3243521770"/>
                    </a:ext>
                  </a:extLst>
                </a:gridCol>
                <a:gridCol w="1625600">
                  <a:extLst>
                    <a:ext uri="{9D8B030D-6E8A-4147-A177-3AD203B41FA5}">
                      <a16:colId xmlns:a16="http://schemas.microsoft.com/office/drawing/2014/main" val="3381938047"/>
                    </a:ext>
                  </a:extLst>
                </a:gridCol>
                <a:gridCol w="1625600">
                  <a:extLst>
                    <a:ext uri="{9D8B030D-6E8A-4147-A177-3AD203B41FA5}">
                      <a16:colId xmlns:a16="http://schemas.microsoft.com/office/drawing/2014/main" val="175830463"/>
                    </a:ext>
                  </a:extLst>
                </a:gridCol>
              </a:tblGrid>
              <a:tr h="370840">
                <a:tc>
                  <a:txBody>
                    <a:bodyPr/>
                    <a:lstStyle/>
                    <a:p>
                      <a:endParaRPr lang="en-US" dirty="0"/>
                    </a:p>
                  </a:txBody>
                  <a:tcPr/>
                </a:tc>
                <a:tc>
                  <a:txBody>
                    <a:bodyPr/>
                    <a:lstStyle/>
                    <a:p>
                      <a:pPr algn="ctr" rtl="0" fontAlgn="b">
                        <a:buNone/>
                      </a:pPr>
                      <a:r>
                        <a:rPr lang="en-US" sz="1800" b="1" kern="1200" dirty="0">
                          <a:solidFill>
                            <a:schemeClr val="lt1"/>
                          </a:solidFill>
                          <a:latin typeface="+mn-lt"/>
                          <a:ea typeface="+mn-ea"/>
                          <a:cs typeface="+mn-cs"/>
                        </a:rPr>
                        <a:t>2pt%</a:t>
                      </a:r>
                    </a:p>
                  </a:txBody>
                  <a:tcPr marL="28575" marR="28575" marT="19050" marB="19050" anchor="b"/>
                </a:tc>
                <a:tc>
                  <a:txBody>
                    <a:bodyPr/>
                    <a:lstStyle/>
                    <a:p>
                      <a:pPr algn="ctr" rtl="0" fontAlgn="b">
                        <a:buNone/>
                      </a:pPr>
                      <a:r>
                        <a:rPr lang="en-US" sz="1800" b="1" kern="1200" dirty="0">
                          <a:solidFill>
                            <a:schemeClr val="lt1"/>
                          </a:solidFill>
                          <a:latin typeface="+mn-lt"/>
                          <a:ea typeface="+mn-ea"/>
                          <a:cs typeface="+mn-cs"/>
                        </a:rPr>
                        <a:t>3pt%</a:t>
                      </a:r>
                    </a:p>
                  </a:txBody>
                  <a:tcPr marL="28575" marR="28575" marT="19050" marB="19050" anchor="b"/>
                </a:tc>
                <a:extLst>
                  <a:ext uri="{0D108BD9-81ED-4DB2-BD59-A6C34878D82A}">
                    <a16:rowId xmlns:a16="http://schemas.microsoft.com/office/drawing/2014/main" val="1350765908"/>
                  </a:ext>
                </a:extLst>
              </a:tr>
              <a:tr h="370840">
                <a:tc>
                  <a:txBody>
                    <a:bodyPr/>
                    <a:lstStyle/>
                    <a:p>
                      <a:r>
                        <a:rPr lang="en-US" dirty="0"/>
                        <a:t>Player A</a:t>
                      </a:r>
                    </a:p>
                  </a:txBody>
                  <a:tcPr/>
                </a:tc>
                <a:tc>
                  <a:txBody>
                    <a:bodyPr/>
                    <a:lstStyle/>
                    <a:p>
                      <a:pPr marL="0" algn="ctr" defTabSz="914400" rtl="0" eaLnBrk="1" fontAlgn="b" latinLnBrk="0" hangingPunct="1">
                        <a:buNone/>
                      </a:pPr>
                      <a:r>
                        <a:rPr lang="en-US" sz="1800" kern="1200" dirty="0">
                          <a:solidFill>
                            <a:schemeClr val="dk1"/>
                          </a:solidFill>
                          <a:latin typeface="+mn-lt"/>
                          <a:ea typeface="+mn-ea"/>
                          <a:cs typeface="+mn-cs"/>
                        </a:rPr>
                        <a:t>75%</a:t>
                      </a:r>
                    </a:p>
                  </a:txBody>
                  <a:tcPr marL="28575" marR="28575" marT="19050" marB="19050" anchor="b"/>
                </a:tc>
                <a:tc>
                  <a:txBody>
                    <a:bodyPr/>
                    <a:lstStyle/>
                    <a:p>
                      <a:pPr marL="0" algn="ctr" defTabSz="914400" rtl="0" eaLnBrk="1" fontAlgn="b" latinLnBrk="0" hangingPunct="1">
                        <a:buNone/>
                      </a:pPr>
                      <a:r>
                        <a:rPr lang="en-US" sz="1800" kern="1200" dirty="0">
                          <a:solidFill>
                            <a:schemeClr val="dk1"/>
                          </a:solidFill>
                          <a:latin typeface="+mn-lt"/>
                          <a:ea typeface="+mn-ea"/>
                          <a:cs typeface="+mn-cs"/>
                        </a:rPr>
                        <a:t>25%</a:t>
                      </a:r>
                    </a:p>
                  </a:txBody>
                  <a:tcPr marL="28575" marR="28575" marT="19050" marB="19050" anchor="b"/>
                </a:tc>
                <a:extLst>
                  <a:ext uri="{0D108BD9-81ED-4DB2-BD59-A6C34878D82A}">
                    <a16:rowId xmlns:a16="http://schemas.microsoft.com/office/drawing/2014/main" val="1094331597"/>
                  </a:ext>
                </a:extLst>
              </a:tr>
              <a:tr h="370840">
                <a:tc>
                  <a:txBody>
                    <a:bodyPr/>
                    <a:lstStyle/>
                    <a:p>
                      <a:r>
                        <a:rPr lang="en-US" dirty="0"/>
                        <a:t>Player B</a:t>
                      </a:r>
                    </a:p>
                  </a:txBody>
                  <a:tcPr/>
                </a:tc>
                <a:tc>
                  <a:txBody>
                    <a:bodyPr/>
                    <a:lstStyle/>
                    <a:p>
                      <a:pPr marL="0" algn="ctr" defTabSz="914400" rtl="0" eaLnBrk="1" fontAlgn="b" latinLnBrk="0" hangingPunct="1">
                        <a:buNone/>
                      </a:pPr>
                      <a:r>
                        <a:rPr lang="en-US" sz="1800" kern="1200">
                          <a:solidFill>
                            <a:schemeClr val="dk1"/>
                          </a:solidFill>
                          <a:latin typeface="+mn-lt"/>
                          <a:ea typeface="+mn-ea"/>
                          <a:cs typeface="+mn-cs"/>
                        </a:rPr>
                        <a:t>100%</a:t>
                      </a:r>
                    </a:p>
                  </a:txBody>
                  <a:tcPr marL="28575" marR="28575" marT="19050" marB="19050" anchor="b"/>
                </a:tc>
                <a:tc>
                  <a:txBody>
                    <a:bodyPr/>
                    <a:lstStyle/>
                    <a:p>
                      <a:pPr marL="0" algn="ctr" defTabSz="914400" rtl="0" eaLnBrk="1" fontAlgn="b" latinLnBrk="0" hangingPunct="1">
                        <a:buNone/>
                      </a:pPr>
                      <a:r>
                        <a:rPr lang="en-US" sz="1800" kern="1200" dirty="0">
                          <a:solidFill>
                            <a:schemeClr val="dk1"/>
                          </a:solidFill>
                          <a:latin typeface="+mn-lt"/>
                          <a:ea typeface="+mn-ea"/>
                          <a:cs typeface="+mn-cs"/>
                        </a:rPr>
                        <a:t>50%</a:t>
                      </a:r>
                    </a:p>
                  </a:txBody>
                  <a:tcPr marL="28575" marR="28575" marT="19050" marB="19050" anchor="b"/>
                </a:tc>
                <a:extLst>
                  <a:ext uri="{0D108BD9-81ED-4DB2-BD59-A6C34878D82A}">
                    <a16:rowId xmlns:a16="http://schemas.microsoft.com/office/drawing/2014/main" val="512187133"/>
                  </a:ext>
                </a:extLst>
              </a:tr>
            </a:tbl>
          </a:graphicData>
        </a:graphic>
      </p:graphicFrame>
    </p:spTree>
    <p:extLst>
      <p:ext uri="{BB962C8B-B14F-4D97-AF65-F5344CB8AC3E}">
        <p14:creationId xmlns:p14="http://schemas.microsoft.com/office/powerpoint/2010/main" val="3523994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DB9D4-51FA-9B9D-181D-A62E9832B0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696BA6-50E2-FE71-CCBA-51D7C1D85C4A}"/>
              </a:ext>
            </a:extLst>
          </p:cNvPr>
          <p:cNvSpPr>
            <a:spLocks noGrp="1"/>
          </p:cNvSpPr>
          <p:nvPr>
            <p:ph type="title"/>
          </p:nvPr>
        </p:nvSpPr>
        <p:spPr/>
        <p:txBody>
          <a:bodyPr>
            <a:normAutofit/>
          </a:bodyPr>
          <a:lstStyle/>
          <a:p>
            <a:r>
              <a:rPr lang="en-US" dirty="0"/>
              <a:t>Different grouping can flip the conclusion</a:t>
            </a:r>
          </a:p>
        </p:txBody>
      </p:sp>
      <p:sp>
        <p:nvSpPr>
          <p:cNvPr id="3" name="Content Placeholder 2">
            <a:extLst>
              <a:ext uri="{FF2B5EF4-FFF2-40B4-BE49-F238E27FC236}">
                <a16:creationId xmlns:a16="http://schemas.microsoft.com/office/drawing/2014/main" id="{28B1424B-C96C-3287-4532-01FE10537E32}"/>
              </a:ext>
            </a:extLst>
          </p:cNvPr>
          <p:cNvSpPr>
            <a:spLocks noGrp="1"/>
          </p:cNvSpPr>
          <p:nvPr>
            <p:ph idx="1"/>
          </p:nvPr>
        </p:nvSpPr>
        <p:spPr/>
        <p:txBody>
          <a:bodyPr/>
          <a:lstStyle/>
          <a:p>
            <a:pPr marL="0" indent="0">
              <a:buNone/>
            </a:pPr>
            <a:r>
              <a:rPr lang="en-US" dirty="0"/>
              <a:t>Who is the better shooter?</a:t>
            </a:r>
          </a:p>
          <a:p>
            <a:r>
              <a:rPr lang="en-US" dirty="0"/>
              <a:t>FG% = (2pt made + 3pts made) ÷ (2pt attempted + 3pts attempted)</a:t>
            </a:r>
          </a:p>
          <a:p>
            <a:pPr marL="0" indent="0">
              <a:buNone/>
            </a:pPr>
            <a:endParaRPr lang="en-US" dirty="0"/>
          </a:p>
        </p:txBody>
      </p:sp>
      <p:sp>
        <p:nvSpPr>
          <p:cNvPr id="4" name="Slide Number Placeholder 3">
            <a:extLst>
              <a:ext uri="{FF2B5EF4-FFF2-40B4-BE49-F238E27FC236}">
                <a16:creationId xmlns:a16="http://schemas.microsoft.com/office/drawing/2014/main" id="{7DBC6301-8145-019D-800F-CD5767E28A41}"/>
              </a:ext>
            </a:extLst>
          </p:cNvPr>
          <p:cNvSpPr>
            <a:spLocks noGrp="1"/>
          </p:cNvSpPr>
          <p:nvPr>
            <p:ph type="sldNum" sz="quarter" idx="12"/>
          </p:nvPr>
        </p:nvSpPr>
        <p:spPr/>
        <p:txBody>
          <a:bodyPr/>
          <a:lstStyle/>
          <a:p>
            <a:fld id="{45C00377-489B-40EC-B059-26BDDD2E89B9}" type="slidenum">
              <a:rPr lang="en-US" smtClean="0"/>
              <a:pPr/>
              <a:t>26</a:t>
            </a:fld>
            <a:endParaRPr lang="en-US"/>
          </a:p>
        </p:txBody>
      </p:sp>
      <p:sp>
        <p:nvSpPr>
          <p:cNvPr id="5" name="TextBox 4">
            <a:extLst>
              <a:ext uri="{FF2B5EF4-FFF2-40B4-BE49-F238E27FC236}">
                <a16:creationId xmlns:a16="http://schemas.microsoft.com/office/drawing/2014/main" id="{2EF5BBEB-C451-A8CE-FD20-3BC6CCA2BD4A}"/>
              </a:ext>
            </a:extLst>
          </p:cNvPr>
          <p:cNvSpPr txBox="1"/>
          <p:nvPr/>
        </p:nvSpPr>
        <p:spPr>
          <a:xfrm>
            <a:off x="5148272" y="5897325"/>
            <a:ext cx="1993046" cy="369332"/>
          </a:xfrm>
          <a:prstGeom prst="rect">
            <a:avLst/>
          </a:prstGeom>
          <a:noFill/>
        </p:spPr>
        <p:txBody>
          <a:bodyPr wrap="none" rtlCol="0">
            <a:spAutoFit/>
          </a:bodyPr>
          <a:lstStyle/>
          <a:p>
            <a:r>
              <a:rPr lang="en-US" dirty="0">
                <a:solidFill>
                  <a:srgbClr val="FF0000"/>
                </a:solidFill>
              </a:rPr>
              <a:t>How can this be??</a:t>
            </a:r>
          </a:p>
        </p:txBody>
      </p:sp>
      <p:graphicFrame>
        <p:nvGraphicFramePr>
          <p:cNvPr id="8" name="Table 7">
            <a:extLst>
              <a:ext uri="{FF2B5EF4-FFF2-40B4-BE49-F238E27FC236}">
                <a16:creationId xmlns:a16="http://schemas.microsoft.com/office/drawing/2014/main" id="{6403DB78-CB8E-15FB-71DD-C73438779A57}"/>
              </a:ext>
            </a:extLst>
          </p:cNvPr>
          <p:cNvGraphicFramePr>
            <a:graphicFrameLocks noGrp="1"/>
          </p:cNvGraphicFramePr>
          <p:nvPr>
            <p:extLst>
              <p:ext uri="{D42A27DB-BD31-4B8C-83A1-F6EECF244321}">
                <p14:modId xmlns:p14="http://schemas.microsoft.com/office/powerpoint/2010/main" val="2797700315"/>
              </p:ext>
            </p:extLst>
          </p:nvPr>
        </p:nvGraphicFramePr>
        <p:xfrm>
          <a:off x="3226378" y="3929469"/>
          <a:ext cx="5739244" cy="1112520"/>
        </p:xfrm>
        <a:graphic>
          <a:graphicData uri="http://schemas.openxmlformats.org/drawingml/2006/table">
            <a:tbl>
              <a:tblPr firstRow="1" bandRow="1">
                <a:tableStyleId>{5C22544A-7EE6-4342-B048-85BDC9FD1C3A}</a:tableStyleId>
              </a:tblPr>
              <a:tblGrid>
                <a:gridCol w="1434811">
                  <a:extLst>
                    <a:ext uri="{9D8B030D-6E8A-4147-A177-3AD203B41FA5}">
                      <a16:colId xmlns:a16="http://schemas.microsoft.com/office/drawing/2014/main" val="3243521770"/>
                    </a:ext>
                  </a:extLst>
                </a:gridCol>
                <a:gridCol w="1434811">
                  <a:extLst>
                    <a:ext uri="{9D8B030D-6E8A-4147-A177-3AD203B41FA5}">
                      <a16:colId xmlns:a16="http://schemas.microsoft.com/office/drawing/2014/main" val="3381938047"/>
                    </a:ext>
                  </a:extLst>
                </a:gridCol>
                <a:gridCol w="1434811">
                  <a:extLst>
                    <a:ext uri="{9D8B030D-6E8A-4147-A177-3AD203B41FA5}">
                      <a16:colId xmlns:a16="http://schemas.microsoft.com/office/drawing/2014/main" val="175830463"/>
                    </a:ext>
                  </a:extLst>
                </a:gridCol>
                <a:gridCol w="1434811">
                  <a:extLst>
                    <a:ext uri="{9D8B030D-6E8A-4147-A177-3AD203B41FA5}">
                      <a16:colId xmlns:a16="http://schemas.microsoft.com/office/drawing/2014/main" val="658846749"/>
                    </a:ext>
                  </a:extLst>
                </a:gridCol>
              </a:tblGrid>
              <a:tr h="370840">
                <a:tc>
                  <a:txBody>
                    <a:bodyPr/>
                    <a:lstStyle/>
                    <a:p>
                      <a:endParaRPr lang="en-US" dirty="0"/>
                    </a:p>
                  </a:txBody>
                  <a:tcPr/>
                </a:tc>
                <a:tc>
                  <a:txBody>
                    <a:bodyPr/>
                    <a:lstStyle/>
                    <a:p>
                      <a:pPr algn="ctr" rtl="0" fontAlgn="b">
                        <a:buNone/>
                      </a:pPr>
                      <a:r>
                        <a:rPr lang="en-US" sz="1800" b="1" kern="1200" dirty="0">
                          <a:solidFill>
                            <a:schemeClr val="lt1"/>
                          </a:solidFill>
                          <a:latin typeface="+mn-lt"/>
                          <a:ea typeface="+mn-ea"/>
                          <a:cs typeface="+mn-cs"/>
                        </a:rPr>
                        <a:t>2pt%</a:t>
                      </a:r>
                    </a:p>
                  </a:txBody>
                  <a:tcPr marL="28575" marR="28575" marT="19050" marB="19050" anchor="b"/>
                </a:tc>
                <a:tc>
                  <a:txBody>
                    <a:bodyPr/>
                    <a:lstStyle/>
                    <a:p>
                      <a:pPr algn="ctr" rtl="0" fontAlgn="b">
                        <a:buNone/>
                      </a:pPr>
                      <a:r>
                        <a:rPr lang="en-US" sz="1800" b="1" kern="1200" dirty="0">
                          <a:solidFill>
                            <a:schemeClr val="lt1"/>
                          </a:solidFill>
                          <a:latin typeface="+mn-lt"/>
                          <a:ea typeface="+mn-ea"/>
                          <a:cs typeface="+mn-cs"/>
                        </a:rPr>
                        <a:t>3pt%</a:t>
                      </a:r>
                    </a:p>
                  </a:txBody>
                  <a:tcPr marL="28575" marR="28575" marT="19050" marB="19050" anchor="b"/>
                </a:tc>
                <a:tc>
                  <a:txBody>
                    <a:bodyPr/>
                    <a:lstStyle/>
                    <a:p>
                      <a:pPr algn="ctr" rtl="0" fontAlgn="b">
                        <a:buNone/>
                      </a:pPr>
                      <a:r>
                        <a:rPr lang="en-US" sz="1800" b="1" kern="1200" dirty="0">
                          <a:solidFill>
                            <a:schemeClr val="lt1"/>
                          </a:solidFill>
                          <a:latin typeface="+mn-lt"/>
                          <a:ea typeface="+mn-ea"/>
                          <a:cs typeface="+mn-cs"/>
                        </a:rPr>
                        <a:t>FG%</a:t>
                      </a:r>
                    </a:p>
                  </a:txBody>
                  <a:tcPr marL="28575" marR="28575" marT="19050" marB="19050" anchor="b"/>
                </a:tc>
                <a:extLst>
                  <a:ext uri="{0D108BD9-81ED-4DB2-BD59-A6C34878D82A}">
                    <a16:rowId xmlns:a16="http://schemas.microsoft.com/office/drawing/2014/main" val="1350765908"/>
                  </a:ext>
                </a:extLst>
              </a:tr>
              <a:tr h="370840">
                <a:tc>
                  <a:txBody>
                    <a:bodyPr/>
                    <a:lstStyle/>
                    <a:p>
                      <a:r>
                        <a:rPr lang="en-US" dirty="0"/>
                        <a:t>Player A</a:t>
                      </a:r>
                    </a:p>
                  </a:txBody>
                  <a:tcPr/>
                </a:tc>
                <a:tc>
                  <a:txBody>
                    <a:bodyPr/>
                    <a:lstStyle/>
                    <a:p>
                      <a:pPr marL="0" algn="ctr" defTabSz="914400" rtl="0" eaLnBrk="1" fontAlgn="b" latinLnBrk="0" hangingPunct="1">
                        <a:buNone/>
                      </a:pPr>
                      <a:r>
                        <a:rPr lang="en-US" sz="1800" kern="1200" dirty="0">
                          <a:solidFill>
                            <a:schemeClr val="dk1"/>
                          </a:solidFill>
                          <a:latin typeface="+mn-lt"/>
                          <a:ea typeface="+mn-ea"/>
                          <a:cs typeface="+mn-cs"/>
                        </a:rPr>
                        <a:t>75%</a:t>
                      </a:r>
                    </a:p>
                  </a:txBody>
                  <a:tcPr marL="28575" marR="28575" marT="19050" marB="19050" anchor="b"/>
                </a:tc>
                <a:tc>
                  <a:txBody>
                    <a:bodyPr/>
                    <a:lstStyle/>
                    <a:p>
                      <a:pPr marL="0" algn="ctr" defTabSz="914400" rtl="0" eaLnBrk="1" fontAlgn="b" latinLnBrk="0" hangingPunct="1">
                        <a:buNone/>
                      </a:pPr>
                      <a:r>
                        <a:rPr lang="en-US" sz="1800" kern="1200" dirty="0">
                          <a:solidFill>
                            <a:schemeClr val="dk1"/>
                          </a:solidFill>
                          <a:latin typeface="+mn-lt"/>
                          <a:ea typeface="+mn-ea"/>
                          <a:cs typeface="+mn-cs"/>
                        </a:rPr>
                        <a:t>25%</a:t>
                      </a:r>
                    </a:p>
                  </a:txBody>
                  <a:tcPr marL="28575" marR="28575" marT="19050" marB="19050" anchor="b"/>
                </a:tc>
                <a:tc>
                  <a:txBody>
                    <a:bodyPr/>
                    <a:lstStyle/>
                    <a:p>
                      <a:pPr marL="0" algn="ctr" defTabSz="914400" rtl="0" eaLnBrk="1" fontAlgn="b" latinLnBrk="0" hangingPunct="1">
                        <a:buNone/>
                      </a:pPr>
                      <a:r>
                        <a:rPr lang="en-US" sz="1800" kern="1200" dirty="0">
                          <a:solidFill>
                            <a:schemeClr val="dk1"/>
                          </a:solidFill>
                          <a:latin typeface="+mn-lt"/>
                          <a:ea typeface="+mn-ea"/>
                          <a:cs typeface="+mn-cs"/>
                        </a:rPr>
                        <a:t>65%</a:t>
                      </a:r>
                    </a:p>
                  </a:txBody>
                  <a:tcPr marL="28575" marR="28575" marT="19050" marB="19050" anchor="b"/>
                </a:tc>
                <a:extLst>
                  <a:ext uri="{0D108BD9-81ED-4DB2-BD59-A6C34878D82A}">
                    <a16:rowId xmlns:a16="http://schemas.microsoft.com/office/drawing/2014/main" val="1094331597"/>
                  </a:ext>
                </a:extLst>
              </a:tr>
              <a:tr h="370840">
                <a:tc>
                  <a:txBody>
                    <a:bodyPr/>
                    <a:lstStyle/>
                    <a:p>
                      <a:r>
                        <a:rPr lang="en-US" dirty="0"/>
                        <a:t>Player B</a:t>
                      </a:r>
                    </a:p>
                  </a:txBody>
                  <a:tcPr/>
                </a:tc>
                <a:tc>
                  <a:txBody>
                    <a:bodyPr/>
                    <a:lstStyle/>
                    <a:p>
                      <a:pPr marL="0" algn="ctr" defTabSz="914400" rtl="0" eaLnBrk="1" fontAlgn="b" latinLnBrk="0" hangingPunct="1">
                        <a:buNone/>
                      </a:pPr>
                      <a:r>
                        <a:rPr lang="en-US" sz="1800" kern="1200">
                          <a:solidFill>
                            <a:schemeClr val="dk1"/>
                          </a:solidFill>
                          <a:latin typeface="+mn-lt"/>
                          <a:ea typeface="+mn-ea"/>
                          <a:cs typeface="+mn-cs"/>
                        </a:rPr>
                        <a:t>100%</a:t>
                      </a:r>
                    </a:p>
                  </a:txBody>
                  <a:tcPr marL="28575" marR="28575" marT="19050" marB="19050" anchor="b"/>
                </a:tc>
                <a:tc>
                  <a:txBody>
                    <a:bodyPr/>
                    <a:lstStyle/>
                    <a:p>
                      <a:pPr marL="0" algn="ctr" defTabSz="914400" rtl="0" eaLnBrk="1" fontAlgn="b" latinLnBrk="0" hangingPunct="1">
                        <a:buNone/>
                      </a:pPr>
                      <a:r>
                        <a:rPr lang="en-US" sz="1800" kern="1200" dirty="0">
                          <a:solidFill>
                            <a:schemeClr val="dk1"/>
                          </a:solidFill>
                          <a:latin typeface="+mn-lt"/>
                          <a:ea typeface="+mn-ea"/>
                          <a:cs typeface="+mn-cs"/>
                        </a:rPr>
                        <a:t>50%</a:t>
                      </a:r>
                    </a:p>
                  </a:txBody>
                  <a:tcPr marL="28575" marR="28575" marT="19050" marB="19050" anchor="b"/>
                </a:tc>
                <a:tc>
                  <a:txBody>
                    <a:bodyPr/>
                    <a:lstStyle/>
                    <a:p>
                      <a:pPr marL="0" algn="ctr" defTabSz="914400" rtl="0" eaLnBrk="1" fontAlgn="b" latinLnBrk="0" hangingPunct="1">
                        <a:buNone/>
                      </a:pPr>
                      <a:r>
                        <a:rPr lang="en-US" sz="1800" kern="1200" dirty="0">
                          <a:solidFill>
                            <a:schemeClr val="dk1"/>
                          </a:solidFill>
                          <a:latin typeface="+mn-lt"/>
                          <a:ea typeface="+mn-ea"/>
                          <a:cs typeface="+mn-cs"/>
                        </a:rPr>
                        <a:t>60%</a:t>
                      </a:r>
                    </a:p>
                  </a:txBody>
                  <a:tcPr marL="28575" marR="28575" marT="19050" marB="19050" anchor="b"/>
                </a:tc>
                <a:extLst>
                  <a:ext uri="{0D108BD9-81ED-4DB2-BD59-A6C34878D82A}">
                    <a16:rowId xmlns:a16="http://schemas.microsoft.com/office/drawing/2014/main" val="512187133"/>
                  </a:ext>
                </a:extLst>
              </a:tr>
            </a:tbl>
          </a:graphicData>
        </a:graphic>
      </p:graphicFrame>
      <p:sp>
        <p:nvSpPr>
          <p:cNvPr id="9" name="Rectangle 8">
            <a:extLst>
              <a:ext uri="{FF2B5EF4-FFF2-40B4-BE49-F238E27FC236}">
                <a16:creationId xmlns:a16="http://schemas.microsoft.com/office/drawing/2014/main" id="{F87A9657-CC5A-DD0B-8BAF-5E09C9DC7116}"/>
              </a:ext>
            </a:extLst>
          </p:cNvPr>
          <p:cNvSpPr/>
          <p:nvPr/>
        </p:nvSpPr>
        <p:spPr>
          <a:xfrm>
            <a:off x="4644736" y="3929469"/>
            <a:ext cx="2909455" cy="111252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1064948-86C6-CB0E-3DC2-88CB0ADFFDA2}"/>
              </a:ext>
            </a:extLst>
          </p:cNvPr>
          <p:cNvSpPr/>
          <p:nvPr/>
        </p:nvSpPr>
        <p:spPr>
          <a:xfrm flipH="1">
            <a:off x="7554189" y="3929469"/>
            <a:ext cx="1411431" cy="111252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1E24B75C-216F-0262-0D5B-D7FD2B53CDC3}"/>
              </a:ext>
            </a:extLst>
          </p:cNvPr>
          <p:cNvCxnSpPr/>
          <p:nvPr/>
        </p:nvCxnSpPr>
        <p:spPr>
          <a:xfrm flipV="1">
            <a:off x="6096000" y="3532909"/>
            <a:ext cx="0" cy="3965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6C532669-54D4-7EC4-A7E0-49384A992BA7}"/>
              </a:ext>
            </a:extLst>
          </p:cNvPr>
          <p:cNvCxnSpPr>
            <a:cxnSpLocks/>
          </p:cNvCxnSpPr>
          <p:nvPr/>
        </p:nvCxnSpPr>
        <p:spPr>
          <a:xfrm>
            <a:off x="8143855" y="5054723"/>
            <a:ext cx="0" cy="38382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57E6F89D-1182-E594-3BD0-DC7F155CD172}"/>
              </a:ext>
            </a:extLst>
          </p:cNvPr>
          <p:cNvSpPr txBox="1"/>
          <p:nvPr/>
        </p:nvSpPr>
        <p:spPr>
          <a:xfrm>
            <a:off x="5604165" y="3163577"/>
            <a:ext cx="986873" cy="369332"/>
          </a:xfrm>
          <a:prstGeom prst="rect">
            <a:avLst/>
          </a:prstGeom>
          <a:noFill/>
        </p:spPr>
        <p:txBody>
          <a:bodyPr wrap="none" rtlCol="0">
            <a:spAutoFit/>
          </a:bodyPr>
          <a:lstStyle/>
          <a:p>
            <a:r>
              <a:rPr lang="en-US" dirty="0"/>
              <a:t>Player B</a:t>
            </a:r>
          </a:p>
        </p:txBody>
      </p:sp>
      <p:sp>
        <p:nvSpPr>
          <p:cNvPr id="21" name="TextBox 20">
            <a:extLst>
              <a:ext uri="{FF2B5EF4-FFF2-40B4-BE49-F238E27FC236}">
                <a16:creationId xmlns:a16="http://schemas.microsoft.com/office/drawing/2014/main" id="{5911FC51-95A2-7917-392E-1A68728CB689}"/>
              </a:ext>
            </a:extLst>
          </p:cNvPr>
          <p:cNvSpPr txBox="1"/>
          <p:nvPr/>
        </p:nvSpPr>
        <p:spPr>
          <a:xfrm>
            <a:off x="7652021" y="5468869"/>
            <a:ext cx="983667" cy="369332"/>
          </a:xfrm>
          <a:prstGeom prst="rect">
            <a:avLst/>
          </a:prstGeom>
          <a:noFill/>
        </p:spPr>
        <p:txBody>
          <a:bodyPr wrap="none" rtlCol="0">
            <a:spAutoFit/>
          </a:bodyPr>
          <a:lstStyle/>
          <a:p>
            <a:r>
              <a:rPr lang="en-US" dirty="0"/>
              <a:t>Player A</a:t>
            </a:r>
          </a:p>
        </p:txBody>
      </p:sp>
    </p:spTree>
    <p:extLst>
      <p:ext uri="{BB962C8B-B14F-4D97-AF65-F5344CB8AC3E}">
        <p14:creationId xmlns:p14="http://schemas.microsoft.com/office/powerpoint/2010/main" val="2442884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animBg="1"/>
      <p:bldP spid="11" grpId="0" animBg="1"/>
      <p:bldP spid="19" grpId="0"/>
      <p:bldP spid="2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F3CD4-648B-FCF1-0275-30026447C5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157526-0E8A-926F-2F78-BCC778B0EAF6}"/>
              </a:ext>
            </a:extLst>
          </p:cNvPr>
          <p:cNvSpPr>
            <a:spLocks noGrp="1"/>
          </p:cNvSpPr>
          <p:nvPr>
            <p:ph type="title"/>
          </p:nvPr>
        </p:nvSpPr>
        <p:spPr/>
        <p:txBody>
          <a:bodyPr>
            <a:normAutofit/>
          </a:bodyPr>
          <a:lstStyle/>
          <a:p>
            <a:r>
              <a:rPr lang="en-US" dirty="0"/>
              <a:t>Simpson’s paradox</a:t>
            </a:r>
          </a:p>
        </p:txBody>
      </p:sp>
      <p:sp>
        <p:nvSpPr>
          <p:cNvPr id="3" name="Content Placeholder 2">
            <a:extLst>
              <a:ext uri="{FF2B5EF4-FFF2-40B4-BE49-F238E27FC236}">
                <a16:creationId xmlns:a16="http://schemas.microsoft.com/office/drawing/2014/main" id="{BFA59065-997E-B0F1-C8B5-5888829F8782}"/>
              </a:ext>
            </a:extLst>
          </p:cNvPr>
          <p:cNvSpPr>
            <a:spLocks noGrp="1"/>
          </p:cNvSpPr>
          <p:nvPr>
            <p:ph idx="1"/>
          </p:nvPr>
        </p:nvSpPr>
        <p:spPr/>
        <p:txBody>
          <a:bodyPr/>
          <a:lstStyle/>
          <a:p>
            <a:pPr marL="0" indent="0">
              <a:buNone/>
            </a:pPr>
            <a:r>
              <a:rPr lang="en-GB" dirty="0"/>
              <a:t>A pattern that appears within each group may reverse when the groups are combined, because the groups contribute different amounts to the overall result.</a:t>
            </a:r>
            <a:endParaRPr lang="en-US" dirty="0"/>
          </a:p>
        </p:txBody>
      </p:sp>
      <p:sp>
        <p:nvSpPr>
          <p:cNvPr id="4" name="Slide Number Placeholder 3">
            <a:extLst>
              <a:ext uri="{FF2B5EF4-FFF2-40B4-BE49-F238E27FC236}">
                <a16:creationId xmlns:a16="http://schemas.microsoft.com/office/drawing/2014/main" id="{786EF44E-6C73-E777-C164-7001A4146079}"/>
              </a:ext>
            </a:extLst>
          </p:cNvPr>
          <p:cNvSpPr>
            <a:spLocks noGrp="1"/>
          </p:cNvSpPr>
          <p:nvPr>
            <p:ph type="sldNum" sz="quarter" idx="12"/>
          </p:nvPr>
        </p:nvSpPr>
        <p:spPr/>
        <p:txBody>
          <a:bodyPr/>
          <a:lstStyle/>
          <a:p>
            <a:fld id="{45C00377-489B-40EC-B059-26BDDD2E89B9}" type="slidenum">
              <a:rPr lang="en-US" smtClean="0"/>
              <a:pPr/>
              <a:t>27</a:t>
            </a:fld>
            <a:endParaRPr lang="en-US" dirty="0"/>
          </a:p>
        </p:txBody>
      </p:sp>
      <p:pic>
        <p:nvPicPr>
          <p:cNvPr id="8" name="Picture 7">
            <a:extLst>
              <a:ext uri="{FF2B5EF4-FFF2-40B4-BE49-F238E27FC236}">
                <a16:creationId xmlns:a16="http://schemas.microsoft.com/office/drawing/2014/main" id="{79C795B2-290D-2663-CEB6-C6B978292971}"/>
              </a:ext>
            </a:extLst>
          </p:cNvPr>
          <p:cNvPicPr>
            <a:picLocks noChangeAspect="1"/>
          </p:cNvPicPr>
          <p:nvPr/>
        </p:nvPicPr>
        <p:blipFill>
          <a:blip r:embed="rId3"/>
          <a:stretch>
            <a:fillRect/>
          </a:stretch>
        </p:blipFill>
        <p:spPr>
          <a:xfrm>
            <a:off x="6303013" y="3130504"/>
            <a:ext cx="5325218" cy="2762636"/>
          </a:xfrm>
          <a:prstGeom prst="rect">
            <a:avLst/>
          </a:prstGeom>
        </p:spPr>
      </p:pic>
      <p:graphicFrame>
        <p:nvGraphicFramePr>
          <p:cNvPr id="6" name="Table 5">
            <a:extLst>
              <a:ext uri="{FF2B5EF4-FFF2-40B4-BE49-F238E27FC236}">
                <a16:creationId xmlns:a16="http://schemas.microsoft.com/office/drawing/2014/main" id="{C84069BE-F43F-F298-3E95-1BE9DC6F9A58}"/>
              </a:ext>
            </a:extLst>
          </p:cNvPr>
          <p:cNvGraphicFramePr>
            <a:graphicFrameLocks noGrp="1"/>
          </p:cNvGraphicFramePr>
          <p:nvPr>
            <p:extLst>
              <p:ext uri="{D42A27DB-BD31-4B8C-83A1-F6EECF244321}">
                <p14:modId xmlns:p14="http://schemas.microsoft.com/office/powerpoint/2010/main" val="1084519197"/>
              </p:ext>
            </p:extLst>
          </p:nvPr>
        </p:nvGraphicFramePr>
        <p:xfrm>
          <a:off x="149744" y="3955562"/>
          <a:ext cx="5739244" cy="1112520"/>
        </p:xfrm>
        <a:graphic>
          <a:graphicData uri="http://schemas.openxmlformats.org/drawingml/2006/table">
            <a:tbl>
              <a:tblPr firstRow="1" bandRow="1">
                <a:tableStyleId>{5C22544A-7EE6-4342-B048-85BDC9FD1C3A}</a:tableStyleId>
              </a:tblPr>
              <a:tblGrid>
                <a:gridCol w="1434811">
                  <a:extLst>
                    <a:ext uri="{9D8B030D-6E8A-4147-A177-3AD203B41FA5}">
                      <a16:colId xmlns:a16="http://schemas.microsoft.com/office/drawing/2014/main" val="3243521770"/>
                    </a:ext>
                  </a:extLst>
                </a:gridCol>
                <a:gridCol w="1434811">
                  <a:extLst>
                    <a:ext uri="{9D8B030D-6E8A-4147-A177-3AD203B41FA5}">
                      <a16:colId xmlns:a16="http://schemas.microsoft.com/office/drawing/2014/main" val="3381938047"/>
                    </a:ext>
                  </a:extLst>
                </a:gridCol>
                <a:gridCol w="1434811">
                  <a:extLst>
                    <a:ext uri="{9D8B030D-6E8A-4147-A177-3AD203B41FA5}">
                      <a16:colId xmlns:a16="http://schemas.microsoft.com/office/drawing/2014/main" val="175830463"/>
                    </a:ext>
                  </a:extLst>
                </a:gridCol>
                <a:gridCol w="1434811">
                  <a:extLst>
                    <a:ext uri="{9D8B030D-6E8A-4147-A177-3AD203B41FA5}">
                      <a16:colId xmlns:a16="http://schemas.microsoft.com/office/drawing/2014/main" val="658846749"/>
                    </a:ext>
                  </a:extLst>
                </a:gridCol>
              </a:tblGrid>
              <a:tr h="370840">
                <a:tc>
                  <a:txBody>
                    <a:bodyPr/>
                    <a:lstStyle/>
                    <a:p>
                      <a:endParaRPr lang="en-US" dirty="0"/>
                    </a:p>
                  </a:txBody>
                  <a:tcPr/>
                </a:tc>
                <a:tc>
                  <a:txBody>
                    <a:bodyPr/>
                    <a:lstStyle/>
                    <a:p>
                      <a:pPr algn="ctr" rtl="0" fontAlgn="b">
                        <a:buNone/>
                      </a:pPr>
                      <a:r>
                        <a:rPr lang="en-US" sz="1800" b="1" kern="1200" dirty="0">
                          <a:solidFill>
                            <a:schemeClr val="lt1"/>
                          </a:solidFill>
                          <a:latin typeface="+mn-lt"/>
                          <a:ea typeface="+mn-ea"/>
                          <a:cs typeface="+mn-cs"/>
                        </a:rPr>
                        <a:t>2pt%</a:t>
                      </a:r>
                    </a:p>
                  </a:txBody>
                  <a:tcPr marL="28575" marR="28575" marT="19050" marB="19050" anchor="b"/>
                </a:tc>
                <a:tc>
                  <a:txBody>
                    <a:bodyPr/>
                    <a:lstStyle/>
                    <a:p>
                      <a:pPr algn="ctr" rtl="0" fontAlgn="b">
                        <a:buNone/>
                      </a:pPr>
                      <a:r>
                        <a:rPr lang="en-US" sz="1800" b="1" kern="1200" dirty="0">
                          <a:solidFill>
                            <a:schemeClr val="lt1"/>
                          </a:solidFill>
                          <a:latin typeface="+mn-lt"/>
                          <a:ea typeface="+mn-ea"/>
                          <a:cs typeface="+mn-cs"/>
                        </a:rPr>
                        <a:t>3pt%</a:t>
                      </a:r>
                    </a:p>
                  </a:txBody>
                  <a:tcPr marL="28575" marR="28575" marT="19050" marB="19050" anchor="b"/>
                </a:tc>
                <a:tc>
                  <a:txBody>
                    <a:bodyPr/>
                    <a:lstStyle/>
                    <a:p>
                      <a:pPr algn="ctr" rtl="0" fontAlgn="b">
                        <a:buNone/>
                      </a:pPr>
                      <a:r>
                        <a:rPr lang="en-US" sz="1800" b="1" kern="1200" dirty="0">
                          <a:solidFill>
                            <a:schemeClr val="lt1"/>
                          </a:solidFill>
                          <a:latin typeface="+mn-lt"/>
                          <a:ea typeface="+mn-ea"/>
                          <a:cs typeface="+mn-cs"/>
                        </a:rPr>
                        <a:t>FG%</a:t>
                      </a:r>
                    </a:p>
                  </a:txBody>
                  <a:tcPr marL="28575" marR="28575" marT="19050" marB="19050" anchor="b"/>
                </a:tc>
                <a:extLst>
                  <a:ext uri="{0D108BD9-81ED-4DB2-BD59-A6C34878D82A}">
                    <a16:rowId xmlns:a16="http://schemas.microsoft.com/office/drawing/2014/main" val="1350765908"/>
                  </a:ext>
                </a:extLst>
              </a:tr>
              <a:tr h="370840">
                <a:tc>
                  <a:txBody>
                    <a:bodyPr/>
                    <a:lstStyle/>
                    <a:p>
                      <a:r>
                        <a:rPr lang="en-US" dirty="0"/>
                        <a:t>Player A</a:t>
                      </a:r>
                    </a:p>
                  </a:txBody>
                  <a:tcPr/>
                </a:tc>
                <a:tc>
                  <a:txBody>
                    <a:bodyPr/>
                    <a:lstStyle/>
                    <a:p>
                      <a:pPr marL="0" algn="ctr" defTabSz="914400" rtl="0" eaLnBrk="1" fontAlgn="b" latinLnBrk="0" hangingPunct="1">
                        <a:buNone/>
                      </a:pPr>
                      <a:r>
                        <a:rPr lang="en-US" sz="1800" kern="1200" dirty="0">
                          <a:solidFill>
                            <a:schemeClr val="dk1"/>
                          </a:solidFill>
                          <a:latin typeface="+mn-lt"/>
                          <a:ea typeface="+mn-ea"/>
                          <a:cs typeface="+mn-cs"/>
                        </a:rPr>
                        <a:t>75%</a:t>
                      </a:r>
                    </a:p>
                  </a:txBody>
                  <a:tcPr marL="28575" marR="28575" marT="19050" marB="19050" anchor="b"/>
                </a:tc>
                <a:tc>
                  <a:txBody>
                    <a:bodyPr/>
                    <a:lstStyle/>
                    <a:p>
                      <a:pPr marL="0" algn="ctr" defTabSz="914400" rtl="0" eaLnBrk="1" fontAlgn="b" latinLnBrk="0" hangingPunct="1">
                        <a:buNone/>
                      </a:pPr>
                      <a:r>
                        <a:rPr lang="en-US" sz="1800" kern="1200" dirty="0">
                          <a:solidFill>
                            <a:schemeClr val="dk1"/>
                          </a:solidFill>
                          <a:latin typeface="+mn-lt"/>
                          <a:ea typeface="+mn-ea"/>
                          <a:cs typeface="+mn-cs"/>
                        </a:rPr>
                        <a:t>25%</a:t>
                      </a:r>
                    </a:p>
                  </a:txBody>
                  <a:tcPr marL="28575" marR="28575" marT="19050" marB="19050" anchor="b"/>
                </a:tc>
                <a:tc>
                  <a:txBody>
                    <a:bodyPr/>
                    <a:lstStyle/>
                    <a:p>
                      <a:pPr marL="0" algn="ctr" defTabSz="914400" rtl="0" eaLnBrk="1" fontAlgn="b" latinLnBrk="0" hangingPunct="1">
                        <a:buNone/>
                      </a:pPr>
                      <a:r>
                        <a:rPr lang="en-US" sz="1800" kern="1200" dirty="0">
                          <a:solidFill>
                            <a:schemeClr val="dk1"/>
                          </a:solidFill>
                          <a:latin typeface="+mn-lt"/>
                          <a:ea typeface="+mn-ea"/>
                          <a:cs typeface="+mn-cs"/>
                        </a:rPr>
                        <a:t>65%</a:t>
                      </a:r>
                    </a:p>
                  </a:txBody>
                  <a:tcPr marL="28575" marR="28575" marT="19050" marB="19050" anchor="b"/>
                </a:tc>
                <a:extLst>
                  <a:ext uri="{0D108BD9-81ED-4DB2-BD59-A6C34878D82A}">
                    <a16:rowId xmlns:a16="http://schemas.microsoft.com/office/drawing/2014/main" val="1094331597"/>
                  </a:ext>
                </a:extLst>
              </a:tr>
              <a:tr h="370840">
                <a:tc>
                  <a:txBody>
                    <a:bodyPr/>
                    <a:lstStyle/>
                    <a:p>
                      <a:r>
                        <a:rPr lang="en-US" dirty="0"/>
                        <a:t>Player B</a:t>
                      </a:r>
                    </a:p>
                  </a:txBody>
                  <a:tcPr/>
                </a:tc>
                <a:tc>
                  <a:txBody>
                    <a:bodyPr/>
                    <a:lstStyle/>
                    <a:p>
                      <a:pPr marL="0" algn="ctr" defTabSz="914400" rtl="0" eaLnBrk="1" fontAlgn="b" latinLnBrk="0" hangingPunct="1">
                        <a:buNone/>
                      </a:pPr>
                      <a:r>
                        <a:rPr lang="en-US" sz="1800" kern="1200">
                          <a:solidFill>
                            <a:schemeClr val="dk1"/>
                          </a:solidFill>
                          <a:latin typeface="+mn-lt"/>
                          <a:ea typeface="+mn-ea"/>
                          <a:cs typeface="+mn-cs"/>
                        </a:rPr>
                        <a:t>100%</a:t>
                      </a:r>
                    </a:p>
                  </a:txBody>
                  <a:tcPr marL="28575" marR="28575" marT="19050" marB="19050" anchor="b"/>
                </a:tc>
                <a:tc>
                  <a:txBody>
                    <a:bodyPr/>
                    <a:lstStyle/>
                    <a:p>
                      <a:pPr marL="0" algn="ctr" defTabSz="914400" rtl="0" eaLnBrk="1" fontAlgn="b" latinLnBrk="0" hangingPunct="1">
                        <a:buNone/>
                      </a:pPr>
                      <a:r>
                        <a:rPr lang="en-US" sz="1800" kern="1200" dirty="0">
                          <a:solidFill>
                            <a:schemeClr val="dk1"/>
                          </a:solidFill>
                          <a:latin typeface="+mn-lt"/>
                          <a:ea typeface="+mn-ea"/>
                          <a:cs typeface="+mn-cs"/>
                        </a:rPr>
                        <a:t>50%</a:t>
                      </a:r>
                    </a:p>
                  </a:txBody>
                  <a:tcPr marL="28575" marR="28575" marT="19050" marB="19050" anchor="b"/>
                </a:tc>
                <a:tc>
                  <a:txBody>
                    <a:bodyPr/>
                    <a:lstStyle/>
                    <a:p>
                      <a:pPr marL="0" algn="ctr" defTabSz="914400" rtl="0" eaLnBrk="1" fontAlgn="b" latinLnBrk="0" hangingPunct="1">
                        <a:buNone/>
                      </a:pPr>
                      <a:r>
                        <a:rPr lang="en-US" sz="1800" kern="1200" dirty="0">
                          <a:solidFill>
                            <a:schemeClr val="dk1"/>
                          </a:solidFill>
                          <a:latin typeface="+mn-lt"/>
                          <a:ea typeface="+mn-ea"/>
                          <a:cs typeface="+mn-cs"/>
                        </a:rPr>
                        <a:t>60%</a:t>
                      </a:r>
                    </a:p>
                  </a:txBody>
                  <a:tcPr marL="28575" marR="28575" marT="19050" marB="19050" anchor="b"/>
                </a:tc>
                <a:extLst>
                  <a:ext uri="{0D108BD9-81ED-4DB2-BD59-A6C34878D82A}">
                    <a16:rowId xmlns:a16="http://schemas.microsoft.com/office/drawing/2014/main" val="512187133"/>
                  </a:ext>
                </a:extLst>
              </a:tr>
            </a:tbl>
          </a:graphicData>
        </a:graphic>
      </p:graphicFrame>
    </p:spTree>
    <p:extLst>
      <p:ext uri="{BB962C8B-B14F-4D97-AF65-F5344CB8AC3E}">
        <p14:creationId xmlns:p14="http://schemas.microsoft.com/office/powerpoint/2010/main" val="41215790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21242-8600-F1C7-EAEC-D8F21092865C}"/>
              </a:ext>
            </a:extLst>
          </p:cNvPr>
          <p:cNvSpPr>
            <a:spLocks noGrp="1"/>
          </p:cNvSpPr>
          <p:nvPr>
            <p:ph type="title"/>
          </p:nvPr>
        </p:nvSpPr>
        <p:spPr/>
        <p:txBody>
          <a:bodyPr/>
          <a:lstStyle/>
          <a:p>
            <a:r>
              <a:rPr lang="en-US" dirty="0"/>
              <a:t>Visualizing Distributions and Groups</a:t>
            </a:r>
          </a:p>
        </p:txBody>
      </p:sp>
      <p:sp>
        <p:nvSpPr>
          <p:cNvPr id="3" name="Content Placeholder 2">
            <a:extLst>
              <a:ext uri="{FF2B5EF4-FFF2-40B4-BE49-F238E27FC236}">
                <a16:creationId xmlns:a16="http://schemas.microsoft.com/office/drawing/2014/main" id="{37375049-FE4C-492D-1850-592D9E47862C}"/>
              </a:ext>
            </a:extLst>
          </p:cNvPr>
          <p:cNvSpPr>
            <a:spLocks noGrp="1"/>
          </p:cNvSpPr>
          <p:nvPr>
            <p:ph idx="1"/>
          </p:nvPr>
        </p:nvSpPr>
        <p:spPr/>
        <p:txBody>
          <a:bodyPr/>
          <a:lstStyle/>
          <a:p>
            <a:r>
              <a:rPr lang="en-US" dirty="0"/>
              <a:t>Numbers tell part of the story, but visual shapes reveal the </a:t>
            </a:r>
            <a:r>
              <a:rPr lang="en-US" b="1" dirty="0"/>
              <a:t>full picture</a:t>
            </a:r>
            <a:r>
              <a:rPr lang="en-US" dirty="0"/>
              <a:t>.</a:t>
            </a:r>
          </a:p>
          <a:p>
            <a:r>
              <a:rPr lang="en-US" b="1" dirty="0"/>
              <a:t>Bar graphs</a:t>
            </a:r>
            <a:r>
              <a:rPr lang="en-US" dirty="0"/>
              <a:t>, </a:t>
            </a:r>
            <a:r>
              <a:rPr lang="en-US" b="1" dirty="0"/>
              <a:t>scatter plots </a:t>
            </a:r>
            <a:r>
              <a:rPr lang="en-US" dirty="0"/>
              <a:t>and </a:t>
            </a:r>
            <a:r>
              <a:rPr lang="en-US" b="1" dirty="0"/>
              <a:t>line graphs </a:t>
            </a:r>
            <a:r>
              <a:rPr lang="en-US" dirty="0"/>
              <a:t>can show averages and averages over time </a:t>
            </a:r>
          </a:p>
          <a:p>
            <a:r>
              <a:rPr lang="en-US" b="1" dirty="0"/>
              <a:t>Histograms</a:t>
            </a:r>
            <a:r>
              <a:rPr lang="en-US" dirty="0"/>
              <a:t>, </a:t>
            </a:r>
            <a:r>
              <a:rPr lang="en-US" b="1" dirty="0"/>
              <a:t>density plots</a:t>
            </a:r>
            <a:r>
              <a:rPr lang="en-US" dirty="0"/>
              <a:t>, and </a:t>
            </a:r>
            <a:r>
              <a:rPr lang="en-US" b="1" dirty="0"/>
              <a:t>boxplots </a:t>
            </a:r>
            <a:r>
              <a:rPr lang="en-US" dirty="0"/>
              <a:t>are useful for spotting positional differences and skewness.</a:t>
            </a:r>
          </a:p>
          <a:p>
            <a:pPr lvl="1"/>
            <a:endParaRPr lang="en-US" dirty="0"/>
          </a:p>
          <a:p>
            <a:pPr lvl="1"/>
            <a:endParaRPr lang="en-US" dirty="0"/>
          </a:p>
          <a:p>
            <a:endParaRPr lang="en-US" dirty="0"/>
          </a:p>
        </p:txBody>
      </p:sp>
    </p:spTree>
    <p:extLst>
      <p:ext uri="{BB962C8B-B14F-4D97-AF65-F5344CB8AC3E}">
        <p14:creationId xmlns:p14="http://schemas.microsoft.com/office/powerpoint/2010/main" val="3972907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EB0C5-FADC-5873-AA75-509D4DA401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AA6686-4ABE-2F16-0867-8E9DF40CA538}"/>
              </a:ext>
            </a:extLst>
          </p:cNvPr>
          <p:cNvSpPr>
            <a:spLocks noGrp="1"/>
          </p:cNvSpPr>
          <p:nvPr>
            <p:ph type="title"/>
          </p:nvPr>
        </p:nvSpPr>
        <p:spPr/>
        <p:txBody>
          <a:bodyPr/>
          <a:lstStyle/>
          <a:p>
            <a:r>
              <a:rPr lang="en-US" dirty="0"/>
              <a:t>Summary statistics cuts out nuance</a:t>
            </a:r>
          </a:p>
        </p:txBody>
      </p:sp>
      <p:pic>
        <p:nvPicPr>
          <p:cNvPr id="6" name="Content Placeholder 5">
            <a:extLst>
              <a:ext uri="{FF2B5EF4-FFF2-40B4-BE49-F238E27FC236}">
                <a16:creationId xmlns:a16="http://schemas.microsoft.com/office/drawing/2014/main" id="{B6865478-BA05-A4F3-458D-2A93A71E5A66}"/>
              </a:ext>
            </a:extLst>
          </p:cNvPr>
          <p:cNvPicPr>
            <a:picLocks noGrp="1" noChangeAspect="1"/>
          </p:cNvPicPr>
          <p:nvPr>
            <p:ph idx="1"/>
          </p:nvPr>
        </p:nvPicPr>
        <p:blipFill>
          <a:blip r:embed="rId2"/>
          <a:stretch>
            <a:fillRect/>
          </a:stretch>
        </p:blipFill>
        <p:spPr>
          <a:xfrm>
            <a:off x="2432627" y="3782522"/>
            <a:ext cx="7326746" cy="1620472"/>
          </a:xfrm>
          <a:prstGeom prst="rect">
            <a:avLst/>
          </a:prstGeom>
        </p:spPr>
      </p:pic>
      <p:sp>
        <p:nvSpPr>
          <p:cNvPr id="4" name="Slide Number Placeholder 3">
            <a:extLst>
              <a:ext uri="{FF2B5EF4-FFF2-40B4-BE49-F238E27FC236}">
                <a16:creationId xmlns:a16="http://schemas.microsoft.com/office/drawing/2014/main" id="{43964AA4-3E65-49B0-F1B0-79620634AA15}"/>
              </a:ext>
            </a:extLst>
          </p:cNvPr>
          <p:cNvSpPr>
            <a:spLocks noGrp="1"/>
          </p:cNvSpPr>
          <p:nvPr>
            <p:ph type="sldNum" sz="quarter" idx="12"/>
          </p:nvPr>
        </p:nvSpPr>
        <p:spPr/>
        <p:txBody>
          <a:bodyPr/>
          <a:lstStyle/>
          <a:p>
            <a:fld id="{45C00377-489B-40EC-B059-26BDDD2E89B9}" type="slidenum">
              <a:rPr lang="en-US" smtClean="0"/>
              <a:pPr/>
              <a:t>29</a:t>
            </a:fld>
            <a:endParaRPr lang="en-US"/>
          </a:p>
        </p:txBody>
      </p:sp>
      <p:sp>
        <p:nvSpPr>
          <p:cNvPr id="9" name="Content Placeholder 2">
            <a:extLst>
              <a:ext uri="{FF2B5EF4-FFF2-40B4-BE49-F238E27FC236}">
                <a16:creationId xmlns:a16="http://schemas.microsoft.com/office/drawing/2014/main" id="{97A143C2-B032-7006-9BEE-E56BF343113D}"/>
              </a:ext>
            </a:extLst>
          </p:cNvPr>
          <p:cNvSpPr txBox="1">
            <a:spLocks/>
          </p:cNvSpPr>
          <p:nvPr/>
        </p:nvSpPr>
        <p:spPr>
          <a:xfrm>
            <a:off x="838200" y="1922798"/>
            <a:ext cx="10515600" cy="425416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400" kern="1200">
                <a:solidFill>
                  <a:schemeClr val="tx1"/>
                </a:solidFill>
                <a:latin typeface="+mj-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j-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j-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j-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Steph Curry’s 2021-2022 NBA Playoff shot locations</a:t>
            </a:r>
          </a:p>
          <a:p>
            <a:r>
              <a:rPr lang="en-US" dirty="0"/>
              <a:t>Mean, standard deviation and correlation of shot locations.</a:t>
            </a:r>
          </a:p>
        </p:txBody>
      </p:sp>
    </p:spTree>
    <p:extLst>
      <p:ext uri="{BB962C8B-B14F-4D97-AF65-F5344CB8AC3E}">
        <p14:creationId xmlns:p14="http://schemas.microsoft.com/office/powerpoint/2010/main" val="8256012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1619F-8B76-AB0E-383F-39720F7140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AF74B7-B54A-B48B-6E08-4E546941CE35}"/>
              </a:ext>
            </a:extLst>
          </p:cNvPr>
          <p:cNvSpPr>
            <a:spLocks noGrp="1"/>
          </p:cNvSpPr>
          <p:nvPr>
            <p:ph type="title"/>
          </p:nvPr>
        </p:nvSpPr>
        <p:spPr/>
        <p:txBody>
          <a:bodyPr/>
          <a:lstStyle/>
          <a:p>
            <a:r>
              <a:rPr lang="en-US" dirty="0"/>
              <a:t>Visuals show the details </a:t>
            </a:r>
          </a:p>
        </p:txBody>
      </p:sp>
      <p:sp>
        <p:nvSpPr>
          <p:cNvPr id="4" name="Slide Number Placeholder 3">
            <a:extLst>
              <a:ext uri="{FF2B5EF4-FFF2-40B4-BE49-F238E27FC236}">
                <a16:creationId xmlns:a16="http://schemas.microsoft.com/office/drawing/2014/main" id="{56981155-8BAF-8799-EBC0-B8725750167B}"/>
              </a:ext>
            </a:extLst>
          </p:cNvPr>
          <p:cNvSpPr>
            <a:spLocks noGrp="1"/>
          </p:cNvSpPr>
          <p:nvPr>
            <p:ph type="sldNum" sz="quarter" idx="12"/>
          </p:nvPr>
        </p:nvSpPr>
        <p:spPr/>
        <p:txBody>
          <a:bodyPr/>
          <a:lstStyle/>
          <a:p>
            <a:fld id="{45C00377-489B-40EC-B059-26BDDD2E89B9}" type="slidenum">
              <a:rPr lang="en-US" smtClean="0"/>
              <a:pPr/>
              <a:t>30</a:t>
            </a:fld>
            <a:endParaRPr lang="en-US"/>
          </a:p>
        </p:txBody>
      </p:sp>
      <p:sp>
        <p:nvSpPr>
          <p:cNvPr id="9" name="Content Placeholder 2">
            <a:extLst>
              <a:ext uri="{FF2B5EF4-FFF2-40B4-BE49-F238E27FC236}">
                <a16:creationId xmlns:a16="http://schemas.microsoft.com/office/drawing/2014/main" id="{E4039727-E7F7-7FCE-1CD4-0A7E488A2E77}"/>
              </a:ext>
            </a:extLst>
          </p:cNvPr>
          <p:cNvSpPr txBox="1">
            <a:spLocks/>
          </p:cNvSpPr>
          <p:nvPr/>
        </p:nvSpPr>
        <p:spPr>
          <a:xfrm>
            <a:off x="838200" y="1922798"/>
            <a:ext cx="10515600" cy="425416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400" kern="1200">
                <a:solidFill>
                  <a:schemeClr val="tx1"/>
                </a:solidFill>
                <a:latin typeface="+mj-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j-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j-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j-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Steph Curry’s 2021-2022 NBA Playoff shot locations</a:t>
            </a:r>
          </a:p>
          <a:p>
            <a:r>
              <a:rPr lang="en-US" dirty="0"/>
              <a:t>Simple summary statistics can obscure actual </a:t>
            </a:r>
            <a:r>
              <a:rPr lang="en-US"/>
              <a:t>data distribution (</a:t>
            </a:r>
            <a:r>
              <a:rPr lang="en-US" dirty="0"/>
              <a:t>shot </a:t>
            </a:r>
            <a:r>
              <a:rPr lang="en-US"/>
              <a:t>location).</a:t>
            </a:r>
            <a:endParaRPr lang="en-US" dirty="0"/>
          </a:p>
        </p:txBody>
      </p:sp>
      <p:pic>
        <p:nvPicPr>
          <p:cNvPr id="13" name="Picture 12">
            <a:extLst>
              <a:ext uri="{FF2B5EF4-FFF2-40B4-BE49-F238E27FC236}">
                <a16:creationId xmlns:a16="http://schemas.microsoft.com/office/drawing/2014/main" id="{4197A8CC-EF71-42F9-DF12-1B9947CB0F71}"/>
              </a:ext>
            </a:extLst>
          </p:cNvPr>
          <p:cNvPicPr>
            <a:picLocks noChangeAspect="1"/>
          </p:cNvPicPr>
          <p:nvPr/>
        </p:nvPicPr>
        <p:blipFill>
          <a:blip r:embed="rId2"/>
          <a:stretch>
            <a:fillRect/>
          </a:stretch>
        </p:blipFill>
        <p:spPr>
          <a:xfrm>
            <a:off x="4971080" y="4049880"/>
            <a:ext cx="6124415" cy="2385993"/>
          </a:xfrm>
          <a:prstGeom prst="rect">
            <a:avLst/>
          </a:prstGeom>
        </p:spPr>
      </p:pic>
      <p:pic>
        <p:nvPicPr>
          <p:cNvPr id="3" name="Content Placeholder 5">
            <a:extLst>
              <a:ext uri="{FF2B5EF4-FFF2-40B4-BE49-F238E27FC236}">
                <a16:creationId xmlns:a16="http://schemas.microsoft.com/office/drawing/2014/main" id="{17A6B2D6-72CF-F5F3-FC31-CB8FE323ABF6}"/>
              </a:ext>
            </a:extLst>
          </p:cNvPr>
          <p:cNvPicPr>
            <a:picLocks noGrp="1" noChangeAspect="1"/>
          </p:cNvPicPr>
          <p:nvPr>
            <p:ph idx="1"/>
          </p:nvPr>
        </p:nvPicPr>
        <p:blipFill>
          <a:blip r:embed="rId3"/>
          <a:srcRect l="26027" r="25744" b="12068"/>
          <a:stretch>
            <a:fillRect/>
          </a:stretch>
        </p:blipFill>
        <p:spPr>
          <a:xfrm>
            <a:off x="838199" y="3236879"/>
            <a:ext cx="3533614" cy="1424909"/>
          </a:xfrm>
          <a:prstGeom prst="rect">
            <a:avLst/>
          </a:prstGeom>
        </p:spPr>
      </p:pic>
      <p:sp>
        <p:nvSpPr>
          <p:cNvPr id="5" name="Bent Arrow 4">
            <a:extLst>
              <a:ext uri="{FF2B5EF4-FFF2-40B4-BE49-F238E27FC236}">
                <a16:creationId xmlns:a16="http://schemas.microsoft.com/office/drawing/2014/main" id="{8A688CBA-3386-F193-21DF-10D0F142508A}"/>
              </a:ext>
            </a:extLst>
          </p:cNvPr>
          <p:cNvSpPr/>
          <p:nvPr/>
        </p:nvSpPr>
        <p:spPr>
          <a:xfrm flipV="1">
            <a:off x="3450723" y="4788976"/>
            <a:ext cx="1262052" cy="1053885"/>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4522891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1B30A-40E3-6313-7E75-382C761C8F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CC100D-8B3A-AA0C-F8B6-AB9D010C7E0B}"/>
              </a:ext>
            </a:extLst>
          </p:cNvPr>
          <p:cNvSpPr>
            <a:spLocks noGrp="1"/>
          </p:cNvSpPr>
          <p:nvPr>
            <p:ph type="title"/>
          </p:nvPr>
        </p:nvSpPr>
        <p:spPr/>
        <p:txBody>
          <a:bodyPr/>
          <a:lstStyle/>
          <a:p>
            <a:r>
              <a:rPr lang="en-US" dirty="0"/>
              <a:t>Anscombe’s quartet</a:t>
            </a:r>
          </a:p>
        </p:txBody>
      </p:sp>
      <p:sp>
        <p:nvSpPr>
          <p:cNvPr id="4" name="Slide Number Placeholder 3">
            <a:extLst>
              <a:ext uri="{FF2B5EF4-FFF2-40B4-BE49-F238E27FC236}">
                <a16:creationId xmlns:a16="http://schemas.microsoft.com/office/drawing/2014/main" id="{48594290-2B9D-9CFF-E621-A0CF0D016A20}"/>
              </a:ext>
            </a:extLst>
          </p:cNvPr>
          <p:cNvSpPr>
            <a:spLocks noGrp="1"/>
          </p:cNvSpPr>
          <p:nvPr>
            <p:ph type="sldNum" sz="quarter" idx="12"/>
          </p:nvPr>
        </p:nvSpPr>
        <p:spPr/>
        <p:txBody>
          <a:bodyPr/>
          <a:lstStyle/>
          <a:p>
            <a:fld id="{45C00377-489B-40EC-B059-26BDDD2E89B9}" type="slidenum">
              <a:rPr lang="en-US" smtClean="0"/>
              <a:pPr/>
              <a:t>31</a:t>
            </a:fld>
            <a:endParaRPr lang="en-US"/>
          </a:p>
        </p:txBody>
      </p:sp>
      <p:pic>
        <p:nvPicPr>
          <p:cNvPr id="16" name="Picture 15">
            <a:extLst>
              <a:ext uri="{FF2B5EF4-FFF2-40B4-BE49-F238E27FC236}">
                <a16:creationId xmlns:a16="http://schemas.microsoft.com/office/drawing/2014/main" id="{937C0717-7E40-6689-FE1F-9FB25A51770C}"/>
              </a:ext>
            </a:extLst>
          </p:cNvPr>
          <p:cNvPicPr>
            <a:picLocks noChangeAspect="1"/>
          </p:cNvPicPr>
          <p:nvPr/>
        </p:nvPicPr>
        <p:blipFill>
          <a:blip r:embed="rId3"/>
          <a:stretch>
            <a:fillRect/>
          </a:stretch>
        </p:blipFill>
        <p:spPr>
          <a:xfrm>
            <a:off x="2974821" y="1743411"/>
            <a:ext cx="5458587" cy="4201111"/>
          </a:xfrm>
          <a:prstGeom prst="rect">
            <a:avLst/>
          </a:prstGeom>
        </p:spPr>
      </p:pic>
    </p:spTree>
    <p:extLst>
      <p:ext uri="{BB962C8B-B14F-4D97-AF65-F5344CB8AC3E}">
        <p14:creationId xmlns:p14="http://schemas.microsoft.com/office/powerpoint/2010/main" val="18392544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CF552-E83D-FC3B-0C4F-44CA2211560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C92E511-BBE6-8D72-80ED-F9F5EC09E256}"/>
              </a:ext>
            </a:extLst>
          </p:cNvPr>
          <p:cNvSpPr>
            <a:spLocks noGrp="1"/>
          </p:cNvSpPr>
          <p:nvPr>
            <p:ph type="sldNum" sz="quarter" idx="11"/>
          </p:nvPr>
        </p:nvSpPr>
        <p:spPr/>
        <p:txBody>
          <a:bodyPr/>
          <a:lstStyle/>
          <a:p>
            <a:fld id="{45C00377-489B-40EC-B059-26BDDD2E89B9}" type="slidenum">
              <a:rPr lang="en-US" smtClean="0"/>
              <a:pPr/>
              <a:t>32</a:t>
            </a:fld>
            <a:endParaRPr lang="en-US"/>
          </a:p>
        </p:txBody>
      </p:sp>
      <p:sp>
        <p:nvSpPr>
          <p:cNvPr id="2" name="Title 1">
            <a:extLst>
              <a:ext uri="{FF2B5EF4-FFF2-40B4-BE49-F238E27FC236}">
                <a16:creationId xmlns:a16="http://schemas.microsoft.com/office/drawing/2014/main" id="{742706D8-BF08-4F76-E831-EC36B9108FA7}"/>
              </a:ext>
            </a:extLst>
          </p:cNvPr>
          <p:cNvSpPr>
            <a:spLocks noGrp="1"/>
          </p:cNvSpPr>
          <p:nvPr>
            <p:ph type="title"/>
          </p:nvPr>
        </p:nvSpPr>
        <p:spPr/>
        <p:txBody>
          <a:bodyPr>
            <a:normAutofit fontScale="90000"/>
          </a:bodyPr>
          <a:lstStyle/>
          <a:p>
            <a:r>
              <a:rPr lang="en-US" dirty="0"/>
              <a:t>In-Class Case Study: Describing Your Project Data</a:t>
            </a:r>
          </a:p>
        </p:txBody>
      </p:sp>
    </p:spTree>
    <p:extLst>
      <p:ext uri="{BB962C8B-B14F-4D97-AF65-F5344CB8AC3E}">
        <p14:creationId xmlns:p14="http://schemas.microsoft.com/office/powerpoint/2010/main" val="34325853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F22AF-1CEB-4358-AE02-ACE12300E025}"/>
              </a:ext>
            </a:extLst>
          </p:cNvPr>
          <p:cNvSpPr>
            <a:spLocks noGrp="1"/>
          </p:cNvSpPr>
          <p:nvPr>
            <p:ph type="title"/>
          </p:nvPr>
        </p:nvSpPr>
        <p:spPr/>
        <p:txBody>
          <a:bodyPr>
            <a:normAutofit/>
          </a:bodyPr>
          <a:lstStyle/>
          <a:p>
            <a:r>
              <a:rPr lang="en-US" dirty="0"/>
              <a:t>In-Class Case Study</a:t>
            </a:r>
          </a:p>
        </p:txBody>
      </p:sp>
      <p:sp>
        <p:nvSpPr>
          <p:cNvPr id="4" name="Slide Number Placeholder 3">
            <a:extLst>
              <a:ext uri="{FF2B5EF4-FFF2-40B4-BE49-F238E27FC236}">
                <a16:creationId xmlns:a16="http://schemas.microsoft.com/office/drawing/2014/main" id="{A2A0E682-D3F6-11F1-EDAC-1B4AB62D5A53}"/>
              </a:ext>
            </a:extLst>
          </p:cNvPr>
          <p:cNvSpPr>
            <a:spLocks noGrp="1"/>
          </p:cNvSpPr>
          <p:nvPr>
            <p:ph type="sldNum" sz="quarter" idx="12"/>
          </p:nvPr>
        </p:nvSpPr>
        <p:spPr/>
        <p:txBody>
          <a:bodyPr/>
          <a:lstStyle/>
          <a:p>
            <a:fld id="{45C00377-489B-40EC-B059-26BDDD2E89B9}" type="slidenum">
              <a:rPr lang="en-US" smtClean="0"/>
              <a:pPr/>
              <a:t>33</a:t>
            </a:fld>
            <a:endParaRPr lang="en-US"/>
          </a:p>
        </p:txBody>
      </p:sp>
      <p:sp>
        <p:nvSpPr>
          <p:cNvPr id="6" name="Content Placeholder 5">
            <a:extLst>
              <a:ext uri="{FF2B5EF4-FFF2-40B4-BE49-F238E27FC236}">
                <a16:creationId xmlns:a16="http://schemas.microsoft.com/office/drawing/2014/main" id="{AD6FB6CF-0C73-AA1A-2E6E-93AAE6CA5D9F}"/>
              </a:ext>
            </a:extLst>
          </p:cNvPr>
          <p:cNvSpPr>
            <a:spLocks noGrp="1"/>
          </p:cNvSpPr>
          <p:nvPr>
            <p:ph idx="1"/>
          </p:nvPr>
        </p:nvSpPr>
        <p:spPr/>
        <p:txBody>
          <a:bodyPr/>
          <a:lstStyle/>
          <a:p>
            <a:r>
              <a:rPr lang="en-US" dirty="0"/>
              <a:t>Before conducting analysis, it is good to find out what your data actually looks like. In this activity, you will describe one important numeric variable using measures of center, spread, and distribution.</a:t>
            </a:r>
          </a:p>
          <a:p>
            <a:endParaRPr lang="en-US" dirty="0"/>
          </a:p>
        </p:txBody>
      </p:sp>
    </p:spTree>
    <p:extLst>
      <p:ext uri="{BB962C8B-B14F-4D97-AF65-F5344CB8AC3E}">
        <p14:creationId xmlns:p14="http://schemas.microsoft.com/office/powerpoint/2010/main" val="39498451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42084-E35B-C8A9-81F3-CFD97127A2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37C26A-2352-AEE0-6F8B-BDF0EF18EB9E}"/>
              </a:ext>
            </a:extLst>
          </p:cNvPr>
          <p:cNvSpPr>
            <a:spLocks noGrp="1"/>
          </p:cNvSpPr>
          <p:nvPr>
            <p:ph type="title"/>
          </p:nvPr>
        </p:nvSpPr>
        <p:spPr/>
        <p:txBody>
          <a:bodyPr>
            <a:normAutofit/>
          </a:bodyPr>
          <a:lstStyle/>
          <a:p>
            <a:r>
              <a:rPr lang="en-US" dirty="0"/>
              <a:t>In-Class Case Study</a:t>
            </a:r>
          </a:p>
        </p:txBody>
      </p:sp>
      <p:sp>
        <p:nvSpPr>
          <p:cNvPr id="4" name="Slide Number Placeholder 3">
            <a:extLst>
              <a:ext uri="{FF2B5EF4-FFF2-40B4-BE49-F238E27FC236}">
                <a16:creationId xmlns:a16="http://schemas.microsoft.com/office/drawing/2014/main" id="{4A5BBC1B-A8A9-8371-D6EB-8865A458B962}"/>
              </a:ext>
            </a:extLst>
          </p:cNvPr>
          <p:cNvSpPr>
            <a:spLocks noGrp="1"/>
          </p:cNvSpPr>
          <p:nvPr>
            <p:ph type="sldNum" sz="quarter" idx="12"/>
          </p:nvPr>
        </p:nvSpPr>
        <p:spPr/>
        <p:txBody>
          <a:bodyPr/>
          <a:lstStyle/>
          <a:p>
            <a:fld id="{45C00377-489B-40EC-B059-26BDDD2E89B9}" type="slidenum">
              <a:rPr lang="en-US" smtClean="0"/>
              <a:pPr/>
              <a:t>34</a:t>
            </a:fld>
            <a:endParaRPr lang="en-US"/>
          </a:p>
        </p:txBody>
      </p:sp>
      <p:sp>
        <p:nvSpPr>
          <p:cNvPr id="6" name="Content Placeholder 5">
            <a:extLst>
              <a:ext uri="{FF2B5EF4-FFF2-40B4-BE49-F238E27FC236}">
                <a16:creationId xmlns:a16="http://schemas.microsoft.com/office/drawing/2014/main" id="{EA425A5A-9D9C-9569-BBA9-675BC106A949}"/>
              </a:ext>
            </a:extLst>
          </p:cNvPr>
          <p:cNvSpPr>
            <a:spLocks noGrp="1"/>
          </p:cNvSpPr>
          <p:nvPr>
            <p:ph idx="1"/>
          </p:nvPr>
        </p:nvSpPr>
        <p:spPr/>
        <p:txBody>
          <a:bodyPr/>
          <a:lstStyle/>
          <a:p>
            <a:pPr marL="0" indent="0">
              <a:buNone/>
            </a:pPr>
            <a:r>
              <a:rPr lang="en-US" b="1" dirty="0"/>
              <a:t>Part 1: Choose what to describe</a:t>
            </a:r>
          </a:p>
          <a:p>
            <a:pPr lvl="0"/>
            <a:r>
              <a:rPr lang="en-US" dirty="0"/>
              <a:t>Identify what </a:t>
            </a:r>
            <a:r>
              <a:rPr lang="en-US" b="1" dirty="0"/>
              <a:t>one row</a:t>
            </a:r>
            <a:r>
              <a:rPr lang="en-US" dirty="0"/>
              <a:t> of your dataset represents: a player, a player-game, a team-game, a training session, or something else.</a:t>
            </a:r>
          </a:p>
          <a:p>
            <a:r>
              <a:rPr lang="en-US" dirty="0"/>
              <a:t>Choose one numeric variable that matters. </a:t>
            </a:r>
          </a:p>
          <a:p>
            <a:pPr lvl="0"/>
            <a:r>
              <a:rPr lang="en-US" dirty="0"/>
              <a:t>Record the variable’s units and the number of observations with a usable value.</a:t>
            </a:r>
          </a:p>
          <a:p>
            <a:endParaRPr lang="en-US" dirty="0"/>
          </a:p>
          <a:p>
            <a:pPr marL="0" indent="0">
              <a:buNone/>
            </a:pPr>
            <a:r>
              <a:rPr lang="en-US" dirty="0"/>
              <a:t>If you do not have data, use a provided class dataset and complete the same steps. Note which dataset you used.</a:t>
            </a:r>
          </a:p>
        </p:txBody>
      </p:sp>
    </p:spTree>
    <p:extLst>
      <p:ext uri="{BB962C8B-B14F-4D97-AF65-F5344CB8AC3E}">
        <p14:creationId xmlns:p14="http://schemas.microsoft.com/office/powerpoint/2010/main" val="13777034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2575F-F300-2894-BC27-EF842D6543F9}"/>
              </a:ext>
            </a:extLst>
          </p:cNvPr>
          <p:cNvSpPr>
            <a:spLocks noGrp="1"/>
          </p:cNvSpPr>
          <p:nvPr>
            <p:ph type="title"/>
          </p:nvPr>
        </p:nvSpPr>
        <p:spPr/>
        <p:txBody>
          <a:bodyPr/>
          <a:lstStyle/>
          <a:p>
            <a:r>
              <a:rPr lang="en-US" dirty="0"/>
              <a:t>In-Class Case Study</a:t>
            </a:r>
          </a:p>
        </p:txBody>
      </p:sp>
      <p:sp>
        <p:nvSpPr>
          <p:cNvPr id="3" name="Content Placeholder 2">
            <a:extLst>
              <a:ext uri="{FF2B5EF4-FFF2-40B4-BE49-F238E27FC236}">
                <a16:creationId xmlns:a16="http://schemas.microsoft.com/office/drawing/2014/main" id="{BA964E52-D026-605E-16D0-91C4C4039FBA}"/>
              </a:ext>
            </a:extLst>
          </p:cNvPr>
          <p:cNvSpPr>
            <a:spLocks noGrp="1"/>
          </p:cNvSpPr>
          <p:nvPr>
            <p:ph idx="1"/>
          </p:nvPr>
        </p:nvSpPr>
        <p:spPr/>
        <p:txBody>
          <a:bodyPr/>
          <a:lstStyle/>
          <a:p>
            <a:pPr marL="0" indent="0">
              <a:buNone/>
            </a:pPr>
            <a:r>
              <a:rPr lang="en-US" b="1" dirty="0"/>
              <a:t>Part 2: Summarize the variable</a:t>
            </a:r>
          </a:p>
          <a:p>
            <a:r>
              <a:rPr lang="en-US" dirty="0"/>
              <a:t>Calculate:</a:t>
            </a:r>
          </a:p>
          <a:p>
            <a:pPr lvl="1"/>
            <a:r>
              <a:rPr lang="en-US" dirty="0"/>
              <a:t>Mean and median</a:t>
            </a:r>
          </a:p>
          <a:p>
            <a:pPr lvl="1"/>
            <a:r>
              <a:rPr lang="en-US" dirty="0"/>
              <a:t>Minimum and maximum</a:t>
            </a:r>
          </a:p>
          <a:p>
            <a:pPr lvl="1"/>
            <a:r>
              <a:rPr lang="en-US" dirty="0"/>
              <a:t>Range</a:t>
            </a:r>
          </a:p>
          <a:p>
            <a:pPr lvl="1"/>
            <a:r>
              <a:rPr lang="en-US" dirty="0"/>
              <a:t>Standard deviation</a:t>
            </a:r>
          </a:p>
          <a:p>
            <a:r>
              <a:rPr lang="en-US" dirty="0"/>
              <a:t>Make one plot that shows the distribution</a:t>
            </a:r>
          </a:p>
          <a:p>
            <a:endParaRPr lang="en-US" dirty="0"/>
          </a:p>
        </p:txBody>
      </p:sp>
    </p:spTree>
    <p:extLst>
      <p:ext uri="{BB962C8B-B14F-4D97-AF65-F5344CB8AC3E}">
        <p14:creationId xmlns:p14="http://schemas.microsoft.com/office/powerpoint/2010/main" val="31174361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A0B99-3B7A-72BE-6B5D-393010474C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CC6A9A-8CE6-412B-FCF6-401FB632A7D1}"/>
              </a:ext>
            </a:extLst>
          </p:cNvPr>
          <p:cNvSpPr>
            <a:spLocks noGrp="1"/>
          </p:cNvSpPr>
          <p:nvPr>
            <p:ph type="title"/>
          </p:nvPr>
        </p:nvSpPr>
        <p:spPr/>
        <p:txBody>
          <a:bodyPr/>
          <a:lstStyle/>
          <a:p>
            <a:r>
              <a:rPr lang="en-US" dirty="0"/>
              <a:t>In-Class Case Study</a:t>
            </a:r>
          </a:p>
        </p:txBody>
      </p:sp>
      <p:sp>
        <p:nvSpPr>
          <p:cNvPr id="3" name="Content Placeholder 2">
            <a:extLst>
              <a:ext uri="{FF2B5EF4-FFF2-40B4-BE49-F238E27FC236}">
                <a16:creationId xmlns:a16="http://schemas.microsoft.com/office/drawing/2014/main" id="{1C9885A3-C2D9-B06A-B456-69F44AB59140}"/>
              </a:ext>
            </a:extLst>
          </p:cNvPr>
          <p:cNvSpPr>
            <a:spLocks noGrp="1"/>
          </p:cNvSpPr>
          <p:nvPr>
            <p:ph idx="1"/>
          </p:nvPr>
        </p:nvSpPr>
        <p:spPr/>
        <p:txBody>
          <a:bodyPr/>
          <a:lstStyle/>
          <a:p>
            <a:pPr marL="0" indent="0">
              <a:buNone/>
            </a:pPr>
            <a:r>
              <a:rPr lang="en-US" b="1" dirty="0"/>
              <a:t>Part 3: Interpret what you found</a:t>
            </a:r>
          </a:p>
          <a:p>
            <a:r>
              <a:rPr lang="en-US" dirty="0"/>
              <a:t>Write three or four sentences that address these questions:</a:t>
            </a:r>
          </a:p>
          <a:p>
            <a:pPr marL="914400" lvl="1" indent="-457200">
              <a:buFont typeface="+mj-lt"/>
              <a:buAutoNum type="arabicPeriod"/>
            </a:pPr>
            <a:r>
              <a:rPr lang="en-US" dirty="0"/>
              <a:t>What would you tell someone is a </a:t>
            </a:r>
            <a:r>
              <a:rPr lang="en-US" b="1" dirty="0"/>
              <a:t>typical</a:t>
            </a:r>
            <a:r>
              <a:rPr lang="en-US" dirty="0"/>
              <a:t> value? Would you use the mean or median, and why?</a:t>
            </a:r>
          </a:p>
          <a:p>
            <a:pPr marL="914400" lvl="1" indent="-457200">
              <a:buFont typeface="+mj-lt"/>
              <a:buAutoNum type="arabicPeriod"/>
            </a:pPr>
            <a:r>
              <a:rPr lang="en-US" dirty="0"/>
              <a:t>How much do observations vary? Use at least one measure of spread in your answer.</a:t>
            </a:r>
          </a:p>
          <a:p>
            <a:pPr marL="914400" lvl="1" indent="-457200">
              <a:buFont typeface="+mj-lt"/>
              <a:buAutoNum type="arabicPeriod"/>
            </a:pPr>
            <a:r>
              <a:rPr lang="en-US" dirty="0"/>
              <a:t>What does the distribution show that the summary statistics alone might hide? Consider unusual values, skew, gaps, or clusters.</a:t>
            </a:r>
          </a:p>
          <a:p>
            <a:endParaRPr lang="en-US" dirty="0"/>
          </a:p>
        </p:txBody>
      </p:sp>
    </p:spTree>
    <p:extLst>
      <p:ext uri="{BB962C8B-B14F-4D97-AF65-F5344CB8AC3E}">
        <p14:creationId xmlns:p14="http://schemas.microsoft.com/office/powerpoint/2010/main" val="17220479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67ED0-8F7D-DC85-341D-794B2131EC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16A73A-E7BC-BD89-AAF8-BB103AF7AE6E}"/>
              </a:ext>
            </a:extLst>
          </p:cNvPr>
          <p:cNvSpPr>
            <a:spLocks noGrp="1"/>
          </p:cNvSpPr>
          <p:nvPr>
            <p:ph type="title"/>
          </p:nvPr>
        </p:nvSpPr>
        <p:spPr/>
        <p:txBody>
          <a:bodyPr/>
          <a:lstStyle/>
          <a:p>
            <a:r>
              <a:rPr lang="en-US" dirty="0"/>
              <a:t>In-Class Case Study</a:t>
            </a:r>
          </a:p>
        </p:txBody>
      </p:sp>
      <p:sp>
        <p:nvSpPr>
          <p:cNvPr id="3" name="Content Placeholder 2">
            <a:extLst>
              <a:ext uri="{FF2B5EF4-FFF2-40B4-BE49-F238E27FC236}">
                <a16:creationId xmlns:a16="http://schemas.microsoft.com/office/drawing/2014/main" id="{38F1FA5E-F4EF-A67A-BCED-FAAFB0395218}"/>
              </a:ext>
            </a:extLst>
          </p:cNvPr>
          <p:cNvSpPr>
            <a:spLocks noGrp="1"/>
          </p:cNvSpPr>
          <p:nvPr>
            <p:ph idx="1"/>
          </p:nvPr>
        </p:nvSpPr>
        <p:spPr/>
        <p:txBody>
          <a:bodyPr/>
          <a:lstStyle/>
          <a:p>
            <a:pPr marL="0" indent="0">
              <a:buNone/>
            </a:pPr>
            <a:r>
              <a:rPr lang="en-US" b="1" dirty="0"/>
              <a:t>Bonus: </a:t>
            </a:r>
          </a:p>
          <a:p>
            <a:r>
              <a:rPr lang="en-US" dirty="0"/>
              <a:t>Compare the variable across a relevant group, such as position, team, season, or competition level. </a:t>
            </a:r>
          </a:p>
          <a:p>
            <a:pPr marL="914400" lvl="1" indent="-457200">
              <a:buFont typeface="+mj-lt"/>
              <a:buAutoNum type="arabicPeriod"/>
            </a:pPr>
            <a:r>
              <a:rPr lang="en-US" dirty="0"/>
              <a:t>Report the number of observations in each group and compare both center and spread. </a:t>
            </a:r>
          </a:p>
          <a:p>
            <a:pPr marL="914400" lvl="1" indent="-457200">
              <a:buFont typeface="+mj-lt"/>
              <a:buAutoNum type="arabicPeriod"/>
            </a:pPr>
            <a:r>
              <a:rPr lang="en-US" dirty="0"/>
              <a:t>Describe what you observe without assuming the group difference has a particular cause.</a:t>
            </a:r>
          </a:p>
        </p:txBody>
      </p:sp>
    </p:spTree>
    <p:extLst>
      <p:ext uri="{BB962C8B-B14F-4D97-AF65-F5344CB8AC3E}">
        <p14:creationId xmlns:p14="http://schemas.microsoft.com/office/powerpoint/2010/main" val="28507724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1017</TotalTime>
  <Words>2780</Words>
  <Application>Microsoft Macintosh PowerPoint</Application>
  <PresentationFormat>Widescreen</PresentationFormat>
  <Paragraphs>375</Paragraphs>
  <Slides>37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Aptos</vt:lpstr>
      <vt:lpstr>Aptos Display</vt:lpstr>
      <vt:lpstr>Arial</vt:lpstr>
      <vt:lpstr>Office Theme</vt:lpstr>
      <vt:lpstr>Center, spread, and distributions</vt:lpstr>
      <vt:lpstr>levels of granularity</vt:lpstr>
      <vt:lpstr>Summarizing your data</vt:lpstr>
      <vt:lpstr>PowerPoint Presentation</vt:lpstr>
      <vt:lpstr>Measures of central tendency</vt:lpstr>
      <vt:lpstr>Mean, Median and Mode</vt:lpstr>
      <vt:lpstr>Mean, Median and Mode</vt:lpstr>
      <vt:lpstr>How much does it vary?</vt:lpstr>
      <vt:lpstr>Measures of variability</vt:lpstr>
      <vt:lpstr>Range</vt:lpstr>
      <vt:lpstr>Range and IQR</vt:lpstr>
      <vt:lpstr>Standard Deviation</vt:lpstr>
      <vt:lpstr>Standard Deviation</vt:lpstr>
      <vt:lpstr>Distribution in data</vt:lpstr>
      <vt:lpstr>Understanding Distributions</vt:lpstr>
      <vt:lpstr>Understanding Distributions</vt:lpstr>
      <vt:lpstr>Distribution in Sports</vt:lpstr>
      <vt:lpstr>Skew in Data</vt:lpstr>
      <vt:lpstr>Measuring the center in non-normal data</vt:lpstr>
      <vt:lpstr>The center in symmetric data</vt:lpstr>
      <vt:lpstr>The center in asymmetric data</vt:lpstr>
      <vt:lpstr>Does distribution change appropriate method?</vt:lpstr>
      <vt:lpstr>Grouped summary</vt:lpstr>
      <vt:lpstr>Grouped summary statistics</vt:lpstr>
      <vt:lpstr>Grouping can change the conclusion</vt:lpstr>
      <vt:lpstr>Different grouping can flip the conclusion</vt:lpstr>
      <vt:lpstr>Simpson’s paradox</vt:lpstr>
      <vt:lpstr>Visualizing Distributions and Groups</vt:lpstr>
      <vt:lpstr>Summary statistics cuts out nuance</vt:lpstr>
      <vt:lpstr>Visuals show the details </vt:lpstr>
      <vt:lpstr>Anscombe’s quartet</vt:lpstr>
      <vt:lpstr>In-Class Case Study: Describing Your Project Data</vt:lpstr>
      <vt:lpstr>In-Class Case Study</vt:lpstr>
      <vt:lpstr>In-Class Case Study</vt:lpstr>
      <vt:lpstr>In-Class Case Study</vt:lpstr>
      <vt:lpstr>In-Class Case Study</vt:lpstr>
      <vt:lpstr>In-Class Case Study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Onishi, Saryu</dc:creator>
  <cp:lastModifiedBy>Onishi, Saryu</cp:lastModifiedBy>
  <cp:revision>37</cp:revision>
  <dcterms:created xsi:type="dcterms:W3CDTF">2026-08-17T13:48:23Z</dcterms:created>
  <dcterms:modified xsi:type="dcterms:W3CDTF">2026-09-24T19:28:32Z</dcterms:modified>
</cp:coreProperties>
</file>