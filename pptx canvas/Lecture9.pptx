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66" r:id="rId3"/>
    <p:sldId id="367" r:id="rId4"/>
    <p:sldId id="368" r:id="rId5"/>
    <p:sldId id="395" r:id="rId6"/>
    <p:sldId id="369" r:id="rId7"/>
    <p:sldId id="370" r:id="rId8"/>
    <p:sldId id="371" r:id="rId9"/>
    <p:sldId id="376" r:id="rId10"/>
    <p:sldId id="377" r:id="rId11"/>
    <p:sldId id="381" r:id="rId12"/>
    <p:sldId id="316" r:id="rId13"/>
    <p:sldId id="384" r:id="rId14"/>
    <p:sldId id="383" r:id="rId15"/>
    <p:sldId id="389" r:id="rId16"/>
    <p:sldId id="385" r:id="rId17"/>
    <p:sldId id="393" r:id="rId18"/>
    <p:sldId id="392" r:id="rId19"/>
    <p:sldId id="394" r:id="rId20"/>
    <p:sldId id="390" r:id="rId21"/>
    <p:sldId id="387" r:id="rId22"/>
    <p:sldId id="388" r:id="rId23"/>
    <p:sldId id="391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27"/>
    <p:restoredTop sz="78492" autoAdjust="0"/>
  </p:normalViewPr>
  <p:slideViewPr>
    <p:cSldViewPr snapToGrid="0">
      <p:cViewPr varScale="1">
        <p:scale>
          <a:sx n="97" d="100"/>
          <a:sy n="97" d="100"/>
        </p:scale>
        <p:origin x="7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2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ryu/Downloads/hes3000_sample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saryu/Downloads/hes3000_sample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/Users/saryu/Downloads/hes3000_sample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EXAMPLE1!$N$30</c:f>
              <c:strCache>
                <c:ptCount val="1"/>
                <c:pt idx="0">
                  <c:v>mean fg%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141-564C-A8D6-9A8D5D1F475D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141-564C-A8D6-9A8D5D1F475D}"/>
              </c:ext>
            </c:extLst>
          </c:dPt>
          <c:cat>
            <c:strRef>
              <c:f>EXAMPLE1!$L$31:$L$32</c:f>
              <c:strCache>
                <c:ptCount val="2"/>
                <c:pt idx="0">
                  <c:v>starter</c:v>
                </c:pt>
                <c:pt idx="1">
                  <c:v>bench</c:v>
                </c:pt>
              </c:strCache>
            </c:strRef>
          </c:cat>
          <c:val>
            <c:numRef>
              <c:f>EXAMPLE1!$N$31:$N$32</c:f>
              <c:numCache>
                <c:formatCode>0%</c:formatCode>
                <c:ptCount val="2"/>
                <c:pt idx="0">
                  <c:v>0.4973909425767008</c:v>
                </c:pt>
                <c:pt idx="1">
                  <c:v>0.33176249098124094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41-564C-A8D6-9A8D5D1F47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axId val="513689584"/>
        <c:axId val="596564528"/>
      </c:barChart>
      <c:catAx>
        <c:axId val="51368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564528"/>
        <c:crosses val="autoZero"/>
        <c:auto val="1"/>
        <c:lblAlgn val="ctr"/>
        <c:lblOffset val="100"/>
        <c:noMultiLvlLbl val="0"/>
      </c:catAx>
      <c:valAx>
        <c:axId val="596564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368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mean fg%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EXAMPLE1!$M$1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EXAMPLE1!$L$2</c:f>
              <c:strCache>
                <c:ptCount val="1"/>
                <c:pt idx="0">
                  <c:v>mean</c:v>
                </c:pt>
              </c:strCache>
            </c:strRef>
          </c:cat>
          <c:val>
            <c:numRef>
              <c:f>EXAMPLE1!$M$2</c:f>
              <c:numCache>
                <c:formatCode>0.0%</c:formatCode>
                <c:ptCount val="1"/>
                <c:pt idx="0">
                  <c:v>0.42057774763387901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0C-1A42-ACA0-868DC4EF8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6064160"/>
        <c:axId val="596623216"/>
      </c:barChart>
      <c:catAx>
        <c:axId val="5960641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96623216"/>
        <c:crosses val="autoZero"/>
        <c:auto val="1"/>
        <c:lblAlgn val="ctr"/>
        <c:lblOffset val="100"/>
        <c:noMultiLvlLbl val="0"/>
      </c:catAx>
      <c:valAx>
        <c:axId val="596623216"/>
        <c:scaling>
          <c:orientation val="minMax"/>
          <c:max val="0.6000000000000000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606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2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copy!$H$2:$H$346</cx:f>
        <cx:lvl ptCount="345" formatCode="0%">
          <cx:pt idx="0">0</cx:pt>
          <cx:pt idx="1">1</cx:pt>
          <cx:pt idx="2">0.75</cx:pt>
          <cx:pt idx="3">0</cx:pt>
          <cx:pt idx="4">0.33333333333333331</cx:pt>
          <cx:pt idx="5">0.40000000000000002</cx:pt>
          <cx:pt idx="6">0.33333333333333331</cx:pt>
          <cx:pt idx="7">0</cx:pt>
          <cx:pt idx="8">0</cx:pt>
          <cx:pt idx="9">0</cx:pt>
          <cx:pt idx="10">1</cx:pt>
          <cx:pt idx="11">0</cx:pt>
          <cx:pt idx="12">0.5</cx:pt>
          <cx:pt idx="13">0.40000000000000002</cx:pt>
          <cx:pt idx="14">1</cx:pt>
          <cx:pt idx="15">0.59999999999999998</cx:pt>
          <cx:pt idx="16">0.5</cx:pt>
          <cx:pt idx="17">0.66666666666666663</cx:pt>
          <cx:pt idx="18">1</cx:pt>
          <cx:pt idx="19">1</cx:pt>
          <cx:pt idx="20">0</cx:pt>
          <cx:pt idx="21">0</cx:pt>
          <cx:pt idx="22">0.66666666666666663</cx:pt>
          <cx:pt idx="23">0</cx:pt>
          <cx:pt idx="24">1</cx:pt>
          <cx:pt idx="25">0.5</cx:pt>
          <cx:pt idx="26">1</cx:pt>
          <cx:pt idx="27">0.41666666666666669</cx:pt>
          <cx:pt idx="28">0</cx:pt>
          <cx:pt idx="29">0</cx:pt>
          <cx:pt idx="30">0</cx:pt>
          <cx:pt idx="31">0</cx:pt>
          <cx:pt idx="32">0.33333333333333331</cx:pt>
          <cx:pt idx="33">0.33333333333333331</cx:pt>
          <cx:pt idx="34">0</cx:pt>
          <cx:pt idx="35">0.8571428571428571</cx:pt>
          <cx:pt idx="36">0.42857142857142855</cx:pt>
          <cx:pt idx="37">0</cx:pt>
          <cx:pt idx="38">0</cx:pt>
          <cx:pt idx="39">0</cx:pt>
          <cx:pt idx="40">0</cx:pt>
          <cx:pt idx="41">0</cx:pt>
          <cx:pt idx="42">0</cx:pt>
          <cx:pt idx="43">0</cx:pt>
          <cx:pt idx="44">0.5</cx:pt>
          <cx:pt idx="45">0</cx:pt>
          <cx:pt idx="46">0.6428571428571429</cx:pt>
          <cx:pt idx="47">0.5</cx:pt>
          <cx:pt idx="48">1</cx:pt>
          <cx:pt idx="49">1</cx:pt>
          <cx:pt idx="50">0.66666666666666663</cx:pt>
          <cx:pt idx="51">0.40000000000000002</cx:pt>
          <cx:pt idx="52">1</cx:pt>
          <cx:pt idx="53">0.44444444444444442</cx:pt>
          <cx:pt idx="54">1</cx:pt>
          <cx:pt idx="55">1</cx:pt>
          <cx:pt idx="56">0</cx:pt>
          <cx:pt idx="57">0</cx:pt>
          <cx:pt idx="58">0.33333333333333331</cx:pt>
          <cx:pt idx="59">0.33333333333333331</cx:pt>
          <cx:pt idx="60">1</cx:pt>
          <cx:pt idx="61">0.29999999999999999</cx:pt>
          <cx:pt idx="62">0</cx:pt>
          <cx:pt idx="63">0.40000000000000002</cx:pt>
          <cx:pt idx="64">0</cx:pt>
          <cx:pt idx="65">0.25</cx:pt>
          <cx:pt idx="66">0</cx:pt>
          <cx:pt idx="67">0.63636363636363635</cx:pt>
          <cx:pt idx="68">1</cx:pt>
          <cx:pt idx="69">0</cx:pt>
          <cx:pt idx="70">0.5</cx:pt>
          <cx:pt idx="71">0.66666666666666663</cx:pt>
          <cx:pt idx="72">0</cx:pt>
          <cx:pt idx="73">0</cx:pt>
          <cx:pt idx="74">0.40000000000000002</cx:pt>
          <cx:pt idx="75">0</cx:pt>
          <cx:pt idx="76">0.5</cx:pt>
          <cx:pt idx="77">0.33333333333333331</cx:pt>
          <cx:pt idx="78">0</cx:pt>
          <cx:pt idx="79">0.33333333333333331</cx:pt>
          <cx:pt idx="80">1</cx:pt>
          <cx:pt idx="81">0.42857142857142855</cx:pt>
          <cx:pt idx="82">0.40000000000000002</cx:pt>
          <cx:pt idx="83">0.20000000000000001</cx:pt>
          <cx:pt idx="84">0.59999999999999998</cx:pt>
          <cx:pt idx="85">0.40000000000000002</cx:pt>
          <cx:pt idx="86">0.5</cx:pt>
          <cx:pt idx="87">0.40000000000000002</cx:pt>
          <cx:pt idx="88">0</cx:pt>
          <cx:pt idx="89">0.5</cx:pt>
          <cx:pt idx="90">0.66666666666666663</cx:pt>
          <cx:pt idx="91">0.5</cx:pt>
          <cx:pt idx="92">0.5714285714285714</cx:pt>
          <cx:pt idx="93">0</cx:pt>
          <cx:pt idx="94">0.40000000000000002</cx:pt>
          <cx:pt idx="95">0.33333333333333331</cx:pt>
          <cx:pt idx="96">0</cx:pt>
          <cx:pt idx="97">1</cx:pt>
          <cx:pt idx="98">0</cx:pt>
          <cx:pt idx="99">0</cx:pt>
          <cx:pt idx="100">0.5</cx:pt>
          <cx:pt idx="101">0.5</cx:pt>
          <cx:pt idx="102">0</cx:pt>
          <cx:pt idx="103">0.5</cx:pt>
          <cx:pt idx="104">0.375</cx:pt>
          <cx:pt idx="105">0</cx:pt>
          <cx:pt idx="106">0</cx:pt>
          <cx:pt idx="107">0.2857142857142857</cx:pt>
          <cx:pt idx="108">0.20000000000000001</cx:pt>
          <cx:pt idx="109">0.66666666666666663</cx:pt>
          <cx:pt idx="110">0</cx:pt>
          <cx:pt idx="111">0</cx:pt>
          <cx:pt idx="112">0</cx:pt>
          <cx:pt idx="113">0.25</cx:pt>
          <cx:pt idx="114">0</cx:pt>
          <cx:pt idx="115">0.33333333333333331</cx:pt>
          <cx:pt idx="116">0</cx:pt>
          <cx:pt idx="117">0.16666666666666666</cx:pt>
          <cx:pt idx="118">0.33333333333333331</cx:pt>
          <cx:pt idx="119">0</cx:pt>
          <cx:pt idx="120">0.5</cx:pt>
          <cx:pt idx="121">0</cx:pt>
          <cx:pt idx="122">1</cx:pt>
          <cx:pt idx="123">0</cx:pt>
          <cx:pt idx="124">0.66666666666666663</cx:pt>
          <cx:pt idx="125">0</cx:pt>
          <cx:pt idx="126">0</cx:pt>
          <cx:pt idx="127">0</cx:pt>
          <cx:pt idx="128">0</cx:pt>
          <cx:pt idx="129">0.375</cx:pt>
          <cx:pt idx="130">0</cx:pt>
          <cx:pt idx="131">0.5</cx:pt>
          <cx:pt idx="132">0.33333333333333331</cx:pt>
          <cx:pt idx="133">0</cx:pt>
          <cx:pt idx="134">0.375</cx:pt>
          <cx:pt idx="135">0.40000000000000002</cx:pt>
          <cx:pt idx="136">0.33333333333333331</cx:pt>
          <cx:pt idx="137">0</cx:pt>
          <cx:pt idx="138">0.40000000000000002</cx:pt>
          <cx:pt idx="139">0</cx:pt>
          <cx:pt idx="140">0.5714285714285714</cx:pt>
          <cx:pt idx="141">0.33333333333333331</cx:pt>
          <cx:pt idx="142">0</cx:pt>
          <cx:pt idx="143">0.16666666666666666</cx:pt>
          <cx:pt idx="144">0.25</cx:pt>
          <cx:pt idx="145">0.75</cx:pt>
          <cx:pt idx="146">0.16666666666666666</cx:pt>
          <cx:pt idx="147">0</cx:pt>
          <cx:pt idx="148">0.33333333333333331</cx:pt>
          <cx:pt idx="149">0.59999999999999998</cx:pt>
          <cx:pt idx="150">0</cx:pt>
          <cx:pt idx="151">0.5</cx:pt>
          <cx:pt idx="152">0.42857142857142855</cx:pt>
          <cx:pt idx="153">0.5</cx:pt>
          <cx:pt idx="154">0.5</cx:pt>
          <cx:pt idx="155">0</cx:pt>
          <cx:pt idx="156">0</cx:pt>
          <cx:pt idx="157">0.5</cx:pt>
          <cx:pt idx="158">0.42857142857142855</cx:pt>
          <cx:pt idx="159">0</cx:pt>
          <cx:pt idx="160">1</cx:pt>
          <cx:pt idx="161">0.5</cx:pt>
          <cx:pt idx="162">0.59999999999999998</cx:pt>
          <cx:pt idx="163">0.5</cx:pt>
          <cx:pt idx="164">0.5</cx:pt>
          <cx:pt idx="165">0.63636363636363635</cx:pt>
          <cx:pt idx="166">0</cx:pt>
          <cx:pt idx="167">0.40000000000000002</cx:pt>
          <cx:pt idx="168">0.33333333333333331</cx:pt>
          <cx:pt idx="169">0.5714285714285714</cx:pt>
          <cx:pt idx="170">0.5</cx:pt>
          <cx:pt idx="171">0.54545454545454541</cx:pt>
          <cx:pt idx="172">0.5</cx:pt>
          <cx:pt idx="173">0.66666666666666663</cx:pt>
          <cx:pt idx="174">0.54545454545454541</cx:pt>
          <cx:pt idx="175">1</cx:pt>
          <cx:pt idx="176">0.69999999999999996</cx:pt>
          <cx:pt idx="177">0.75</cx:pt>
          <cx:pt idx="178">1</cx:pt>
          <cx:pt idx="179">0.44444444444444442</cx:pt>
          <cx:pt idx="180">0.5</cx:pt>
          <cx:pt idx="181">1</cx:pt>
          <cx:pt idx="182">0.66666666666666663</cx:pt>
          <cx:pt idx="183">0.66666666666666663</cx:pt>
          <cx:pt idx="184">0.625</cx:pt>
          <cx:pt idx="185">0.2857142857142857</cx:pt>
          <cx:pt idx="186">0.20000000000000001</cx:pt>
          <cx:pt idx="187">0.5714285714285714</cx:pt>
          <cx:pt idx="188">0.33333333333333331</cx:pt>
          <cx:pt idx="189">0.66666666666666663</cx:pt>
          <cx:pt idx="190">0.5</cx:pt>
          <cx:pt idx="191">0.125</cx:pt>
          <cx:pt idx="192">0.33333333333333331</cx:pt>
          <cx:pt idx="193">0</cx:pt>
          <cx:pt idx="194">0.5</cx:pt>
          <cx:pt idx="195">0.40000000000000002</cx:pt>
          <cx:pt idx="196">1</cx:pt>
          <cx:pt idx="197">0.69999999999999996</cx:pt>
          <cx:pt idx="198">0.16666666666666666</cx:pt>
          <cx:pt idx="199">0.75</cx:pt>
          <cx:pt idx="200">0.5</cx:pt>
          <cx:pt idx="201">0.59999999999999998</cx:pt>
          <cx:pt idx="202">1</cx:pt>
          <cx:pt idx="203">0.63636363636363635</cx:pt>
          <cx:pt idx="204">0.33333333333333331</cx:pt>
          <cx:pt idx="205">0</cx:pt>
          <cx:pt idx="206">0</cx:pt>
          <cx:pt idx="207">0.625</cx:pt>
          <cx:pt idx="208">0.33333333333333331</cx:pt>
          <cx:pt idx="209">0.41666666666666669</cx:pt>
          <cx:pt idx="210">0.5</cx:pt>
          <cx:pt idx="211">0</cx:pt>
          <cx:pt idx="212">0.42857142857142855</cx:pt>
          <cx:pt idx="213">0.5</cx:pt>
          <cx:pt idx="214">0.66666666666666663</cx:pt>
          <cx:pt idx="215">0.5</cx:pt>
          <cx:pt idx="216">0.59999999999999998</cx:pt>
          <cx:pt idx="217">0.33333333333333331</cx:pt>
          <cx:pt idx="218">0.5</cx:pt>
          <cx:pt idx="219">0.54545454545454541</cx:pt>
          <cx:pt idx="220">0.40000000000000002</cx:pt>
          <cx:pt idx="221">0.46666666666666667</cx:pt>
          <cx:pt idx="222">0.25</cx:pt>
          <cx:pt idx="223">1</cx:pt>
          <cx:pt idx="224">0.45454545454545453</cx:pt>
          <cx:pt idx="225">0.59999999999999998</cx:pt>
          <cx:pt idx="226">0</cx:pt>
          <cx:pt idx="227">0.38461538461538464</cx:pt>
          <cx:pt idx="228">0.5</cx:pt>
          <cx:pt idx="229">0.5</cx:pt>
          <cx:pt idx="230">0.625</cx:pt>
          <cx:pt idx="231">0.25</cx:pt>
          <cx:pt idx="232">0</cx:pt>
          <cx:pt idx="233">0.80000000000000004</cx:pt>
          <cx:pt idx="234">0.5</cx:pt>
          <cx:pt idx="235">0.8571428571428571</cx:pt>
          <cx:pt idx="236">0.66666666666666663</cx:pt>
          <cx:pt idx="237">0.75</cx:pt>
          <cx:pt idx="238">0.625</cx:pt>
          <cx:pt idx="239">0.40000000000000002</cx:pt>
          <cx:pt idx="240">0.83333333333333337</cx:pt>
          <cx:pt idx="241">0.5</cx:pt>
          <cx:pt idx="242">0.36363636363636365</cx:pt>
          <cx:pt idx="243">0.5</cx:pt>
          <cx:pt idx="244">0.5</cx:pt>
          <cx:pt idx="245">0.44444444444444442</cx:pt>
          <cx:pt idx="246">0</cx:pt>
          <cx:pt idx="247">1</cx:pt>
          <cx:pt idx="248">0.66666666666666663</cx:pt>
          <cx:pt idx="249">0.54545454545454541</cx:pt>
          <cx:pt idx="250">0.5</cx:pt>
          <cx:pt idx="251">0.88888888888888884</cx:pt>
          <cx:pt idx="252">0.59999999999999998</cx:pt>
          <cx:pt idx="253">0.33333333333333331</cx:pt>
          <cx:pt idx="254">0.375</cx:pt>
          <cx:pt idx="255">0.45454545454545453</cx:pt>
          <cx:pt idx="256">0.75</cx:pt>
          <cx:pt idx="257">0.41666666666666669</cx:pt>
          <cx:pt idx="258">0.375</cx:pt>
          <cx:pt idx="259">1</cx:pt>
          <cx:pt idx="260">0.77777777777777779</cx:pt>
          <cx:pt idx="261">0.42857142857142855</cx:pt>
          <cx:pt idx="262">0.33333333333333331</cx:pt>
          <cx:pt idx="263">0.38461538461538464</cx:pt>
          <cx:pt idx="264">0.625</cx:pt>
          <cx:pt idx="265">0.5</cx:pt>
          <cx:pt idx="266">0.29999999999999999</cx:pt>
          <cx:pt idx="267">0.33333333333333331</cx:pt>
          <cx:pt idx="268">0.63636363636363635</cx:pt>
          <cx:pt idx="269">0.69999999999999996</cx:pt>
          <cx:pt idx="270">0.40000000000000002</cx:pt>
          <cx:pt idx="271">0.40000000000000002</cx:pt>
          <cx:pt idx="272">0.5</cx:pt>
          <cx:pt idx="273">0.46666666666666667</cx:pt>
          <cx:pt idx="274">0.46153846153846156</cx:pt>
          <cx:pt idx="275">0.35714285714285715</cx:pt>
          <cx:pt idx="276">0.3888888888888889</cx:pt>
          <cx:pt idx="277">0.20000000000000001</cx:pt>
          <cx:pt idx="278">0.40000000000000002</cx:pt>
          <cx:pt idx="279">0.31578947368421051</cx:pt>
          <cx:pt idx="280">0.5714285714285714</cx:pt>
          <cx:pt idx="281">0.8571428571428571</cx:pt>
          <cx:pt idx="282">0.5</cx:pt>
          <cx:pt idx="283">0.44444444444444442</cx:pt>
          <cx:pt idx="284">0.5</cx:pt>
          <cx:pt idx="285">0.5</cx:pt>
          <cx:pt idx="286">0.59999999999999998</cx:pt>
          <cx:pt idx="287">0.59999999999999998</cx:pt>
          <cx:pt idx="288">0.5714285714285714</cx:pt>
          <cx:pt idx="289">0.54545454545454541</cx:pt>
          <cx:pt idx="290">0.61538461538461542</cx:pt>
          <cx:pt idx="291">0.36363636363636365</cx:pt>
          <cx:pt idx="292">0.22222222222222221</cx:pt>
          <cx:pt idx="293">0.25</cx:pt>
          <cx:pt idx="294">0.77777777777777779</cx:pt>
          <cx:pt idx="295">0.25</cx:pt>
          <cx:pt idx="296">0.59999999999999998</cx:pt>
          <cx:pt idx="297">0.66666666666666663</cx:pt>
          <cx:pt idx="298">0.42857142857142855</cx:pt>
          <cx:pt idx="299">0.54545454545454541</cx:pt>
          <cx:pt idx="300">0.25</cx:pt>
          <cx:pt idx="301">0.375</cx:pt>
          <cx:pt idx="302">0.40909090909090912</cx:pt>
          <cx:pt idx="303">0.40000000000000002</cx:pt>
          <cx:pt idx="304">0.53333333333333333</cx:pt>
          <cx:pt idx="305">0.45454545454545453</cx:pt>
          <cx:pt idx="306">0.61538461538461542</cx:pt>
          <cx:pt idx="307">0.53333333333333333</cx:pt>
          <cx:pt idx="308">0.23076923076923078</cx:pt>
          <cx:pt idx="309">0.35294117647058826</cx:pt>
          <cx:pt idx="310">0.27777777777777779</cx:pt>
          <cx:pt idx="311">0.53846153846153844</cx:pt>
          <cx:pt idx="312">0.25</cx:pt>
          <cx:pt idx="313">0.33333333333333331</cx:pt>
          <cx:pt idx="314">0.40000000000000002</cx:pt>
          <cx:pt idx="315">0.25</cx:pt>
          <cx:pt idx="316">0.41666666666666669</cx:pt>
          <cx:pt idx="317">0.72727272727272729</cx:pt>
          <cx:pt idx="318">0.63636363636363635</cx:pt>
          <cx:pt idx="319">0.5714285714285714</cx:pt>
          <cx:pt idx="320">0.5714285714285714</cx:pt>
          <cx:pt idx="321">0.77777777777777779</cx:pt>
          <cx:pt idx="322">0.5</cx:pt>
          <cx:pt idx="323">0.53333333333333333</cx:pt>
          <cx:pt idx="324">0.5</cx:pt>
          <cx:pt idx="325">0.66666666666666663</cx:pt>
          <cx:pt idx="326">0.42857142857142855</cx:pt>
          <cx:pt idx="327">0.40000000000000002</cx:pt>
          <cx:pt idx="328">0.375</cx:pt>
          <cx:pt idx="329">0.27272727272727271</cx:pt>
          <cx:pt idx="330">0.5</cx:pt>
          <cx:pt idx="331">0</cx:pt>
          <cx:pt idx="332">0.6428571428571429</cx:pt>
          <cx:pt idx="333">0.5</cx:pt>
          <cx:pt idx="334">0.29411764705882354</cx:pt>
          <cx:pt idx="335">0.44444444444444442</cx:pt>
          <cx:pt idx="336">0.59999999999999998</cx:pt>
          <cx:pt idx="337">0.59999999999999998</cx:pt>
          <cx:pt idx="338">0.55555555555555558</cx:pt>
          <cx:pt idx="339">0.53846153846153844</cx:pt>
          <cx:pt idx="340">0.625</cx:pt>
          <cx:pt idx="341">0.5714285714285714</cx:pt>
          <cx:pt idx="342">0.46666666666666667</cx:pt>
          <cx:pt idx="343">0.5</cx:pt>
          <cx:pt idx="344">0.5</cx:pt>
        </cx:lvl>
      </cx:numDim>
    </cx:data>
  </cx:chartData>
  <cx:chart>
    <cx:title pos="t" align="ctr" overlay="0">
      <cx:tx>
        <cx:txData>
          <cx:v>team fg%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GB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team fg%</a:t>
          </a:r>
        </a:p>
      </cx:txPr>
    </cx:title>
    <cx:plotArea>
      <cx:plotAreaRegion>
        <cx:series layoutId="clusteredColumn" uniqueId="{6CB5FE8D-0971-474F-8631-1CFB84851DF7}">
          <cx:tx>
            <cx:txData>
              <cx:f>copy!$H$1</cx:f>
              <cx:v>fg%</cx:v>
            </cx:txData>
          </cx:tx>
          <cx:dataLabels pos="inEnd"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  <cx:spPr>
    <a:solidFill>
      <a:schemeClr val="bg2"/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In Excel, select or prepare the values you’ll actually </a:t>
            </a:r>
            <a:r>
              <a:rPr lang="en-GB" dirty="0" err="1"/>
              <a:t>analyze</a:t>
            </a:r>
            <a:r>
              <a:rPr lang="en-GB" dirty="0"/>
              <a:t>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59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Make the histogram live in Excel.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15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Calculate the relevant statistics live and write a brief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73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1E35-52A6-D493-ADD2-A1E2224C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3F08A-0DDB-7902-E31C-4BD213B42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372D4-56A2-C620-ABA6-25FD3BDDB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Keep this brief; it’s bonus work, so you don’t need to teach every Excel route to it.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BB373-7985-4AAC-0E62-FEE6311A1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42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97758-E658-A9A0-C9A4-1428E3C9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04B7E-1559-ABB0-9D46-37FF9CFD3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39A05-912A-0005-1A50-2AA5116BE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Keep this brief; it’s bonus work, so you don’t need to teach every Excel route to it.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91980-EF20-2F52-EE19-FBA461497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76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Section 1: Central tendency</a:t>
            </a:r>
          </a:p>
          <a:p>
            <a:r>
              <a:rPr lang="en-US" dirty="0"/>
              <a:t>What is typical?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95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i="1" dirty="0"/>
              <a:t>In these data, sessions with longer durations tended to ______.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4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46E8C1D3-413D-3F8C-2B71-1C4EB0ADE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277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Proportions and relationships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ED5F-9CC6-A209-CC91-A3402F9B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89277-A54C-600B-5D1B-CC6FA5A7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Open and inspect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Identify the observation and variables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Prepare the values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Choose and make a graph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Summarize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Interpret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06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54AFD-355F-80E9-0445-AA619FC2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am I looking at?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0CAE2-7C0F-B163-453C-C747922C7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does one row represent? </a:t>
            </a:r>
          </a:p>
          <a:p>
            <a:r>
              <a:rPr lang="en-GB" dirty="0"/>
              <a:t>What does each column represent? </a:t>
            </a:r>
          </a:p>
          <a:p>
            <a:r>
              <a:rPr lang="en-GB" dirty="0"/>
              <a:t>Which columns are numeric or categorical? </a:t>
            </a:r>
          </a:p>
          <a:p>
            <a:r>
              <a:rPr lang="en-GB" dirty="0"/>
              <a:t>Are there blank cells, labels mixed with values, or units in the cells? </a:t>
            </a:r>
          </a:p>
          <a:p>
            <a:pPr lvl="1"/>
            <a:endParaRPr lang="en-GB" dirty="0"/>
          </a:p>
          <a:p>
            <a:r>
              <a:rPr lang="en-GB" b="1" dirty="0"/>
              <a:t>Recall:</a:t>
            </a:r>
            <a:r>
              <a:rPr lang="en-GB" dirty="0"/>
              <a:t> data characteristics slides.</a:t>
            </a:r>
          </a:p>
        </p:txBody>
      </p:sp>
    </p:spTree>
    <p:extLst>
      <p:ext uri="{BB962C8B-B14F-4D97-AF65-F5344CB8AC3E}">
        <p14:creationId xmlns:p14="http://schemas.microsoft.com/office/powerpoint/2010/main" val="416729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B5F6F-59B0-8040-77C5-299BC060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values answer the question?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1E5EB-22D1-F45A-235A-E9AC624A5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Defined by your research question</a:t>
            </a:r>
          </a:p>
          <a:p>
            <a:pPr lvl="1"/>
            <a:r>
              <a:rPr lang="en-GB" dirty="0"/>
              <a:t>Eg: study of offensive performance? </a:t>
            </a:r>
            <a:r>
              <a:rPr lang="en-GB" dirty="0">
                <a:sym typeface="Wingdings" pitchFamily="2" charset="2"/>
              </a:rPr>
              <a:t> field goal percentage?</a:t>
            </a:r>
          </a:p>
          <a:p>
            <a:pPr lvl="1"/>
            <a:endParaRPr lang="en-GB" dirty="0"/>
          </a:p>
          <a:p>
            <a:r>
              <a:rPr lang="en-GB" b="1" dirty="0"/>
              <a:t>Recall:</a:t>
            </a:r>
            <a:r>
              <a:rPr lang="en-GB" dirty="0"/>
              <a:t> unit of observation and data structure. </a:t>
            </a:r>
          </a:p>
        </p:txBody>
      </p:sp>
    </p:spTree>
    <p:extLst>
      <p:ext uri="{BB962C8B-B14F-4D97-AF65-F5344CB8AC3E}">
        <p14:creationId xmlns:p14="http://schemas.microsoft.com/office/powerpoint/2010/main" val="390941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FE295-E9B2-2B4C-3C79-A9C555BC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0031-F67D-EE65-AA29-8411D7073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0383" y="1441938"/>
            <a:ext cx="5973417" cy="47350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Describing one row is a descriptive. Do not need to report metrics.</a:t>
            </a:r>
          </a:p>
          <a:p>
            <a:pPr lvl="1"/>
            <a:r>
              <a:rPr lang="en-US" sz="2000" dirty="0"/>
              <a:t>“each row represents a single athlete’s performance in one game of the 2026 season”</a:t>
            </a:r>
          </a:p>
          <a:p>
            <a:pPr lvl="1"/>
            <a:r>
              <a:rPr lang="en-US" sz="2000" dirty="0"/>
              <a:t>“a summary of a team’s performance last season”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Understanding the data is critical for all future steps. </a:t>
            </a:r>
          </a:p>
          <a:p>
            <a:pPr lvl="1"/>
            <a:r>
              <a:rPr lang="en-US" sz="2000" dirty="0"/>
              <a:t>Data type affects which summaries and graphs make sense. (mode vs mean, color vs position)</a:t>
            </a:r>
          </a:p>
          <a:p>
            <a:pPr lvl="1"/>
            <a:r>
              <a:rPr lang="en-US" sz="2000" dirty="0"/>
              <a:t>Is the data valid? (can </a:t>
            </a:r>
            <a:r>
              <a:rPr lang="en-US" sz="2000" dirty="0" err="1"/>
              <a:t>fg</a:t>
            </a:r>
            <a:r>
              <a:rPr lang="en-US" sz="2000" dirty="0"/>
              <a:t>% be 0 if </a:t>
            </a:r>
            <a:r>
              <a:rPr lang="en-US" sz="2000" dirty="0" err="1"/>
              <a:t>fg</a:t>
            </a:r>
            <a:r>
              <a:rPr lang="en-US" sz="2000" dirty="0"/>
              <a:t> attempted is 0?)</a:t>
            </a:r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CF67E4-B787-6E66-E881-4D77BBE3F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800749"/>
              </p:ext>
            </p:extLst>
          </p:nvPr>
        </p:nvGraphicFramePr>
        <p:xfrm>
          <a:off x="838200" y="1441938"/>
          <a:ext cx="4251789" cy="47355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0059">
                  <a:extLst>
                    <a:ext uri="{9D8B030D-6E8A-4147-A177-3AD203B41FA5}">
                      <a16:colId xmlns:a16="http://schemas.microsoft.com/office/drawing/2014/main" val="29601077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116304823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983879205"/>
                    </a:ext>
                  </a:extLst>
                </a:gridCol>
                <a:gridCol w="644210">
                  <a:extLst>
                    <a:ext uri="{9D8B030D-6E8A-4147-A177-3AD203B41FA5}">
                      <a16:colId xmlns:a16="http://schemas.microsoft.com/office/drawing/2014/main" val="79593368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32737089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78112128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877924112"/>
                    </a:ext>
                  </a:extLst>
                </a:gridCol>
              </a:tblGrid>
              <a:tr h="2928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game_id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 err="1">
                          <a:effectLst/>
                        </a:rPr>
                        <a:t>team_id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 err="1">
                          <a:effectLst/>
                        </a:rPr>
                        <a:t>opponent_team_id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athlete_id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 err="1">
                          <a:effectLst/>
                        </a:rPr>
                        <a:t>field_goals_made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 err="1">
                          <a:effectLst/>
                        </a:rPr>
                        <a:t>field_goals_attempted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900" u="none" strike="noStrike" dirty="0" err="1">
                          <a:effectLst/>
                        </a:rPr>
                        <a:t>fg</a:t>
                      </a:r>
                      <a:r>
                        <a:rPr lang="en-GB" sz="900" u="none" strike="noStrike" dirty="0">
                          <a:effectLst/>
                        </a:rPr>
                        <a:t>%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852672679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401858379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38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0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453786874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401851568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8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5329888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399955904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401851564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245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4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  <a:highlight>
                            <a:srgbClr val="FFFF00"/>
                          </a:highlight>
                        </a:rPr>
                        <a:t>75%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3250644507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401851560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2579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0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120084516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401808287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251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3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33%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8918566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401808280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142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5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  <a:highlight>
                            <a:srgbClr val="FFFF00"/>
                          </a:highlight>
                        </a:rPr>
                        <a:t>40%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254369952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401808269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99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3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  <a:highlight>
                            <a:srgbClr val="FFFF00"/>
                          </a:highlight>
                        </a:rPr>
                        <a:t>33%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7569690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401808262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0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528984186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401808256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245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999452786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401808247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2633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3091315309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401808239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61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3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030630019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401808225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238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762853185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401808216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96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695585311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401808214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251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3436922497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401808206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4243207738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401808196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142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60%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864796801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401808191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2579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537903987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401808184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333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67%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4277042283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401808172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57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053440590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401808166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245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706560240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401808154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344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166672910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401808151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145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3776705631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401826782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2400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5329888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67%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38907871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401858385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277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5144388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0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797567868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401858385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277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5101844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1675940478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401858383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239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5144388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50%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881331822"/>
                  </a:ext>
                </a:extLst>
              </a:tr>
              <a:tr h="16454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401858383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201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239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5101844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2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9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100%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609" marR="5609" marT="5609" marB="0" anchor="b"/>
                </a:tc>
                <a:extLst>
                  <a:ext uri="{0D108BD9-81ED-4DB2-BD59-A6C34878D82A}">
                    <a16:rowId xmlns:a16="http://schemas.microsoft.com/office/drawing/2014/main" val="2108184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CFC2CC-24FE-FCCF-EB1D-8F8B73F05B06}"/>
              </a:ext>
            </a:extLst>
          </p:cNvPr>
          <p:cNvSpPr txBox="1"/>
          <p:nvPr/>
        </p:nvSpPr>
        <p:spPr>
          <a:xfrm>
            <a:off x="838200" y="6187673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/>
              <a:t>*sample rows from the full dataset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78673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C8E4-78FF-C4F5-E4A4-2E93E702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graph answers this question?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4043E-BC10-A067-320E-5D96D8C15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one numeric variable → distribution → histogram.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r>
              <a:rPr lang="en-GB" b="1" dirty="0"/>
              <a:t>Recall:</a:t>
            </a:r>
            <a:r>
              <a:rPr lang="en-GB" dirty="0"/>
              <a:t> chart choice follows the question.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1776F-D1F3-B3E7-ADF1-8593CD49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99" y="3033597"/>
            <a:ext cx="11201401" cy="358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4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5260-23E9-339A-A173-0EEE185CB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the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1F40D-625A-35CA-285C-63364229E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observation per row and values in one column</a:t>
            </a:r>
          </a:p>
          <a:p>
            <a:endParaRPr lang="en-GB" dirty="0"/>
          </a:p>
          <a:p>
            <a:r>
              <a:rPr lang="en-GB" b="1" dirty="0"/>
              <a:t>Recall:</a:t>
            </a:r>
            <a:r>
              <a:rPr lang="en-GB" dirty="0"/>
              <a:t> long format data for visualization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207281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007F-5FD8-0B9E-9A3B-AA050A3B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distribution tell us?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EC6C-0D37-11BA-839F-3D5146AEF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9515"/>
            <a:ext cx="10515600" cy="1027447"/>
          </a:xfrm>
        </p:spPr>
        <p:txBody>
          <a:bodyPr>
            <a:normAutofit/>
          </a:bodyPr>
          <a:lstStyle/>
          <a:p>
            <a:r>
              <a:rPr lang="en-GB" sz="2400" dirty="0"/>
              <a:t>Describe the shape, range/spread, clusters, unusual values.</a:t>
            </a:r>
          </a:p>
          <a:p>
            <a:r>
              <a:rPr lang="en-GB" sz="2400" i="1" dirty="0"/>
              <a:t>Would the mean or median better describe a typical value here, and why?</a:t>
            </a:r>
            <a:r>
              <a:rPr lang="en-GB" sz="2400" dirty="0"/>
              <a:t> </a:t>
            </a:r>
          </a:p>
          <a:p>
            <a:endParaRPr lang="en-US" sz="2400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86E42CCD-859A-EDC4-6269-502B7B5DF57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78731089"/>
                  </p:ext>
                </p:extLst>
              </p:nvPr>
            </p:nvGraphicFramePr>
            <p:xfrm>
              <a:off x="2322650" y="1441938"/>
              <a:ext cx="7546699" cy="339090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86E42CCD-859A-EDC4-6269-502B7B5DF5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2650" y="1441938"/>
                <a:ext cx="7546699" cy="339090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6809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E25C-FF6F-8415-E8D1-033672DE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24EED-E7EA-F6B3-900E-E589786D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the distribution tell us?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B4C28-6394-1D7A-E800-84A38FB1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b="1" dirty="0"/>
              <a:t>Recall:</a:t>
            </a:r>
            <a:r>
              <a:rPr lang="en-GB" dirty="0"/>
              <a:t> </a:t>
            </a:r>
            <a:r>
              <a:rPr lang="en-GB" dirty="0" err="1"/>
              <a:t>center</a:t>
            </a:r>
            <a:r>
              <a:rPr lang="en-GB" dirty="0"/>
              <a:t> and spread lecture. </a:t>
            </a:r>
          </a:p>
        </p:txBody>
      </p:sp>
      <p:pic>
        <p:nvPicPr>
          <p:cNvPr id="4" name="Picture 2" descr="How to Interpret Histograms - LabXchange">
            <a:extLst>
              <a:ext uri="{FF2B5EF4-FFF2-40B4-BE49-F238E27FC236}">
                <a16:creationId xmlns:a16="http://schemas.microsoft.com/office/drawing/2014/main" id="{1212722B-4908-AC47-07A5-CF5E744DD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5" t="-447" r="2511" b="447"/>
          <a:stretch>
            <a:fillRect/>
          </a:stretch>
        </p:blipFill>
        <p:spPr bwMode="auto">
          <a:xfrm>
            <a:off x="838200" y="1441938"/>
            <a:ext cx="10041538" cy="305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885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07F9-E15D-FB4D-34EF-1B4008DB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6BC7-C445-EA07-B04B-BFE374E5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Bonus: What changes when we compare groups?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B797-31D3-0AC6-BDC2-11848F59C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Requires additional columns</a:t>
            </a:r>
          </a:p>
          <a:p>
            <a:r>
              <a:rPr lang="en-GB" dirty="0"/>
              <a:t>Do overall averages hides meaningful differences?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33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E213F-4AAD-1B2D-D51B-1C4E49E3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797C-83D2-13B2-7038-183BA7E42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Bonus: What changes when we compare groups?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478903-1A3E-4F14-4F91-95FE925920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12492"/>
              </p:ext>
            </p:extLst>
          </p:nvPr>
        </p:nvGraphicFramePr>
        <p:xfrm>
          <a:off x="7130360" y="1441461"/>
          <a:ext cx="3003550" cy="838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3403">
                  <a:extLst>
                    <a:ext uri="{9D8B030D-6E8A-4147-A177-3AD203B41FA5}">
                      <a16:colId xmlns:a16="http://schemas.microsoft.com/office/drawing/2014/main" val="1835663521"/>
                    </a:ext>
                  </a:extLst>
                </a:gridCol>
                <a:gridCol w="929297">
                  <a:extLst>
                    <a:ext uri="{9D8B030D-6E8A-4147-A177-3AD203B41FA5}">
                      <a16:colId xmlns:a16="http://schemas.microsoft.com/office/drawing/2014/main" val="1423955081"/>
                    </a:ext>
                  </a:extLst>
                </a:gridCol>
                <a:gridCol w="1050850">
                  <a:extLst>
                    <a:ext uri="{9D8B030D-6E8A-4147-A177-3AD203B41FA5}">
                      <a16:colId xmlns:a16="http://schemas.microsoft.com/office/drawing/2014/main" val="388972512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status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mean </a:t>
                      </a:r>
                      <a:r>
                        <a:rPr lang="en-GB" sz="1600" u="none" strike="noStrike" dirty="0" err="1">
                          <a:effectLst/>
                        </a:rPr>
                        <a:t>fg</a:t>
                      </a:r>
                      <a:r>
                        <a:rPr lang="en-GB" sz="1600" u="none" strike="noStrike" dirty="0">
                          <a:effectLst/>
                        </a:rPr>
                        <a:t>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11667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starter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185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50%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560274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bench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160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33%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4733915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0FBB575-8941-7856-AA53-CAB51E5CA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749054"/>
              </p:ext>
            </p:extLst>
          </p:nvPr>
        </p:nvGraphicFramePr>
        <p:xfrm>
          <a:off x="6654685" y="257162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649A836-B700-5C86-C495-407BAC37DD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813561"/>
              </p:ext>
            </p:extLst>
          </p:nvPr>
        </p:nvGraphicFramePr>
        <p:xfrm>
          <a:off x="965316" y="257162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002B72E-1F54-73D9-CAF0-62EEC2E183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997589"/>
              </p:ext>
            </p:extLst>
          </p:nvPr>
        </p:nvGraphicFramePr>
        <p:xfrm>
          <a:off x="2058091" y="1441461"/>
          <a:ext cx="3003550" cy="55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23403">
                  <a:extLst>
                    <a:ext uri="{9D8B030D-6E8A-4147-A177-3AD203B41FA5}">
                      <a16:colId xmlns:a16="http://schemas.microsoft.com/office/drawing/2014/main" val="1835663521"/>
                    </a:ext>
                  </a:extLst>
                </a:gridCol>
                <a:gridCol w="929297">
                  <a:extLst>
                    <a:ext uri="{9D8B030D-6E8A-4147-A177-3AD203B41FA5}">
                      <a16:colId xmlns:a16="http://schemas.microsoft.com/office/drawing/2014/main" val="1423955081"/>
                    </a:ext>
                  </a:extLst>
                </a:gridCol>
                <a:gridCol w="1050850">
                  <a:extLst>
                    <a:ext uri="{9D8B030D-6E8A-4147-A177-3AD203B41FA5}">
                      <a16:colId xmlns:a16="http://schemas.microsoft.com/office/drawing/2014/main" val="3889725127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600" b="1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n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mean </a:t>
                      </a:r>
                      <a:r>
                        <a:rPr lang="en-GB" sz="1600" u="none" strike="noStrike" dirty="0" err="1">
                          <a:effectLst/>
                        </a:rPr>
                        <a:t>fg</a:t>
                      </a:r>
                      <a:r>
                        <a:rPr lang="en-GB" sz="1600" u="none" strike="noStrike" dirty="0">
                          <a:effectLst/>
                        </a:rPr>
                        <a:t>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211667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Full team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42.1%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560274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7CEE962-D7E1-D8D0-221C-4FCCE5E9FDD9}"/>
              </a:ext>
            </a:extLst>
          </p:cNvPr>
          <p:cNvSpPr txBox="1"/>
          <p:nvPr/>
        </p:nvSpPr>
        <p:spPr>
          <a:xfrm>
            <a:off x="4883873" y="6431247"/>
            <a:ext cx="2424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does this tell us?</a:t>
            </a:r>
          </a:p>
        </p:txBody>
      </p:sp>
    </p:spTree>
    <p:extLst>
      <p:ext uri="{BB962C8B-B14F-4D97-AF65-F5344CB8AC3E}">
        <p14:creationId xmlns:p14="http://schemas.microsoft.com/office/powerpoint/2010/main" val="721438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00E21B-1982-E0CA-1F9E-8355997AA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604BDD-1EB2-C9AE-AD81-128821271322}"/>
              </a:ext>
            </a:extLst>
          </p:cNvPr>
          <p:cNvSpPr txBox="1">
            <a:spLocks/>
          </p:cNvSpPr>
          <p:nvPr/>
        </p:nvSpPr>
        <p:spPr>
          <a:xfrm>
            <a:off x="838200" y="3110401"/>
            <a:ext cx="10515600" cy="637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b="0" dirty="0"/>
              <a:t>Proportions and relationships</a:t>
            </a:r>
          </a:p>
        </p:txBody>
      </p:sp>
    </p:spTree>
    <p:extLst>
      <p:ext uri="{BB962C8B-B14F-4D97-AF65-F5344CB8AC3E}">
        <p14:creationId xmlns:p14="http://schemas.microsoft.com/office/powerpoint/2010/main" val="94415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A5944-4C96-A4F8-8DAD-11FD4FE62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0931-1412-EB95-F684-18FC16DC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Proportions in sports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70BA-A679-E3B3-2CDB-6C8ECBF18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Question:</a:t>
            </a:r>
            <a:endParaRPr lang="en-GB" dirty="0"/>
          </a:p>
          <a:p>
            <a:r>
              <a:rPr lang="en-GB" dirty="0"/>
              <a:t>What proportion of recorded sessions were games, practices, or strength sessions?</a:t>
            </a:r>
          </a:p>
          <a:p>
            <a:r>
              <a:rPr lang="en-GB" dirty="0"/>
              <a:t>What proportion of successful shots were off short pass sequences (&lt; 3 passes)?</a:t>
            </a:r>
          </a:p>
          <a:p>
            <a:r>
              <a:rPr lang="en-US" dirty="0"/>
              <a:t>what proportion of the team improved in their agility test?</a:t>
            </a:r>
          </a:p>
        </p:txBody>
      </p:sp>
    </p:spTree>
    <p:extLst>
      <p:ext uri="{BB962C8B-B14F-4D97-AF65-F5344CB8AC3E}">
        <p14:creationId xmlns:p14="http://schemas.microsoft.com/office/powerpoint/2010/main" val="3476495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77C8-346C-83D1-109E-FC1C46AF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Proportions in sports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D059-F5DD-2F8D-B24F-112783CB3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 proportion describes a </a:t>
            </a:r>
            <a:r>
              <a:rPr lang="en-GB" b="1" dirty="0"/>
              <a:t>part of a defined whole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Proportion = number in a category ÷ total number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C48FC-44BE-0CA6-C8A5-3F2E2B17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350" y="2462981"/>
            <a:ext cx="4384810" cy="422008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486B41-43E5-C94D-0E0D-7BE0211062F9}"/>
              </a:ext>
            </a:extLst>
          </p:cNvPr>
          <p:cNvSpPr txBox="1">
            <a:spLocks/>
          </p:cNvSpPr>
          <p:nvPr/>
        </p:nvSpPr>
        <p:spPr>
          <a:xfrm>
            <a:off x="838200" y="2462981"/>
            <a:ext cx="6130790" cy="3866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Before calculating: </a:t>
            </a:r>
          </a:p>
          <a:p>
            <a:pPr lvl="1"/>
            <a:r>
              <a:rPr lang="en-GB" b="1" dirty="0"/>
              <a:t>What does one row represent? </a:t>
            </a:r>
          </a:p>
          <a:p>
            <a:pPr lvl="1"/>
            <a:r>
              <a:rPr lang="en-GB" b="1" dirty="0"/>
              <a:t>What counts as the whole?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548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FE07-1833-293C-15EC-FB47DF5F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proportions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B6E7-4F7D-D48A-4D72-B05040ADF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9E972-66CF-B626-22E5-8E96F9DC1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04" y="1699407"/>
            <a:ext cx="4384810" cy="4220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A769C-BFFF-BEF7-24C7-61B7CBDF8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88" y="2966474"/>
            <a:ext cx="4432300" cy="1397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A89D50-D555-7D97-B73C-ADB2F1769349}"/>
              </a:ext>
            </a:extLst>
          </p:cNvPr>
          <p:cNvSpPr/>
          <p:nvPr/>
        </p:nvSpPr>
        <p:spPr>
          <a:xfrm>
            <a:off x="2448233" y="1699407"/>
            <a:ext cx="1061884" cy="4220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9BFC0-F4C8-DB92-36B5-1B33BE71152D}"/>
              </a:ext>
            </a:extLst>
          </p:cNvPr>
          <p:cNvSpPr/>
          <p:nvPr/>
        </p:nvSpPr>
        <p:spPr>
          <a:xfrm>
            <a:off x="4671491" y="1692031"/>
            <a:ext cx="864072" cy="4220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48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F624-A8E3-5DB4-F033-A1832220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a chart for proportions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4E5D6-3571-F5FC-52AD-EEFD47E85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319" y="1515680"/>
            <a:ext cx="10515600" cy="473502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Question:</a:t>
            </a:r>
            <a:r>
              <a:rPr lang="en-GB" dirty="0"/>
              <a:t> Which session type was most common?</a:t>
            </a:r>
          </a:p>
          <a:p>
            <a:pPr lvl="0"/>
            <a:r>
              <a:rPr lang="en-GB" dirty="0"/>
              <a:t>Use a </a:t>
            </a:r>
            <a:r>
              <a:rPr lang="en-GB" b="1" dirty="0"/>
              <a:t>bar chart</a:t>
            </a:r>
            <a:r>
              <a:rPr lang="en-GB" dirty="0"/>
              <a:t> to compare categories.</a:t>
            </a:r>
          </a:p>
          <a:p>
            <a:pPr lvl="1"/>
            <a:r>
              <a:rPr lang="en-GB" dirty="0"/>
              <a:t>categories on one axis and counts or percentages on the other.</a:t>
            </a:r>
          </a:p>
          <a:p>
            <a:pPr lvl="1"/>
            <a:r>
              <a:rPr lang="en-GB" dirty="0"/>
              <a:t>Label whether the bars show </a:t>
            </a:r>
            <a:r>
              <a:rPr lang="en-GB" b="1" dirty="0"/>
              <a:t>counts or percentages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3C5B1-4F8A-3DD1-FB83-8260119F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123" y="3438396"/>
            <a:ext cx="4249993" cy="30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251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501D-3FD4-E380-6CDB-88D103C54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07DD-94B9-8AD4-C201-97F09912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a chart for proportions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65185-98BD-0273-478A-B45F1D5ED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80"/>
            <a:ext cx="10515600" cy="473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</a:t>
            </a:r>
            <a:r>
              <a:rPr lang="en-GB" dirty="0"/>
              <a:t> How is the load within each session type divided between high intensity and other load?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A3F6A-20A1-400F-459A-5BCB626C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944" y="2552789"/>
            <a:ext cx="3632200" cy="2952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628DE3-5933-A0BE-27A0-53051103B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2789"/>
            <a:ext cx="3632201" cy="2952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19ED96-A72B-28C9-3DF4-1A943D2D3F67}"/>
              </a:ext>
            </a:extLst>
          </p:cNvPr>
          <p:cNvSpPr txBox="1"/>
          <p:nvPr/>
        </p:nvSpPr>
        <p:spPr>
          <a:xfrm>
            <a:off x="8886415" y="3196287"/>
            <a:ext cx="29899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*Each bar represents the average total load per session. Each section show high intensity and other load.</a:t>
            </a:r>
          </a:p>
        </p:txBody>
      </p:sp>
    </p:spTree>
    <p:extLst>
      <p:ext uri="{BB962C8B-B14F-4D97-AF65-F5344CB8AC3E}">
        <p14:creationId xmlns:p14="http://schemas.microsoft.com/office/powerpoint/2010/main" val="270171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8578-29F6-6E77-9D50-AFD5EF51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EE0B-70C1-BAFC-395F-A870E203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a chart for proportions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C012-501F-B290-5884-F3EAAF0E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80"/>
            <a:ext cx="10515600" cy="4735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Question: How is the load within each session type divided between high intensity and other load?</a:t>
            </a:r>
          </a:p>
          <a:p>
            <a:pPr lvl="0"/>
            <a:r>
              <a:rPr lang="en-GB" b="1" dirty="0"/>
              <a:t>Stacked bar chart</a:t>
            </a:r>
            <a:r>
              <a:rPr lang="en-GB" dirty="0"/>
              <a:t> when the parts add up to a meaningful total.</a:t>
            </a:r>
          </a:p>
          <a:p>
            <a:pPr lvl="0"/>
            <a:r>
              <a:rPr lang="en-GB" b="1" dirty="0"/>
              <a:t>100% stacked bar chart </a:t>
            </a:r>
            <a:r>
              <a:rPr lang="en-GB" dirty="0"/>
              <a:t>if the question is about the </a:t>
            </a:r>
            <a:r>
              <a:rPr lang="en-GB" i="1" dirty="0"/>
              <a:t>proportion only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72755-FD81-9E19-AA5F-5F35D7426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732" y="3883192"/>
            <a:ext cx="2825496" cy="2296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598D9F-F59B-DE7D-A0C2-87CCB82EF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772" y="3956212"/>
            <a:ext cx="2822473" cy="229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42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35DF4-BBDB-20FC-C593-4B36CFF24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EAA35-DC78-3067-412A-C5EFEAFB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for relationships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CEFDA-550F-D766-B521-807DA814C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We need two </a:t>
            </a:r>
            <a:r>
              <a:rPr lang="en-GB" b="1" dirty="0"/>
              <a:t>numeric variables </a:t>
            </a:r>
            <a:r>
              <a:rPr lang="en-GB" dirty="0"/>
              <a:t>measured on the </a:t>
            </a:r>
            <a:r>
              <a:rPr lang="en-GB" b="1" dirty="0"/>
              <a:t>same observation</a:t>
            </a:r>
            <a:r>
              <a:rPr lang="en-GB" dirty="0"/>
              <a:t>.</a:t>
            </a:r>
          </a:p>
          <a:p>
            <a:pPr lvl="0"/>
            <a:endParaRPr lang="en-GB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7C2BC-7A45-57C4-26E9-3C54C70D8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595" y="2407330"/>
            <a:ext cx="4384810" cy="42200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13DA79-68C6-3521-E1FA-BC617EE92FD4}"/>
              </a:ext>
            </a:extLst>
          </p:cNvPr>
          <p:cNvSpPr/>
          <p:nvPr/>
        </p:nvSpPr>
        <p:spPr>
          <a:xfrm>
            <a:off x="6371697" y="2407330"/>
            <a:ext cx="1052635" cy="4220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3B9BC9-DE80-A281-619A-09AE39BF5FE6}"/>
              </a:ext>
            </a:extLst>
          </p:cNvPr>
          <p:cNvSpPr/>
          <p:nvPr/>
        </p:nvSpPr>
        <p:spPr>
          <a:xfrm>
            <a:off x="7444582" y="2399954"/>
            <a:ext cx="864072" cy="4220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68445-FB53-B31F-6A72-272FEF12C2F7}"/>
              </a:ext>
            </a:extLst>
          </p:cNvPr>
          <p:cNvSpPr/>
          <p:nvPr/>
        </p:nvSpPr>
        <p:spPr>
          <a:xfrm>
            <a:off x="3903595" y="2610466"/>
            <a:ext cx="4405059" cy="2359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22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C4BF6-990C-B175-3D7A-503D9BB2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0049-70A2-BDAB-D879-BBBF7F0A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relationships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B8A3D-07EA-9285-CEAC-8AAA6CAF8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5474929" cy="4735025"/>
          </a:xfrm>
        </p:spPr>
        <p:txBody>
          <a:bodyPr/>
          <a:lstStyle/>
          <a:p>
            <a:pPr marL="0" lvl="0" indent="0">
              <a:buNone/>
            </a:pPr>
            <a:r>
              <a:rPr lang="en-GB" dirty="0"/>
              <a:t>Scatterplots: </a:t>
            </a:r>
          </a:p>
          <a:p>
            <a:r>
              <a:rPr lang="en-GB" dirty="0"/>
              <a:t>Explanatory variable on the x-axis and the outcome on the y-axis.</a:t>
            </a:r>
          </a:p>
          <a:p>
            <a:pPr lvl="1"/>
            <a:r>
              <a:rPr lang="en-GB" dirty="0"/>
              <a:t>x-axis  = duration </a:t>
            </a:r>
          </a:p>
          <a:p>
            <a:pPr lvl="1"/>
            <a:r>
              <a:rPr lang="en-GB" dirty="0"/>
              <a:t>y-axis = total load </a:t>
            </a:r>
          </a:p>
          <a:p>
            <a:r>
              <a:rPr lang="en-GB" dirty="0"/>
              <a:t>Each point represents one session (or one athlete-session, depending on your data).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F12F6-C3D1-22D7-8527-964C3363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129" y="1713477"/>
            <a:ext cx="5156544" cy="41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72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1F21-26E3-5FE3-0A19-BF0E3A5E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a scatterplot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B548E-8CB3-7A19-84E6-3C31B961E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876" y="1441938"/>
            <a:ext cx="5660923" cy="47350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What pattern do you see?</a:t>
            </a:r>
          </a:p>
          <a:p>
            <a:pPr lvl="0"/>
            <a:r>
              <a:rPr lang="en-GB" b="1" dirty="0"/>
              <a:t>Direction: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Do higher values of one variable tend to occur with higher or lower values of the other?</a:t>
            </a:r>
          </a:p>
          <a:p>
            <a:pPr lvl="0"/>
            <a:r>
              <a:rPr lang="en-GB" b="1" dirty="0"/>
              <a:t>Shape: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Is the pattern roughly straight, curved, or unclear?</a:t>
            </a:r>
          </a:p>
          <a:p>
            <a:pPr lvl="0"/>
            <a:r>
              <a:rPr lang="en-GB" b="1" dirty="0"/>
              <a:t>Spread: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How closely do the points follow the pattern?</a:t>
            </a:r>
          </a:p>
          <a:p>
            <a:pPr lvl="0"/>
            <a:r>
              <a:rPr lang="en-GB" b="1" dirty="0"/>
              <a:t>Unusual points or groups: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Is anything worth a closer look?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FB326-41FA-0620-3459-D6D944C21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78" y="1713477"/>
            <a:ext cx="5156544" cy="41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93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404F-54CE-6E44-6C7F-D2AFE399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Interpreting graphs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18C41-0BB5-E5A9-082C-9B4DCAF49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Observation: </a:t>
            </a:r>
          </a:p>
          <a:p>
            <a:r>
              <a:rPr lang="en-GB" dirty="0"/>
              <a:t>Longer sessions tended to have greater total load.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96D9A2-2F45-5210-07EE-B3F5765AA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929" y="2856882"/>
            <a:ext cx="4285944" cy="348420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C181B1-D6B8-7C52-E19D-D549FB5F8DB1}"/>
              </a:ext>
            </a:extLst>
          </p:cNvPr>
          <p:cNvSpPr txBox="1">
            <a:spLocks/>
          </p:cNvSpPr>
          <p:nvPr/>
        </p:nvSpPr>
        <p:spPr>
          <a:xfrm>
            <a:off x="838200" y="2856882"/>
            <a:ext cx="6802729" cy="3484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Questions the graph alone cannot answer:</a:t>
            </a:r>
          </a:p>
          <a:p>
            <a:r>
              <a:rPr lang="en-GB" dirty="0"/>
              <a:t>Were those sessions more </a:t>
            </a:r>
            <a:r>
              <a:rPr lang="en-GB" b="1" dirty="0"/>
              <a:t>intense</a:t>
            </a:r>
            <a:r>
              <a:rPr lang="en-GB" dirty="0"/>
              <a:t>, or simply longer?</a:t>
            </a:r>
          </a:p>
          <a:p>
            <a:r>
              <a:rPr lang="en-GB" dirty="0"/>
              <a:t>Does duration itself explain the pattern?</a:t>
            </a:r>
          </a:p>
          <a:p>
            <a:r>
              <a:rPr lang="en-GB" dirty="0"/>
              <a:t>Would the same pattern appear within each session type?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046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F8A3-C5A0-AE5F-83A1-83746D5F2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2908-1C34-50D0-F144-0420B69D7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18523-7FF2-E83C-3EA1-CF45ED566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901" y="1931858"/>
            <a:ext cx="4285944" cy="3484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104FF1-A1B2-DF67-DAD3-13A01494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671" y="1931858"/>
            <a:ext cx="4285944" cy="348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32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69BE-B427-AD17-F40D-9FBDC7F4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6377-8128-3C14-E606-5E51175D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Workflow: Start with the question, inspect the data, choose a graph, then interpret it.</a:t>
            </a:r>
          </a:p>
          <a:p>
            <a:pPr lvl="0"/>
            <a:r>
              <a:rPr lang="en-GB" dirty="0"/>
              <a:t>Proportions: Define the whole before calculating or graphing its parts.</a:t>
            </a:r>
          </a:p>
          <a:p>
            <a:pPr lvl="0"/>
            <a:r>
              <a:rPr lang="en-GB" dirty="0"/>
              <a:t>Relationships: Use a scatterplot to see how two numeric variables vary together. Describe the pattern before explaining it.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/>
              <a:t>Next time</a:t>
            </a:r>
          </a:p>
          <a:p>
            <a:r>
              <a:rPr lang="en-GB" dirty="0"/>
              <a:t>Exam review: Bring questions from the lectures and case studies.</a:t>
            </a:r>
          </a:p>
        </p:txBody>
      </p:sp>
    </p:spTree>
    <p:extLst>
      <p:ext uri="{BB962C8B-B14F-4D97-AF65-F5344CB8AC3E}">
        <p14:creationId xmlns:p14="http://schemas.microsoft.com/office/powerpoint/2010/main" val="1104664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2464</TotalTime>
  <Words>1157</Words>
  <Application>Microsoft Macintosh PowerPoint</Application>
  <PresentationFormat>Widescreen</PresentationFormat>
  <Paragraphs>345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Wingdings</vt:lpstr>
      <vt:lpstr>Office Theme</vt:lpstr>
      <vt:lpstr>Proportions and relationships</vt:lpstr>
      <vt:lpstr>Workflow </vt:lpstr>
      <vt:lpstr>What am I looking at?</vt:lpstr>
      <vt:lpstr>Which values answer the question?</vt:lpstr>
      <vt:lpstr>Inspecting data</vt:lpstr>
      <vt:lpstr>Which graph answers this question?</vt:lpstr>
      <vt:lpstr>Making the histogram</vt:lpstr>
      <vt:lpstr>What does the distribution tell us?</vt:lpstr>
      <vt:lpstr>What does the distribution tell us?</vt:lpstr>
      <vt:lpstr>Bonus: What changes when we compare groups?</vt:lpstr>
      <vt:lpstr>Bonus: What changes when we compare groups?</vt:lpstr>
      <vt:lpstr>PowerPoint Presentation</vt:lpstr>
      <vt:lpstr>Proportions in sports</vt:lpstr>
      <vt:lpstr>Proportions in sports</vt:lpstr>
      <vt:lpstr>Calculating proportions</vt:lpstr>
      <vt:lpstr>Choosing a chart for proportions</vt:lpstr>
      <vt:lpstr>Choosing a chart for proportions</vt:lpstr>
      <vt:lpstr>Choosing a chart for proportions</vt:lpstr>
      <vt:lpstr>Data for relationships</vt:lpstr>
      <vt:lpstr>Visualizing relationships</vt:lpstr>
      <vt:lpstr>Reading a scatterplot</vt:lpstr>
      <vt:lpstr>Interpreting graphs</vt:lpstr>
      <vt:lpstr>Comparing groups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46</cp:revision>
  <dcterms:created xsi:type="dcterms:W3CDTF">2026-08-17T13:48:23Z</dcterms:created>
  <dcterms:modified xsi:type="dcterms:W3CDTF">2026-09-29T17:55:57Z</dcterms:modified>
</cp:coreProperties>
</file>