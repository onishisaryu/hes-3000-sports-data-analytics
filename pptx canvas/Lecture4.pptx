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22" r:id="rId3"/>
    <p:sldId id="323" r:id="rId4"/>
    <p:sldId id="300" r:id="rId5"/>
    <p:sldId id="317" r:id="rId6"/>
    <p:sldId id="318" r:id="rId7"/>
    <p:sldId id="319" r:id="rId8"/>
    <p:sldId id="316" r:id="rId9"/>
    <p:sldId id="295" r:id="rId10"/>
    <p:sldId id="325" r:id="rId11"/>
    <p:sldId id="299" r:id="rId12"/>
    <p:sldId id="304" r:id="rId13"/>
    <p:sldId id="324" r:id="rId14"/>
    <p:sldId id="326" r:id="rId15"/>
    <p:sldId id="307" r:id="rId16"/>
    <p:sldId id="331" r:id="rId17"/>
    <p:sldId id="327" r:id="rId18"/>
    <p:sldId id="328" r:id="rId19"/>
    <p:sldId id="330" r:id="rId20"/>
    <p:sldId id="30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05"/>
    <p:restoredTop sz="74247"/>
  </p:normalViewPr>
  <p:slideViewPr>
    <p:cSldViewPr snapToGrid="0">
      <p:cViewPr varScale="1">
        <p:scale>
          <a:sx n="95" d="100"/>
          <a:sy n="95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 of the three domains (Tracking, Scouting, Strategy) and how data changes sports decisions.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generated through specific methods, with unique constraints</a:t>
            </a:r>
          </a:p>
          <a:p>
            <a:r>
              <a:rPr lang="en-US" dirty="0"/>
              <a:t>Data may be locked behind paywalls or within organizations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42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Obviously, many sports leagues collect data.</a:t>
            </a:r>
          </a:p>
          <a:p>
            <a:endParaRPr lang="en-US" dirty="0"/>
          </a:p>
          <a:p>
            <a:r>
              <a:rPr lang="en-US" dirty="0"/>
              <a:t>Not only for business but also for performance! Eg: </a:t>
            </a:r>
            <a:r>
              <a:rPr lang="en-US" dirty="0" err="1"/>
              <a:t>nextgen</a:t>
            </a:r>
            <a:r>
              <a:rPr lang="en-US" dirty="0"/>
              <a:t> stats</a:t>
            </a:r>
          </a:p>
          <a:p>
            <a:endParaRPr lang="en-US" dirty="0"/>
          </a:p>
          <a:p>
            <a:r>
              <a:rPr lang="en-US" dirty="0"/>
              <a:t>This is how they control game data. data is distributed to teams </a:t>
            </a:r>
          </a:p>
          <a:p>
            <a:endParaRPr lang="en-US" dirty="0"/>
          </a:p>
          <a:p>
            <a:r>
              <a:rPr lang="en-US" dirty="0"/>
              <a:t>Consistency is a major benefit</a:t>
            </a:r>
          </a:p>
          <a:p>
            <a:endParaRPr lang="en-US" dirty="0"/>
          </a:p>
          <a:p>
            <a:r>
              <a:rPr lang="en-US" dirty="0"/>
              <a:t>Might not get what you need from the one size fits all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848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teams may have more specific needs, they collect their own data</a:t>
            </a:r>
          </a:p>
          <a:p>
            <a:endParaRPr lang="en-US" dirty="0"/>
          </a:p>
          <a:p>
            <a:r>
              <a:rPr lang="en-US" dirty="0"/>
              <a:t>Its all about the competitive adv</a:t>
            </a:r>
          </a:p>
          <a:p>
            <a:endParaRPr lang="en-US" dirty="0"/>
          </a:p>
          <a:p>
            <a:r>
              <a:rPr lang="en-US" dirty="0"/>
              <a:t>Great for the team</a:t>
            </a:r>
          </a:p>
          <a:p>
            <a:endParaRPr lang="en-US" dirty="0"/>
          </a:p>
          <a:p>
            <a:r>
              <a:rPr lang="en-US" dirty="0"/>
              <a:t>Difficult for anyone outside to use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63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(leagues and teams) buy data from companies. </a:t>
            </a:r>
          </a:p>
          <a:p>
            <a:endParaRPr lang="en-US" dirty="0"/>
          </a:p>
          <a:p>
            <a:r>
              <a:rPr lang="en-US" dirty="0"/>
              <a:t>Its </a:t>
            </a:r>
            <a:r>
              <a:rPr lang="en-US" dirty="0" err="1"/>
              <a:t>unreasobale</a:t>
            </a:r>
            <a:r>
              <a:rPr lang="en-US" dirty="0"/>
              <a:t> to develop own tech to collect, or to do observational for everything</a:t>
            </a:r>
          </a:p>
          <a:p>
            <a:endParaRPr lang="en-US" dirty="0"/>
          </a:p>
          <a:p>
            <a:r>
              <a:rPr lang="en-US" dirty="0"/>
              <a:t>These data gets integrated into systems</a:t>
            </a:r>
          </a:p>
          <a:p>
            <a:endParaRPr lang="en-US" dirty="0"/>
          </a:p>
          <a:p>
            <a:r>
              <a:rPr lang="en-US" dirty="0"/>
              <a:t>This offloads </a:t>
            </a:r>
            <a:r>
              <a:rPr lang="en-US" dirty="0" err="1"/>
              <a:t>responability</a:t>
            </a:r>
            <a:r>
              <a:rPr lang="en-US" dirty="0"/>
              <a:t> and expertise</a:t>
            </a:r>
          </a:p>
          <a:p>
            <a:endParaRPr lang="en-US" dirty="0"/>
          </a:p>
          <a:p>
            <a:r>
              <a:rPr lang="en-US" dirty="0"/>
              <a:t>Offloading / outsourcing means giving up control and to some degree, competitive advantage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64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when observations are recorded.</a:t>
            </a:r>
          </a:p>
          <a:p>
            <a:endParaRPr lang="en-US" dirty="0"/>
          </a:p>
          <a:p>
            <a:r>
              <a:rPr lang="en-US" dirty="0"/>
              <a:t>This is MULTIMEDIA (reference). Raw = “FILM”, coded = stat sheet</a:t>
            </a:r>
          </a:p>
          <a:p>
            <a:endParaRPr lang="en-US" dirty="0"/>
          </a:p>
          <a:p>
            <a:r>
              <a:rPr lang="en-US" dirty="0"/>
              <a:t>Schema = rules, categories, framework. Eg: often tagging video means assigning specific action to an observation</a:t>
            </a:r>
          </a:p>
          <a:p>
            <a:r>
              <a:rPr lang="en-US" b="1" dirty="0"/>
              <a:t>Subjective </a:t>
            </a:r>
            <a:r>
              <a:rPr lang="en-US" dirty="0"/>
              <a:t>= low interrater reliability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10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we do in research. </a:t>
            </a:r>
          </a:p>
          <a:p>
            <a:endParaRPr lang="en-US" dirty="0"/>
          </a:p>
          <a:p>
            <a:r>
              <a:rPr lang="en-US" dirty="0"/>
              <a:t>Attempt to control all confounding factors to measure one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23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Emphasize that people decide what counts, how categories are defined, and when an event is recorded.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66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player performs a jump → force plates record force → software identifies takeoff → an equation estimates jump height → one jump-height value appears in a table.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67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ERROR!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63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6E8C1D3-413D-3F8C-2B71-1C4EB0ADE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93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Generating and Collecting Sports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8700-9D67-E34D-9F18-BE6B2349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D9446-F245-5CDC-0CBD-79A75C670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4901" y="2754216"/>
            <a:ext cx="2389742" cy="123388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Public</a:t>
            </a:r>
          </a:p>
          <a:p>
            <a:r>
              <a:rPr lang="en-US" dirty="0"/>
              <a:t>General purpose</a:t>
            </a:r>
          </a:p>
          <a:p>
            <a:r>
              <a:rPr lang="en-US" dirty="0"/>
              <a:t>Aggregated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6ADFF2-20E1-B0BA-5CBA-F8821105780E}"/>
              </a:ext>
            </a:extLst>
          </p:cNvPr>
          <p:cNvSpPr txBox="1">
            <a:spLocks/>
          </p:cNvSpPr>
          <p:nvPr/>
        </p:nvSpPr>
        <p:spPr>
          <a:xfrm>
            <a:off x="7380384" y="2754216"/>
            <a:ext cx="2389742" cy="123388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Proprietary</a:t>
            </a:r>
          </a:p>
          <a:p>
            <a:r>
              <a:rPr lang="en-US" dirty="0"/>
              <a:t>Specific purpose</a:t>
            </a:r>
          </a:p>
          <a:p>
            <a:r>
              <a:rPr lang="en-US" dirty="0"/>
              <a:t>Granular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1EE4C97-FAF1-0774-517F-CF89FCE94A04}"/>
              </a:ext>
            </a:extLst>
          </p:cNvPr>
          <p:cNvSpPr/>
          <p:nvPr/>
        </p:nvSpPr>
        <p:spPr>
          <a:xfrm>
            <a:off x="1663547" y="2269583"/>
            <a:ext cx="7875225" cy="484632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Difficulty</a:t>
            </a:r>
          </a:p>
        </p:txBody>
      </p:sp>
    </p:spTree>
    <p:extLst>
      <p:ext uri="{BB962C8B-B14F-4D97-AF65-F5344CB8AC3E}">
        <p14:creationId xmlns:p14="http://schemas.microsoft.com/office/powerpoint/2010/main" val="319342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A65CE-D687-E007-4B80-A84047E3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0AFC4F-84DE-2AD3-7427-F24706CD3C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E337FC-6068-4F92-EE29-BC575889CAFF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u="sng" dirty="0"/>
              <a:t>WHO </a:t>
            </a:r>
          </a:p>
          <a:p>
            <a:pPr algn="ctr"/>
            <a:r>
              <a:rPr lang="en-US" b="0" dirty="0"/>
              <a:t>Collects sports data?</a:t>
            </a:r>
          </a:p>
        </p:txBody>
      </p:sp>
    </p:spTree>
    <p:extLst>
      <p:ext uri="{BB962C8B-B14F-4D97-AF65-F5344CB8AC3E}">
        <p14:creationId xmlns:p14="http://schemas.microsoft.com/office/powerpoint/2010/main" val="72364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9536-34E9-5842-052B-87FE8B51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League/Competition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CC1C-2C03-5328-F3F9-C0BA34B8C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Leagues may provide standardize data across all teams/matches</a:t>
            </a:r>
          </a:p>
          <a:p>
            <a:pPr lvl="1"/>
            <a:r>
              <a:rPr lang="en-US" dirty="0"/>
              <a:t>Examples: NBA stats, FIFA match data</a:t>
            </a:r>
          </a:p>
          <a:p>
            <a:pPr lvl="1"/>
            <a:endParaRPr lang="en-US" dirty="0"/>
          </a:p>
          <a:p>
            <a:r>
              <a:rPr lang="en-US" dirty="0"/>
              <a:t>Pros: </a:t>
            </a:r>
          </a:p>
          <a:p>
            <a:pPr lvl="1"/>
            <a:r>
              <a:rPr lang="en-US" dirty="0"/>
              <a:t>Standardized</a:t>
            </a:r>
          </a:p>
          <a:p>
            <a:pPr lvl="1"/>
            <a:r>
              <a:rPr lang="en-US" dirty="0"/>
              <a:t>Easy to access</a:t>
            </a:r>
          </a:p>
          <a:p>
            <a:pPr lvl="1"/>
            <a:endParaRPr lang="en-US" dirty="0"/>
          </a:p>
          <a:p>
            <a:r>
              <a:rPr lang="en-US" dirty="0"/>
              <a:t>Cons: </a:t>
            </a:r>
          </a:p>
          <a:p>
            <a:pPr lvl="1"/>
            <a:r>
              <a:rPr lang="en-US" dirty="0"/>
              <a:t>One-size-fits-all</a:t>
            </a:r>
          </a:p>
          <a:p>
            <a:pPr lvl="1"/>
            <a:r>
              <a:rPr lang="en-US" dirty="0"/>
              <a:t>Slow to innovate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81817-B848-C6B6-908F-46D88AFA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074" name="Picture 2" descr="The &quot;Iron Man&quot; Streaks From The &quot;Big 4&quot; Pro Sports Leagues | Couch Guy  Sports">
            <a:extLst>
              <a:ext uri="{FF2B5EF4-FFF2-40B4-BE49-F238E27FC236}">
                <a16:creationId xmlns:a16="http://schemas.microsoft.com/office/drawing/2014/main" id="{B9932B65-E64A-92F5-58BB-4924836AA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611" y="3688141"/>
            <a:ext cx="23622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ESPN Logo and symbol, meaning, history, PNG, brand">
            <a:extLst>
              <a:ext uri="{FF2B5EF4-FFF2-40B4-BE49-F238E27FC236}">
                <a16:creationId xmlns:a16="http://schemas.microsoft.com/office/drawing/2014/main" id="{AC75282A-68E0-AE97-8025-DA9DE6C8A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811" y="2284881"/>
            <a:ext cx="2033989" cy="114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0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4240-5AB5-0804-5DC4-0835D764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Teams (Internal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1AD83-A5A8-0F3A-9C1F-B533758FA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Teams often try to collect and analyze data to gain a competitive advantage</a:t>
            </a:r>
          </a:p>
          <a:p>
            <a:pPr lvl="1"/>
            <a:r>
              <a:rPr lang="en-US" dirty="0"/>
              <a:t>Examples: Proprietary load monitoring, custom tactical metrics</a:t>
            </a:r>
          </a:p>
          <a:p>
            <a:pPr lvl="1"/>
            <a:endParaRPr lang="en-US" dirty="0"/>
          </a:p>
          <a:p>
            <a:r>
              <a:rPr lang="en-US" dirty="0"/>
              <a:t>Pros: </a:t>
            </a:r>
          </a:p>
          <a:p>
            <a:pPr lvl="1"/>
            <a:r>
              <a:rPr lang="en-US" dirty="0"/>
              <a:t>Tailored to specific analytical needs</a:t>
            </a:r>
          </a:p>
          <a:p>
            <a:pPr lvl="1"/>
            <a:r>
              <a:rPr lang="en-US" dirty="0"/>
              <a:t>May create competitive advantage</a:t>
            </a:r>
          </a:p>
          <a:p>
            <a:pPr lvl="1"/>
            <a:endParaRPr lang="en-US" dirty="0"/>
          </a:p>
          <a:p>
            <a:r>
              <a:rPr lang="en-US" dirty="0"/>
              <a:t>Cons: </a:t>
            </a:r>
          </a:p>
          <a:p>
            <a:pPr lvl="1"/>
            <a:r>
              <a:rPr lang="en-US" dirty="0"/>
              <a:t>No external benchmarks</a:t>
            </a:r>
          </a:p>
          <a:p>
            <a:pPr lvl="1"/>
            <a:r>
              <a:rPr lang="en-US" dirty="0"/>
              <a:t>Inaccessible to outsiders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DE03A-283E-CD8B-49EC-E37FA4C7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1A8B2-7F0A-0B4B-DB14-B6591625B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75" y="3324815"/>
            <a:ext cx="1568450" cy="1441450"/>
          </a:xfrm>
          <a:prstGeom prst="rect">
            <a:avLst/>
          </a:prstGeom>
        </p:spPr>
      </p:pic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E465AC3B-EE9C-AF04-727F-0365D0FF0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0366" y="5134264"/>
            <a:ext cx="2643668" cy="56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2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1270-0B0D-0182-4AD3-6126C43F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Third-Party Vendors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F37B4-2B7B-F774-0D1E-B1FBD9FDD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 businesses sell data collection technology and data analysis software</a:t>
            </a:r>
          </a:p>
          <a:p>
            <a:pPr lvl="1"/>
            <a:r>
              <a:rPr lang="en-US" dirty="0"/>
              <a:t>Opta, Stats Perform, Catapult, </a:t>
            </a:r>
            <a:r>
              <a:rPr lang="en-US" dirty="0" err="1"/>
              <a:t>Kinexon</a:t>
            </a:r>
            <a:r>
              <a:rPr lang="en-US" dirty="0"/>
              <a:t>, etc. </a:t>
            </a:r>
          </a:p>
          <a:p>
            <a:pPr lvl="1"/>
            <a:endParaRPr lang="en-US" dirty="0"/>
          </a:p>
          <a:p>
            <a:r>
              <a:rPr lang="en-US" dirty="0"/>
              <a:t>Pros: </a:t>
            </a:r>
          </a:p>
          <a:p>
            <a:pPr lvl="1"/>
            <a:r>
              <a:rPr lang="en-US" dirty="0"/>
              <a:t>Expertise and scale </a:t>
            </a:r>
          </a:p>
          <a:p>
            <a:pPr lvl="1"/>
            <a:r>
              <a:rPr lang="en-US" dirty="0"/>
              <a:t>Access (for a price)</a:t>
            </a:r>
          </a:p>
          <a:p>
            <a:pPr lvl="1"/>
            <a:endParaRPr lang="en-US" dirty="0"/>
          </a:p>
          <a:p>
            <a:r>
              <a:rPr lang="en-US" dirty="0"/>
              <a:t>Cons: </a:t>
            </a:r>
          </a:p>
          <a:p>
            <a:pPr lvl="1"/>
            <a:r>
              <a:rPr lang="en-US" dirty="0"/>
              <a:t>Black box algorithms</a:t>
            </a:r>
          </a:p>
          <a:p>
            <a:pPr lvl="1"/>
            <a:r>
              <a:rPr lang="en-US" dirty="0"/>
              <a:t>Vendor lock-in</a:t>
            </a:r>
          </a:p>
          <a:p>
            <a:pPr lvl="1"/>
            <a:r>
              <a:rPr lang="en-US" dirty="0"/>
              <a:t>Minimal competitive advantage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0D0F3-3D7A-5BC1-CCE1-B7AC90E6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122" name="Picture 2" descr="Who Will Win La Liga in 2024-25? The Opta Stats, Insights and Predictions |  Opta Analyst">
            <a:extLst>
              <a:ext uri="{FF2B5EF4-FFF2-40B4-BE49-F238E27FC236}">
                <a16:creationId xmlns:a16="http://schemas.microsoft.com/office/drawing/2014/main" id="{45290211-E936-205A-C983-67FAEEF2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55" y="1999086"/>
            <a:ext cx="3123470" cy="2342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C6C06A-098A-361F-00AE-4B7143D14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452" y="4457108"/>
            <a:ext cx="3398675" cy="226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6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A765-A1A4-3911-3A6E-15C2E6CD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Academic/Research Institutions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4CED-49EF-2AE7-D405-CAD7A8090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institutions prioritize methodological rigor.</a:t>
            </a:r>
          </a:p>
          <a:p>
            <a:endParaRPr lang="en-US" dirty="0"/>
          </a:p>
          <a:p>
            <a:r>
              <a:rPr lang="en-US" dirty="0"/>
              <a:t>Pros: </a:t>
            </a:r>
          </a:p>
          <a:p>
            <a:pPr lvl="1"/>
            <a:r>
              <a:rPr lang="en-US" dirty="0"/>
              <a:t>Reliable methods</a:t>
            </a:r>
          </a:p>
          <a:p>
            <a:pPr lvl="1"/>
            <a:r>
              <a:rPr lang="en-US" dirty="0"/>
              <a:t>scientific collaboration</a:t>
            </a:r>
          </a:p>
          <a:p>
            <a:r>
              <a:rPr lang="en-US" dirty="0"/>
              <a:t>Cons: </a:t>
            </a:r>
          </a:p>
          <a:p>
            <a:pPr lvl="1"/>
            <a:r>
              <a:rPr lang="en-US" dirty="0"/>
              <a:t>Limited samples</a:t>
            </a:r>
          </a:p>
          <a:p>
            <a:pPr lvl="1"/>
            <a:r>
              <a:rPr lang="en-US" dirty="0"/>
              <a:t>specific contexts</a:t>
            </a:r>
          </a:p>
          <a:p>
            <a:pPr lvl="1"/>
            <a:r>
              <a:rPr lang="en-US" dirty="0"/>
              <a:t>slow dissemination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A0497-67F7-FFFD-0541-58B52D16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35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00E21B-1982-E0CA-1F9E-8355997AA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604BDD-1EB2-C9AE-AD81-128821271322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u="sng" dirty="0"/>
              <a:t>How </a:t>
            </a:r>
          </a:p>
          <a:p>
            <a:pPr algn="ctr"/>
            <a:r>
              <a:rPr lang="en-US" b="0" dirty="0"/>
              <a:t>is sports data collected?</a:t>
            </a:r>
          </a:p>
        </p:txBody>
      </p:sp>
    </p:spTree>
    <p:extLst>
      <p:ext uri="{BB962C8B-B14F-4D97-AF65-F5344CB8AC3E}">
        <p14:creationId xmlns:p14="http://schemas.microsoft.com/office/powerpoint/2010/main" val="94415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EFF20-7721-22CF-0B9C-022544814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Scout with notebook, coach's tactical board, video coding</a:t>
            </a:r>
          </a:p>
          <a:p>
            <a:r>
              <a:rPr lang="en-US" dirty="0"/>
              <a:t>Strengths: Contextual, can capture nuanced behaviors</a:t>
            </a:r>
          </a:p>
          <a:p>
            <a:r>
              <a:rPr lang="en-US" dirty="0"/>
              <a:t>Limitations: Schema determines possibilities, subjective, time-intensive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425CF-433B-BA64-63C0-A6A6E36B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E157F-E6F6-FE34-3C0A-A701E167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Observational</a:t>
            </a:r>
          </a:p>
        </p:txBody>
      </p:sp>
      <p:pic>
        <p:nvPicPr>
          <p:cNvPr id="5" name="Picture 8" descr="OHSBVA State Final Tournament 2019 - success!! - VolleyWrite">
            <a:extLst>
              <a:ext uri="{FF2B5EF4-FFF2-40B4-BE49-F238E27FC236}">
                <a16:creationId xmlns:a16="http://schemas.microsoft.com/office/drawing/2014/main" id="{BCEFB3CC-B7B4-7D4C-8DB2-40A38A2A3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491" y="3994202"/>
            <a:ext cx="3247018" cy="243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874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69E2-ADD5-9513-DEE8-667A2F8D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technologies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9714D1-2D51-D710-B7C4-C1D1CE6178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1938"/>
                <a:ext cx="7468518" cy="473502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Optical Tracking: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Camera-based spatial coordinates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). </a:t>
                </a:r>
              </a:p>
              <a:p>
                <a:pPr lvl="1"/>
                <a:r>
                  <a:rPr lang="en-US" dirty="0"/>
                  <a:t>Non-invasive, but venue-dependent, expensive, and generates massive data volumes.</a:t>
                </a:r>
              </a:p>
              <a:p>
                <a:pPr lvl="1"/>
                <a:r>
                  <a:rPr lang="en-US" dirty="0"/>
                  <a:t>Eg: Second Spectrum, Hawk-Eye</a:t>
                </a:r>
              </a:p>
              <a:p>
                <a:endParaRPr lang="en-US" dirty="0"/>
              </a:p>
              <a:p>
                <a:r>
                  <a:rPr lang="en-US" b="1" dirty="0"/>
                  <a:t>Wearables &amp; IMUs: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Continuous physiological/mechanical load metrics. </a:t>
                </a:r>
              </a:p>
              <a:p>
                <a:pPr lvl="1"/>
                <a:r>
                  <a:rPr lang="en-US" dirty="0"/>
                  <a:t>Highly specific but requires athlete buy-in</a:t>
                </a:r>
              </a:p>
              <a:p>
                <a:pPr lvl="1"/>
                <a:r>
                  <a:rPr lang="en-US" dirty="0"/>
                  <a:t>Eg: GPS, Accelerometers, HR Monitors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9714D1-2D51-D710-B7C4-C1D1CE6178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1938"/>
                <a:ext cx="7468518" cy="4735025"/>
              </a:xfrm>
              <a:blipFill>
                <a:blip r:embed="rId2"/>
                <a:stretch>
                  <a:fillRect l="-1469" t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econd Spectrum: The technology behind MLS and Premier League - Soccerscene">
            <a:extLst>
              <a:ext uri="{FF2B5EF4-FFF2-40B4-BE49-F238E27FC236}">
                <a16:creationId xmlns:a16="http://schemas.microsoft.com/office/drawing/2014/main" id="{1EBFA67E-4FFC-D6DA-E784-22685B546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887" y="1577917"/>
            <a:ext cx="3337938" cy="1666837"/>
          </a:xfrm>
          <a:prstGeom prst="rect">
            <a:avLst/>
          </a:prstGeom>
        </p:spPr>
      </p:pic>
      <p:pic>
        <p:nvPicPr>
          <p:cNvPr id="7" name="Picture 4" descr="CeeDee Lamb Week 14 Route Chart">
            <a:extLst>
              <a:ext uri="{FF2B5EF4-FFF2-40B4-BE49-F238E27FC236}">
                <a16:creationId xmlns:a16="http://schemas.microsoft.com/office/drawing/2014/main" id="{14DD1195-0F54-F817-82EA-24DA7D044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67"/>
          <a:stretch>
            <a:fillRect/>
          </a:stretch>
        </p:blipFill>
        <p:spPr bwMode="auto">
          <a:xfrm>
            <a:off x="8063771" y="3727043"/>
            <a:ext cx="3691054" cy="276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09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868D-F290-D41F-017D-CC78BB48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Laboratory Equipment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0005C-E234-D3D0-0721-0BEDD50AF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Force plates, motion capture, metabolic carts, isokinetic testing</a:t>
            </a:r>
          </a:p>
          <a:p>
            <a:r>
              <a:rPr lang="en-US" dirty="0"/>
              <a:t>Strengths: Gold-standard precision, controlled conditions</a:t>
            </a:r>
          </a:p>
          <a:p>
            <a:r>
              <a:rPr lang="en-US" dirty="0"/>
              <a:t>Limitations: Artificial environment, doesn't capture competition reality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74B61-C709-B22E-906B-50CED316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27312-A5DF-983E-CF6C-4E853A0FC7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385" b="-3"/>
          <a:stretch/>
        </p:blipFill>
        <p:spPr>
          <a:xfrm>
            <a:off x="2607482" y="3809450"/>
            <a:ext cx="2371985" cy="2655887"/>
          </a:xfrm>
          <a:prstGeom prst="rect">
            <a:avLst/>
          </a:prstGeom>
          <a:noFill/>
        </p:spPr>
      </p:pic>
      <p:pic>
        <p:nvPicPr>
          <p:cNvPr id="6" name="Picture 5" descr="ForceDecks | Portable, powerful and easy-to-use force plates">
            <a:extLst>
              <a:ext uri="{FF2B5EF4-FFF2-40B4-BE49-F238E27FC236}">
                <a16:creationId xmlns:a16="http://schemas.microsoft.com/office/drawing/2014/main" id="{B5410419-1C73-2F8C-41C0-72E67E01D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956" y="3836397"/>
            <a:ext cx="4832274" cy="270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1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BE8F-7B77-BB8D-015E-32379697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vs Instrument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F9934-70B9-FDF2-D3D2-0E2FCD711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9"/>
            <a:ext cx="10515600" cy="338914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Human-recorded data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Scouting grades </a:t>
            </a:r>
          </a:p>
          <a:p>
            <a:pPr lvl="1"/>
            <a:r>
              <a:rPr lang="en-US" dirty="0"/>
              <a:t>Notational analysis </a:t>
            </a:r>
          </a:p>
          <a:p>
            <a:pPr lvl="1"/>
            <a:r>
              <a:rPr lang="en-US" dirty="0"/>
              <a:t>Coach observations </a:t>
            </a:r>
          </a:p>
          <a:p>
            <a:pPr lvl="1"/>
            <a:r>
              <a:rPr lang="en-US" dirty="0"/>
              <a:t>Injury or participation records </a:t>
            </a:r>
          </a:p>
          <a:p>
            <a:pPr lvl="1"/>
            <a:r>
              <a:rPr lang="en-US" dirty="0"/>
              <a:t>Event tagging </a:t>
            </a:r>
          </a:p>
          <a:p>
            <a:pPr marL="0" indent="0">
              <a:buNone/>
            </a:pPr>
            <a:r>
              <a:rPr lang="en-US" dirty="0"/>
              <a:t>Instrument-generated data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GPS or local positioning systems </a:t>
            </a:r>
          </a:p>
          <a:p>
            <a:pPr lvl="1"/>
            <a:r>
              <a:rPr lang="en-US" dirty="0"/>
              <a:t>Optical tracking </a:t>
            </a:r>
          </a:p>
          <a:p>
            <a:pPr lvl="1"/>
            <a:r>
              <a:rPr lang="en-US" dirty="0"/>
              <a:t>Force plates </a:t>
            </a:r>
          </a:p>
          <a:p>
            <a:pPr lvl="1"/>
            <a:r>
              <a:rPr lang="en-US" dirty="0"/>
              <a:t>Heart-rate monitors </a:t>
            </a:r>
          </a:p>
          <a:p>
            <a:pPr lvl="1"/>
            <a:r>
              <a:rPr lang="en-US" dirty="0"/>
              <a:t>Timing systems</a:t>
            </a:r>
          </a:p>
        </p:txBody>
      </p:sp>
    </p:spTree>
    <p:extLst>
      <p:ext uri="{BB962C8B-B14F-4D97-AF65-F5344CB8AC3E}">
        <p14:creationId xmlns:p14="http://schemas.microsoft.com/office/powerpoint/2010/main" val="501822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8F70-F0ED-FF93-23F9-3CFDFF8A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vs Secondary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75FD7-F6EF-21B5-1F90-01C27074E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4681251" cy="47350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Primary data</a:t>
            </a:r>
          </a:p>
          <a:p>
            <a:r>
              <a:rPr lang="en-US" sz="2400" dirty="0"/>
              <a:t>You collect data for a specific question</a:t>
            </a:r>
          </a:p>
          <a:p>
            <a:endParaRPr lang="en-US" sz="2400" dirty="0"/>
          </a:p>
          <a:p>
            <a:pPr lvl="2"/>
            <a:endParaRPr lang="en-US" sz="1600" dirty="0"/>
          </a:p>
          <a:p>
            <a:r>
              <a:rPr lang="en-US" sz="2400" dirty="0"/>
              <a:t>Pros: Full control over what and how data are collected</a:t>
            </a:r>
          </a:p>
          <a:p>
            <a:endParaRPr lang="en-US" sz="2400" dirty="0"/>
          </a:p>
          <a:p>
            <a:r>
              <a:rPr lang="en-US" sz="2400" dirty="0"/>
              <a:t>Cons: Time and resource intensive, access can be a challenge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42BA21-915D-7606-28C9-C8F0406C1A53}"/>
              </a:ext>
            </a:extLst>
          </p:cNvPr>
          <p:cNvSpPr txBox="1">
            <a:spLocks/>
          </p:cNvSpPr>
          <p:nvPr/>
        </p:nvSpPr>
        <p:spPr>
          <a:xfrm>
            <a:off x="6672549" y="1441937"/>
            <a:ext cx="4681251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Secondary data</a:t>
            </a:r>
          </a:p>
          <a:p>
            <a:r>
              <a:rPr lang="en-US" sz="2400" dirty="0"/>
              <a:t>Data collected by someone else for their specific question or general use case</a:t>
            </a:r>
          </a:p>
          <a:p>
            <a:pPr lvl="1"/>
            <a:endParaRPr lang="en-US" sz="2000" dirty="0"/>
          </a:p>
          <a:p>
            <a:r>
              <a:rPr lang="en-US" sz="2400" dirty="0"/>
              <a:t>Pros: does not require time and resources, or direct access to sport or athlete</a:t>
            </a:r>
          </a:p>
          <a:p>
            <a:pPr lvl="1"/>
            <a:endParaRPr lang="en-US" sz="2000" dirty="0"/>
          </a:p>
          <a:p>
            <a:r>
              <a:rPr lang="en-US" sz="2400" dirty="0"/>
              <a:t>Cons: may not fit your analytical question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E722DF-B9E8-CE3D-0272-E17730388442}"/>
              </a:ext>
            </a:extLst>
          </p:cNvPr>
          <p:cNvSpPr/>
          <p:nvPr/>
        </p:nvSpPr>
        <p:spPr>
          <a:xfrm>
            <a:off x="6544019" y="1277816"/>
            <a:ext cx="4913523" cy="4735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70D35-19CD-D75C-C742-343A28E99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B1A78A-0E4F-B83D-1AEB-F5758F868C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245A71A-35B7-A6C4-643C-B010098949BD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u="sng" dirty="0"/>
              <a:t>What </a:t>
            </a:r>
          </a:p>
          <a:p>
            <a:pPr algn="ctr"/>
            <a:r>
              <a:rPr lang="en-US" b="0" dirty="0"/>
              <a:t>Does this data represent?</a:t>
            </a:r>
          </a:p>
        </p:txBody>
      </p:sp>
    </p:spTree>
    <p:extLst>
      <p:ext uri="{BB962C8B-B14F-4D97-AF65-F5344CB8AC3E}">
        <p14:creationId xmlns:p14="http://schemas.microsoft.com/office/powerpoint/2010/main" val="1742538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46BD-B47B-3F1A-CF07-4C0CF5A8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</a:t>
            </a:r>
            <a:r>
              <a:rPr lang="en-US" dirty="0">
                <a:sym typeface="Wingdings" panose="05000000000000000000" pitchFamily="2" charset="2"/>
              </a:rPr>
              <a:t> Dataset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7117C-B714-3289-DBC3-DCB4D3742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 → data collection → data processing → analytics</a:t>
            </a:r>
          </a:p>
        </p:txBody>
      </p:sp>
      <p:pic>
        <p:nvPicPr>
          <p:cNvPr id="5" name="Picture 2" descr="Diagram of countermovement jump. | Download Scientific Diagram">
            <a:extLst>
              <a:ext uri="{FF2B5EF4-FFF2-40B4-BE49-F238E27FC236}">
                <a16:creationId xmlns:a16="http://schemas.microsoft.com/office/drawing/2014/main" id="{B3B6C94F-CF47-C103-7C87-7E2659682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36" y="3098474"/>
            <a:ext cx="4279453" cy="127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18">
            <a:extLst>
              <a:ext uri="{FF2B5EF4-FFF2-40B4-BE49-F238E27FC236}">
                <a16:creationId xmlns:a16="http://schemas.microsoft.com/office/drawing/2014/main" id="{5C6E8D06-64E1-3769-F204-BFB5ADA16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531" y="3195150"/>
            <a:ext cx="5570680" cy="3063874"/>
          </a:xfrm>
          <a:prstGeom prst="rect">
            <a:avLst/>
          </a:prstGeom>
        </p:spPr>
      </p:pic>
      <p:pic>
        <p:nvPicPr>
          <p:cNvPr id="7" name="Picture 6" descr="Data processing - Free seo and web icons">
            <a:extLst>
              <a:ext uri="{FF2B5EF4-FFF2-40B4-BE49-F238E27FC236}">
                <a16:creationId xmlns:a16="http://schemas.microsoft.com/office/drawing/2014/main" id="{548EE514-6EC3-8745-7D98-4150BDBF3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563" y="4541397"/>
            <a:ext cx="1799688" cy="1799688"/>
          </a:xfrm>
          <a:prstGeom prst="rect">
            <a:avLst/>
          </a:prstGeom>
        </p:spPr>
      </p:pic>
      <p:sp>
        <p:nvSpPr>
          <p:cNvPr id="8" name="Arrow: Bent-Up 7">
            <a:extLst>
              <a:ext uri="{FF2B5EF4-FFF2-40B4-BE49-F238E27FC236}">
                <a16:creationId xmlns:a16="http://schemas.microsoft.com/office/drawing/2014/main" id="{DB4555FB-498A-94EB-A4DE-00C7F5AC488C}"/>
              </a:ext>
            </a:extLst>
          </p:cNvPr>
          <p:cNvSpPr/>
          <p:nvPr/>
        </p:nvSpPr>
        <p:spPr>
          <a:xfrm rot="5400000">
            <a:off x="1465203" y="4504767"/>
            <a:ext cx="850392" cy="1022555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34C6BDC-57E4-5E2E-B743-C396869D8BCA}"/>
              </a:ext>
            </a:extLst>
          </p:cNvPr>
          <p:cNvSpPr/>
          <p:nvPr/>
        </p:nvSpPr>
        <p:spPr>
          <a:xfrm>
            <a:off x="4777615" y="51737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4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D1E6-8E7D-C3E1-16FA-A53AB58BE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from the “what”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DA3A8-A273-A58A-F996-16C833703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18">
            <a:extLst>
              <a:ext uri="{FF2B5EF4-FFF2-40B4-BE49-F238E27FC236}">
                <a16:creationId xmlns:a16="http://schemas.microsoft.com/office/drawing/2014/main" id="{AE96E68C-F13F-EEF7-7503-8C3F593DE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987637" cy="2743200"/>
          </a:xfrm>
          <a:prstGeom prst="rect">
            <a:avLst/>
          </a:prstGeom>
        </p:spPr>
      </p:pic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833F9C5C-4F86-DED6-5007-DDD796369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165" y="3429000"/>
            <a:ext cx="4987636" cy="2743200"/>
          </a:xfrm>
          <a:prstGeom prst="rect">
            <a:avLst/>
          </a:prstGeom>
        </p:spPr>
      </p:pic>
      <p:pic>
        <p:nvPicPr>
          <p:cNvPr id="7" name="Picture 2" descr="Diagram of countermovement jump. | Download Scientific Diagram">
            <a:extLst>
              <a:ext uri="{FF2B5EF4-FFF2-40B4-BE49-F238E27FC236}">
                <a16:creationId xmlns:a16="http://schemas.microsoft.com/office/drawing/2014/main" id="{CF2F1ED6-7068-EA91-3D3F-1BAE66AE7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10" y="1311035"/>
            <a:ext cx="4279453" cy="127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27397A-AB11-6821-15EA-D99CE555F5F6}"/>
              </a:ext>
            </a:extLst>
          </p:cNvPr>
          <p:cNvSpPr txBox="1"/>
          <p:nvPr/>
        </p:nvSpPr>
        <p:spPr>
          <a:xfrm>
            <a:off x="3015136" y="3054905"/>
            <a:ext cx="633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E77FA-55E4-CE7C-6B95-6D8F24D346D5}"/>
              </a:ext>
            </a:extLst>
          </p:cNvPr>
          <p:cNvSpPr txBox="1"/>
          <p:nvPr/>
        </p:nvSpPr>
        <p:spPr>
          <a:xfrm>
            <a:off x="7212833" y="3026449"/>
            <a:ext cx="3294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CMJ before practice and games</a:t>
            </a:r>
          </a:p>
        </p:txBody>
      </p:sp>
    </p:spTree>
    <p:extLst>
      <p:ext uri="{BB962C8B-B14F-4D97-AF65-F5344CB8AC3E}">
        <p14:creationId xmlns:p14="http://schemas.microsoft.com/office/powerpoint/2010/main" val="91917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1E20-B22D-58AB-F55F-8ADBE3C7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/ Raw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5697-B305-3195-75BA-69E4BCB67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Unprocessed or minimally processed signals straight from the sensor, human observer, or box score.</a:t>
            </a:r>
          </a:p>
          <a:p>
            <a:r>
              <a:rPr lang="en-US" dirty="0"/>
              <a:t>Objective, transparent, but high-volume and often noisy.</a:t>
            </a:r>
          </a:p>
        </p:txBody>
      </p:sp>
      <p:pic>
        <p:nvPicPr>
          <p:cNvPr id="5" name="Picture 2" descr="Diagram of countermovement jump. | Download Scientific Diagram">
            <a:extLst>
              <a:ext uri="{FF2B5EF4-FFF2-40B4-BE49-F238E27FC236}">
                <a16:creationId xmlns:a16="http://schemas.microsoft.com/office/drawing/2014/main" id="{771331A4-4F65-51D9-84ED-3FE766476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36" y="3098474"/>
            <a:ext cx="4279453" cy="127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18">
            <a:extLst>
              <a:ext uri="{FF2B5EF4-FFF2-40B4-BE49-F238E27FC236}">
                <a16:creationId xmlns:a16="http://schemas.microsoft.com/office/drawing/2014/main" id="{004518A3-F70B-8DCD-787D-17601099BD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5963531" y="3195150"/>
            <a:ext cx="5570680" cy="3063874"/>
          </a:xfrm>
          <a:prstGeom prst="rect">
            <a:avLst/>
          </a:prstGeom>
        </p:spPr>
      </p:pic>
      <p:pic>
        <p:nvPicPr>
          <p:cNvPr id="9" name="Picture 8" descr="Data processing - Free seo and web icons">
            <a:extLst>
              <a:ext uri="{FF2B5EF4-FFF2-40B4-BE49-F238E27FC236}">
                <a16:creationId xmlns:a16="http://schemas.microsoft.com/office/drawing/2014/main" id="{58F95586-4077-651F-65F2-635962C6A50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2651563" y="4541397"/>
            <a:ext cx="1799688" cy="1799688"/>
          </a:xfrm>
          <a:prstGeom prst="rect">
            <a:avLst/>
          </a:prstGeom>
        </p:spPr>
      </p:pic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487FC5CF-27D9-2077-E7D8-5C5F3F05A438}"/>
              </a:ext>
            </a:extLst>
          </p:cNvPr>
          <p:cNvSpPr/>
          <p:nvPr/>
        </p:nvSpPr>
        <p:spPr>
          <a:xfrm rot="5400000">
            <a:off x="1465203" y="4504767"/>
            <a:ext cx="850392" cy="1022555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296787C-C761-0768-60AC-91B50A011FA8}"/>
              </a:ext>
            </a:extLst>
          </p:cNvPr>
          <p:cNvSpPr/>
          <p:nvPr/>
        </p:nvSpPr>
        <p:spPr>
          <a:xfrm>
            <a:off x="4777615" y="5173746"/>
            <a:ext cx="978408" cy="484632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7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938E-4844-174D-1E4B-F5D8CC78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 / Calculated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D7A19-D631-E151-DFC7-BCBD32856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created by applying formulas, algorithms, aggregations, or statistical models to raw data.</a:t>
            </a:r>
          </a:p>
          <a:p>
            <a:r>
              <a:rPr lang="en-US" dirty="0"/>
              <a:t>High interpretability but carries assumptions and choices made by whoever engineered the metric. </a:t>
            </a:r>
          </a:p>
        </p:txBody>
      </p:sp>
      <p:pic>
        <p:nvPicPr>
          <p:cNvPr id="5" name="Picture 2" descr="Diagram of countermovement jump. | Download Scientific Diagram">
            <a:extLst>
              <a:ext uri="{FF2B5EF4-FFF2-40B4-BE49-F238E27FC236}">
                <a16:creationId xmlns:a16="http://schemas.microsoft.com/office/drawing/2014/main" id="{65EC157E-2C87-91E1-58AF-589CBE7C7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36" y="3098474"/>
            <a:ext cx="4279453" cy="127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18">
            <a:extLst>
              <a:ext uri="{FF2B5EF4-FFF2-40B4-BE49-F238E27FC236}">
                <a16:creationId xmlns:a16="http://schemas.microsoft.com/office/drawing/2014/main" id="{DE68D686-64DC-7E18-F706-8BF498B6414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5963531" y="3195150"/>
            <a:ext cx="5570680" cy="3063874"/>
          </a:xfrm>
          <a:prstGeom prst="rect">
            <a:avLst/>
          </a:prstGeom>
        </p:spPr>
      </p:pic>
      <p:pic>
        <p:nvPicPr>
          <p:cNvPr id="9" name="Picture 8" descr="Data processing - Free seo and web icons">
            <a:extLst>
              <a:ext uri="{FF2B5EF4-FFF2-40B4-BE49-F238E27FC236}">
                <a16:creationId xmlns:a16="http://schemas.microsoft.com/office/drawing/2014/main" id="{92E7E52C-877B-5B58-4C76-39817C816E8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2651563" y="4541397"/>
            <a:ext cx="1799688" cy="1799688"/>
          </a:xfrm>
          <a:prstGeom prst="rect">
            <a:avLst/>
          </a:prstGeom>
        </p:spPr>
      </p:pic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506D3C81-E243-ABDA-D3A1-2F04179F0CDE}"/>
              </a:ext>
            </a:extLst>
          </p:cNvPr>
          <p:cNvSpPr/>
          <p:nvPr/>
        </p:nvSpPr>
        <p:spPr>
          <a:xfrm rot="5400000">
            <a:off x="1465203" y="4504767"/>
            <a:ext cx="850392" cy="1022555"/>
          </a:xfrm>
          <a:prstGeom prst="bentUp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F5A5586-DCC0-E32B-8C26-6CE86892336C}"/>
              </a:ext>
            </a:extLst>
          </p:cNvPr>
          <p:cNvSpPr/>
          <p:nvPr/>
        </p:nvSpPr>
        <p:spPr>
          <a:xfrm>
            <a:off x="4777615" y="51737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380C-E911-2CDC-508A-2253809D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incomplete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034AB-030E-11EB-7E5F-9DDB435C7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Adjust scope of question</a:t>
            </a:r>
          </a:p>
          <a:p>
            <a:endParaRPr lang="en-US" dirty="0"/>
          </a:p>
          <a:p>
            <a:r>
              <a:rPr lang="en-US" dirty="0"/>
              <a:t>Be creative and find a proxy measure</a:t>
            </a:r>
          </a:p>
          <a:p>
            <a:pPr lvl="1"/>
            <a:r>
              <a:rPr lang="en-US" dirty="0"/>
              <a:t>Eg: workload data is often inaccessible. However, schedule density, back-to-back flags, or minutes played can serve as proxies.</a:t>
            </a:r>
          </a:p>
        </p:txBody>
      </p:sp>
    </p:spTree>
    <p:extLst>
      <p:ext uri="{BB962C8B-B14F-4D97-AF65-F5344CB8AC3E}">
        <p14:creationId xmlns:p14="http://schemas.microsoft.com/office/powerpoint/2010/main" val="248945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Summary &amp; Looking Ahead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 who collected the data, how the data was collected and what the data represents</a:t>
            </a:r>
          </a:p>
          <a:p>
            <a:r>
              <a:rPr lang="en-US" dirty="0"/>
              <a:t>Understand how these may affect your data collection and analysis</a:t>
            </a:r>
          </a:p>
          <a:p>
            <a:r>
              <a:rPr lang="en-US" dirty="0"/>
              <a:t>Next: data </a:t>
            </a:r>
            <a:r>
              <a:rPr lang="en-US" dirty="0" err="1"/>
              <a:t>characteristcs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886</Words>
  <Application>Microsoft Office PowerPoint</Application>
  <PresentationFormat>Widescreen</PresentationFormat>
  <Paragraphs>187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Wingdings</vt:lpstr>
      <vt:lpstr>Office Theme</vt:lpstr>
      <vt:lpstr>Generating and Collecting Sports Data</vt:lpstr>
      <vt:lpstr>Data Access</vt:lpstr>
      <vt:lpstr>PowerPoint Presentation</vt:lpstr>
      <vt:lpstr>League/Competition Providers</vt:lpstr>
      <vt:lpstr>Teams (Internal data)</vt:lpstr>
      <vt:lpstr>Third-Party Vendors</vt:lpstr>
      <vt:lpstr>Academic/Research Institutions</vt:lpstr>
      <vt:lpstr>PowerPoint Presentation</vt:lpstr>
      <vt:lpstr>Observational</vt:lpstr>
      <vt:lpstr>Commercial technologies</vt:lpstr>
      <vt:lpstr>Laboratory Equipment</vt:lpstr>
      <vt:lpstr>Human vs Instrument</vt:lpstr>
      <vt:lpstr>Primary vs Secondary </vt:lpstr>
      <vt:lpstr>PowerPoint Presentation</vt:lpstr>
      <vt:lpstr>Event  Dataset Pipeline</vt:lpstr>
      <vt:lpstr>Context from the “what”</vt:lpstr>
      <vt:lpstr>Direct / Raw Measurements</vt:lpstr>
      <vt:lpstr>Derived / Calculated Metrics</vt:lpstr>
      <vt:lpstr>Dealing with incomplete data</vt:lpstr>
      <vt:lpstr>Summary &amp; Looking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Author</cp:lastModifiedBy>
  <cp:revision>17</cp:revision>
  <dcterms:created xsi:type="dcterms:W3CDTF">2026-08-17T13:48:23Z</dcterms:created>
  <dcterms:modified xsi:type="dcterms:W3CDTF">2026-09-10T17:10:00Z</dcterms:modified>
</cp:coreProperties>
</file>