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08" r:id="rId3"/>
    <p:sldId id="336" r:id="rId4"/>
    <p:sldId id="317" r:id="rId5"/>
    <p:sldId id="338" r:id="rId6"/>
    <p:sldId id="339" r:id="rId7"/>
    <p:sldId id="337" r:id="rId8"/>
    <p:sldId id="355" r:id="rId9"/>
    <p:sldId id="350" r:id="rId10"/>
    <p:sldId id="340" r:id="rId11"/>
    <p:sldId id="356" r:id="rId12"/>
    <p:sldId id="362" r:id="rId13"/>
    <p:sldId id="357" r:id="rId14"/>
    <p:sldId id="295" r:id="rId15"/>
    <p:sldId id="343" r:id="rId16"/>
    <p:sldId id="358" r:id="rId17"/>
    <p:sldId id="359" r:id="rId18"/>
    <p:sldId id="360" r:id="rId19"/>
    <p:sldId id="361" r:id="rId20"/>
    <p:sldId id="363" r:id="rId21"/>
    <p:sldId id="364" r:id="rId22"/>
    <p:sldId id="365" r:id="rId23"/>
    <p:sldId id="352" r:id="rId24"/>
    <p:sldId id="370" r:id="rId25"/>
    <p:sldId id="321" r:id="rId26"/>
    <p:sldId id="329" r:id="rId27"/>
    <p:sldId id="353" r:id="rId28"/>
    <p:sldId id="330" r:id="rId29"/>
    <p:sldId id="331" r:id="rId30"/>
    <p:sldId id="334" r:id="rId31"/>
    <p:sldId id="332" r:id="rId32"/>
    <p:sldId id="333" r:id="rId33"/>
    <p:sldId id="36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545"/>
    <p:restoredTop sz="78492" autoAdjust="0"/>
  </p:normalViewPr>
  <p:slideViewPr>
    <p:cSldViewPr snapToGrid="0">
      <p:cViewPr varScale="1">
        <p:scale>
          <a:sx n="92" d="100"/>
          <a:sy n="92" d="100"/>
        </p:scale>
        <p:origin x="11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6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Sports data visualization is described as an increasingly important research direction </a:t>
            </a:r>
          </a:p>
          <a:p>
            <a:pPr defTabSz="933237">
              <a:defRPr/>
            </a:pPr>
            <a:r>
              <a:rPr lang="en-US" dirty="0"/>
              <a:t>Visual processing happens faster than numerical processing—critical for time-sensitive sports decisions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07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played the most minutes?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96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4E96-4A87-9651-4CD9-FA808350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EC0C6-CB5A-C8B8-39B1-C0AACF0A0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C6ADA-9396-4DC6-FD40-C4E2450E5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Sports data visualization is described as an increasingly important research direction </a:t>
            </a:r>
          </a:p>
          <a:p>
            <a:pPr defTabSz="933237">
              <a:defRPr/>
            </a:pPr>
            <a:r>
              <a:rPr lang="en-US" dirty="0"/>
              <a:t>Visual processing happens faster than numerical processing—critical for time-sensitive sports decisions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9DB87-F834-03FF-B60F-AEAE9AAA4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487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C9E3-D352-AB7A-605E-6EE20B3F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06669-C670-CEE1-714C-2EE073A2C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22BCE-89E9-4FDB-C23B-BACE6AE62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to flag athletes who played more than 1500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1E58C-F037-9D4E-7106-E01E54416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45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properties your brain processes in &lt;200-250 milliseconds You see them </a:t>
            </a:r>
            <a:r>
              <a:rPr lang="en-US" i="1" dirty="0"/>
              <a:t>instantly</a:t>
            </a:r>
            <a:r>
              <a:rPr lang="en-US" dirty="0"/>
              <a:t> without conscious effort </a:t>
            </a:r>
          </a:p>
          <a:p>
            <a:r>
              <a:rPr lang="en-US" dirty="0"/>
              <a:t>Happens before you "think" about what you're looking at </a:t>
            </a:r>
          </a:p>
          <a:p>
            <a:r>
              <a:rPr lang="en-US" dirty="0"/>
              <a:t>Critical for dashboards, in-game analytics, quick decision-making</a:t>
            </a:r>
          </a:p>
          <a:p>
            <a:endParaRPr lang="en-US" dirty="0"/>
          </a:p>
          <a:p>
            <a:r>
              <a:rPr lang="en-US" dirty="0"/>
              <a:t>Spatial: </a:t>
            </a:r>
          </a:p>
          <a:p>
            <a:pPr marL="174982" indent="-174982">
              <a:buFontTx/>
              <a:buChar char="-"/>
            </a:pPr>
            <a:r>
              <a:rPr lang="en-US" dirty="0"/>
              <a:t>length, </a:t>
            </a:r>
          </a:p>
          <a:p>
            <a:pPr marL="174982" indent="-174982">
              <a:buFontTx/>
              <a:buChar char="-"/>
            </a:pPr>
            <a:r>
              <a:rPr lang="en-US" dirty="0"/>
              <a:t>width, </a:t>
            </a:r>
          </a:p>
          <a:p>
            <a:pPr marL="174982" indent="-174982">
              <a:buFontTx/>
              <a:buChar char="-"/>
            </a:pPr>
            <a:r>
              <a:rPr lang="en-US" dirty="0"/>
              <a:t>orientation, 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enclosure</a:t>
            </a:r>
          </a:p>
          <a:p>
            <a:pPr marL="174982" indent="-174982">
              <a:buFontTx/>
              <a:buChar char="-"/>
            </a:pPr>
            <a:r>
              <a:rPr lang="en-US" dirty="0"/>
              <a:t>position, </a:t>
            </a:r>
          </a:p>
          <a:p>
            <a:pPr marL="174982" indent="-174982">
              <a:buFontTx/>
              <a:buChar char="-"/>
            </a:pPr>
            <a:r>
              <a:rPr lang="en-US" dirty="0"/>
              <a:t>grouping, </a:t>
            </a:r>
          </a:p>
          <a:p>
            <a:r>
              <a:rPr lang="en-US" dirty="0"/>
              <a:t>Size </a:t>
            </a:r>
          </a:p>
          <a:p>
            <a:r>
              <a:rPr lang="en-US" dirty="0"/>
              <a:t>Shape</a:t>
            </a:r>
          </a:p>
          <a:p>
            <a:pPr defTabSz="933237">
              <a:defRPr/>
            </a:pPr>
            <a:r>
              <a:rPr lang="en-US" dirty="0"/>
              <a:t>Color: 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hue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intensity</a:t>
            </a:r>
          </a:p>
          <a:p>
            <a:r>
              <a:rPr lang="en-US" dirty="0"/>
              <a:t>Motion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10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3E853-6F6E-9410-27B4-8AE11456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F36CE-A04F-01F9-4114-E3ED559BB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2955B-0D5F-84B5-77D0-3AAEBAB0E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properties your brain processes in &lt;200-250 milliseconds You see them </a:t>
            </a:r>
            <a:r>
              <a:rPr lang="en-US" i="1" dirty="0"/>
              <a:t>instantly</a:t>
            </a:r>
            <a:r>
              <a:rPr lang="en-US" dirty="0"/>
              <a:t> without conscious effort </a:t>
            </a:r>
          </a:p>
          <a:p>
            <a:r>
              <a:rPr lang="en-US" dirty="0"/>
              <a:t>Happens before you "think" about what you're looking at </a:t>
            </a:r>
          </a:p>
          <a:p>
            <a:r>
              <a:rPr lang="en-US" dirty="0"/>
              <a:t>Critical for dashboards, in-game analytics, quick decision-making</a:t>
            </a:r>
          </a:p>
          <a:p>
            <a:endParaRPr lang="en-US" dirty="0"/>
          </a:p>
          <a:p>
            <a:r>
              <a:rPr lang="en-US" dirty="0"/>
              <a:t>Spatial: </a:t>
            </a:r>
          </a:p>
          <a:p>
            <a:pPr marL="174982" indent="-174982">
              <a:buFontTx/>
              <a:buChar char="-"/>
            </a:pPr>
            <a:r>
              <a:rPr lang="en-US" dirty="0"/>
              <a:t>length, </a:t>
            </a:r>
          </a:p>
          <a:p>
            <a:pPr marL="174982" indent="-174982">
              <a:buFontTx/>
              <a:buChar char="-"/>
            </a:pPr>
            <a:r>
              <a:rPr lang="en-US" dirty="0"/>
              <a:t>width, </a:t>
            </a:r>
          </a:p>
          <a:p>
            <a:pPr marL="174982" indent="-174982">
              <a:buFontTx/>
              <a:buChar char="-"/>
            </a:pPr>
            <a:r>
              <a:rPr lang="en-US" dirty="0"/>
              <a:t>orientation, 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enclosure</a:t>
            </a:r>
          </a:p>
          <a:p>
            <a:pPr marL="174982" indent="-174982">
              <a:buFontTx/>
              <a:buChar char="-"/>
            </a:pPr>
            <a:r>
              <a:rPr lang="en-US" dirty="0"/>
              <a:t>position, </a:t>
            </a:r>
          </a:p>
          <a:p>
            <a:pPr marL="174982" indent="-174982">
              <a:buFontTx/>
              <a:buChar char="-"/>
            </a:pPr>
            <a:r>
              <a:rPr lang="en-US" dirty="0"/>
              <a:t>grouping, </a:t>
            </a:r>
          </a:p>
          <a:p>
            <a:r>
              <a:rPr lang="en-US" dirty="0"/>
              <a:t>Size </a:t>
            </a:r>
          </a:p>
          <a:p>
            <a:r>
              <a:rPr lang="en-US" dirty="0"/>
              <a:t>Shape</a:t>
            </a:r>
          </a:p>
          <a:p>
            <a:pPr defTabSz="933237">
              <a:defRPr/>
            </a:pPr>
            <a:r>
              <a:rPr lang="en-US" dirty="0"/>
              <a:t>Color: 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hue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intensity</a:t>
            </a:r>
          </a:p>
          <a:p>
            <a:r>
              <a:rPr lang="en-US" dirty="0"/>
              <a:t>Motion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E7492-DE9B-6E16-494B-D66428354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306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assigns a run value to each offensive event based on how much that event typically increases run scoring.</a:t>
            </a:r>
          </a:p>
          <a:p>
            <a:r>
              <a:rPr lang="en-US" dirty="0"/>
              <a:t>For example (approximate values):</a:t>
            </a:r>
          </a:p>
          <a:p>
            <a:r>
              <a:rPr lang="en-US" dirty="0"/>
              <a:t>Walk ≈ 0.7 runs</a:t>
            </a:r>
          </a:p>
          <a:p>
            <a:r>
              <a:rPr lang="en-US" dirty="0"/>
              <a:t>Single ≈ 0.9 runs</a:t>
            </a:r>
          </a:p>
          <a:p>
            <a:r>
              <a:rPr lang="en-US" dirty="0"/>
              <a:t>Double ≈ 1.2 runs</a:t>
            </a:r>
          </a:p>
          <a:p>
            <a:r>
              <a:rPr lang="en-US" dirty="0"/>
              <a:t>Triple ≈ 1.6 runs</a:t>
            </a:r>
          </a:p>
          <a:p>
            <a:r>
              <a:rPr lang="en-US" dirty="0"/>
              <a:t>Home run ≈ 2.0 runs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18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Chart types section</a:t>
            </a:r>
            <a:r>
              <a:rPr lang="en-GB" dirty="0"/>
              <a:t> → 10-15 slides (show the chart type + sports application for each)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914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lssoccer.com/players/kai-wagner" TargetMode="External"/><Relationship Id="rId13" Type="http://schemas.openxmlformats.org/officeDocument/2006/relationships/hyperlink" Target="https://www.mlssoccer.com/players/jovan-lukic" TargetMode="External"/><Relationship Id="rId18" Type="http://schemas.openxmlformats.org/officeDocument/2006/relationships/hyperlink" Target="https://www.mlssoccer.com/players/ian-glavinovich" TargetMode="External"/><Relationship Id="rId26" Type="http://schemas.openxmlformats.org/officeDocument/2006/relationships/hyperlink" Target="https://www.mlssoccer.com/players/sal-olivas" TargetMode="External"/><Relationship Id="rId3" Type="http://schemas.openxmlformats.org/officeDocument/2006/relationships/hyperlink" Target="https://www.mlssoccer.com/players/tai-baribo" TargetMode="External"/><Relationship Id="rId21" Type="http://schemas.openxmlformats.org/officeDocument/2006/relationships/hyperlink" Target="https://www.mlssoccer.com/players/neil-pierre" TargetMode="External"/><Relationship Id="rId7" Type="http://schemas.openxmlformats.org/officeDocument/2006/relationships/hyperlink" Target="https://www.mlssoccer.com/players/danley-jean-jacques" TargetMode="External"/><Relationship Id="rId12" Type="http://schemas.openxmlformats.org/officeDocument/2006/relationships/hyperlink" Target="https://www.mlssoccer.com/players/daniel-gazdag" TargetMode="External"/><Relationship Id="rId17" Type="http://schemas.openxmlformats.org/officeDocument/2006/relationships/hyperlink" Target="https://www.mlssoccer.com/players/francis-westfield" TargetMode="External"/><Relationship Id="rId25" Type="http://schemas.openxmlformats.org/officeDocument/2006/relationships/hyperlink" Target="https://www.mlssoccer.com/players/jeremy-rafanello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www.mlssoccer.com/players/jakob-glesnes" TargetMode="External"/><Relationship Id="rId20" Type="http://schemas.openxmlformats.org/officeDocument/2006/relationships/hyperlink" Target="https://www.mlssoccer.com/players/jesus-bueno" TargetMode="External"/><Relationship Id="rId29" Type="http://schemas.openxmlformats.org/officeDocument/2006/relationships/hyperlink" Target="https://www.mlssoccer.com/players/edward-davi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lssoccer.com/players/indiana-vassilev" TargetMode="External"/><Relationship Id="rId11" Type="http://schemas.openxmlformats.org/officeDocument/2006/relationships/hyperlink" Target="https://www.mlssoccer.com/players/milan-iloski" TargetMode="External"/><Relationship Id="rId24" Type="http://schemas.openxmlformats.org/officeDocument/2006/relationships/hyperlink" Target="https://www.mlssoccer.com/players/cavan-sullivan" TargetMode="External"/><Relationship Id="rId5" Type="http://schemas.openxmlformats.org/officeDocument/2006/relationships/hyperlink" Target="https://www.mlssoccer.com/players/mikael-uhre" TargetMode="External"/><Relationship Id="rId15" Type="http://schemas.openxmlformats.org/officeDocument/2006/relationships/hyperlink" Target="https://www.mlssoccer.com/players/alejandro-bedoya" TargetMode="External"/><Relationship Id="rId23" Type="http://schemas.openxmlformats.org/officeDocument/2006/relationships/hyperlink" Target="https://www.mlssoccer.com/players/olivier-mbaizo" TargetMode="External"/><Relationship Id="rId28" Type="http://schemas.openxmlformats.org/officeDocument/2006/relationships/hyperlink" Target="https://www.mlssoccer.com/players/andrew-rick" TargetMode="External"/><Relationship Id="rId10" Type="http://schemas.openxmlformats.org/officeDocument/2006/relationships/hyperlink" Target="https://www.mlssoccer.com/players/nathan-harriel" TargetMode="External"/><Relationship Id="rId19" Type="http://schemas.openxmlformats.org/officeDocument/2006/relationships/hyperlink" Target="https://www.mlssoccer.com/players/markus-anderson" TargetMode="External"/><Relationship Id="rId31" Type="http://schemas.openxmlformats.org/officeDocument/2006/relationships/hyperlink" Target="https://www.mlssoccer.com/players/chris-donovan" TargetMode="External"/><Relationship Id="rId4" Type="http://schemas.openxmlformats.org/officeDocument/2006/relationships/hyperlink" Target="https://www.mlssoccer.com/players/bruno-damiani" TargetMode="External"/><Relationship Id="rId9" Type="http://schemas.openxmlformats.org/officeDocument/2006/relationships/hyperlink" Target="https://www.mlssoccer.com/players/quinn-sullivan" TargetMode="External"/><Relationship Id="rId14" Type="http://schemas.openxmlformats.org/officeDocument/2006/relationships/hyperlink" Target="https://www.mlssoccer.com/players/olwethu-makhanya" TargetMode="External"/><Relationship Id="rId22" Type="http://schemas.openxmlformats.org/officeDocument/2006/relationships/hyperlink" Target="https://www.mlssoccer.com/players/david-vazquez" TargetMode="External"/><Relationship Id="rId27" Type="http://schemas.openxmlformats.org/officeDocument/2006/relationships/hyperlink" Target="https://www.mlssoccer.com/players/benjamin-bender" TargetMode="External"/><Relationship Id="rId30" Type="http://schemas.openxmlformats.org/officeDocument/2006/relationships/hyperlink" Target="https://www.mlssoccer.com/players/andre-blak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lssoccer.com/players/kai-wagner" TargetMode="External"/><Relationship Id="rId13" Type="http://schemas.openxmlformats.org/officeDocument/2006/relationships/hyperlink" Target="https://www.mlssoccer.com/players/jovan-lukic" TargetMode="External"/><Relationship Id="rId18" Type="http://schemas.openxmlformats.org/officeDocument/2006/relationships/hyperlink" Target="https://www.mlssoccer.com/players/ian-glavinovich" TargetMode="External"/><Relationship Id="rId26" Type="http://schemas.openxmlformats.org/officeDocument/2006/relationships/hyperlink" Target="https://www.mlssoccer.com/players/sal-olivas" TargetMode="External"/><Relationship Id="rId3" Type="http://schemas.openxmlformats.org/officeDocument/2006/relationships/hyperlink" Target="https://www.mlssoccer.com/players/tai-baribo" TargetMode="External"/><Relationship Id="rId21" Type="http://schemas.openxmlformats.org/officeDocument/2006/relationships/hyperlink" Target="https://www.mlssoccer.com/players/neil-pierre" TargetMode="External"/><Relationship Id="rId7" Type="http://schemas.openxmlformats.org/officeDocument/2006/relationships/hyperlink" Target="https://www.mlssoccer.com/players/danley-jean-jacques" TargetMode="External"/><Relationship Id="rId12" Type="http://schemas.openxmlformats.org/officeDocument/2006/relationships/hyperlink" Target="https://www.mlssoccer.com/players/daniel-gazdag" TargetMode="External"/><Relationship Id="rId17" Type="http://schemas.openxmlformats.org/officeDocument/2006/relationships/hyperlink" Target="https://www.mlssoccer.com/players/francis-westfield" TargetMode="External"/><Relationship Id="rId25" Type="http://schemas.openxmlformats.org/officeDocument/2006/relationships/hyperlink" Target="https://www.mlssoccer.com/players/jeremy-rafanello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ww.mlssoccer.com/players/jakob-glesnes" TargetMode="External"/><Relationship Id="rId20" Type="http://schemas.openxmlformats.org/officeDocument/2006/relationships/hyperlink" Target="https://www.mlssoccer.com/players/jesus-bueno" TargetMode="External"/><Relationship Id="rId29" Type="http://schemas.openxmlformats.org/officeDocument/2006/relationships/hyperlink" Target="https://www.mlssoccer.com/players/edward-davi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lssoccer.com/players/indiana-vassilev" TargetMode="External"/><Relationship Id="rId11" Type="http://schemas.openxmlformats.org/officeDocument/2006/relationships/hyperlink" Target="https://www.mlssoccer.com/players/milan-iloski" TargetMode="External"/><Relationship Id="rId24" Type="http://schemas.openxmlformats.org/officeDocument/2006/relationships/hyperlink" Target="https://www.mlssoccer.com/players/cavan-sullivan" TargetMode="External"/><Relationship Id="rId5" Type="http://schemas.openxmlformats.org/officeDocument/2006/relationships/hyperlink" Target="https://www.mlssoccer.com/players/mikael-uhre" TargetMode="External"/><Relationship Id="rId15" Type="http://schemas.openxmlformats.org/officeDocument/2006/relationships/hyperlink" Target="https://www.mlssoccer.com/players/alejandro-bedoya" TargetMode="External"/><Relationship Id="rId23" Type="http://schemas.openxmlformats.org/officeDocument/2006/relationships/hyperlink" Target="https://www.mlssoccer.com/players/olivier-mbaizo" TargetMode="External"/><Relationship Id="rId28" Type="http://schemas.openxmlformats.org/officeDocument/2006/relationships/hyperlink" Target="https://www.mlssoccer.com/players/andrew-rick" TargetMode="External"/><Relationship Id="rId10" Type="http://schemas.openxmlformats.org/officeDocument/2006/relationships/hyperlink" Target="https://www.mlssoccer.com/players/nathan-harriel" TargetMode="External"/><Relationship Id="rId19" Type="http://schemas.openxmlformats.org/officeDocument/2006/relationships/hyperlink" Target="https://www.mlssoccer.com/players/markus-anderson" TargetMode="External"/><Relationship Id="rId31" Type="http://schemas.openxmlformats.org/officeDocument/2006/relationships/hyperlink" Target="https://www.mlssoccer.com/players/chris-donovan" TargetMode="External"/><Relationship Id="rId4" Type="http://schemas.openxmlformats.org/officeDocument/2006/relationships/hyperlink" Target="https://www.mlssoccer.com/players/bruno-damiani" TargetMode="External"/><Relationship Id="rId9" Type="http://schemas.openxmlformats.org/officeDocument/2006/relationships/hyperlink" Target="https://www.mlssoccer.com/players/quinn-sullivan" TargetMode="External"/><Relationship Id="rId14" Type="http://schemas.openxmlformats.org/officeDocument/2006/relationships/hyperlink" Target="https://www.mlssoccer.com/players/olwethu-makhanya" TargetMode="External"/><Relationship Id="rId22" Type="http://schemas.openxmlformats.org/officeDocument/2006/relationships/hyperlink" Target="https://www.mlssoccer.com/players/david-vazquez" TargetMode="External"/><Relationship Id="rId27" Type="http://schemas.openxmlformats.org/officeDocument/2006/relationships/hyperlink" Target="https://www.mlssoccer.com/players/benjamin-bender" TargetMode="External"/><Relationship Id="rId30" Type="http://schemas.openxmlformats.org/officeDocument/2006/relationships/hyperlink" Target="https://www.mlssoccer.com/players/andre-blak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Data Visualization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3A51-81C3-C6F5-2019-D433E0EF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visualization matters in sports analytics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FEBF-A76B-F940-05F8-F0375E2E0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5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581F-2B79-B64E-F3C2-FC364107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F6DA-A3F7-E074-38BD-37F0E5EE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visualization matters in sports analytics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14B98-45F8-BDA0-4D10-50E1948B6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Pattern recognition and speed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Communication and decision 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4C525-0AB2-8346-5C03-2711DBCB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8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5ADA-BDF6-CFFA-5CB9-E1060B69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played the most minutes?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DB551-E274-F102-3344-984628E2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47C2C03-FDC0-22F5-49DE-EEAFBCF9B7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70862" y="1922728"/>
          <a:ext cx="2450276" cy="4292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844">
                  <a:extLst>
                    <a:ext uri="{9D8B030D-6E8A-4147-A177-3AD203B41FA5}">
                      <a16:colId xmlns:a16="http://schemas.microsoft.com/office/drawing/2014/main" val="2377371374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3833361993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955811745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1470288667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2673828339"/>
                    </a:ext>
                  </a:extLst>
                </a:gridCol>
              </a:tblGrid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Player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Pos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GP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Mins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37828189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"/>
                        </a:rPr>
                        <a:t>T. Baribo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1876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03403488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4"/>
                        </a:rPr>
                        <a:t>B. Damiani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2040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27702879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5"/>
                        </a:rPr>
                        <a:t>M. Uhre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1325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74525230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6"/>
                        </a:rPr>
                        <a:t>I. Vassilev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1973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70890848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7"/>
                        </a:rPr>
                        <a:t>D. Jean Jacques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2361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46636563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8"/>
                        </a:rPr>
                        <a:t>K. Wagner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2769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87244918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9"/>
                        </a:rPr>
                        <a:t>Q. Sullivan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1967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26213495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0"/>
                        </a:rPr>
                        <a:t>N. Harriel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9064742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1"/>
                        </a:rPr>
                        <a:t>M. Iloski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600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1236257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2"/>
                        </a:rPr>
                        <a:t>D. Gazdag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94935369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3"/>
                        </a:rPr>
                        <a:t>J. Lukic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19858274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4"/>
                        </a:rPr>
                        <a:t>O. Makhanya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2145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11650964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5"/>
                        </a:rPr>
                        <a:t>A. Bedoya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739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427930162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6"/>
                        </a:rPr>
                        <a:t>J. Glesnes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2626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10451570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7"/>
                        </a:rPr>
                        <a:t>F. Westfield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1724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9286477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8"/>
                        </a:rPr>
                        <a:t>I. Glavinovich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03227572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9"/>
                        </a:rPr>
                        <a:t>M. Anderson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58392605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0"/>
                        </a:rPr>
                        <a:t>J. Bueno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903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81366632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1"/>
                        </a:rPr>
                        <a:t>N. Pierre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78710128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2"/>
                        </a:rPr>
                        <a:t>D. Vazquez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65587659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3"/>
                        </a:rPr>
                        <a:t>O. Mbaizo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481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98511896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4"/>
                        </a:rPr>
                        <a:t>C. Sullivan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66806178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5"/>
                        </a:rPr>
                        <a:t>J. Rafanello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08746591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6"/>
                        </a:rPr>
                        <a:t>S. Olivas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1629933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7"/>
                        </a:rPr>
                        <a:t>B. Bender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7819092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8"/>
                        </a:rPr>
                        <a:t>A. Rick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1232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05300517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9"/>
                        </a:rPr>
                        <a:t>E. Davis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58949486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0"/>
                        </a:rPr>
                        <a:t>A. Blake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1828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9592745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1"/>
                        </a:rPr>
                        <a:t>C. Donovan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540</a:t>
                      </a:r>
                      <a:endParaRPr lang="en-US" sz="900" b="0" i="0" u="none" strike="noStrike" dirty="0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208434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18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003D-B10C-5982-A5BB-7D9A2BB31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806D-AF4A-05C3-8FEA-E3F69C2E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to represent magnitude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44F21-429B-2D77-FFAF-9591007C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844DD-9C8F-41EF-9D53-F9CA4F8DE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531" y="1922728"/>
            <a:ext cx="2478937" cy="429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3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99C5-2083-A795-CB67-048DF3CB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D53-4A47-63EB-6C8D-509037D1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to organize values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92C2D-AD8F-DCC0-EAD5-3B94D1052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6EF6A8-BD23-51B5-05CB-19A61F67B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531" y="1922728"/>
            <a:ext cx="2478938" cy="429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94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4D83-43AE-8A70-7AB1-4981C003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69D3-5EB4-695B-FE4E-1FD62462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 representation of values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70A0F-282D-98B9-95C5-5B1C40F3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066627-6F26-2DD0-1358-0F2D745E7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685" y="1789378"/>
            <a:ext cx="584863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9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12C4-A607-4CAA-0668-48FCCB8B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9B15-ACEA-4F8D-DE37-5F53AEF0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visualization matters in sports analytics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0F476-907B-7571-B559-C32DD227D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Pattern recognition and speed</a:t>
            </a:r>
          </a:p>
          <a:p>
            <a:r>
              <a:rPr lang="en-US" b="1" dirty="0"/>
              <a:t>Communication and decision 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11292-2A8A-B077-C6A4-7112746D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4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D3F2-A4B4-B452-9329-B08F2595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61BA-67D1-8A6F-53E5-32B57DDB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played &gt;1500 minutes last season?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03CF5-D19B-77A3-0F94-9B7AE473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F7163AF-177A-FB18-FD8B-1D43DA8577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70862" y="1922728"/>
          <a:ext cx="2450276" cy="4292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844">
                  <a:extLst>
                    <a:ext uri="{9D8B030D-6E8A-4147-A177-3AD203B41FA5}">
                      <a16:colId xmlns:a16="http://schemas.microsoft.com/office/drawing/2014/main" val="2377371374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3833361993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955811745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1470288667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2673828339"/>
                    </a:ext>
                  </a:extLst>
                </a:gridCol>
              </a:tblGrid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Player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Pos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GP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Mins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37828189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"/>
                        </a:rPr>
                        <a:t>T. Baribo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1876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03403488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4"/>
                        </a:rPr>
                        <a:t>B. Damiani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2040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27702879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5"/>
                        </a:rPr>
                        <a:t>M. Uhre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1325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74525230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6"/>
                        </a:rPr>
                        <a:t>I. Vassilev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1973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70890848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7"/>
                        </a:rPr>
                        <a:t>D. Jean Jacques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2361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46636563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8"/>
                        </a:rPr>
                        <a:t>K. Wagner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2769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87244918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9"/>
                        </a:rPr>
                        <a:t>Q. Sullivan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1967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26213495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0"/>
                        </a:rPr>
                        <a:t>N. Harriel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9064742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1"/>
                        </a:rPr>
                        <a:t>M. Iloski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600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1236257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2"/>
                        </a:rPr>
                        <a:t>D. Gazdag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94935369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3"/>
                        </a:rPr>
                        <a:t>J. Lukic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19858274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4"/>
                        </a:rPr>
                        <a:t>O. Makhanya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2145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11650964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5"/>
                        </a:rPr>
                        <a:t>A. Bedoya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739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427930162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6"/>
                        </a:rPr>
                        <a:t>J. Glesnes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2626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10451570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7"/>
                        </a:rPr>
                        <a:t>F. Westfield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1724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9286477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8"/>
                        </a:rPr>
                        <a:t>I. Glavinovich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03227572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9"/>
                        </a:rPr>
                        <a:t>M. Anderson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58392605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0"/>
                        </a:rPr>
                        <a:t>J. Bueno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903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81366632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1"/>
                        </a:rPr>
                        <a:t>N. Pierre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78710128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2"/>
                        </a:rPr>
                        <a:t>D. Vazquez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65587659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3"/>
                        </a:rPr>
                        <a:t>O. Mbaizo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481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98511896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4"/>
                        </a:rPr>
                        <a:t>C. Sullivan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66806178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5"/>
                        </a:rPr>
                        <a:t>J. Rafanello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08746591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6"/>
                        </a:rPr>
                        <a:t>S. Olivas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1629933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7"/>
                        </a:rPr>
                        <a:t>B. Bender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7819092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8"/>
                        </a:rPr>
                        <a:t>A. Rick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1232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05300517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9"/>
                        </a:rPr>
                        <a:t>E. Davis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58949486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0"/>
                        </a:rPr>
                        <a:t>A. Blake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1828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9592745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1"/>
                        </a:rPr>
                        <a:t>C. Donovan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540</a:t>
                      </a:r>
                      <a:endParaRPr lang="en-US" sz="900" b="0" i="0" u="none" strike="noStrike" dirty="0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208434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289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B922-03E7-AEC0-F001-4F09DE79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C56B7B-6433-9A30-6D1D-211979BD0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547" y="1922463"/>
            <a:ext cx="5848630" cy="4254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ED181E-EAF4-8E4A-7035-908F7AF6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Color</a:t>
            </a:r>
            <a:r>
              <a:rPr lang="en-GB" dirty="0"/>
              <a:t>, order, graphs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7550A-3F1C-7CA5-4318-115213AF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43DCF6-3734-96E0-CACA-3CEE69BDA05C}"/>
              </a:ext>
            </a:extLst>
          </p:cNvPr>
          <p:cNvCxnSpPr/>
          <p:nvPr/>
        </p:nvCxnSpPr>
        <p:spPr>
          <a:xfrm flipV="1">
            <a:off x="4185182" y="2174240"/>
            <a:ext cx="0" cy="365760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7EB85-F203-84B8-030E-B6D43D966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526" y="1949993"/>
            <a:ext cx="1598286" cy="422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55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1123-EFE3-384E-095D-012AD382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visualization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F2D2-1F8F-A5C6-DE2A-C5463BC8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Each version contained the same basic data. What changed was how the data were visually encoded.</a:t>
            </a:r>
          </a:p>
          <a:p>
            <a:pPr lvl="0"/>
            <a:r>
              <a:rPr lang="en-GB" dirty="0"/>
              <a:t>Tables are useful for looking up exact values. </a:t>
            </a:r>
          </a:p>
          <a:p>
            <a:pPr lvl="0"/>
            <a:r>
              <a:rPr lang="en-GB" dirty="0"/>
              <a:t>Charts are useful for seeing patterns. </a:t>
            </a:r>
          </a:p>
          <a:p>
            <a:pPr lvl="0"/>
            <a:r>
              <a:rPr lang="en-GB" dirty="0"/>
              <a:t>Ordering improves comparison. </a:t>
            </a:r>
          </a:p>
          <a:p>
            <a:pPr lvl="0"/>
            <a:r>
              <a:rPr lang="en-GB" dirty="0" err="1"/>
              <a:t>Color</a:t>
            </a:r>
            <a:r>
              <a:rPr lang="en-GB" dirty="0"/>
              <a:t> and reference lines add meaning. 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Different visual choices support different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4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3898-87BE-81D3-429D-30528215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0631-DFBC-ED75-79B3-CD8D63CF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Directing attention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0F90C-25E5-16DD-201D-C04FC7CA3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77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E8EB-D6DB-8F64-AD0B-EFA92ACF4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B9D9-07D4-3334-B1C8-0436232D7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Visual encoding maps data values to visual properties.</a:t>
            </a:r>
          </a:p>
          <a:p>
            <a:r>
              <a:rPr lang="en-GB" dirty="0"/>
              <a:t>Attributes such as position, length, </a:t>
            </a:r>
            <a:r>
              <a:rPr lang="en-GB" dirty="0" err="1"/>
              <a:t>color</a:t>
            </a:r>
            <a:r>
              <a:rPr lang="en-GB" dirty="0"/>
              <a:t>, size and shape communicate different information.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2B9A7-CCB8-5544-8B66-F41F75D33A9A}"/>
              </a:ext>
            </a:extLst>
          </p:cNvPr>
          <p:cNvSpPr txBox="1"/>
          <p:nvPr/>
        </p:nvSpPr>
        <p:spPr>
          <a:xfrm>
            <a:off x="6520070" y="3809450"/>
            <a:ext cx="45057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vertical position = player name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bar length = minutes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reference line = decision threshold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 err="1"/>
              <a:t>color</a:t>
            </a:r>
            <a:r>
              <a:rPr lang="en-GB" dirty="0"/>
              <a:t> = above or below threshold</a:t>
            </a: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E315E011-6C55-2B1C-C9CF-60222417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47" y="2994441"/>
            <a:ext cx="4393836" cy="319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56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EFF20-7721-22CF-0B9C-022544814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properties that the human brain processes almost instantly and subconsciously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425CF-433B-BA64-63C0-A6A6E36B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E157F-E6F6-FE34-3C0A-A701E167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Pre-attentive attributes </a:t>
            </a:r>
            <a:endParaRPr lang="en-US" dirty="0"/>
          </a:p>
        </p:txBody>
      </p:sp>
      <p:pic>
        <p:nvPicPr>
          <p:cNvPr id="2050" name="Picture 2" descr="Why Visual Analytics? - Tableau">
            <a:extLst>
              <a:ext uri="{FF2B5EF4-FFF2-40B4-BE49-F238E27FC236}">
                <a16:creationId xmlns:a16="http://schemas.microsoft.com/office/drawing/2014/main" id="{88432887-C671-1479-BEED-AD22C850D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495" y="2941311"/>
            <a:ext cx="6094005" cy="33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741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148CA-6C0C-8B16-D5EF-6841D0B0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538FD-5FD5-6579-F043-7307298E7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properties that the human brain processes almost instantly and subconsciously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E83BB-DEE5-6058-AE8C-A8C94C22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9C0AD-DC16-011A-C5EE-AF594B92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Pre-attentive attributes </a:t>
            </a:r>
            <a:endParaRPr lang="en-US" dirty="0"/>
          </a:p>
        </p:txBody>
      </p:sp>
      <p:pic>
        <p:nvPicPr>
          <p:cNvPr id="2050" name="Picture 2" descr="Why Visual Analytics? - Tableau">
            <a:extLst>
              <a:ext uri="{FF2B5EF4-FFF2-40B4-BE49-F238E27FC236}">
                <a16:creationId xmlns:a16="http://schemas.microsoft.com/office/drawing/2014/main" id="{BA8664D1-D891-EBEF-FC6E-331B10FEE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495" y="2941311"/>
            <a:ext cx="6094005" cy="33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7FB8D2-B1D9-1E60-1920-E22CF46CD370}"/>
              </a:ext>
            </a:extLst>
          </p:cNvPr>
          <p:cNvSpPr/>
          <p:nvPr/>
        </p:nvSpPr>
        <p:spPr>
          <a:xfrm>
            <a:off x="2966720" y="3027679"/>
            <a:ext cx="3495040" cy="32356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F41E7-5570-4DAA-15A7-B9A6F8DCCCD2}"/>
              </a:ext>
            </a:extLst>
          </p:cNvPr>
          <p:cNvSpPr/>
          <p:nvPr/>
        </p:nvSpPr>
        <p:spPr>
          <a:xfrm>
            <a:off x="6568985" y="3027679"/>
            <a:ext cx="1081496" cy="15198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81238C-AD1B-C513-8B2B-F18A0C7A2D46}"/>
              </a:ext>
            </a:extLst>
          </p:cNvPr>
          <p:cNvSpPr/>
          <p:nvPr/>
        </p:nvSpPr>
        <p:spPr>
          <a:xfrm>
            <a:off x="7757706" y="3027680"/>
            <a:ext cx="1081496" cy="151984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E2C14C-D324-1BE8-AAA8-E950E8BC0427}"/>
              </a:ext>
            </a:extLst>
          </p:cNvPr>
          <p:cNvSpPr/>
          <p:nvPr/>
        </p:nvSpPr>
        <p:spPr>
          <a:xfrm>
            <a:off x="6580414" y="4726912"/>
            <a:ext cx="2258788" cy="153641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58749-5F82-9C9B-4848-49E51F776B41}"/>
              </a:ext>
            </a:extLst>
          </p:cNvPr>
          <p:cNvSpPr txBox="1"/>
          <p:nvPr/>
        </p:nvSpPr>
        <p:spPr>
          <a:xfrm>
            <a:off x="4315188" y="2799829"/>
            <a:ext cx="79810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spatial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12799-2697-F24F-2377-3DBBC4511E4B}"/>
              </a:ext>
            </a:extLst>
          </p:cNvPr>
          <p:cNvSpPr txBox="1"/>
          <p:nvPr/>
        </p:nvSpPr>
        <p:spPr>
          <a:xfrm>
            <a:off x="7381192" y="4592668"/>
            <a:ext cx="6572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color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1690F-06DB-5D6B-05C7-B7E6916DB111}"/>
              </a:ext>
            </a:extLst>
          </p:cNvPr>
          <p:cNvSpPr txBox="1"/>
          <p:nvPr/>
        </p:nvSpPr>
        <p:spPr>
          <a:xfrm>
            <a:off x="6952963" y="2753319"/>
            <a:ext cx="154843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size and shape</a:t>
            </a:r>
          </a:p>
        </p:txBody>
      </p:sp>
    </p:spTree>
    <p:extLst>
      <p:ext uri="{BB962C8B-B14F-4D97-AF65-F5344CB8AC3E}">
        <p14:creationId xmlns:p14="http://schemas.microsoft.com/office/powerpoint/2010/main" val="3034577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FFCA-930E-8F8A-0F4F-25C5483B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versus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C38B8-CC0B-1F5B-1F4B-7E606FC9A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Visual emphasis tells the audience where to look. </a:t>
            </a:r>
          </a:p>
          <a:p>
            <a:pPr lvl="0"/>
            <a:r>
              <a:rPr lang="en-GB" dirty="0"/>
              <a:t>The most visually prominent element appears important. </a:t>
            </a:r>
          </a:p>
          <a:p>
            <a:pPr lvl="0"/>
            <a:r>
              <a:rPr lang="en-GB" dirty="0"/>
              <a:t>Emphasis should reflect the analytical question. </a:t>
            </a:r>
          </a:p>
          <a:p>
            <a:pPr lvl="0"/>
            <a:r>
              <a:rPr lang="en-GB" dirty="0"/>
              <a:t>Unnecessary emphasis can distort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103356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021B0-9CFD-DE2F-5BE9-BA71BA14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4BBF-3036-449B-6323-6BF00943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in visualizations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73E5E-62F1-500E-E33B-C79C068C6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09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0B74-E24A-6EA8-D091-07F10A30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comparisons easy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480D-02A8-63C0-A375-C74057F75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Which position accumulated more minutes? </a:t>
            </a:r>
          </a:p>
          <a:p>
            <a:pPr lvl="0"/>
            <a:r>
              <a:rPr lang="en-GB" dirty="0"/>
              <a:t>Approximately how many more minutes?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FD1F-5C27-889D-B140-6FBEA397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7319"/>
            <a:ext cx="4654378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399B2E-24E6-B3F4-C649-841CC786B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424" y="2677319"/>
            <a:ext cx="458213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29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F1FB-BA10-B3BA-681B-43D9A76B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of visual encodings</a:t>
            </a:r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9EA047FD-5B8C-BF2E-A786-CD90A29A5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6978"/>
            <a:ext cx="10515600" cy="30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76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76C2-D4AF-7FDB-3F15-36030F0F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8F4BD-A2C2-44EF-811D-432873A2F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of visual encodings</a:t>
            </a:r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8CB5A405-5870-CC1D-4B60-8ED336EF8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6978"/>
            <a:ext cx="10515600" cy="30044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745FE6-79D2-83BA-A076-9D2E4EECDF0F}"/>
              </a:ext>
            </a:extLst>
          </p:cNvPr>
          <p:cNvSpPr/>
          <p:nvPr/>
        </p:nvSpPr>
        <p:spPr>
          <a:xfrm>
            <a:off x="10124661" y="2306977"/>
            <a:ext cx="1229138" cy="3004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34C68-539C-F858-2684-77C9EB341642}"/>
              </a:ext>
            </a:extLst>
          </p:cNvPr>
          <p:cNvSpPr/>
          <p:nvPr/>
        </p:nvSpPr>
        <p:spPr>
          <a:xfrm>
            <a:off x="6500191" y="2306977"/>
            <a:ext cx="1229138" cy="3004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3618CB-4F71-42C0-D894-4EB219A54CEA}"/>
              </a:ext>
            </a:extLst>
          </p:cNvPr>
          <p:cNvSpPr/>
          <p:nvPr/>
        </p:nvSpPr>
        <p:spPr>
          <a:xfrm>
            <a:off x="1921565" y="2306977"/>
            <a:ext cx="1229138" cy="3004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46C47-CF56-5FCF-2F9C-612D0FF830B5}"/>
              </a:ext>
            </a:extLst>
          </p:cNvPr>
          <p:cNvSpPr/>
          <p:nvPr/>
        </p:nvSpPr>
        <p:spPr>
          <a:xfrm>
            <a:off x="838199" y="2306977"/>
            <a:ext cx="1083365" cy="3004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41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C357F-100D-0FC7-A142-67B4C8C3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2E76-D641-C4F6-D14D-8299765C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attributes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5C486-0514-F484-9CDA-9FE70ABEC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48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9C76-E1F7-D191-D6D8-C6D40E84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attributes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5B882-B8A6-490C-5D7B-E645ED07D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visual properties would appropriately represent:</a:t>
            </a:r>
          </a:p>
          <a:p>
            <a:pPr lvl="1"/>
            <a:r>
              <a:rPr lang="en-GB" dirty="0"/>
              <a:t>Position </a:t>
            </a:r>
          </a:p>
          <a:p>
            <a:pPr lvl="1"/>
            <a:r>
              <a:rPr lang="en-GB" dirty="0"/>
              <a:t>Minutes played </a:t>
            </a:r>
          </a:p>
          <a:p>
            <a:pPr lvl="1"/>
            <a:r>
              <a:rPr lang="en-GB" dirty="0"/>
              <a:t>Team </a:t>
            </a:r>
          </a:p>
          <a:p>
            <a:pPr lvl="1"/>
            <a:r>
              <a:rPr lang="en-GB" dirty="0"/>
              <a:t>Average sprint speed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468708-A9C8-B7AB-65E1-9F2F378A8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336811"/>
              </p:ext>
            </p:extLst>
          </p:nvPr>
        </p:nvGraphicFramePr>
        <p:xfrm>
          <a:off x="2590799" y="4392175"/>
          <a:ext cx="7010401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3833">
                  <a:extLst>
                    <a:ext uri="{9D8B030D-6E8A-4147-A177-3AD203B41FA5}">
                      <a16:colId xmlns:a16="http://schemas.microsoft.com/office/drawing/2014/main" val="608328273"/>
                    </a:ext>
                  </a:extLst>
                </a:gridCol>
                <a:gridCol w="4686568">
                  <a:extLst>
                    <a:ext uri="{9D8B030D-6E8A-4147-A177-3AD203B41FA5}">
                      <a16:colId xmlns:a16="http://schemas.microsoft.com/office/drawing/2014/main" val="1120427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Appropriate visual properties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90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Length, size, </a:t>
                      </a:r>
                      <a:r>
                        <a:rPr lang="en-GB" dirty="0" err="1"/>
                        <a:t>color</a:t>
                      </a:r>
                      <a:r>
                        <a:rPr lang="en-GB" dirty="0"/>
                        <a:t> intensity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45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Nominal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Color</a:t>
                      </a:r>
                      <a:r>
                        <a:rPr lang="en-GB" dirty="0"/>
                        <a:t> hue, shape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057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Ordinal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Color</a:t>
                      </a:r>
                      <a:r>
                        <a:rPr lang="en-GB" dirty="0"/>
                        <a:t> intensity,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140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84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0C08-6C02-1672-FDAA-4E1C959B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64DC-63E6-A64C-31D8-D66A8312B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Identifying visual attributes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55FAE-4678-CBBA-B153-B85E053CA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344" y="1922798"/>
            <a:ext cx="6719455" cy="4254165"/>
          </a:xfrm>
        </p:spPr>
        <p:txBody>
          <a:bodyPr/>
          <a:lstStyle/>
          <a:p>
            <a:r>
              <a:rPr lang="en-US" dirty="0"/>
              <a:t>What visual attributes are used here?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BE06A-0992-1D36-A956-E82AC5C3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E6D5B-AC01-85BF-188E-2DD0876C1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9758"/>
            <a:ext cx="3235036" cy="5095183"/>
          </a:xfrm>
          <a:prstGeom prst="rect">
            <a:avLst/>
          </a:prstGeom>
        </p:spPr>
      </p:pic>
      <p:pic>
        <p:nvPicPr>
          <p:cNvPr id="7" name="Picture 2" descr="Why Visual Analytics? - Tableau">
            <a:extLst>
              <a:ext uri="{FF2B5EF4-FFF2-40B4-BE49-F238E27FC236}">
                <a16:creationId xmlns:a16="http://schemas.microsoft.com/office/drawing/2014/main" id="{572807D2-7E02-18DC-6F4D-373E7919E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134" y="2602235"/>
            <a:ext cx="6094005" cy="33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785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C1092-BF0C-5C73-4BBD-CAA64E01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907FC-D3C0-4BE9-FB2E-E4963311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the Right Chart Type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6A9F1-E557-7839-3680-88CD80787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63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DF8D-2B58-8625-9E7E-B65ADFDB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Match the chart to your question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3B395-A0BD-042A-8254-AB38C510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would never do analysis before the question</a:t>
            </a:r>
          </a:p>
          <a:p>
            <a:r>
              <a:rPr lang="en-US" dirty="0"/>
              <a:t>Same ideas apply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3654A-4B16-C0CE-367F-30419CF3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03843A-D9F3-A48C-EF45-0AE4A60A2AC7}"/>
              </a:ext>
            </a:extLst>
          </p:cNvPr>
          <p:cNvSpPr/>
          <p:nvPr/>
        </p:nvSpPr>
        <p:spPr>
          <a:xfrm>
            <a:off x="1718200" y="4148716"/>
            <a:ext cx="1828800" cy="805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Research Question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6CAE1-ADA5-D5D9-7EA6-9751FFCD4B41}"/>
              </a:ext>
            </a:extLst>
          </p:cNvPr>
          <p:cNvSpPr/>
          <p:nvPr/>
        </p:nvSpPr>
        <p:spPr>
          <a:xfrm>
            <a:off x="4918600" y="4154677"/>
            <a:ext cx="1828800" cy="805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Visualization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82905B-3114-E5B5-6CA1-B051AB2462D2}"/>
              </a:ext>
            </a:extLst>
          </p:cNvPr>
          <p:cNvSpPr/>
          <p:nvPr/>
        </p:nvSpPr>
        <p:spPr>
          <a:xfrm>
            <a:off x="7946280" y="4148716"/>
            <a:ext cx="1828800" cy="805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Visual Encoding Methods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5AC83D8-A04A-3FD4-E550-65562FEF1BE4}"/>
              </a:ext>
            </a:extLst>
          </p:cNvPr>
          <p:cNvSpPr/>
          <p:nvPr/>
        </p:nvSpPr>
        <p:spPr>
          <a:xfrm>
            <a:off x="3810000" y="4348480"/>
            <a:ext cx="82296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C579A41-46D9-BCCB-302F-98DB9F02AD7C}"/>
              </a:ext>
            </a:extLst>
          </p:cNvPr>
          <p:cNvSpPr/>
          <p:nvPr/>
        </p:nvSpPr>
        <p:spPr>
          <a:xfrm>
            <a:off x="6935360" y="4368800"/>
            <a:ext cx="82296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96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1593-F2E7-A0A0-4235-5DCA483B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7D4B5-3BEA-A604-109D-2E41CFA31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Histograms: Player height distribution, shot distance distribution</a:t>
            </a:r>
          </a:p>
          <a:p>
            <a:r>
              <a:rPr lang="en-US" dirty="0"/>
              <a:t>Density plots: Smoothed shooting ranges</a:t>
            </a:r>
          </a:p>
          <a:p>
            <a:r>
              <a:rPr lang="en-US" dirty="0"/>
              <a:t>Box plots: Comparing stat distributions across positions or teams</a:t>
            </a:r>
          </a:p>
          <a:p>
            <a:r>
              <a:rPr lang="en-US" dirty="0"/>
              <a:t>Violin plots: Showing full distribution shape (sprint speeds by position)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48B8C-B129-4165-BA11-6AF432CA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BAAD0-EAB3-75AD-D9CF-FA8A4201EA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7"/>
          <a:stretch>
            <a:fillRect/>
          </a:stretch>
        </p:blipFill>
        <p:spPr>
          <a:xfrm>
            <a:off x="3591348" y="4732191"/>
            <a:ext cx="1190791" cy="1147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04EB65-D7BB-8ECF-7D60-829A955DF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51" y="4922196"/>
            <a:ext cx="1152686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39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E914-6399-D19B-BAF0-C90A269B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1137-DFF6-0E27-4C23-A158DEA8C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3D9AA-549F-606F-B3F5-5C861CA7E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Histograms: Player height distribution, shot distance distribution</a:t>
            </a:r>
          </a:p>
          <a:p>
            <a:r>
              <a:rPr lang="en-US" dirty="0"/>
              <a:t>Density plots: Smoothed shooting ranges</a:t>
            </a:r>
          </a:p>
          <a:p>
            <a:r>
              <a:rPr lang="en-US" dirty="0"/>
              <a:t>Box plots: Comparing stat distributions across positions or teams</a:t>
            </a:r>
          </a:p>
          <a:p>
            <a:r>
              <a:rPr lang="en-US" dirty="0"/>
              <a:t>Violin plots: Showing full distribution shape (sprint speeds by position)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C9DD0-0ABD-BF1F-BB74-52877A4D1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0DB94C-EC6F-313A-E8E9-313248E52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139" y="4545840"/>
            <a:ext cx="4679721" cy="163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15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7BA0-78E2-3F36-B68F-77FFEAAD4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Comparisons (rank)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4F734-6154-A9C8-A362-34EB9DF0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 charts: Simple stat comparisons (points per game by player)</a:t>
            </a:r>
          </a:p>
          <a:p>
            <a:r>
              <a:rPr lang="en-US" dirty="0"/>
              <a:t>Grouped/stacked bars: Multi-category comparisons (shooting % by zone)</a:t>
            </a:r>
          </a:p>
          <a:p>
            <a:r>
              <a:rPr lang="en-US" dirty="0"/>
              <a:t>Dot plots: Clean alternative to bars, especially for rankings</a:t>
            </a:r>
          </a:p>
          <a:p>
            <a:r>
              <a:rPr lang="en-US" dirty="0"/>
              <a:t>Radar/spider charts: Multi-dimensional player comparisons (use cautiously!)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10D20-7BB4-8BCC-314D-CF805A84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D81678-C0F1-63E8-65AF-98C56EAB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61" y="5033803"/>
            <a:ext cx="1200318" cy="1143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DA242-D6F9-4C30-13D7-8348F4760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454" y="4988083"/>
            <a:ext cx="1162212" cy="1105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B175A5-9673-0A59-A229-9DF3A7380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153" y="4959504"/>
            <a:ext cx="1143160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83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BC37-5B5E-79EE-8A29-38BC58CF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F0359-11C9-47B0-F490-B0B74F7A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Scatter plots: Exploring correlations (height vs. rebounding)</a:t>
            </a:r>
          </a:p>
          <a:p>
            <a:r>
              <a:rPr lang="en-US" dirty="0"/>
              <a:t>Correlation matrices: Multiple pairwise correlation</a:t>
            </a:r>
          </a:p>
          <a:p>
            <a:r>
              <a:rPr lang="en-US" dirty="0" err="1"/>
              <a:t>Hexbin</a:t>
            </a:r>
            <a:r>
              <a:rPr lang="en-US" dirty="0"/>
              <a:t> plots: scatter plots with aggregation (shot charts)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14446-E47F-0111-7142-2A51636E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6F363-37A5-B7AB-C478-A7D8C244E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879" y="4823622"/>
            <a:ext cx="1086002" cy="1114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CA5EA7-974A-D1DA-43C5-B2F7166BC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97" y="4814096"/>
            <a:ext cx="1152686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071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D59E-A5C2-40A2-C9F7-71E7A431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Part-to-whole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25C8-6278-66C0-8EAC-58A49D91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Stacked bars: Composition of team offense (3PT vs. 2PT vs. FT)</a:t>
            </a:r>
          </a:p>
          <a:p>
            <a:r>
              <a:rPr lang="en-US" dirty="0"/>
              <a:t>Tree maps: Allocating playing time or usage</a:t>
            </a:r>
          </a:p>
          <a:p>
            <a:r>
              <a:rPr lang="en-US" dirty="0"/>
              <a:t>Pie charts: use cautiously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74C96-0ECF-F7B9-773A-D409FC35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3999F2-3185-6899-67FA-BC71144ED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073" y="4324366"/>
            <a:ext cx="1162212" cy="1105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368AA-0850-42AA-F1C0-3EE8BB3CA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62" y="4267208"/>
            <a:ext cx="1190791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43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80A0-119A-029C-E094-BDC0A582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91642-91F6-BA8F-B509-CEBCDF5AD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charts: Performance over season, in-game momentum</a:t>
            </a:r>
          </a:p>
          <a:p>
            <a:r>
              <a:rPr lang="en-US" dirty="0"/>
              <a:t>Area charts: Cumulative stats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B9AAD-2CD6-09AE-9FF8-BD548FEC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BF2DCB-CE0F-C097-09B5-DEE49F006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294" y="4590750"/>
            <a:ext cx="2416458" cy="13101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78A14F-66FC-9220-D2E9-295543ED9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503" y="4692649"/>
            <a:ext cx="2416458" cy="120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09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2F4B-C143-AA1B-2824-EC8B1688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Spatial/Location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DC2B6-AA5B-2DF6-88F0-12D21D9C9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Heat maps: Player positioning, shot locations</a:t>
            </a:r>
          </a:p>
          <a:p>
            <a:r>
              <a:rPr lang="en-US" dirty="0"/>
              <a:t>Contour plots: Density of activity on field/court</a:t>
            </a:r>
          </a:p>
          <a:p>
            <a:r>
              <a:rPr lang="en-US" dirty="0"/>
              <a:t>Field/court overlays: Context matters in sports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8106C-0BCD-3CCE-0C04-6738F084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288282-CC0B-EA10-4AD3-B3C3A2051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56" y="4170865"/>
            <a:ext cx="2000529" cy="2095792"/>
          </a:xfrm>
          <a:prstGeom prst="rect">
            <a:avLst/>
          </a:prstGeom>
        </p:spPr>
      </p:pic>
      <p:pic>
        <p:nvPicPr>
          <p:cNvPr id="6146" name="Picture 2" descr="Solved: Searching for visualization Soccer heatmap - Microsoft Fabric  Community">
            <a:extLst>
              <a:ext uri="{FF2B5EF4-FFF2-40B4-BE49-F238E27FC236}">
                <a16:creationId xmlns:a16="http://schemas.microsoft.com/office/drawing/2014/main" id="{D1E82D65-4E46-FAFD-C075-2E4DB03D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944" y="4451204"/>
            <a:ext cx="2667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10 Shocking Stats from the Seahawks' Thrilling NFC Championship Victory">
            <a:extLst>
              <a:ext uri="{FF2B5EF4-FFF2-40B4-BE49-F238E27FC236}">
                <a16:creationId xmlns:a16="http://schemas.microsoft.com/office/drawing/2014/main" id="{D09B586E-4E31-DF7B-EA62-E0EFE7976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0" y="4377770"/>
            <a:ext cx="2766060" cy="184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124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1479-4465-E501-306F-6DE88AC4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C521-CE38-4A1D-9175-A63CF813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421D9-8E71-DC15-61CB-D81A16C98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770" y="1463539"/>
            <a:ext cx="2692288" cy="22476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2D9648-23E3-1761-DBB6-2C273BF30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849" y="1441937"/>
            <a:ext cx="3491783" cy="2433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34F3AA-C8D6-4C78-EF7B-B4BB0741B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78" y="4039435"/>
            <a:ext cx="3510154" cy="2369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B7E74D-9ACB-909D-FE77-20B13180F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369" y="3875313"/>
            <a:ext cx="3383231" cy="253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04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1276</Words>
  <Application>Microsoft Office PowerPoint</Application>
  <PresentationFormat>Widescreen</PresentationFormat>
  <Paragraphs>481</Paragraphs>
  <Slides>33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Helvetica</vt:lpstr>
      <vt:lpstr>Office Theme</vt:lpstr>
      <vt:lpstr>Data Visualization</vt:lpstr>
      <vt:lpstr>Why visualization matters in sports analytics </vt:lpstr>
      <vt:lpstr>Why visualization matters in sports analytics </vt:lpstr>
      <vt:lpstr>Who played the most minutes?</vt:lpstr>
      <vt:lpstr>Gradient to represent magnitude</vt:lpstr>
      <vt:lpstr>Order to organize values</vt:lpstr>
      <vt:lpstr>Visual representation of values</vt:lpstr>
      <vt:lpstr>Why visualization matters in sports analytics </vt:lpstr>
      <vt:lpstr>Who played &gt;1500 minutes last season?</vt:lpstr>
      <vt:lpstr>Color, order, graphs</vt:lpstr>
      <vt:lpstr>Why visualization matters</vt:lpstr>
      <vt:lpstr>Directing attention</vt:lpstr>
      <vt:lpstr>Visual encoding</vt:lpstr>
      <vt:lpstr>Pre-attentive attributes </vt:lpstr>
      <vt:lpstr>Pre-attentive attributes </vt:lpstr>
      <vt:lpstr>Attention versus importance</vt:lpstr>
      <vt:lpstr>Accuracy in visualizations</vt:lpstr>
      <vt:lpstr>Making comparisons easy</vt:lpstr>
      <vt:lpstr>Accuracy of visual encodings</vt:lpstr>
      <vt:lpstr>Accuracy of visual encodings</vt:lpstr>
      <vt:lpstr>Selecting attributes</vt:lpstr>
      <vt:lpstr>Selecting attributes</vt:lpstr>
      <vt:lpstr>Identifying visual attributes</vt:lpstr>
      <vt:lpstr>Choosing the Right Chart Type </vt:lpstr>
      <vt:lpstr>Match the chart to your question</vt:lpstr>
      <vt:lpstr>distribution</vt:lpstr>
      <vt:lpstr>distribution</vt:lpstr>
      <vt:lpstr>Comparisons (rank)</vt:lpstr>
      <vt:lpstr>Relationships</vt:lpstr>
      <vt:lpstr>Part-to-whole</vt:lpstr>
      <vt:lpstr>Time series</vt:lpstr>
      <vt:lpstr>Spatial/Location data</vt:lpstr>
      <vt:lpstr>Bad choices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Author</cp:lastModifiedBy>
  <cp:revision>24</cp:revision>
  <dcterms:created xsi:type="dcterms:W3CDTF">2026-08-17T13:48:23Z</dcterms:created>
  <dcterms:modified xsi:type="dcterms:W3CDTF">2026-09-22T16:39:57Z</dcterms:modified>
</cp:coreProperties>
</file>