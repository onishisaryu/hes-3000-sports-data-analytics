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4"/>
  </p:notesMasterIdLst>
  <p:sldIdLst>
    <p:sldId id="256" r:id="rId2"/>
    <p:sldId id="308" r:id="rId3"/>
    <p:sldId id="336" r:id="rId4"/>
    <p:sldId id="317" r:id="rId5"/>
    <p:sldId id="338" r:id="rId6"/>
    <p:sldId id="339" r:id="rId7"/>
    <p:sldId id="337" r:id="rId8"/>
    <p:sldId id="355" r:id="rId9"/>
    <p:sldId id="350" r:id="rId10"/>
    <p:sldId id="340" r:id="rId11"/>
    <p:sldId id="356" r:id="rId12"/>
    <p:sldId id="362" r:id="rId13"/>
    <p:sldId id="357" r:id="rId14"/>
    <p:sldId id="295" r:id="rId15"/>
    <p:sldId id="343" r:id="rId16"/>
    <p:sldId id="358" r:id="rId17"/>
    <p:sldId id="359" r:id="rId18"/>
    <p:sldId id="360" r:id="rId19"/>
    <p:sldId id="361" r:id="rId20"/>
    <p:sldId id="363" r:id="rId21"/>
    <p:sldId id="364" r:id="rId22"/>
    <p:sldId id="365" r:id="rId23"/>
    <p:sldId id="352" r:id="rId24"/>
    <p:sldId id="370" r:id="rId25"/>
    <p:sldId id="321" r:id="rId26"/>
    <p:sldId id="330" r:id="rId27"/>
    <p:sldId id="329" r:id="rId28"/>
    <p:sldId id="331" r:id="rId29"/>
    <p:sldId id="334" r:id="rId30"/>
    <p:sldId id="332" r:id="rId31"/>
    <p:sldId id="333" r:id="rId32"/>
    <p:sldId id="366" r:id="rId3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EECD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D68BA75F-BB6E-9F18-1648-74F52ADBFB50}" v="317" dt="2026-09-14T21:32:23.525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8545"/>
    <p:restoredTop sz="78492" autoAdjust="0"/>
  </p:normalViewPr>
  <p:slideViewPr>
    <p:cSldViewPr snapToGrid="0">
      <p:cViewPr varScale="1">
        <p:scale>
          <a:sx n="92" d="100"/>
          <a:sy n="92" d="100"/>
        </p:scale>
        <p:origin x="1110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00" d="100"/>
        <a:sy n="100" d="100"/>
      </p:scale>
      <p:origin x="0" y="-4686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microsoft.com/office/2016/11/relationships/changesInfo" Target="changesInfos/changesInfo1.xml"/><Relationship Id="rId21" Type="http://schemas.openxmlformats.org/officeDocument/2006/relationships/slide" Target="slides/slide20.xml"/><Relationship Id="rId34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heme" Target="theme/theme1.xml"/><Relationship Id="rId40" Type="http://schemas.microsoft.com/office/2015/10/relationships/revisionInfo" Target="revisionInfo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Onishi, Saryu" userId="S::saryu@ou.edu::24ec4854-0e9b-4cd9-95b4-b9d15917116b" providerId="AD" clId="Web-{D68BA75F-BB6E-9F18-1648-74F52ADBFB50}"/>
    <pc:docChg chg="addSld modSld">
      <pc:chgData name="Onishi, Saryu" userId="S::saryu@ou.edu::24ec4854-0e9b-4cd9-95b4-b9d15917116b" providerId="AD" clId="Web-{D68BA75F-BB6E-9F18-1648-74F52ADBFB50}" dt="2026-09-14T21:32:21.071" v="322"/>
      <pc:docMkLst>
        <pc:docMk/>
      </pc:docMkLst>
      <pc:sldChg chg="modSp">
        <pc:chgData name="Onishi, Saryu" userId="S::saryu@ou.edu::24ec4854-0e9b-4cd9-95b4-b9d15917116b" providerId="AD" clId="Web-{D68BA75F-BB6E-9F18-1648-74F52ADBFB50}" dt="2026-09-14T21:23:01.601" v="188" actId="20577"/>
        <pc:sldMkLst>
          <pc:docMk/>
          <pc:sldMk cId="2206692154" sldId="301"/>
        </pc:sldMkLst>
        <pc:spChg chg="mod">
          <ac:chgData name="Onishi, Saryu" userId="S::saryu@ou.edu::24ec4854-0e9b-4cd9-95b4-b9d15917116b" providerId="AD" clId="Web-{D68BA75F-BB6E-9F18-1648-74F52ADBFB50}" dt="2026-09-14T21:23:01.601" v="188" actId="20577"/>
          <ac:spMkLst>
            <pc:docMk/>
            <pc:sldMk cId="2206692154" sldId="301"/>
            <ac:spMk id="3" creationId="{B7781857-C6C4-CF29-7D9F-C7FCD74ECA0D}"/>
          </ac:spMkLst>
        </pc:spChg>
      </pc:sldChg>
      <pc:sldChg chg="modSp">
        <pc:chgData name="Onishi, Saryu" userId="S::saryu@ou.edu::24ec4854-0e9b-4cd9-95b4-b9d15917116b" providerId="AD" clId="Web-{D68BA75F-BB6E-9F18-1648-74F52ADBFB50}" dt="2026-09-14T21:16:29.569" v="91" actId="20577"/>
        <pc:sldMkLst>
          <pc:docMk/>
          <pc:sldMk cId="404022894" sldId="309"/>
        </pc:sldMkLst>
        <pc:spChg chg="mod">
          <ac:chgData name="Onishi, Saryu" userId="S::saryu@ou.edu::24ec4854-0e9b-4cd9-95b4-b9d15917116b" providerId="AD" clId="Web-{D68BA75F-BB6E-9F18-1648-74F52ADBFB50}" dt="2026-09-14T21:16:29.569" v="91" actId="20577"/>
          <ac:spMkLst>
            <pc:docMk/>
            <pc:sldMk cId="404022894" sldId="309"/>
            <ac:spMk id="3" creationId="{51729538-923D-458B-77DC-2E172E5670ED}"/>
          </ac:spMkLst>
        </pc:spChg>
      </pc:sldChg>
      <pc:sldChg chg="modSp">
        <pc:chgData name="Onishi, Saryu" userId="S::saryu@ou.edu::24ec4854-0e9b-4cd9-95b4-b9d15917116b" providerId="AD" clId="Web-{D68BA75F-BB6E-9F18-1648-74F52ADBFB50}" dt="2026-09-14T21:07:36.208" v="9" actId="1076"/>
        <pc:sldMkLst>
          <pc:docMk/>
          <pc:sldMk cId="2375312425" sldId="341"/>
        </pc:sldMkLst>
        <pc:spChg chg="mod">
          <ac:chgData name="Onishi, Saryu" userId="S::saryu@ou.edu::24ec4854-0e9b-4cd9-95b4-b9d15917116b" providerId="AD" clId="Web-{D68BA75F-BB6E-9F18-1648-74F52ADBFB50}" dt="2026-09-14T21:07:32.817" v="8" actId="20577"/>
          <ac:spMkLst>
            <pc:docMk/>
            <pc:sldMk cId="2375312425" sldId="341"/>
            <ac:spMk id="3" creationId="{81DA9FF1-2CFE-687B-73EB-63D88B461873}"/>
          </ac:spMkLst>
        </pc:spChg>
        <pc:spChg chg="mod">
          <ac:chgData name="Onishi, Saryu" userId="S::saryu@ou.edu::24ec4854-0e9b-4cd9-95b4-b9d15917116b" providerId="AD" clId="Web-{D68BA75F-BB6E-9F18-1648-74F52ADBFB50}" dt="2026-09-14T21:07:36.208" v="9" actId="1076"/>
          <ac:spMkLst>
            <pc:docMk/>
            <pc:sldMk cId="2375312425" sldId="341"/>
            <ac:spMk id="5" creationId="{6F87B829-A4B6-1F78-9DA5-137B29194ED2}"/>
          </ac:spMkLst>
        </pc:spChg>
      </pc:sldChg>
      <pc:sldChg chg="modSp new">
        <pc:chgData name="Onishi, Saryu" userId="S::saryu@ou.edu::24ec4854-0e9b-4cd9-95b4-b9d15917116b" providerId="AD" clId="Web-{D68BA75F-BB6E-9F18-1648-74F52ADBFB50}" dt="2026-09-14T21:24:18.789" v="206" actId="20577"/>
        <pc:sldMkLst>
          <pc:docMk/>
          <pc:sldMk cId="2874847518" sldId="354"/>
        </pc:sldMkLst>
        <pc:spChg chg="mod">
          <ac:chgData name="Onishi, Saryu" userId="S::saryu@ou.edu::24ec4854-0e9b-4cd9-95b4-b9d15917116b" providerId="AD" clId="Web-{D68BA75F-BB6E-9F18-1648-74F52ADBFB50}" dt="2026-09-14T21:15:16.819" v="74" actId="20577"/>
          <ac:spMkLst>
            <pc:docMk/>
            <pc:sldMk cId="2874847518" sldId="354"/>
            <ac:spMk id="2" creationId="{B112D2BE-C4C4-4D20-846C-3EF3A9972AED}"/>
          </ac:spMkLst>
        </pc:spChg>
        <pc:spChg chg="mod">
          <ac:chgData name="Onishi, Saryu" userId="S::saryu@ou.edu::24ec4854-0e9b-4cd9-95b4-b9d15917116b" providerId="AD" clId="Web-{D68BA75F-BB6E-9F18-1648-74F52ADBFB50}" dt="2026-09-14T21:24:18.789" v="206" actId="20577"/>
          <ac:spMkLst>
            <pc:docMk/>
            <pc:sldMk cId="2874847518" sldId="354"/>
            <ac:spMk id="3" creationId="{D45FD767-E1AA-9C8B-849F-6E11EB3CB6C0}"/>
          </ac:spMkLst>
        </pc:spChg>
      </pc:sldChg>
      <pc:sldChg chg="modSp new">
        <pc:chgData name="Onishi, Saryu" userId="S::saryu@ou.edu::24ec4854-0e9b-4cd9-95b4-b9d15917116b" providerId="AD" clId="Web-{D68BA75F-BB6E-9F18-1648-74F52ADBFB50}" dt="2026-09-14T21:17:39.194" v="127" actId="20577"/>
        <pc:sldMkLst>
          <pc:docMk/>
          <pc:sldMk cId="809028509" sldId="355"/>
        </pc:sldMkLst>
        <pc:spChg chg="mod">
          <ac:chgData name="Onishi, Saryu" userId="S::saryu@ou.edu::24ec4854-0e9b-4cd9-95b4-b9d15917116b" providerId="AD" clId="Web-{D68BA75F-BB6E-9F18-1648-74F52ADBFB50}" dt="2026-09-14T21:17:39.194" v="127" actId="20577"/>
          <ac:spMkLst>
            <pc:docMk/>
            <pc:sldMk cId="809028509" sldId="355"/>
            <ac:spMk id="2" creationId="{9B3B2596-FD5F-03B2-820D-4B9F36FB3D0A}"/>
          </ac:spMkLst>
        </pc:spChg>
        <pc:spChg chg="mod">
          <ac:chgData name="Onishi, Saryu" userId="S::saryu@ou.edu::24ec4854-0e9b-4cd9-95b4-b9d15917116b" providerId="AD" clId="Web-{D68BA75F-BB6E-9F18-1648-74F52ADBFB50}" dt="2026-09-14T21:17:17.678" v="121" actId="20577"/>
          <ac:spMkLst>
            <pc:docMk/>
            <pc:sldMk cId="809028509" sldId="355"/>
            <ac:spMk id="3" creationId="{FAB2016C-BC61-0A1A-E451-7B3E637EF84A}"/>
          </ac:spMkLst>
        </pc:spChg>
      </pc:sldChg>
      <pc:sldChg chg="modSp new">
        <pc:chgData name="Onishi, Saryu" userId="S::saryu@ou.edu::24ec4854-0e9b-4cd9-95b4-b9d15917116b" providerId="AD" clId="Web-{D68BA75F-BB6E-9F18-1648-74F52ADBFB50}" dt="2026-09-14T21:17:57.460" v="132" actId="20577"/>
        <pc:sldMkLst>
          <pc:docMk/>
          <pc:sldMk cId="4290967881" sldId="356"/>
        </pc:sldMkLst>
        <pc:spChg chg="mod">
          <ac:chgData name="Onishi, Saryu" userId="S::saryu@ou.edu::24ec4854-0e9b-4cd9-95b4-b9d15917116b" providerId="AD" clId="Web-{D68BA75F-BB6E-9F18-1648-74F52ADBFB50}" dt="2026-09-14T21:17:53.944" v="130" actId="20577"/>
          <ac:spMkLst>
            <pc:docMk/>
            <pc:sldMk cId="4290967881" sldId="356"/>
            <ac:spMk id="2" creationId="{E2FA18D7-28B2-133F-662F-90CC8F55869B}"/>
          </ac:spMkLst>
        </pc:spChg>
        <pc:spChg chg="mod">
          <ac:chgData name="Onishi, Saryu" userId="S::saryu@ou.edu::24ec4854-0e9b-4cd9-95b4-b9d15917116b" providerId="AD" clId="Web-{D68BA75F-BB6E-9F18-1648-74F52ADBFB50}" dt="2026-09-14T21:17:57.460" v="132" actId="20577"/>
          <ac:spMkLst>
            <pc:docMk/>
            <pc:sldMk cId="4290967881" sldId="356"/>
            <ac:spMk id="3" creationId="{C603F302-AE7F-8CE3-9FC5-7C9203D4C4E2}"/>
          </ac:spMkLst>
        </pc:spChg>
      </pc:sldChg>
      <pc:sldChg chg="modSp add replId">
        <pc:chgData name="Onishi, Saryu" userId="S::saryu@ou.edu::24ec4854-0e9b-4cd9-95b4-b9d15917116b" providerId="AD" clId="Web-{D68BA75F-BB6E-9F18-1648-74F52ADBFB50}" dt="2026-09-14T21:18:30.835" v="139" actId="20577"/>
        <pc:sldMkLst>
          <pc:docMk/>
          <pc:sldMk cId="1767871761" sldId="357"/>
        </pc:sldMkLst>
        <pc:spChg chg="mod">
          <ac:chgData name="Onishi, Saryu" userId="S::saryu@ou.edu::24ec4854-0e9b-4cd9-95b4-b9d15917116b" providerId="AD" clId="Web-{D68BA75F-BB6E-9F18-1648-74F52ADBFB50}" dt="2026-09-14T21:18:30.835" v="139" actId="20577"/>
          <ac:spMkLst>
            <pc:docMk/>
            <pc:sldMk cId="1767871761" sldId="357"/>
            <ac:spMk id="3" creationId="{F328F1A0-F2E2-C4F6-63D0-F385C2C08D80}"/>
          </ac:spMkLst>
        </pc:spChg>
      </pc:sldChg>
      <pc:sldChg chg="add mod replId modShow">
        <pc:chgData name="Onishi, Saryu" userId="S::saryu@ou.edu::24ec4854-0e9b-4cd9-95b4-b9d15917116b" providerId="AD" clId="Web-{D68BA75F-BB6E-9F18-1648-74F52ADBFB50}" dt="2026-09-14T21:24:20.117" v="207"/>
        <pc:sldMkLst>
          <pc:docMk/>
          <pc:sldMk cId="2995389737" sldId="358"/>
        </pc:sldMkLst>
      </pc:sldChg>
      <pc:sldChg chg="modSp add replId">
        <pc:chgData name="Onishi, Saryu" userId="S::saryu@ou.edu::24ec4854-0e9b-4cd9-95b4-b9d15917116b" providerId="AD" clId="Web-{D68BA75F-BB6E-9F18-1648-74F52ADBFB50}" dt="2026-09-14T21:25:34.258" v="214" actId="20577"/>
        <pc:sldMkLst>
          <pc:docMk/>
          <pc:sldMk cId="1243830769" sldId="359"/>
        </pc:sldMkLst>
        <pc:spChg chg="mod">
          <ac:chgData name="Onishi, Saryu" userId="S::saryu@ou.edu::24ec4854-0e9b-4cd9-95b4-b9d15917116b" providerId="AD" clId="Web-{D68BA75F-BB6E-9F18-1648-74F52ADBFB50}" dt="2026-09-14T21:25:34.258" v="214" actId="20577"/>
          <ac:spMkLst>
            <pc:docMk/>
            <pc:sldMk cId="1243830769" sldId="359"/>
            <ac:spMk id="3" creationId="{451547EC-8C64-0100-020D-0D8510686817}"/>
          </ac:spMkLst>
        </pc:spChg>
      </pc:sldChg>
      <pc:sldChg chg="modSp new">
        <pc:chgData name="Onishi, Saryu" userId="S::saryu@ou.edu::24ec4854-0e9b-4cd9-95b4-b9d15917116b" providerId="AD" clId="Web-{D68BA75F-BB6E-9F18-1648-74F52ADBFB50}" dt="2026-09-14T21:26:53.070" v="229" actId="20577"/>
        <pc:sldMkLst>
          <pc:docMk/>
          <pc:sldMk cId="2381630488" sldId="360"/>
        </pc:sldMkLst>
        <pc:spChg chg="mod">
          <ac:chgData name="Onishi, Saryu" userId="S::saryu@ou.edu::24ec4854-0e9b-4cd9-95b4-b9d15917116b" providerId="AD" clId="Web-{D68BA75F-BB6E-9F18-1648-74F52ADBFB50}" dt="2026-09-14T21:26:53.070" v="229" actId="20577"/>
          <ac:spMkLst>
            <pc:docMk/>
            <pc:sldMk cId="2381630488" sldId="360"/>
            <ac:spMk id="3" creationId="{573F9774-8134-A9A4-DA1E-3A021D0E75A4}"/>
          </ac:spMkLst>
        </pc:spChg>
      </pc:sldChg>
      <pc:sldChg chg="addSp modSp new">
        <pc:chgData name="Onishi, Saryu" userId="S::saryu@ou.edu::24ec4854-0e9b-4cd9-95b4-b9d15917116b" providerId="AD" clId="Web-{D68BA75F-BB6E-9F18-1648-74F52ADBFB50}" dt="2026-09-14T21:28:09.180" v="264"/>
        <pc:sldMkLst>
          <pc:docMk/>
          <pc:sldMk cId="1486169029" sldId="361"/>
        </pc:sldMkLst>
        <pc:spChg chg="mod">
          <ac:chgData name="Onishi, Saryu" userId="S::saryu@ou.edu::24ec4854-0e9b-4cd9-95b4-b9d15917116b" providerId="AD" clId="Web-{D68BA75F-BB6E-9F18-1648-74F52ADBFB50}" dt="2026-09-14T21:27:11.758" v="238" actId="20577"/>
          <ac:spMkLst>
            <pc:docMk/>
            <pc:sldMk cId="1486169029" sldId="361"/>
            <ac:spMk id="2" creationId="{519443A2-C56F-F6DF-D387-0E48376C5816}"/>
          </ac:spMkLst>
        </pc:spChg>
        <pc:spChg chg="mod">
          <ac:chgData name="Onishi, Saryu" userId="S::saryu@ou.edu::24ec4854-0e9b-4cd9-95b4-b9d15917116b" providerId="AD" clId="Web-{D68BA75F-BB6E-9F18-1648-74F52ADBFB50}" dt="2026-09-14T21:27:21.649" v="246" actId="20577"/>
          <ac:spMkLst>
            <pc:docMk/>
            <pc:sldMk cId="1486169029" sldId="361"/>
            <ac:spMk id="3" creationId="{B4660DEF-0C6D-4352-D4C1-3F9EDC657A6D}"/>
          </ac:spMkLst>
        </pc:spChg>
        <pc:spChg chg="add mod">
          <ac:chgData name="Onishi, Saryu" userId="S::saryu@ou.edu::24ec4854-0e9b-4cd9-95b4-b9d15917116b" providerId="AD" clId="Web-{D68BA75F-BB6E-9F18-1648-74F52ADBFB50}" dt="2026-09-14T21:28:09.180" v="264"/>
          <ac:spMkLst>
            <pc:docMk/>
            <pc:sldMk cId="1486169029" sldId="361"/>
            <ac:spMk id="4" creationId="{ADEF0CF4-9F0B-9BCC-D6D4-49A532E4AD93}"/>
          </ac:spMkLst>
        </pc:spChg>
      </pc:sldChg>
      <pc:sldChg chg="addSp modSp new">
        <pc:chgData name="Onishi, Saryu" userId="S::saryu@ou.edu::24ec4854-0e9b-4cd9-95b4-b9d15917116b" providerId="AD" clId="Web-{D68BA75F-BB6E-9F18-1648-74F52ADBFB50}" dt="2026-09-14T21:32:21.071" v="322"/>
        <pc:sldMkLst>
          <pc:docMk/>
          <pc:sldMk cId="2995797760" sldId="362"/>
        </pc:sldMkLst>
        <pc:spChg chg="mod">
          <ac:chgData name="Onishi, Saryu" userId="S::saryu@ou.edu::24ec4854-0e9b-4cd9-95b4-b9d15917116b" providerId="AD" clId="Web-{D68BA75F-BB6E-9F18-1648-74F52ADBFB50}" dt="2026-09-14T21:28:52.883" v="278" actId="20577"/>
          <ac:spMkLst>
            <pc:docMk/>
            <pc:sldMk cId="2995797760" sldId="362"/>
            <ac:spMk id="2" creationId="{79865F0B-0A66-FF8B-3F5C-3BDD7AF304A8}"/>
          </ac:spMkLst>
        </pc:spChg>
        <pc:spChg chg="mod">
          <ac:chgData name="Onishi, Saryu" userId="S::saryu@ou.edu::24ec4854-0e9b-4cd9-95b4-b9d15917116b" providerId="AD" clId="Web-{D68BA75F-BB6E-9F18-1648-74F52ADBFB50}" dt="2026-09-14T21:32:16.696" v="320" actId="20577"/>
          <ac:spMkLst>
            <pc:docMk/>
            <pc:sldMk cId="2995797760" sldId="362"/>
            <ac:spMk id="3" creationId="{44203125-B9A9-9921-B918-608635B0F058}"/>
          </ac:spMkLst>
        </pc:spChg>
        <pc:graphicFrameChg chg="add mod modGraphic">
          <ac:chgData name="Onishi, Saryu" userId="S::saryu@ou.edu::24ec4854-0e9b-4cd9-95b4-b9d15917116b" providerId="AD" clId="Web-{D68BA75F-BB6E-9F18-1648-74F52ADBFB50}" dt="2026-09-14T21:32:21.071" v="322"/>
          <ac:graphicFrameMkLst>
            <pc:docMk/>
            <pc:sldMk cId="2995797760" sldId="362"/>
            <ac:graphicFrameMk id="5" creationId="{0EB1E87E-8339-EF70-96ED-F69529683223}"/>
          </ac:graphicFrameMkLst>
        </pc:graphicFrame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995A223-E7C9-A243-9A70-FE01E1A1DD65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17D17FD-8842-8E4F-8C3E-EC8B634B2D5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388132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17D17FD-8842-8E4F-8C3E-EC8B634B2D5A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245805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Sports data visualization is described as an increasingly important research direction </a:t>
            </a:r>
          </a:p>
          <a:p>
            <a:pPr defTabSz="933237">
              <a:defRPr/>
            </a:pPr>
            <a:r>
              <a:rPr lang="en-US" dirty="0"/>
              <a:t>Visual processing happens faster than numerical processing—critical for time-sensitive sports decisions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560C251-82B7-4253-A774-38D73C276BCE}" type="slidenum">
              <a:rPr lang="en-US" smtClean="0"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9207217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Who played the most minutes?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560C251-82B7-4253-A774-38D73C276BCE}" type="slidenum">
              <a:rPr lang="en-US" smtClean="0"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049696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2B4E96-4A87-9651-4CD9-FA80835087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E8EC0C6-CB5A-C8B8-39B1-C0AACF0A02E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C8C6ADA-9396-4DC6-FD40-C4E2450E57E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Sports data visualization is described as an increasingly important research direction </a:t>
            </a:r>
          </a:p>
          <a:p>
            <a:pPr defTabSz="933237">
              <a:defRPr/>
            </a:pPr>
            <a:r>
              <a:rPr lang="en-US" dirty="0"/>
              <a:t>Visual processing happens faster than numerical processing—critical for time-sensitive sports decisions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8A9DB87-F834-03FF-B60F-AEAE9AAA43C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560C251-82B7-4253-A774-38D73C276BCE}" type="slidenum">
              <a:rPr lang="en-US" smtClean="0"/>
              <a:t>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7748783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05C9E3-D352-AB7A-605E-6EE20B3F92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E306669-C670-CEE1-714C-2EE073A2C6E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F022BCE-89E9-4FDB-C23B-BACE6AE62CE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 need to flag athletes who played more than 1500 minutes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B81E58C-F037-9D4E-7106-E01E5441665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560C251-82B7-4253-A774-38D73C276BCE}" type="slidenum">
              <a:rPr lang="en-US" smtClean="0"/>
              <a:t>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5884580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Visual properties your brain processes in &lt;200-250 milliseconds You see them </a:t>
            </a:r>
            <a:r>
              <a:rPr lang="en-US" i="1" dirty="0"/>
              <a:t>instantly</a:t>
            </a:r>
            <a:r>
              <a:rPr lang="en-US" dirty="0"/>
              <a:t> without conscious effort </a:t>
            </a:r>
          </a:p>
          <a:p>
            <a:r>
              <a:rPr lang="en-US" dirty="0"/>
              <a:t>Happens before you "think" about what you're looking at </a:t>
            </a:r>
          </a:p>
          <a:p>
            <a:r>
              <a:rPr lang="en-US" dirty="0"/>
              <a:t>Critical for dashboards, in-game analytics, quick decision-making</a:t>
            </a:r>
          </a:p>
          <a:p>
            <a:endParaRPr lang="en-US" dirty="0"/>
          </a:p>
          <a:p>
            <a:r>
              <a:rPr lang="en-US" dirty="0"/>
              <a:t>Spatial: </a:t>
            </a:r>
          </a:p>
          <a:p>
            <a:pPr marL="174982" indent="-174982">
              <a:buFontTx/>
              <a:buChar char="-"/>
            </a:pPr>
            <a:r>
              <a:rPr lang="en-US" dirty="0"/>
              <a:t>length, </a:t>
            </a:r>
          </a:p>
          <a:p>
            <a:pPr marL="174982" indent="-174982">
              <a:buFontTx/>
              <a:buChar char="-"/>
            </a:pPr>
            <a:r>
              <a:rPr lang="en-US" dirty="0"/>
              <a:t>width, </a:t>
            </a:r>
          </a:p>
          <a:p>
            <a:pPr marL="174982" indent="-174982">
              <a:buFontTx/>
              <a:buChar char="-"/>
            </a:pPr>
            <a:r>
              <a:rPr lang="en-US" dirty="0"/>
              <a:t>orientation, </a:t>
            </a:r>
          </a:p>
          <a:p>
            <a:pPr marL="174982" indent="-174982" defTabSz="933237">
              <a:buFontTx/>
              <a:buChar char="-"/>
              <a:defRPr/>
            </a:pPr>
            <a:r>
              <a:rPr lang="en-US" dirty="0"/>
              <a:t>enclosure</a:t>
            </a:r>
          </a:p>
          <a:p>
            <a:pPr marL="174982" indent="-174982">
              <a:buFontTx/>
              <a:buChar char="-"/>
            </a:pPr>
            <a:r>
              <a:rPr lang="en-US" dirty="0"/>
              <a:t>position, </a:t>
            </a:r>
          </a:p>
          <a:p>
            <a:pPr marL="174982" indent="-174982">
              <a:buFontTx/>
              <a:buChar char="-"/>
            </a:pPr>
            <a:r>
              <a:rPr lang="en-US" dirty="0"/>
              <a:t>grouping, </a:t>
            </a:r>
          </a:p>
          <a:p>
            <a:r>
              <a:rPr lang="en-US" dirty="0"/>
              <a:t>Size </a:t>
            </a:r>
          </a:p>
          <a:p>
            <a:r>
              <a:rPr lang="en-US" dirty="0"/>
              <a:t>Shape</a:t>
            </a:r>
          </a:p>
          <a:p>
            <a:pPr defTabSz="933237">
              <a:defRPr/>
            </a:pPr>
            <a:r>
              <a:rPr lang="en-US" dirty="0"/>
              <a:t>Color: </a:t>
            </a:r>
          </a:p>
          <a:p>
            <a:pPr marL="174982" indent="-174982" defTabSz="933237">
              <a:buFontTx/>
              <a:buChar char="-"/>
              <a:defRPr/>
            </a:pPr>
            <a:r>
              <a:rPr lang="en-US" dirty="0"/>
              <a:t>hue</a:t>
            </a:r>
          </a:p>
          <a:p>
            <a:pPr marL="174982" indent="-174982" defTabSz="933237">
              <a:buFontTx/>
              <a:buChar char="-"/>
              <a:defRPr/>
            </a:pPr>
            <a:r>
              <a:rPr lang="en-US" dirty="0"/>
              <a:t>intensity</a:t>
            </a:r>
          </a:p>
          <a:p>
            <a:r>
              <a:rPr lang="en-US" dirty="0"/>
              <a:t>Motion 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560C251-82B7-4253-A774-38D73C276BCE}" type="slidenum">
              <a:rPr lang="en-US" smtClean="0"/>
              <a:t>14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1231054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23E853-6F6E-9410-27B4-8AE1145640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1EF36CE-A04F-01F9-4114-E3ED559BBBA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E02955B-0D5F-84B5-77D0-3AAEBAB0E50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Visual properties your brain processes in &lt;200-250 milliseconds You see them </a:t>
            </a:r>
            <a:r>
              <a:rPr lang="en-US" i="1" dirty="0"/>
              <a:t>instantly</a:t>
            </a:r>
            <a:r>
              <a:rPr lang="en-US" dirty="0"/>
              <a:t> without conscious effort </a:t>
            </a:r>
          </a:p>
          <a:p>
            <a:r>
              <a:rPr lang="en-US" dirty="0"/>
              <a:t>Happens before you "think" about what you're looking at </a:t>
            </a:r>
          </a:p>
          <a:p>
            <a:r>
              <a:rPr lang="en-US" dirty="0"/>
              <a:t>Critical for dashboards, in-game analytics, quick decision-making</a:t>
            </a:r>
          </a:p>
          <a:p>
            <a:endParaRPr lang="en-US" dirty="0"/>
          </a:p>
          <a:p>
            <a:r>
              <a:rPr lang="en-US" dirty="0"/>
              <a:t>Spatial: </a:t>
            </a:r>
          </a:p>
          <a:p>
            <a:pPr marL="174982" indent="-174982">
              <a:buFontTx/>
              <a:buChar char="-"/>
            </a:pPr>
            <a:r>
              <a:rPr lang="en-US" dirty="0"/>
              <a:t>length, </a:t>
            </a:r>
          </a:p>
          <a:p>
            <a:pPr marL="174982" indent="-174982">
              <a:buFontTx/>
              <a:buChar char="-"/>
            </a:pPr>
            <a:r>
              <a:rPr lang="en-US" dirty="0"/>
              <a:t>width, </a:t>
            </a:r>
          </a:p>
          <a:p>
            <a:pPr marL="174982" indent="-174982">
              <a:buFontTx/>
              <a:buChar char="-"/>
            </a:pPr>
            <a:r>
              <a:rPr lang="en-US" dirty="0"/>
              <a:t>orientation, </a:t>
            </a:r>
          </a:p>
          <a:p>
            <a:pPr marL="174982" indent="-174982" defTabSz="933237">
              <a:buFontTx/>
              <a:buChar char="-"/>
              <a:defRPr/>
            </a:pPr>
            <a:r>
              <a:rPr lang="en-US" dirty="0"/>
              <a:t>enclosure</a:t>
            </a:r>
          </a:p>
          <a:p>
            <a:pPr marL="174982" indent="-174982">
              <a:buFontTx/>
              <a:buChar char="-"/>
            </a:pPr>
            <a:r>
              <a:rPr lang="en-US" dirty="0"/>
              <a:t>position, </a:t>
            </a:r>
          </a:p>
          <a:p>
            <a:pPr marL="174982" indent="-174982">
              <a:buFontTx/>
              <a:buChar char="-"/>
            </a:pPr>
            <a:r>
              <a:rPr lang="en-US" dirty="0"/>
              <a:t>grouping, </a:t>
            </a:r>
          </a:p>
          <a:p>
            <a:r>
              <a:rPr lang="en-US" dirty="0"/>
              <a:t>Size </a:t>
            </a:r>
          </a:p>
          <a:p>
            <a:r>
              <a:rPr lang="en-US" dirty="0"/>
              <a:t>Shape</a:t>
            </a:r>
          </a:p>
          <a:p>
            <a:pPr defTabSz="933237">
              <a:defRPr/>
            </a:pPr>
            <a:r>
              <a:rPr lang="en-US" dirty="0"/>
              <a:t>Color: </a:t>
            </a:r>
          </a:p>
          <a:p>
            <a:pPr marL="174982" indent="-174982" defTabSz="933237">
              <a:buFontTx/>
              <a:buChar char="-"/>
              <a:defRPr/>
            </a:pPr>
            <a:r>
              <a:rPr lang="en-US" dirty="0"/>
              <a:t>hue</a:t>
            </a:r>
          </a:p>
          <a:p>
            <a:pPr marL="174982" indent="-174982" defTabSz="933237">
              <a:buFontTx/>
              <a:buChar char="-"/>
              <a:defRPr/>
            </a:pPr>
            <a:r>
              <a:rPr lang="en-US" dirty="0"/>
              <a:t>intensity</a:t>
            </a:r>
          </a:p>
          <a:p>
            <a:r>
              <a:rPr lang="en-US" dirty="0"/>
              <a:t>Motion 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77E7492-DE9B-6E16-494B-D66428354EE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560C251-82B7-4253-A774-38D73C276BCE}" type="slidenum">
              <a:rPr lang="en-US" smtClean="0"/>
              <a:t>15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1030637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assigns a run value to each offensive event based on how much that event typically increases run scoring.</a:t>
            </a:r>
          </a:p>
          <a:p>
            <a:r>
              <a:rPr lang="en-US" dirty="0"/>
              <a:t>For example (approximate values):</a:t>
            </a:r>
          </a:p>
          <a:p>
            <a:r>
              <a:rPr lang="en-US" dirty="0"/>
              <a:t>Walk ≈ 0.7 runs</a:t>
            </a:r>
          </a:p>
          <a:p>
            <a:r>
              <a:rPr lang="en-US" dirty="0"/>
              <a:t>Single ≈ 0.9 runs</a:t>
            </a:r>
          </a:p>
          <a:p>
            <a:r>
              <a:rPr lang="en-US" dirty="0"/>
              <a:t>Double ≈ 1.2 runs</a:t>
            </a:r>
          </a:p>
          <a:p>
            <a:r>
              <a:rPr lang="en-US" dirty="0"/>
              <a:t>Triple ≈ 1.6 runs</a:t>
            </a:r>
          </a:p>
          <a:p>
            <a:r>
              <a:rPr lang="en-US" dirty="0"/>
              <a:t>Home run ≈ 2.0 runs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560C251-82B7-4253-A774-38D73C276BCE}" type="slidenum">
              <a:rPr lang="en-US" smtClean="0"/>
              <a:t>23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691817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b="1" dirty="0"/>
              <a:t>Chart types section</a:t>
            </a:r>
            <a:r>
              <a:rPr lang="en-GB" dirty="0"/>
              <a:t> → 10-15 slides (show the chart type + sports application for each)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560C251-82B7-4253-A774-38D73C276BCE}" type="slidenum">
              <a:rPr lang="en-US" smtClean="0"/>
              <a:t>25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0191417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solidFill>
          <a:srgbClr val="EEECD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B78C46-97B5-06A6-FCEF-1A1F72D6F7B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200" y="1122363"/>
            <a:ext cx="10515600" cy="2387600"/>
          </a:xfrm>
        </p:spPr>
        <p:txBody>
          <a:bodyPr anchor="b"/>
          <a:lstStyle>
            <a:lvl1pPr algn="l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ED3A6AC-3ACF-3E00-27EA-CDC21E0D0CE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38199" y="3602038"/>
            <a:ext cx="10515599" cy="1655762"/>
          </a:xfrm>
        </p:spPr>
        <p:txBody>
          <a:bodyPr/>
          <a:lstStyle>
            <a:lvl1pPr marL="0" indent="0" algn="l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82D74E7-FB50-6453-FBC4-4FF2059E7D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F61C71-767E-B84C-BFB3-7B18856D27F4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3DEC381-9EAC-65CA-E2D4-E9753C63FC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8E85E49-459E-7153-8DCA-00BFA12DD9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CEFD2-39D4-B845-AAFB-DDCB278016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35308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244AAB-14A7-7BCA-3837-4F570792F3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3DB745-E89B-BA25-707B-D3F4B483C3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1A29DF3-7131-344B-BE29-3470A6E4AD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F61C71-767E-B84C-BFB3-7B18856D27F4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E19C8A0-82E3-D43A-B433-03BD0E8A13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9EC3461-EED3-DA55-3A67-403D2D4F60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CEFD2-39D4-B845-AAFB-DDCB278016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089455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9DEF06-5D11-579D-7B22-EDF525B072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C3F87EE-121E-981D-94B0-7DD81A76080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509C7F-68AA-F83B-0CC2-643C7451C3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F61C71-767E-B84C-BFB3-7B18856D27F4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ABFDF23-F262-A143-3D94-2E03C5E805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01BCC86-AF79-D336-B20B-1E34423D79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CEFD2-39D4-B845-AAFB-DDCB278016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66718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FE23E6-4994-ADDB-53EF-33DAC62048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511385E-3FBA-00D8-820B-01457DE095D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C400107-976D-189B-D5B8-F3309A029F3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8421288-007A-64D1-177C-EC493AB351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F61C71-767E-B84C-BFB3-7B18856D27F4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18BDC7E-1ED0-A64E-B741-2BD6DCC161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7110B18-79B2-CA9A-54E7-8E270EA6CA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CEFD2-39D4-B845-AAFB-DDCB278016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611332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0DBA0C-D408-C89D-A5A4-EE49BFEFE6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5C15059-44C0-5CAB-DD62-331CAEACC2C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E8210DA-60F4-E204-139F-488557C3AC4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9C6D382-4432-4F54-9B2C-18EA1D35025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00DFF74-3B74-1F87-68E5-7C634623838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63D8442-0A79-241F-AD71-72BAE08747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F61C71-767E-B84C-BFB3-7B18856D27F4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1BD044B-09B6-F478-2B54-1F15413514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5518B98-54E9-0248-CDC2-25F053D11E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CEFD2-39D4-B845-AAFB-DDCB278016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729840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D98611-FF70-0739-AB12-3A0D4D6885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D6340F8-BFC2-15DC-7097-138E7417B9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F61C71-767E-B84C-BFB3-7B18856D27F4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987FFF2-E8C5-FBDB-D95A-12987FF75C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B02AAC0-7C6B-411F-8B27-54187B0878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CEFD2-39D4-B845-AAFB-DDCB278016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884073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3C24E59-43B1-B0E4-7BB5-449B4E6202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F61C71-767E-B84C-BFB3-7B18856D27F4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09DB2FC-A612-3F77-71B9-89F90F23EC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E7EA5C7-5EFB-A99C-8686-6EB2C8FCFA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CEFD2-39D4-B845-AAFB-DDCB278016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517306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96815E-33A2-36BD-141A-20E6987BFB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4EB718-3207-923E-BB2A-3A6A8B97CF8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6D8BF2C-0530-D542-CEA1-66680DF2CFA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91246F5-476E-F02E-8D52-52095AD764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F61C71-767E-B84C-BFB3-7B18856D27F4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ACCBF9F-FEBA-A17C-67EF-779BF69825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33091D5-A6B8-C1A9-58A4-732980B56A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CEFD2-39D4-B845-AAFB-DDCB278016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734616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BF53C8-34AC-4EC3-9EF2-7646130C5F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D95296B-D06F-EC13-3B4B-D0804D56AD1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AC15AD4-D0C4-4B3F-01A9-C4EB16F15D5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B85DC77-4EA3-68F2-C1B1-3B61F9D48A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F61C71-767E-B84C-BFB3-7B18856D27F4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028E95B-5416-3489-B8F3-9294F9EAD5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7231B0D-A406-6B24-1768-98B5238CCD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CEFD2-39D4-B845-AAFB-DDCB278016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446292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E7492E-5097-4D4A-B212-B9541B6D39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D2B2462-C37E-9A16-D9B2-03FE3550DC7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765E3E0-2253-2E4B-C45D-9DD87541EC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F61C71-767E-B84C-BFB3-7B18856D27F4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3E8D6ED-F324-5EA4-EBC1-32D8A8A804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8926162-D880-6B17-AFBB-2555E585E2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CEFD2-39D4-B845-AAFB-DDCB278016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58128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27EF97A-4C14-3B96-B570-63221FE4263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61FCF3E-3E21-12E5-F093-CD2EBC62CD8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6EEB50E-0940-C414-1C80-43A1C4CBF3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F61C71-767E-B84C-BFB3-7B18856D27F4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1434562-A92B-8D3C-4A79-2489A99752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247ADD3-AF08-2898-D3BF-4768616B38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CEFD2-39D4-B845-AAFB-DDCB278016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151019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EECD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5C7E355-A6C3-ABB7-5FB3-07B7718D69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91269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3BE3536-C253-FE9A-75A8-6625508B808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441938"/>
            <a:ext cx="10515600" cy="473502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727838E-35A9-F96A-354A-AE0FF3F8534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BF61C71-767E-B84C-BFB3-7B18856D27F4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E6CBC5A-10F1-AA57-C7EC-9CDC8A53A5A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BCCEFD2-39D4-B845-AAFB-DDCB27801685}" type="slidenum">
              <a:rPr lang="en-US" smtClean="0"/>
              <a:t>‹#›</a:t>
            </a:fld>
            <a:endParaRPr lang="en-US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2EEC1130-6658-3CAB-3F94-0FA0AAB8447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320721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mlssoccer.com/players/kai-wagner" TargetMode="External"/><Relationship Id="rId13" Type="http://schemas.openxmlformats.org/officeDocument/2006/relationships/hyperlink" Target="https://www.mlssoccer.com/players/jovan-lukic" TargetMode="External"/><Relationship Id="rId18" Type="http://schemas.openxmlformats.org/officeDocument/2006/relationships/hyperlink" Target="https://www.mlssoccer.com/players/ian-glavinovich" TargetMode="External"/><Relationship Id="rId26" Type="http://schemas.openxmlformats.org/officeDocument/2006/relationships/hyperlink" Target="https://www.mlssoccer.com/players/sal-olivas" TargetMode="External"/><Relationship Id="rId3" Type="http://schemas.openxmlformats.org/officeDocument/2006/relationships/hyperlink" Target="https://www.mlssoccer.com/players/tai-baribo" TargetMode="External"/><Relationship Id="rId21" Type="http://schemas.openxmlformats.org/officeDocument/2006/relationships/hyperlink" Target="https://www.mlssoccer.com/players/neil-pierre" TargetMode="External"/><Relationship Id="rId7" Type="http://schemas.openxmlformats.org/officeDocument/2006/relationships/hyperlink" Target="https://www.mlssoccer.com/players/danley-jean-jacques" TargetMode="External"/><Relationship Id="rId12" Type="http://schemas.openxmlformats.org/officeDocument/2006/relationships/hyperlink" Target="https://www.mlssoccer.com/players/daniel-gazdag" TargetMode="External"/><Relationship Id="rId17" Type="http://schemas.openxmlformats.org/officeDocument/2006/relationships/hyperlink" Target="https://www.mlssoccer.com/players/francis-westfield" TargetMode="External"/><Relationship Id="rId25" Type="http://schemas.openxmlformats.org/officeDocument/2006/relationships/hyperlink" Target="https://www.mlssoccer.com/players/jeremy-rafanello" TargetMode="External"/><Relationship Id="rId2" Type="http://schemas.openxmlformats.org/officeDocument/2006/relationships/notesSlide" Target="../notesSlides/notesSlide3.xml"/><Relationship Id="rId16" Type="http://schemas.openxmlformats.org/officeDocument/2006/relationships/hyperlink" Target="https://www.mlssoccer.com/players/jakob-glesnes" TargetMode="External"/><Relationship Id="rId20" Type="http://schemas.openxmlformats.org/officeDocument/2006/relationships/hyperlink" Target="https://www.mlssoccer.com/players/jesus-bueno" TargetMode="External"/><Relationship Id="rId29" Type="http://schemas.openxmlformats.org/officeDocument/2006/relationships/hyperlink" Target="https://www.mlssoccer.com/players/edward-davis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www.mlssoccer.com/players/indiana-vassilev" TargetMode="External"/><Relationship Id="rId11" Type="http://schemas.openxmlformats.org/officeDocument/2006/relationships/hyperlink" Target="https://www.mlssoccer.com/players/milan-iloski" TargetMode="External"/><Relationship Id="rId24" Type="http://schemas.openxmlformats.org/officeDocument/2006/relationships/hyperlink" Target="https://www.mlssoccer.com/players/cavan-sullivan" TargetMode="External"/><Relationship Id="rId5" Type="http://schemas.openxmlformats.org/officeDocument/2006/relationships/hyperlink" Target="https://www.mlssoccer.com/players/mikael-uhre" TargetMode="External"/><Relationship Id="rId15" Type="http://schemas.openxmlformats.org/officeDocument/2006/relationships/hyperlink" Target="https://www.mlssoccer.com/players/alejandro-bedoya" TargetMode="External"/><Relationship Id="rId23" Type="http://schemas.openxmlformats.org/officeDocument/2006/relationships/hyperlink" Target="https://www.mlssoccer.com/players/olivier-mbaizo" TargetMode="External"/><Relationship Id="rId28" Type="http://schemas.openxmlformats.org/officeDocument/2006/relationships/hyperlink" Target="https://www.mlssoccer.com/players/andrew-rick" TargetMode="External"/><Relationship Id="rId10" Type="http://schemas.openxmlformats.org/officeDocument/2006/relationships/hyperlink" Target="https://www.mlssoccer.com/players/nathan-harriel" TargetMode="External"/><Relationship Id="rId19" Type="http://schemas.openxmlformats.org/officeDocument/2006/relationships/hyperlink" Target="https://www.mlssoccer.com/players/markus-anderson" TargetMode="External"/><Relationship Id="rId31" Type="http://schemas.openxmlformats.org/officeDocument/2006/relationships/hyperlink" Target="https://www.mlssoccer.com/players/chris-donovan" TargetMode="External"/><Relationship Id="rId4" Type="http://schemas.openxmlformats.org/officeDocument/2006/relationships/hyperlink" Target="https://www.mlssoccer.com/players/bruno-damiani" TargetMode="External"/><Relationship Id="rId9" Type="http://schemas.openxmlformats.org/officeDocument/2006/relationships/hyperlink" Target="https://www.mlssoccer.com/players/quinn-sullivan" TargetMode="External"/><Relationship Id="rId14" Type="http://schemas.openxmlformats.org/officeDocument/2006/relationships/hyperlink" Target="https://www.mlssoccer.com/players/olwethu-makhanya" TargetMode="External"/><Relationship Id="rId22" Type="http://schemas.openxmlformats.org/officeDocument/2006/relationships/hyperlink" Target="https://www.mlssoccer.com/players/david-vazquez" TargetMode="External"/><Relationship Id="rId27" Type="http://schemas.openxmlformats.org/officeDocument/2006/relationships/hyperlink" Target="https://www.mlssoccer.com/players/benjamin-bender" TargetMode="External"/><Relationship Id="rId30" Type="http://schemas.openxmlformats.org/officeDocument/2006/relationships/hyperlink" Target="https://www.mlssoccer.com/players/andre-blake" TargetMode="Externa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mlssoccer.com/players/kai-wagner" TargetMode="External"/><Relationship Id="rId13" Type="http://schemas.openxmlformats.org/officeDocument/2006/relationships/hyperlink" Target="https://www.mlssoccer.com/players/jovan-lukic" TargetMode="External"/><Relationship Id="rId18" Type="http://schemas.openxmlformats.org/officeDocument/2006/relationships/hyperlink" Target="https://www.mlssoccer.com/players/ian-glavinovich" TargetMode="External"/><Relationship Id="rId26" Type="http://schemas.openxmlformats.org/officeDocument/2006/relationships/hyperlink" Target="https://www.mlssoccer.com/players/sal-olivas" TargetMode="External"/><Relationship Id="rId3" Type="http://schemas.openxmlformats.org/officeDocument/2006/relationships/hyperlink" Target="https://www.mlssoccer.com/players/tai-baribo" TargetMode="External"/><Relationship Id="rId21" Type="http://schemas.openxmlformats.org/officeDocument/2006/relationships/hyperlink" Target="https://www.mlssoccer.com/players/neil-pierre" TargetMode="External"/><Relationship Id="rId7" Type="http://schemas.openxmlformats.org/officeDocument/2006/relationships/hyperlink" Target="https://www.mlssoccer.com/players/danley-jean-jacques" TargetMode="External"/><Relationship Id="rId12" Type="http://schemas.openxmlformats.org/officeDocument/2006/relationships/hyperlink" Target="https://www.mlssoccer.com/players/daniel-gazdag" TargetMode="External"/><Relationship Id="rId17" Type="http://schemas.openxmlformats.org/officeDocument/2006/relationships/hyperlink" Target="https://www.mlssoccer.com/players/francis-westfield" TargetMode="External"/><Relationship Id="rId25" Type="http://schemas.openxmlformats.org/officeDocument/2006/relationships/hyperlink" Target="https://www.mlssoccer.com/players/jeremy-rafanello" TargetMode="External"/><Relationship Id="rId2" Type="http://schemas.openxmlformats.org/officeDocument/2006/relationships/notesSlide" Target="../notesSlides/notesSlide5.xml"/><Relationship Id="rId16" Type="http://schemas.openxmlformats.org/officeDocument/2006/relationships/hyperlink" Target="https://www.mlssoccer.com/players/jakob-glesnes" TargetMode="External"/><Relationship Id="rId20" Type="http://schemas.openxmlformats.org/officeDocument/2006/relationships/hyperlink" Target="https://www.mlssoccer.com/players/jesus-bueno" TargetMode="External"/><Relationship Id="rId29" Type="http://schemas.openxmlformats.org/officeDocument/2006/relationships/hyperlink" Target="https://www.mlssoccer.com/players/edward-davis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www.mlssoccer.com/players/indiana-vassilev" TargetMode="External"/><Relationship Id="rId11" Type="http://schemas.openxmlformats.org/officeDocument/2006/relationships/hyperlink" Target="https://www.mlssoccer.com/players/milan-iloski" TargetMode="External"/><Relationship Id="rId24" Type="http://schemas.openxmlformats.org/officeDocument/2006/relationships/hyperlink" Target="https://www.mlssoccer.com/players/cavan-sullivan" TargetMode="External"/><Relationship Id="rId5" Type="http://schemas.openxmlformats.org/officeDocument/2006/relationships/hyperlink" Target="https://www.mlssoccer.com/players/mikael-uhre" TargetMode="External"/><Relationship Id="rId15" Type="http://schemas.openxmlformats.org/officeDocument/2006/relationships/hyperlink" Target="https://www.mlssoccer.com/players/alejandro-bedoya" TargetMode="External"/><Relationship Id="rId23" Type="http://schemas.openxmlformats.org/officeDocument/2006/relationships/hyperlink" Target="https://www.mlssoccer.com/players/olivier-mbaizo" TargetMode="External"/><Relationship Id="rId28" Type="http://schemas.openxmlformats.org/officeDocument/2006/relationships/hyperlink" Target="https://www.mlssoccer.com/players/andrew-rick" TargetMode="External"/><Relationship Id="rId10" Type="http://schemas.openxmlformats.org/officeDocument/2006/relationships/hyperlink" Target="https://www.mlssoccer.com/players/nathan-harriel" TargetMode="External"/><Relationship Id="rId19" Type="http://schemas.openxmlformats.org/officeDocument/2006/relationships/hyperlink" Target="https://www.mlssoccer.com/players/markus-anderson" TargetMode="External"/><Relationship Id="rId31" Type="http://schemas.openxmlformats.org/officeDocument/2006/relationships/hyperlink" Target="https://www.mlssoccer.com/players/chris-donovan" TargetMode="External"/><Relationship Id="rId4" Type="http://schemas.openxmlformats.org/officeDocument/2006/relationships/hyperlink" Target="https://www.mlssoccer.com/players/bruno-damiani" TargetMode="External"/><Relationship Id="rId9" Type="http://schemas.openxmlformats.org/officeDocument/2006/relationships/hyperlink" Target="https://www.mlssoccer.com/players/quinn-sullivan" TargetMode="External"/><Relationship Id="rId14" Type="http://schemas.openxmlformats.org/officeDocument/2006/relationships/hyperlink" Target="https://www.mlssoccer.com/players/olwethu-makhanya" TargetMode="External"/><Relationship Id="rId22" Type="http://schemas.openxmlformats.org/officeDocument/2006/relationships/hyperlink" Target="https://www.mlssoccer.com/players/david-vazquez" TargetMode="External"/><Relationship Id="rId27" Type="http://schemas.openxmlformats.org/officeDocument/2006/relationships/hyperlink" Target="https://www.mlssoccer.com/players/benjamin-bender" TargetMode="External"/><Relationship Id="rId30" Type="http://schemas.openxmlformats.org/officeDocument/2006/relationships/hyperlink" Target="https://www.mlssoccer.com/players/andre-blake" TargetMode="Externa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emf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jpe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3.jpe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7.png"/><Relationship Id="rId4" Type="http://schemas.openxmlformats.org/officeDocument/2006/relationships/image" Target="../media/image2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EECD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D9270D-14C3-FED3-E83A-AD4E36EC7A8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sz="4800" dirty="0"/>
              <a:t>Data Visualization</a:t>
            </a:r>
            <a:endParaRPr lang="en-GB" sz="4800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E03FB66-255C-9B0B-8F15-F85AACB34CE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 dirty="0"/>
              <a:t>Saryu Onishi</a:t>
            </a:r>
          </a:p>
          <a:p>
            <a:r>
              <a:rPr lang="en-GB" dirty="0"/>
              <a:t>HES 3000-002, Sport Performance Analytics</a:t>
            </a:r>
          </a:p>
        </p:txBody>
      </p:sp>
    </p:spTree>
    <p:extLst>
      <p:ext uri="{BB962C8B-B14F-4D97-AF65-F5344CB8AC3E}">
        <p14:creationId xmlns:p14="http://schemas.microsoft.com/office/powerpoint/2010/main" val="32942738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423A51-81C3-C6F5-2019-D433E0EFBE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Why visualization matters in sports analytics 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BA2FEBF-A76B-F940-05F8-F0375E2E01E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895997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6E581F-2B79-B64E-F3C2-FC3641071B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B1F6DA-A3F7-E074-38BD-37F0E5EE83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Why visualization matters in sports analytics 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B14B98-45F8-BDA0-4D10-50E1948B613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/>
              <a:t>Pattern recognition and speed</a:t>
            </a:r>
          </a:p>
          <a:p>
            <a: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</a:rPr>
              <a:t>Communication and decision support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AC4C525-0AB2-8346-5C03-2711DBCBC1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00377-489B-40EC-B059-26BDDD2E89B9}" type="slidenum">
              <a:rPr lang="en-US" smtClean="0"/>
              <a:pPr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1758729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D05ADA-BDF6-CFFA-5CB9-E1060B6926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Who played the most minutes?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B4DB551-E274-F102-3344-984628E28D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00377-489B-40EC-B059-26BDDD2E89B9}" type="slidenum">
              <a:rPr lang="en-US" smtClean="0"/>
              <a:pPr/>
              <a:t>4</a:t>
            </a:fld>
            <a:endParaRPr lang="en-US" dirty="0"/>
          </a:p>
        </p:txBody>
      </p:sp>
      <p:graphicFrame>
        <p:nvGraphicFramePr>
          <p:cNvPr id="7" name="Content Placeholder 6">
            <a:extLst>
              <a:ext uri="{FF2B5EF4-FFF2-40B4-BE49-F238E27FC236}">
                <a16:creationId xmlns:a16="http://schemas.microsoft.com/office/drawing/2014/main" id="{147C2C03-FDC0-22F5-49DE-EEAFBCF9B777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4870862" y="1922728"/>
          <a:ext cx="2450276" cy="429207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749844">
                  <a:extLst>
                    <a:ext uri="{9D8B030D-6E8A-4147-A177-3AD203B41FA5}">
                      <a16:colId xmlns:a16="http://schemas.microsoft.com/office/drawing/2014/main" val="2377371374"/>
                    </a:ext>
                  </a:extLst>
                </a:gridCol>
                <a:gridCol w="425108">
                  <a:extLst>
                    <a:ext uri="{9D8B030D-6E8A-4147-A177-3AD203B41FA5}">
                      <a16:colId xmlns:a16="http://schemas.microsoft.com/office/drawing/2014/main" val="3833361993"/>
                    </a:ext>
                  </a:extLst>
                </a:gridCol>
                <a:gridCol w="425108">
                  <a:extLst>
                    <a:ext uri="{9D8B030D-6E8A-4147-A177-3AD203B41FA5}">
                      <a16:colId xmlns:a16="http://schemas.microsoft.com/office/drawing/2014/main" val="955811745"/>
                    </a:ext>
                  </a:extLst>
                </a:gridCol>
                <a:gridCol w="425108">
                  <a:extLst>
                    <a:ext uri="{9D8B030D-6E8A-4147-A177-3AD203B41FA5}">
                      <a16:colId xmlns:a16="http://schemas.microsoft.com/office/drawing/2014/main" val="1470288667"/>
                    </a:ext>
                  </a:extLst>
                </a:gridCol>
                <a:gridCol w="425108">
                  <a:extLst>
                    <a:ext uri="{9D8B030D-6E8A-4147-A177-3AD203B41FA5}">
                      <a16:colId xmlns:a16="http://schemas.microsoft.com/office/drawing/2014/main" val="2673828339"/>
                    </a:ext>
                  </a:extLst>
                </a:gridCol>
              </a:tblGrid>
              <a:tr h="141817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Player</a:t>
                      </a:r>
                      <a:endParaRPr lang="en-US" sz="900" b="1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Pos</a:t>
                      </a:r>
                      <a:endParaRPr lang="en-US" sz="900" b="1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GP</a:t>
                      </a:r>
                      <a:endParaRPr lang="en-US" sz="900" b="1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GS</a:t>
                      </a:r>
                      <a:endParaRPr lang="en-US" sz="900" b="1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Mins</a:t>
                      </a:r>
                      <a:endParaRPr lang="en-US" sz="900" b="1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extLst>
                  <a:ext uri="{0D108BD9-81ED-4DB2-BD59-A6C34878D82A}">
                    <a16:rowId xmlns:a16="http://schemas.microsoft.com/office/drawing/2014/main" val="2378281898"/>
                  </a:ext>
                </a:extLst>
              </a:tr>
              <a:tr h="141817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700" u="sng" strike="noStrike">
                          <a:effectLst/>
                          <a:hlinkClick r:id="rId3"/>
                        </a:rPr>
                        <a:t>T. Baribo</a:t>
                      </a:r>
                      <a:endParaRPr lang="en-US" sz="700" b="0" i="0" u="sng" strike="noStrike">
                        <a:solidFill>
                          <a:srgbClr val="467886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F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29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20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1876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extLst>
                  <a:ext uri="{0D108BD9-81ED-4DB2-BD59-A6C34878D82A}">
                    <a16:rowId xmlns:a16="http://schemas.microsoft.com/office/drawing/2014/main" val="3034034884"/>
                  </a:ext>
                </a:extLst>
              </a:tr>
              <a:tr h="141817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700" u="sng" strike="noStrike">
                          <a:effectLst/>
                          <a:hlinkClick r:id="rId4"/>
                        </a:rPr>
                        <a:t>B. Damiani</a:t>
                      </a:r>
                      <a:endParaRPr lang="en-US" sz="700" b="0" i="0" u="sng" strike="noStrike">
                        <a:solidFill>
                          <a:srgbClr val="467886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F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33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23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2040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extLst>
                  <a:ext uri="{0D108BD9-81ED-4DB2-BD59-A6C34878D82A}">
                    <a16:rowId xmlns:a16="http://schemas.microsoft.com/office/drawing/2014/main" val="227702879"/>
                  </a:ext>
                </a:extLst>
              </a:tr>
              <a:tr h="141817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700" u="sng" strike="noStrike">
                          <a:effectLst/>
                          <a:hlinkClick r:id="rId5"/>
                        </a:rPr>
                        <a:t>M. Uhre</a:t>
                      </a:r>
                      <a:endParaRPr lang="en-US" sz="700" b="0" i="0" u="sng" strike="noStrike">
                        <a:solidFill>
                          <a:srgbClr val="467886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F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29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16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1325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extLst>
                  <a:ext uri="{0D108BD9-81ED-4DB2-BD59-A6C34878D82A}">
                    <a16:rowId xmlns:a16="http://schemas.microsoft.com/office/drawing/2014/main" val="2745252302"/>
                  </a:ext>
                </a:extLst>
              </a:tr>
              <a:tr h="141817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700" u="sng" strike="noStrike">
                          <a:effectLst/>
                          <a:hlinkClick r:id="rId6"/>
                        </a:rPr>
                        <a:t>I. Vassilev</a:t>
                      </a:r>
                      <a:endParaRPr lang="en-US" sz="700" b="0" i="0" u="sng" strike="noStrike">
                        <a:solidFill>
                          <a:srgbClr val="467886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M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31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21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1973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extLst>
                  <a:ext uri="{0D108BD9-81ED-4DB2-BD59-A6C34878D82A}">
                    <a16:rowId xmlns:a16="http://schemas.microsoft.com/office/drawing/2014/main" val="2708908484"/>
                  </a:ext>
                </a:extLst>
              </a:tr>
              <a:tr h="141817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700" u="sng" strike="noStrike">
                          <a:effectLst/>
                          <a:hlinkClick r:id="rId7"/>
                        </a:rPr>
                        <a:t>D. Jean Jacques</a:t>
                      </a:r>
                      <a:endParaRPr lang="en-US" sz="700" b="0" i="0" u="sng" strike="noStrike">
                        <a:solidFill>
                          <a:srgbClr val="467886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M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31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26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2361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extLst>
                  <a:ext uri="{0D108BD9-81ED-4DB2-BD59-A6C34878D82A}">
                    <a16:rowId xmlns:a16="http://schemas.microsoft.com/office/drawing/2014/main" val="466365634"/>
                  </a:ext>
                </a:extLst>
              </a:tr>
              <a:tr h="141817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700" u="sng" strike="noStrike">
                          <a:effectLst/>
                          <a:hlinkClick r:id="rId8"/>
                        </a:rPr>
                        <a:t>K. Wagner</a:t>
                      </a:r>
                      <a:endParaRPr lang="en-US" sz="700" b="0" i="0" u="sng" strike="noStrike">
                        <a:solidFill>
                          <a:srgbClr val="467886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D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32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30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2769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extLst>
                  <a:ext uri="{0D108BD9-81ED-4DB2-BD59-A6C34878D82A}">
                    <a16:rowId xmlns:a16="http://schemas.microsoft.com/office/drawing/2014/main" val="872449185"/>
                  </a:ext>
                </a:extLst>
              </a:tr>
              <a:tr h="141817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700" u="sng" strike="noStrike">
                          <a:effectLst/>
                          <a:hlinkClick r:id="rId9"/>
                        </a:rPr>
                        <a:t>Q. Sullivan</a:t>
                      </a:r>
                      <a:endParaRPr lang="en-US" sz="700" b="0" i="0" u="sng" strike="noStrike">
                        <a:solidFill>
                          <a:srgbClr val="467886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M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28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24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1967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extLst>
                  <a:ext uri="{0D108BD9-81ED-4DB2-BD59-A6C34878D82A}">
                    <a16:rowId xmlns:a16="http://schemas.microsoft.com/office/drawing/2014/main" val="3262134951"/>
                  </a:ext>
                </a:extLst>
              </a:tr>
              <a:tr h="141817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700" u="sng" strike="noStrike">
                          <a:effectLst/>
                          <a:hlinkClick r:id="rId10"/>
                        </a:rPr>
                        <a:t>N. Harriel</a:t>
                      </a:r>
                      <a:endParaRPr lang="en-US" sz="700" b="0" i="0" u="sng" strike="noStrike">
                        <a:solidFill>
                          <a:srgbClr val="467886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D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25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23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2098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extLst>
                  <a:ext uri="{0D108BD9-81ED-4DB2-BD59-A6C34878D82A}">
                    <a16:rowId xmlns:a16="http://schemas.microsoft.com/office/drawing/2014/main" val="290647428"/>
                  </a:ext>
                </a:extLst>
              </a:tr>
              <a:tr h="141817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700" u="sng" strike="noStrike">
                          <a:effectLst/>
                          <a:hlinkClick r:id="rId11"/>
                        </a:rPr>
                        <a:t>M. Iloski</a:t>
                      </a:r>
                      <a:endParaRPr lang="en-US" sz="700" b="0" i="0" u="sng" strike="noStrike">
                        <a:solidFill>
                          <a:srgbClr val="467886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F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9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7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600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extLst>
                  <a:ext uri="{0D108BD9-81ED-4DB2-BD59-A6C34878D82A}">
                    <a16:rowId xmlns:a16="http://schemas.microsoft.com/office/drawing/2014/main" val="141236257"/>
                  </a:ext>
                </a:extLst>
              </a:tr>
              <a:tr h="141817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700" u="sng" strike="noStrike">
                          <a:effectLst/>
                          <a:hlinkClick r:id="rId12"/>
                        </a:rPr>
                        <a:t>D. Gazdag</a:t>
                      </a:r>
                      <a:endParaRPr lang="en-US" sz="700" b="0" i="0" u="sng" strike="noStrike">
                        <a:solidFill>
                          <a:srgbClr val="467886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M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6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6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498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extLst>
                  <a:ext uri="{0D108BD9-81ED-4DB2-BD59-A6C34878D82A}">
                    <a16:rowId xmlns:a16="http://schemas.microsoft.com/office/drawing/2014/main" val="1949353691"/>
                  </a:ext>
                </a:extLst>
              </a:tr>
              <a:tr h="141817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700" u="sng" strike="noStrike">
                          <a:effectLst/>
                          <a:hlinkClick r:id="rId13"/>
                        </a:rPr>
                        <a:t>J. Lukic</a:t>
                      </a:r>
                      <a:endParaRPr lang="en-US" sz="700" b="0" i="0" u="sng" strike="noStrike">
                        <a:solidFill>
                          <a:srgbClr val="467886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M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32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30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2620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extLst>
                  <a:ext uri="{0D108BD9-81ED-4DB2-BD59-A6C34878D82A}">
                    <a16:rowId xmlns:a16="http://schemas.microsoft.com/office/drawing/2014/main" val="1198582741"/>
                  </a:ext>
                </a:extLst>
              </a:tr>
              <a:tr h="141817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700" u="sng" strike="noStrike">
                          <a:effectLst/>
                          <a:hlinkClick r:id="rId14"/>
                        </a:rPr>
                        <a:t>O. Makhanya</a:t>
                      </a:r>
                      <a:endParaRPr lang="en-US" sz="700" b="0" i="0" u="sng" strike="noStrike">
                        <a:solidFill>
                          <a:srgbClr val="467886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D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29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23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2145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extLst>
                  <a:ext uri="{0D108BD9-81ED-4DB2-BD59-A6C34878D82A}">
                    <a16:rowId xmlns:a16="http://schemas.microsoft.com/office/drawing/2014/main" val="1116509640"/>
                  </a:ext>
                </a:extLst>
              </a:tr>
              <a:tr h="141817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700" u="sng" strike="noStrike">
                          <a:effectLst/>
                          <a:hlinkClick r:id="rId15"/>
                        </a:rPr>
                        <a:t>A. Bedoya</a:t>
                      </a:r>
                      <a:endParaRPr lang="en-US" sz="700" b="0" i="0" u="sng" strike="noStrike">
                        <a:solidFill>
                          <a:srgbClr val="467886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M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24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9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739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extLst>
                  <a:ext uri="{0D108BD9-81ED-4DB2-BD59-A6C34878D82A}">
                    <a16:rowId xmlns:a16="http://schemas.microsoft.com/office/drawing/2014/main" val="4279301628"/>
                  </a:ext>
                </a:extLst>
              </a:tr>
              <a:tr h="141817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700" u="sng" strike="noStrike">
                          <a:effectLst/>
                          <a:hlinkClick r:id="rId16"/>
                        </a:rPr>
                        <a:t>J. Glesnes</a:t>
                      </a:r>
                      <a:endParaRPr lang="en-US" sz="700" b="0" i="0" u="sng" strike="noStrike">
                        <a:solidFill>
                          <a:srgbClr val="467886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D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31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30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2626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extLst>
                  <a:ext uri="{0D108BD9-81ED-4DB2-BD59-A6C34878D82A}">
                    <a16:rowId xmlns:a16="http://schemas.microsoft.com/office/drawing/2014/main" val="2104515706"/>
                  </a:ext>
                </a:extLst>
              </a:tr>
              <a:tr h="141817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700" u="sng" strike="noStrike">
                          <a:effectLst/>
                          <a:hlinkClick r:id="rId17"/>
                        </a:rPr>
                        <a:t>F. Westfield</a:t>
                      </a:r>
                      <a:endParaRPr lang="en-US" sz="700" b="0" i="0" u="sng" strike="noStrike">
                        <a:solidFill>
                          <a:srgbClr val="467886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D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25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18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1724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extLst>
                  <a:ext uri="{0D108BD9-81ED-4DB2-BD59-A6C34878D82A}">
                    <a16:rowId xmlns:a16="http://schemas.microsoft.com/office/drawing/2014/main" val="392864773"/>
                  </a:ext>
                </a:extLst>
              </a:tr>
              <a:tr h="141817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700" u="sng" strike="noStrike">
                          <a:effectLst/>
                          <a:hlinkClick r:id="rId18"/>
                        </a:rPr>
                        <a:t>I. Glavinovich</a:t>
                      </a:r>
                      <a:endParaRPr lang="en-US" sz="700" b="0" i="0" u="sng" strike="noStrike">
                        <a:solidFill>
                          <a:srgbClr val="467886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D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4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3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257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extLst>
                  <a:ext uri="{0D108BD9-81ED-4DB2-BD59-A6C34878D82A}">
                    <a16:rowId xmlns:a16="http://schemas.microsoft.com/office/drawing/2014/main" val="1032275722"/>
                  </a:ext>
                </a:extLst>
              </a:tr>
              <a:tr h="141817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700" u="sng" strike="noStrike">
                          <a:effectLst/>
                          <a:hlinkClick r:id="rId19"/>
                        </a:rPr>
                        <a:t>M. Anderson</a:t>
                      </a:r>
                      <a:endParaRPr lang="en-US" sz="700" b="0" i="0" u="sng" strike="noStrike">
                        <a:solidFill>
                          <a:srgbClr val="467886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F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3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1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98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extLst>
                  <a:ext uri="{0D108BD9-81ED-4DB2-BD59-A6C34878D82A}">
                    <a16:rowId xmlns:a16="http://schemas.microsoft.com/office/drawing/2014/main" val="583926051"/>
                  </a:ext>
                </a:extLst>
              </a:tr>
              <a:tr h="141817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700" u="sng" strike="noStrike">
                          <a:effectLst/>
                          <a:hlinkClick r:id="rId20"/>
                        </a:rPr>
                        <a:t>J. Bueno</a:t>
                      </a:r>
                      <a:endParaRPr lang="en-US" sz="700" b="0" i="0" u="sng" strike="noStrike">
                        <a:solidFill>
                          <a:srgbClr val="467886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M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20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11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903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extLst>
                  <a:ext uri="{0D108BD9-81ED-4DB2-BD59-A6C34878D82A}">
                    <a16:rowId xmlns:a16="http://schemas.microsoft.com/office/drawing/2014/main" val="1813666323"/>
                  </a:ext>
                </a:extLst>
              </a:tr>
              <a:tr h="141817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700" u="sng" strike="noStrike">
                          <a:effectLst/>
                          <a:hlinkClick r:id="rId21"/>
                        </a:rPr>
                        <a:t>N. Pierre</a:t>
                      </a:r>
                      <a:endParaRPr lang="en-US" sz="700" b="0" i="0" u="sng" strike="noStrike">
                        <a:solidFill>
                          <a:srgbClr val="467886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D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1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0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20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extLst>
                  <a:ext uri="{0D108BD9-81ED-4DB2-BD59-A6C34878D82A}">
                    <a16:rowId xmlns:a16="http://schemas.microsoft.com/office/drawing/2014/main" val="1787101286"/>
                  </a:ext>
                </a:extLst>
              </a:tr>
              <a:tr h="141817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700" u="sng" strike="noStrike">
                          <a:effectLst/>
                          <a:hlinkClick r:id="rId22"/>
                        </a:rPr>
                        <a:t>D. Vazquez</a:t>
                      </a:r>
                      <a:endParaRPr lang="en-US" sz="700" b="0" i="0" u="sng" strike="noStrike">
                        <a:solidFill>
                          <a:srgbClr val="467886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M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1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0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19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extLst>
                  <a:ext uri="{0D108BD9-81ED-4DB2-BD59-A6C34878D82A}">
                    <a16:rowId xmlns:a16="http://schemas.microsoft.com/office/drawing/2014/main" val="1655876590"/>
                  </a:ext>
                </a:extLst>
              </a:tr>
              <a:tr h="141817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700" u="sng" strike="noStrike">
                          <a:effectLst/>
                          <a:hlinkClick r:id="rId23"/>
                        </a:rPr>
                        <a:t>O. Mbaizo</a:t>
                      </a:r>
                      <a:endParaRPr lang="en-US" sz="700" b="0" i="0" u="sng" strike="noStrike">
                        <a:solidFill>
                          <a:srgbClr val="467886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D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9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6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481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extLst>
                  <a:ext uri="{0D108BD9-81ED-4DB2-BD59-A6C34878D82A}">
                    <a16:rowId xmlns:a16="http://schemas.microsoft.com/office/drawing/2014/main" val="985118965"/>
                  </a:ext>
                </a:extLst>
              </a:tr>
              <a:tr h="141817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700" u="sng" strike="noStrike">
                          <a:effectLst/>
                          <a:hlinkClick r:id="rId24"/>
                        </a:rPr>
                        <a:t>C. Sullivan</a:t>
                      </a:r>
                      <a:endParaRPr lang="en-US" sz="700" b="0" i="0" u="sng" strike="noStrike">
                        <a:solidFill>
                          <a:srgbClr val="467886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M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11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1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214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extLst>
                  <a:ext uri="{0D108BD9-81ED-4DB2-BD59-A6C34878D82A}">
                    <a16:rowId xmlns:a16="http://schemas.microsoft.com/office/drawing/2014/main" val="1668061782"/>
                  </a:ext>
                </a:extLst>
              </a:tr>
              <a:tr h="141817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700" u="sng" strike="noStrike">
                          <a:effectLst/>
                          <a:hlinkClick r:id="rId25"/>
                        </a:rPr>
                        <a:t>J. Rafanello</a:t>
                      </a:r>
                      <a:endParaRPr lang="en-US" sz="700" b="0" i="0" u="sng" strike="noStrike">
                        <a:solidFill>
                          <a:srgbClr val="467886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M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15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2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274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extLst>
                  <a:ext uri="{0D108BD9-81ED-4DB2-BD59-A6C34878D82A}">
                    <a16:rowId xmlns:a16="http://schemas.microsoft.com/office/drawing/2014/main" val="2087465912"/>
                  </a:ext>
                </a:extLst>
              </a:tr>
              <a:tr h="141817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700" u="sng" strike="noStrike">
                          <a:effectLst/>
                          <a:hlinkClick r:id="rId26"/>
                        </a:rPr>
                        <a:t>S. Olivas</a:t>
                      </a:r>
                      <a:endParaRPr lang="en-US" sz="700" b="0" i="0" u="sng" strike="noStrike">
                        <a:solidFill>
                          <a:srgbClr val="467886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F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3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0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45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extLst>
                  <a:ext uri="{0D108BD9-81ED-4DB2-BD59-A6C34878D82A}">
                    <a16:rowId xmlns:a16="http://schemas.microsoft.com/office/drawing/2014/main" val="216299332"/>
                  </a:ext>
                </a:extLst>
              </a:tr>
              <a:tr h="141817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700" u="sng" strike="noStrike">
                          <a:effectLst/>
                          <a:hlinkClick r:id="rId27"/>
                        </a:rPr>
                        <a:t>B. Bender</a:t>
                      </a:r>
                      <a:endParaRPr lang="en-US" sz="700" b="0" i="0" u="sng" strike="noStrike">
                        <a:solidFill>
                          <a:srgbClr val="467886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M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7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4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320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extLst>
                  <a:ext uri="{0D108BD9-81ED-4DB2-BD59-A6C34878D82A}">
                    <a16:rowId xmlns:a16="http://schemas.microsoft.com/office/drawing/2014/main" val="1478190926"/>
                  </a:ext>
                </a:extLst>
              </a:tr>
              <a:tr h="141817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700" u="sng" strike="noStrike">
                          <a:effectLst/>
                          <a:hlinkClick r:id="rId28"/>
                        </a:rPr>
                        <a:t>A. Rick</a:t>
                      </a:r>
                      <a:endParaRPr lang="en-US" sz="700" b="0" i="0" u="sng" strike="noStrike">
                        <a:solidFill>
                          <a:srgbClr val="467886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G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14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13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1232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extLst>
                  <a:ext uri="{0D108BD9-81ED-4DB2-BD59-A6C34878D82A}">
                    <a16:rowId xmlns:a16="http://schemas.microsoft.com/office/drawing/2014/main" val="2053005175"/>
                  </a:ext>
                </a:extLst>
              </a:tr>
              <a:tr h="141817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700" u="sng" strike="noStrike">
                          <a:effectLst/>
                          <a:hlinkClick r:id="rId29"/>
                        </a:rPr>
                        <a:t>E. Davis</a:t>
                      </a:r>
                      <a:endParaRPr lang="en-US" sz="700" b="0" i="0" u="sng" strike="noStrike">
                        <a:solidFill>
                          <a:srgbClr val="467886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F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1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0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2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extLst>
                  <a:ext uri="{0D108BD9-81ED-4DB2-BD59-A6C34878D82A}">
                    <a16:rowId xmlns:a16="http://schemas.microsoft.com/office/drawing/2014/main" val="1589494860"/>
                  </a:ext>
                </a:extLst>
              </a:tr>
              <a:tr h="141817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700" u="sng" strike="noStrike">
                          <a:effectLst/>
                          <a:hlinkClick r:id="rId30"/>
                        </a:rPr>
                        <a:t>A. Blake</a:t>
                      </a:r>
                      <a:endParaRPr lang="en-US" sz="700" b="0" i="0" u="sng" strike="noStrike">
                        <a:solidFill>
                          <a:srgbClr val="467886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G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21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21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1828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extLst>
                  <a:ext uri="{0D108BD9-81ED-4DB2-BD59-A6C34878D82A}">
                    <a16:rowId xmlns:a16="http://schemas.microsoft.com/office/drawing/2014/main" val="1495927453"/>
                  </a:ext>
                </a:extLst>
              </a:tr>
              <a:tr h="141817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700" u="sng" strike="noStrike">
                          <a:effectLst/>
                          <a:hlinkClick r:id="rId31"/>
                        </a:rPr>
                        <a:t>C. Donovan</a:t>
                      </a:r>
                      <a:endParaRPr lang="en-US" sz="700" b="0" i="0" u="sng" strike="noStrike">
                        <a:solidFill>
                          <a:srgbClr val="467886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F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20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6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 dirty="0">
                          <a:effectLst/>
                        </a:rPr>
                        <a:t>540</a:t>
                      </a:r>
                      <a:endParaRPr lang="en-US" sz="900" b="0" i="0" u="none" strike="noStrike" dirty="0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extLst>
                  <a:ext uri="{0D108BD9-81ED-4DB2-BD59-A6C34878D82A}">
                    <a16:rowId xmlns:a16="http://schemas.microsoft.com/office/drawing/2014/main" val="120843455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2618773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F4003D-B10C-5982-A5BB-7D9A2BB310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16806D-AF4A-05C3-8FEA-E3F69C2E83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Gradient to represent magnitude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4944F21-429B-2D77-FFAF-9591007CB7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00377-489B-40EC-B059-26BDDD2E89B9}" type="slidenum">
              <a:rPr lang="en-US" smtClean="0"/>
              <a:pPr/>
              <a:t>5</a:t>
            </a:fld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9D7844DD-9C8F-41EF-9D53-F9CA4F8DE7E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56531" y="1922728"/>
            <a:ext cx="2478937" cy="42920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4153774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2399C5-2083-A795-CB67-048DF3CB53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29DD53-4A47-63EB-6C8D-509037D153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Order to organize values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BA92C2D-AD8F-DCC0-EAD5-3B94D1052A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00377-489B-40EC-B059-26BDDD2E89B9}" type="slidenum">
              <a:rPr lang="en-US" smtClean="0"/>
              <a:pPr/>
              <a:t>6</a:t>
            </a:fld>
            <a:endParaRPr lang="en-US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996EF6A8-BD23-51B5-05CB-19A61F67B70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56531" y="1922728"/>
            <a:ext cx="2478938" cy="42920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2889421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004D83-43AE-8A70-7AB1-4981C0033E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C369D3-5EB4-695B-FE4E-1FD62462DF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Visual representation of values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2670A0F-282D-98B9-95C5-5B1C40F3FA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00377-489B-40EC-B059-26BDDD2E89B9}" type="slidenum">
              <a:rPr lang="en-US" smtClean="0"/>
              <a:pPr/>
              <a:t>7</a:t>
            </a:fld>
            <a:endParaRPr lang="en-US" dirty="0"/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18066627-6F26-2DD0-1358-0F2D745E7CF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171685" y="1789378"/>
            <a:ext cx="5848630" cy="4254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8799303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C712C4-A607-4CAA-0668-48FCCB8BBA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EC9B15-ACEA-4F8D-DE37-5F53AEF01C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Why visualization matters in sports analytics 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D60F476-907B-7571-B559-C32DD227DD8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</a:rPr>
              <a:t>Pattern recognition and speed</a:t>
            </a:r>
          </a:p>
          <a:p>
            <a:r>
              <a:rPr lang="en-US" b="1" dirty="0"/>
              <a:t>Communication and decision support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DA11292-2A8A-B077-C6A4-7112746DEC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00377-489B-40EC-B059-26BDDD2E89B9}" type="slidenum">
              <a:rPr lang="en-US" smtClean="0"/>
              <a:pPr/>
              <a:t>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084002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ECD3F2-A4B4-B452-9329-B08F259589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9461BA-67D1-8A6F-53E5-32B57DDBE7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Who played &gt;1500 minutes last season?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A203CF5-D19B-77A3-0F94-9B7AE473D7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00377-489B-40EC-B059-26BDDD2E89B9}" type="slidenum">
              <a:rPr lang="en-US" smtClean="0"/>
              <a:pPr/>
              <a:t>9</a:t>
            </a:fld>
            <a:endParaRPr lang="en-US" dirty="0"/>
          </a:p>
        </p:txBody>
      </p:sp>
      <p:graphicFrame>
        <p:nvGraphicFramePr>
          <p:cNvPr id="7" name="Content Placeholder 6">
            <a:extLst>
              <a:ext uri="{FF2B5EF4-FFF2-40B4-BE49-F238E27FC236}">
                <a16:creationId xmlns:a16="http://schemas.microsoft.com/office/drawing/2014/main" id="{EF7163AF-177A-FB18-FD8B-1D43DA857720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4870862" y="1922728"/>
          <a:ext cx="2450276" cy="429207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749844">
                  <a:extLst>
                    <a:ext uri="{9D8B030D-6E8A-4147-A177-3AD203B41FA5}">
                      <a16:colId xmlns:a16="http://schemas.microsoft.com/office/drawing/2014/main" val="2377371374"/>
                    </a:ext>
                  </a:extLst>
                </a:gridCol>
                <a:gridCol w="425108">
                  <a:extLst>
                    <a:ext uri="{9D8B030D-6E8A-4147-A177-3AD203B41FA5}">
                      <a16:colId xmlns:a16="http://schemas.microsoft.com/office/drawing/2014/main" val="3833361993"/>
                    </a:ext>
                  </a:extLst>
                </a:gridCol>
                <a:gridCol w="425108">
                  <a:extLst>
                    <a:ext uri="{9D8B030D-6E8A-4147-A177-3AD203B41FA5}">
                      <a16:colId xmlns:a16="http://schemas.microsoft.com/office/drawing/2014/main" val="955811745"/>
                    </a:ext>
                  </a:extLst>
                </a:gridCol>
                <a:gridCol w="425108">
                  <a:extLst>
                    <a:ext uri="{9D8B030D-6E8A-4147-A177-3AD203B41FA5}">
                      <a16:colId xmlns:a16="http://schemas.microsoft.com/office/drawing/2014/main" val="1470288667"/>
                    </a:ext>
                  </a:extLst>
                </a:gridCol>
                <a:gridCol w="425108">
                  <a:extLst>
                    <a:ext uri="{9D8B030D-6E8A-4147-A177-3AD203B41FA5}">
                      <a16:colId xmlns:a16="http://schemas.microsoft.com/office/drawing/2014/main" val="2673828339"/>
                    </a:ext>
                  </a:extLst>
                </a:gridCol>
              </a:tblGrid>
              <a:tr h="141817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Player</a:t>
                      </a:r>
                      <a:endParaRPr lang="en-US" sz="900" b="1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Pos</a:t>
                      </a:r>
                      <a:endParaRPr lang="en-US" sz="900" b="1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GP</a:t>
                      </a:r>
                      <a:endParaRPr lang="en-US" sz="900" b="1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GS</a:t>
                      </a:r>
                      <a:endParaRPr lang="en-US" sz="900" b="1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Mins</a:t>
                      </a:r>
                      <a:endParaRPr lang="en-US" sz="900" b="1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extLst>
                  <a:ext uri="{0D108BD9-81ED-4DB2-BD59-A6C34878D82A}">
                    <a16:rowId xmlns:a16="http://schemas.microsoft.com/office/drawing/2014/main" val="2378281898"/>
                  </a:ext>
                </a:extLst>
              </a:tr>
              <a:tr h="141817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700" u="sng" strike="noStrike">
                          <a:effectLst/>
                          <a:hlinkClick r:id="rId3"/>
                        </a:rPr>
                        <a:t>T. Baribo</a:t>
                      </a:r>
                      <a:endParaRPr lang="en-US" sz="700" b="0" i="0" u="sng" strike="noStrike">
                        <a:solidFill>
                          <a:srgbClr val="467886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F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29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20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1876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extLst>
                  <a:ext uri="{0D108BD9-81ED-4DB2-BD59-A6C34878D82A}">
                    <a16:rowId xmlns:a16="http://schemas.microsoft.com/office/drawing/2014/main" val="3034034884"/>
                  </a:ext>
                </a:extLst>
              </a:tr>
              <a:tr h="141817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700" u="sng" strike="noStrike">
                          <a:effectLst/>
                          <a:hlinkClick r:id="rId4"/>
                        </a:rPr>
                        <a:t>B. Damiani</a:t>
                      </a:r>
                      <a:endParaRPr lang="en-US" sz="700" b="0" i="0" u="sng" strike="noStrike">
                        <a:solidFill>
                          <a:srgbClr val="467886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F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33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23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2040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extLst>
                  <a:ext uri="{0D108BD9-81ED-4DB2-BD59-A6C34878D82A}">
                    <a16:rowId xmlns:a16="http://schemas.microsoft.com/office/drawing/2014/main" val="227702879"/>
                  </a:ext>
                </a:extLst>
              </a:tr>
              <a:tr h="141817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700" u="sng" strike="noStrike">
                          <a:effectLst/>
                          <a:hlinkClick r:id="rId5"/>
                        </a:rPr>
                        <a:t>M. Uhre</a:t>
                      </a:r>
                      <a:endParaRPr lang="en-US" sz="700" b="0" i="0" u="sng" strike="noStrike">
                        <a:solidFill>
                          <a:srgbClr val="467886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F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29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16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1325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extLst>
                  <a:ext uri="{0D108BD9-81ED-4DB2-BD59-A6C34878D82A}">
                    <a16:rowId xmlns:a16="http://schemas.microsoft.com/office/drawing/2014/main" val="2745252302"/>
                  </a:ext>
                </a:extLst>
              </a:tr>
              <a:tr h="141817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700" u="sng" strike="noStrike">
                          <a:effectLst/>
                          <a:hlinkClick r:id="rId6"/>
                        </a:rPr>
                        <a:t>I. Vassilev</a:t>
                      </a:r>
                      <a:endParaRPr lang="en-US" sz="700" b="0" i="0" u="sng" strike="noStrike">
                        <a:solidFill>
                          <a:srgbClr val="467886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M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31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21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1973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extLst>
                  <a:ext uri="{0D108BD9-81ED-4DB2-BD59-A6C34878D82A}">
                    <a16:rowId xmlns:a16="http://schemas.microsoft.com/office/drawing/2014/main" val="2708908484"/>
                  </a:ext>
                </a:extLst>
              </a:tr>
              <a:tr h="141817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700" u="sng" strike="noStrike">
                          <a:effectLst/>
                          <a:hlinkClick r:id="rId7"/>
                        </a:rPr>
                        <a:t>D. Jean Jacques</a:t>
                      </a:r>
                      <a:endParaRPr lang="en-US" sz="700" b="0" i="0" u="sng" strike="noStrike">
                        <a:solidFill>
                          <a:srgbClr val="467886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M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31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26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2361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extLst>
                  <a:ext uri="{0D108BD9-81ED-4DB2-BD59-A6C34878D82A}">
                    <a16:rowId xmlns:a16="http://schemas.microsoft.com/office/drawing/2014/main" val="466365634"/>
                  </a:ext>
                </a:extLst>
              </a:tr>
              <a:tr h="141817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700" u="sng" strike="noStrike">
                          <a:effectLst/>
                          <a:hlinkClick r:id="rId8"/>
                        </a:rPr>
                        <a:t>K. Wagner</a:t>
                      </a:r>
                      <a:endParaRPr lang="en-US" sz="700" b="0" i="0" u="sng" strike="noStrike">
                        <a:solidFill>
                          <a:srgbClr val="467886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D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32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30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2769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extLst>
                  <a:ext uri="{0D108BD9-81ED-4DB2-BD59-A6C34878D82A}">
                    <a16:rowId xmlns:a16="http://schemas.microsoft.com/office/drawing/2014/main" val="872449185"/>
                  </a:ext>
                </a:extLst>
              </a:tr>
              <a:tr h="141817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700" u="sng" strike="noStrike">
                          <a:effectLst/>
                          <a:hlinkClick r:id="rId9"/>
                        </a:rPr>
                        <a:t>Q. Sullivan</a:t>
                      </a:r>
                      <a:endParaRPr lang="en-US" sz="700" b="0" i="0" u="sng" strike="noStrike">
                        <a:solidFill>
                          <a:srgbClr val="467886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M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28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24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1967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extLst>
                  <a:ext uri="{0D108BD9-81ED-4DB2-BD59-A6C34878D82A}">
                    <a16:rowId xmlns:a16="http://schemas.microsoft.com/office/drawing/2014/main" val="3262134951"/>
                  </a:ext>
                </a:extLst>
              </a:tr>
              <a:tr h="141817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700" u="sng" strike="noStrike">
                          <a:effectLst/>
                          <a:hlinkClick r:id="rId10"/>
                        </a:rPr>
                        <a:t>N. Harriel</a:t>
                      </a:r>
                      <a:endParaRPr lang="en-US" sz="700" b="0" i="0" u="sng" strike="noStrike">
                        <a:solidFill>
                          <a:srgbClr val="467886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D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25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23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2098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extLst>
                  <a:ext uri="{0D108BD9-81ED-4DB2-BD59-A6C34878D82A}">
                    <a16:rowId xmlns:a16="http://schemas.microsoft.com/office/drawing/2014/main" val="290647428"/>
                  </a:ext>
                </a:extLst>
              </a:tr>
              <a:tr h="141817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700" u="sng" strike="noStrike">
                          <a:effectLst/>
                          <a:hlinkClick r:id="rId11"/>
                        </a:rPr>
                        <a:t>M. Iloski</a:t>
                      </a:r>
                      <a:endParaRPr lang="en-US" sz="700" b="0" i="0" u="sng" strike="noStrike">
                        <a:solidFill>
                          <a:srgbClr val="467886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F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9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7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600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extLst>
                  <a:ext uri="{0D108BD9-81ED-4DB2-BD59-A6C34878D82A}">
                    <a16:rowId xmlns:a16="http://schemas.microsoft.com/office/drawing/2014/main" val="141236257"/>
                  </a:ext>
                </a:extLst>
              </a:tr>
              <a:tr h="141817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700" u="sng" strike="noStrike">
                          <a:effectLst/>
                          <a:hlinkClick r:id="rId12"/>
                        </a:rPr>
                        <a:t>D. Gazdag</a:t>
                      </a:r>
                      <a:endParaRPr lang="en-US" sz="700" b="0" i="0" u="sng" strike="noStrike">
                        <a:solidFill>
                          <a:srgbClr val="467886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M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6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6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498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extLst>
                  <a:ext uri="{0D108BD9-81ED-4DB2-BD59-A6C34878D82A}">
                    <a16:rowId xmlns:a16="http://schemas.microsoft.com/office/drawing/2014/main" val="1949353691"/>
                  </a:ext>
                </a:extLst>
              </a:tr>
              <a:tr h="141817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700" u="sng" strike="noStrike">
                          <a:effectLst/>
                          <a:hlinkClick r:id="rId13"/>
                        </a:rPr>
                        <a:t>J. Lukic</a:t>
                      </a:r>
                      <a:endParaRPr lang="en-US" sz="700" b="0" i="0" u="sng" strike="noStrike">
                        <a:solidFill>
                          <a:srgbClr val="467886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M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32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30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2620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extLst>
                  <a:ext uri="{0D108BD9-81ED-4DB2-BD59-A6C34878D82A}">
                    <a16:rowId xmlns:a16="http://schemas.microsoft.com/office/drawing/2014/main" val="1198582741"/>
                  </a:ext>
                </a:extLst>
              </a:tr>
              <a:tr h="141817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700" u="sng" strike="noStrike">
                          <a:effectLst/>
                          <a:hlinkClick r:id="rId14"/>
                        </a:rPr>
                        <a:t>O. Makhanya</a:t>
                      </a:r>
                      <a:endParaRPr lang="en-US" sz="700" b="0" i="0" u="sng" strike="noStrike">
                        <a:solidFill>
                          <a:srgbClr val="467886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D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29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23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2145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extLst>
                  <a:ext uri="{0D108BD9-81ED-4DB2-BD59-A6C34878D82A}">
                    <a16:rowId xmlns:a16="http://schemas.microsoft.com/office/drawing/2014/main" val="1116509640"/>
                  </a:ext>
                </a:extLst>
              </a:tr>
              <a:tr h="141817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700" u="sng" strike="noStrike">
                          <a:effectLst/>
                          <a:hlinkClick r:id="rId15"/>
                        </a:rPr>
                        <a:t>A. Bedoya</a:t>
                      </a:r>
                      <a:endParaRPr lang="en-US" sz="700" b="0" i="0" u="sng" strike="noStrike">
                        <a:solidFill>
                          <a:srgbClr val="467886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M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24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9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739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extLst>
                  <a:ext uri="{0D108BD9-81ED-4DB2-BD59-A6C34878D82A}">
                    <a16:rowId xmlns:a16="http://schemas.microsoft.com/office/drawing/2014/main" val="4279301628"/>
                  </a:ext>
                </a:extLst>
              </a:tr>
              <a:tr h="141817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700" u="sng" strike="noStrike">
                          <a:effectLst/>
                          <a:hlinkClick r:id="rId16"/>
                        </a:rPr>
                        <a:t>J. Glesnes</a:t>
                      </a:r>
                      <a:endParaRPr lang="en-US" sz="700" b="0" i="0" u="sng" strike="noStrike">
                        <a:solidFill>
                          <a:srgbClr val="467886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D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31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30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2626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extLst>
                  <a:ext uri="{0D108BD9-81ED-4DB2-BD59-A6C34878D82A}">
                    <a16:rowId xmlns:a16="http://schemas.microsoft.com/office/drawing/2014/main" val="2104515706"/>
                  </a:ext>
                </a:extLst>
              </a:tr>
              <a:tr h="141817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700" u="sng" strike="noStrike">
                          <a:effectLst/>
                          <a:hlinkClick r:id="rId17"/>
                        </a:rPr>
                        <a:t>F. Westfield</a:t>
                      </a:r>
                      <a:endParaRPr lang="en-US" sz="700" b="0" i="0" u="sng" strike="noStrike">
                        <a:solidFill>
                          <a:srgbClr val="467886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D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25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18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1724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extLst>
                  <a:ext uri="{0D108BD9-81ED-4DB2-BD59-A6C34878D82A}">
                    <a16:rowId xmlns:a16="http://schemas.microsoft.com/office/drawing/2014/main" val="392864773"/>
                  </a:ext>
                </a:extLst>
              </a:tr>
              <a:tr h="141817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700" u="sng" strike="noStrike">
                          <a:effectLst/>
                          <a:hlinkClick r:id="rId18"/>
                        </a:rPr>
                        <a:t>I. Glavinovich</a:t>
                      </a:r>
                      <a:endParaRPr lang="en-US" sz="700" b="0" i="0" u="sng" strike="noStrike">
                        <a:solidFill>
                          <a:srgbClr val="467886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D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4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3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257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extLst>
                  <a:ext uri="{0D108BD9-81ED-4DB2-BD59-A6C34878D82A}">
                    <a16:rowId xmlns:a16="http://schemas.microsoft.com/office/drawing/2014/main" val="1032275722"/>
                  </a:ext>
                </a:extLst>
              </a:tr>
              <a:tr h="141817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700" u="sng" strike="noStrike">
                          <a:effectLst/>
                          <a:hlinkClick r:id="rId19"/>
                        </a:rPr>
                        <a:t>M. Anderson</a:t>
                      </a:r>
                      <a:endParaRPr lang="en-US" sz="700" b="0" i="0" u="sng" strike="noStrike">
                        <a:solidFill>
                          <a:srgbClr val="467886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F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3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1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98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extLst>
                  <a:ext uri="{0D108BD9-81ED-4DB2-BD59-A6C34878D82A}">
                    <a16:rowId xmlns:a16="http://schemas.microsoft.com/office/drawing/2014/main" val="583926051"/>
                  </a:ext>
                </a:extLst>
              </a:tr>
              <a:tr h="141817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700" u="sng" strike="noStrike">
                          <a:effectLst/>
                          <a:hlinkClick r:id="rId20"/>
                        </a:rPr>
                        <a:t>J. Bueno</a:t>
                      </a:r>
                      <a:endParaRPr lang="en-US" sz="700" b="0" i="0" u="sng" strike="noStrike">
                        <a:solidFill>
                          <a:srgbClr val="467886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M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20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11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903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extLst>
                  <a:ext uri="{0D108BD9-81ED-4DB2-BD59-A6C34878D82A}">
                    <a16:rowId xmlns:a16="http://schemas.microsoft.com/office/drawing/2014/main" val="1813666323"/>
                  </a:ext>
                </a:extLst>
              </a:tr>
              <a:tr h="141817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700" u="sng" strike="noStrike">
                          <a:effectLst/>
                          <a:hlinkClick r:id="rId21"/>
                        </a:rPr>
                        <a:t>N. Pierre</a:t>
                      </a:r>
                      <a:endParaRPr lang="en-US" sz="700" b="0" i="0" u="sng" strike="noStrike">
                        <a:solidFill>
                          <a:srgbClr val="467886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D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1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0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20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extLst>
                  <a:ext uri="{0D108BD9-81ED-4DB2-BD59-A6C34878D82A}">
                    <a16:rowId xmlns:a16="http://schemas.microsoft.com/office/drawing/2014/main" val="1787101286"/>
                  </a:ext>
                </a:extLst>
              </a:tr>
              <a:tr h="141817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700" u="sng" strike="noStrike">
                          <a:effectLst/>
                          <a:hlinkClick r:id="rId22"/>
                        </a:rPr>
                        <a:t>D. Vazquez</a:t>
                      </a:r>
                      <a:endParaRPr lang="en-US" sz="700" b="0" i="0" u="sng" strike="noStrike">
                        <a:solidFill>
                          <a:srgbClr val="467886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M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1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0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19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extLst>
                  <a:ext uri="{0D108BD9-81ED-4DB2-BD59-A6C34878D82A}">
                    <a16:rowId xmlns:a16="http://schemas.microsoft.com/office/drawing/2014/main" val="1655876590"/>
                  </a:ext>
                </a:extLst>
              </a:tr>
              <a:tr h="141817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700" u="sng" strike="noStrike">
                          <a:effectLst/>
                          <a:hlinkClick r:id="rId23"/>
                        </a:rPr>
                        <a:t>O. Mbaizo</a:t>
                      </a:r>
                      <a:endParaRPr lang="en-US" sz="700" b="0" i="0" u="sng" strike="noStrike">
                        <a:solidFill>
                          <a:srgbClr val="467886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D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9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6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481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extLst>
                  <a:ext uri="{0D108BD9-81ED-4DB2-BD59-A6C34878D82A}">
                    <a16:rowId xmlns:a16="http://schemas.microsoft.com/office/drawing/2014/main" val="985118965"/>
                  </a:ext>
                </a:extLst>
              </a:tr>
              <a:tr h="141817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700" u="sng" strike="noStrike">
                          <a:effectLst/>
                          <a:hlinkClick r:id="rId24"/>
                        </a:rPr>
                        <a:t>C. Sullivan</a:t>
                      </a:r>
                      <a:endParaRPr lang="en-US" sz="700" b="0" i="0" u="sng" strike="noStrike">
                        <a:solidFill>
                          <a:srgbClr val="467886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M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11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1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214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extLst>
                  <a:ext uri="{0D108BD9-81ED-4DB2-BD59-A6C34878D82A}">
                    <a16:rowId xmlns:a16="http://schemas.microsoft.com/office/drawing/2014/main" val="1668061782"/>
                  </a:ext>
                </a:extLst>
              </a:tr>
              <a:tr h="141817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700" u="sng" strike="noStrike">
                          <a:effectLst/>
                          <a:hlinkClick r:id="rId25"/>
                        </a:rPr>
                        <a:t>J. Rafanello</a:t>
                      </a:r>
                      <a:endParaRPr lang="en-US" sz="700" b="0" i="0" u="sng" strike="noStrike">
                        <a:solidFill>
                          <a:srgbClr val="467886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M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15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2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274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extLst>
                  <a:ext uri="{0D108BD9-81ED-4DB2-BD59-A6C34878D82A}">
                    <a16:rowId xmlns:a16="http://schemas.microsoft.com/office/drawing/2014/main" val="2087465912"/>
                  </a:ext>
                </a:extLst>
              </a:tr>
              <a:tr h="141817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700" u="sng" strike="noStrike">
                          <a:effectLst/>
                          <a:hlinkClick r:id="rId26"/>
                        </a:rPr>
                        <a:t>S. Olivas</a:t>
                      </a:r>
                      <a:endParaRPr lang="en-US" sz="700" b="0" i="0" u="sng" strike="noStrike">
                        <a:solidFill>
                          <a:srgbClr val="467886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F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3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0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45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extLst>
                  <a:ext uri="{0D108BD9-81ED-4DB2-BD59-A6C34878D82A}">
                    <a16:rowId xmlns:a16="http://schemas.microsoft.com/office/drawing/2014/main" val="216299332"/>
                  </a:ext>
                </a:extLst>
              </a:tr>
              <a:tr h="141817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700" u="sng" strike="noStrike">
                          <a:effectLst/>
                          <a:hlinkClick r:id="rId27"/>
                        </a:rPr>
                        <a:t>B. Bender</a:t>
                      </a:r>
                      <a:endParaRPr lang="en-US" sz="700" b="0" i="0" u="sng" strike="noStrike">
                        <a:solidFill>
                          <a:srgbClr val="467886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M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7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4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320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extLst>
                  <a:ext uri="{0D108BD9-81ED-4DB2-BD59-A6C34878D82A}">
                    <a16:rowId xmlns:a16="http://schemas.microsoft.com/office/drawing/2014/main" val="1478190926"/>
                  </a:ext>
                </a:extLst>
              </a:tr>
              <a:tr h="141817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700" u="sng" strike="noStrike">
                          <a:effectLst/>
                          <a:hlinkClick r:id="rId28"/>
                        </a:rPr>
                        <a:t>A. Rick</a:t>
                      </a:r>
                      <a:endParaRPr lang="en-US" sz="700" b="0" i="0" u="sng" strike="noStrike">
                        <a:solidFill>
                          <a:srgbClr val="467886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G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14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13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1232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extLst>
                  <a:ext uri="{0D108BD9-81ED-4DB2-BD59-A6C34878D82A}">
                    <a16:rowId xmlns:a16="http://schemas.microsoft.com/office/drawing/2014/main" val="2053005175"/>
                  </a:ext>
                </a:extLst>
              </a:tr>
              <a:tr h="141817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700" u="sng" strike="noStrike">
                          <a:effectLst/>
                          <a:hlinkClick r:id="rId29"/>
                        </a:rPr>
                        <a:t>E. Davis</a:t>
                      </a:r>
                      <a:endParaRPr lang="en-US" sz="700" b="0" i="0" u="sng" strike="noStrike">
                        <a:solidFill>
                          <a:srgbClr val="467886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F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1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0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2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extLst>
                  <a:ext uri="{0D108BD9-81ED-4DB2-BD59-A6C34878D82A}">
                    <a16:rowId xmlns:a16="http://schemas.microsoft.com/office/drawing/2014/main" val="1589494860"/>
                  </a:ext>
                </a:extLst>
              </a:tr>
              <a:tr h="141817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700" u="sng" strike="noStrike">
                          <a:effectLst/>
                          <a:hlinkClick r:id="rId30"/>
                        </a:rPr>
                        <a:t>A. Blake</a:t>
                      </a:r>
                      <a:endParaRPr lang="en-US" sz="700" b="0" i="0" u="sng" strike="noStrike">
                        <a:solidFill>
                          <a:srgbClr val="467886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G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21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21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1828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extLst>
                  <a:ext uri="{0D108BD9-81ED-4DB2-BD59-A6C34878D82A}">
                    <a16:rowId xmlns:a16="http://schemas.microsoft.com/office/drawing/2014/main" val="1495927453"/>
                  </a:ext>
                </a:extLst>
              </a:tr>
              <a:tr h="141817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700" u="sng" strike="noStrike">
                          <a:effectLst/>
                          <a:hlinkClick r:id="rId31"/>
                        </a:rPr>
                        <a:t>C. Donovan</a:t>
                      </a:r>
                      <a:endParaRPr lang="en-US" sz="700" b="0" i="0" u="sng" strike="noStrike">
                        <a:solidFill>
                          <a:srgbClr val="467886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F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20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6</a:t>
                      </a:r>
                      <a:endParaRPr lang="en-US" sz="900" b="0" i="0" u="none" strike="noStrike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 dirty="0">
                          <a:effectLst/>
                        </a:rPr>
                        <a:t>540</a:t>
                      </a:r>
                      <a:endParaRPr lang="en-US" sz="900" b="0" i="0" u="none" strike="noStrike" dirty="0">
                        <a:solidFill>
                          <a:srgbClr val="101010"/>
                        </a:solidFill>
                        <a:effectLst/>
                        <a:latin typeface="Helvetica" panose="020B0604020202020204" pitchFamily="34" charset="0"/>
                      </a:endParaRPr>
                    </a:p>
                  </a:txBody>
                  <a:tcPr marL="5909" marR="5909" marT="5909" marB="0" anchor="b"/>
                </a:tc>
                <a:extLst>
                  <a:ext uri="{0D108BD9-81ED-4DB2-BD59-A6C34878D82A}">
                    <a16:rowId xmlns:a16="http://schemas.microsoft.com/office/drawing/2014/main" val="120843455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8928996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41B922-03E7-AEC0-F001-4F09DE7941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B1C56B7B-6433-9A30-6D1D-211979BD0DB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986547" y="1922463"/>
            <a:ext cx="5848630" cy="42545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8ED181E-EAF4-8E4A-7035-908F7AF64A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err="1"/>
              <a:t>Color</a:t>
            </a:r>
            <a:r>
              <a:rPr lang="en-GB" dirty="0"/>
              <a:t>, order, graphs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957550A-3F1C-7CA5-4318-115213AF37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00377-489B-40EC-B059-26BDDD2E89B9}" type="slidenum">
              <a:rPr lang="en-US" smtClean="0"/>
              <a:pPr/>
              <a:t>10</a:t>
            </a:fld>
            <a:endParaRPr lang="en-US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4D43DCF6-3734-96E0-CACA-3CEE69BDA05C}"/>
              </a:ext>
            </a:extLst>
          </p:cNvPr>
          <p:cNvCxnSpPr/>
          <p:nvPr/>
        </p:nvCxnSpPr>
        <p:spPr>
          <a:xfrm flipV="1">
            <a:off x="4185182" y="2174240"/>
            <a:ext cx="0" cy="3657600"/>
          </a:xfrm>
          <a:prstGeom prst="line">
            <a:avLst/>
          </a:prstGeom>
          <a:ln w="28575">
            <a:solidFill>
              <a:srgbClr val="C0000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1" name="Picture 10">
            <a:extLst>
              <a:ext uri="{FF2B5EF4-FFF2-40B4-BE49-F238E27FC236}">
                <a16:creationId xmlns:a16="http://schemas.microsoft.com/office/drawing/2014/main" id="{C527EB85-F203-84B8-030E-B6D43D966AF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35526" y="1949993"/>
            <a:ext cx="1598286" cy="42269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9755582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B81123-EFE3-384E-095D-012AD38295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Why visualization matters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80F2D2-1F8F-A5C6-DE2A-C5463BC808E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Each version contained the same basic data. What changed was how the data were visually encoded.</a:t>
            </a:r>
          </a:p>
          <a:p>
            <a:pPr lvl="0"/>
            <a:r>
              <a:rPr lang="en-GB" dirty="0"/>
              <a:t>Tables are useful for looking up exact values. </a:t>
            </a:r>
          </a:p>
          <a:p>
            <a:pPr lvl="0"/>
            <a:r>
              <a:rPr lang="en-GB" dirty="0"/>
              <a:t>Charts are useful for seeing patterns. </a:t>
            </a:r>
          </a:p>
          <a:p>
            <a:pPr lvl="0"/>
            <a:r>
              <a:rPr lang="en-GB" dirty="0"/>
              <a:t>Ordering improves comparison. </a:t>
            </a:r>
          </a:p>
          <a:p>
            <a:pPr lvl="0"/>
            <a:r>
              <a:rPr lang="en-GB" dirty="0" err="1"/>
              <a:t>Color</a:t>
            </a:r>
            <a:r>
              <a:rPr lang="en-GB" dirty="0"/>
              <a:t> and reference lines add meaning. </a:t>
            </a:r>
          </a:p>
          <a:p>
            <a:pPr marL="0" lvl="0" indent="0">
              <a:buNone/>
            </a:pPr>
            <a:endParaRPr lang="en-GB" dirty="0"/>
          </a:p>
          <a:p>
            <a:pPr marL="0" lvl="0" indent="0">
              <a:buNone/>
            </a:pPr>
            <a:r>
              <a:rPr lang="en-GB" dirty="0"/>
              <a:t>Different visual choices support different decisions.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1974410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913898-87BE-81D3-429D-30528215C5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A60631-DFBC-ED75-79B3-CD8D63CFF4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Directing attention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F40F90C-25E5-16DD-201D-C04FC7CA32E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197738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D5E8EB-D6DB-8F64-AD0B-EFA92ACF45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Visual encoding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FEB9D9-07D4-3334-B1C8-0436232D7AC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Visual encoding maps data values to visual properties.</a:t>
            </a:r>
          </a:p>
          <a:p>
            <a:r>
              <a:rPr lang="en-GB" dirty="0"/>
              <a:t>Attributes such as position, length, </a:t>
            </a:r>
            <a:r>
              <a:rPr lang="en-GB" dirty="0" err="1"/>
              <a:t>color</a:t>
            </a:r>
            <a:r>
              <a:rPr lang="en-GB" dirty="0"/>
              <a:t>, size and shape communicate different information.</a:t>
            </a:r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DE2B9A7-CCB8-5544-8B66-F41F75D33A9A}"/>
              </a:ext>
            </a:extLst>
          </p:cNvPr>
          <p:cNvSpPr txBox="1"/>
          <p:nvPr/>
        </p:nvSpPr>
        <p:spPr>
          <a:xfrm>
            <a:off x="6520070" y="3809450"/>
            <a:ext cx="4505739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GB" dirty="0"/>
              <a:t>vertical position = player name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GB" dirty="0"/>
              <a:t>bar length = minutes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dirty="0"/>
              <a:t>reference line = decision threshold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GB" dirty="0" err="1"/>
              <a:t>color</a:t>
            </a:r>
            <a:r>
              <a:rPr lang="en-GB" dirty="0"/>
              <a:t> = above or below threshold</a:t>
            </a:r>
          </a:p>
        </p:txBody>
      </p:sp>
      <p:pic>
        <p:nvPicPr>
          <p:cNvPr id="6" name="Content Placeholder 8">
            <a:extLst>
              <a:ext uri="{FF2B5EF4-FFF2-40B4-BE49-F238E27FC236}">
                <a16:creationId xmlns:a16="http://schemas.microsoft.com/office/drawing/2014/main" id="{E315E011-6C55-2B1C-C9CF-60222417079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96147" y="2994441"/>
            <a:ext cx="4393836" cy="31962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285699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E7EFF20-7721-22CF-0B9C-0225448146B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Visual properties that the human brain processes almost instantly and subconsciously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20425CF-433B-BA64-63C0-A6A6E36B04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00377-489B-40EC-B059-26BDDD2E89B9}" type="slidenum">
              <a:rPr lang="en-US" smtClean="0"/>
              <a:pPr/>
              <a:t>14</a:t>
            </a:fld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37E157F-E6F6-FE34-3C0A-A701E167D0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Pre-attentive attributes </a:t>
            </a:r>
            <a:endParaRPr lang="en-US" dirty="0"/>
          </a:p>
        </p:txBody>
      </p:sp>
      <p:pic>
        <p:nvPicPr>
          <p:cNvPr id="2050" name="Picture 2" descr="Why Visual Analytics? - Tableau">
            <a:extLst>
              <a:ext uri="{FF2B5EF4-FFF2-40B4-BE49-F238E27FC236}">
                <a16:creationId xmlns:a16="http://schemas.microsoft.com/office/drawing/2014/main" id="{88432887-C671-1479-BEED-AD22C850D3B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59495" y="2941311"/>
            <a:ext cx="6094005" cy="332534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69874108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A148CA-6C0C-8B16-D5EF-6841D0B0E5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F3538FD-5FD5-6579-F043-7307298E743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Visual properties that the human brain processes almost instantly and subconsciously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EFE83BB-DEE5-6058-AE8C-A8C94C22A1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00377-489B-40EC-B059-26BDDD2E89B9}" type="slidenum">
              <a:rPr lang="en-US" smtClean="0"/>
              <a:pPr/>
              <a:t>15</a:t>
            </a:fld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3C9C0AD-DC16-011A-C5EE-AF594B925C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Pre-attentive attributes </a:t>
            </a:r>
            <a:endParaRPr lang="en-US" dirty="0"/>
          </a:p>
        </p:txBody>
      </p:sp>
      <p:pic>
        <p:nvPicPr>
          <p:cNvPr id="2050" name="Picture 2" descr="Why Visual Analytics? - Tableau">
            <a:extLst>
              <a:ext uri="{FF2B5EF4-FFF2-40B4-BE49-F238E27FC236}">
                <a16:creationId xmlns:a16="http://schemas.microsoft.com/office/drawing/2014/main" id="{BA8664D1-D891-EBEF-FC6E-331B10FEE03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59495" y="2941311"/>
            <a:ext cx="6094005" cy="332534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D37FB8D2-B1D9-1E60-1920-E22CF46CD370}"/>
              </a:ext>
            </a:extLst>
          </p:cNvPr>
          <p:cNvSpPr/>
          <p:nvPr/>
        </p:nvSpPr>
        <p:spPr>
          <a:xfrm>
            <a:off x="2966720" y="3027679"/>
            <a:ext cx="3495040" cy="3235651"/>
          </a:xfrm>
          <a:prstGeom prst="rect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D2F41E7-5570-4DAA-15A7-B9A6F8DCCCD2}"/>
              </a:ext>
            </a:extLst>
          </p:cNvPr>
          <p:cNvSpPr/>
          <p:nvPr/>
        </p:nvSpPr>
        <p:spPr>
          <a:xfrm>
            <a:off x="6568985" y="3027679"/>
            <a:ext cx="1081496" cy="1519845"/>
          </a:xfrm>
          <a:prstGeom prst="rect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481238C-AD1B-C513-8B2B-F18A0C7A2D46}"/>
              </a:ext>
            </a:extLst>
          </p:cNvPr>
          <p:cNvSpPr/>
          <p:nvPr/>
        </p:nvSpPr>
        <p:spPr>
          <a:xfrm>
            <a:off x="7757706" y="3027680"/>
            <a:ext cx="1081496" cy="1519844"/>
          </a:xfrm>
          <a:prstGeom prst="rect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5E2C14C-D324-1BE8-AAA8-E950E8BC0427}"/>
              </a:ext>
            </a:extLst>
          </p:cNvPr>
          <p:cNvSpPr/>
          <p:nvPr/>
        </p:nvSpPr>
        <p:spPr>
          <a:xfrm>
            <a:off x="6580414" y="4726912"/>
            <a:ext cx="2258788" cy="1536419"/>
          </a:xfrm>
          <a:prstGeom prst="rect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2058749-5F82-9C9B-4848-49E51F776B41}"/>
              </a:ext>
            </a:extLst>
          </p:cNvPr>
          <p:cNvSpPr txBox="1"/>
          <p:nvPr/>
        </p:nvSpPr>
        <p:spPr>
          <a:xfrm>
            <a:off x="4315188" y="2799829"/>
            <a:ext cx="798104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2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spatial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AB12799-2697-F24F-2377-3DBBC4511E4B}"/>
              </a:ext>
            </a:extLst>
          </p:cNvPr>
          <p:cNvSpPr txBox="1"/>
          <p:nvPr/>
        </p:nvSpPr>
        <p:spPr>
          <a:xfrm>
            <a:off x="7381192" y="4592668"/>
            <a:ext cx="657231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2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color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C51690F-06DB-5D6B-05C7-B7E6916DB111}"/>
              </a:ext>
            </a:extLst>
          </p:cNvPr>
          <p:cNvSpPr txBox="1"/>
          <p:nvPr/>
        </p:nvSpPr>
        <p:spPr>
          <a:xfrm>
            <a:off x="6952963" y="2753319"/>
            <a:ext cx="1548437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2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size and shape</a:t>
            </a:r>
          </a:p>
        </p:txBody>
      </p:sp>
    </p:spTree>
    <p:extLst>
      <p:ext uri="{BB962C8B-B14F-4D97-AF65-F5344CB8AC3E}">
        <p14:creationId xmlns:p14="http://schemas.microsoft.com/office/powerpoint/2010/main" val="303457761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A8FFCA-930E-8F8A-0F4F-25C5483BD8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Attention versus importance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4C38B8-CC0B-1F5B-1F4B-7E606FC9AE3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 dirty="0"/>
              <a:t>Visual emphasis tells the audience where to look. </a:t>
            </a:r>
          </a:p>
          <a:p>
            <a:pPr lvl="0"/>
            <a:r>
              <a:rPr lang="en-GB" dirty="0"/>
              <a:t>The most visually prominent element appears important. </a:t>
            </a:r>
          </a:p>
          <a:p>
            <a:pPr lvl="0"/>
            <a:r>
              <a:rPr lang="en-GB" dirty="0"/>
              <a:t>Emphasis should reflect the analytical question. </a:t>
            </a:r>
          </a:p>
          <a:p>
            <a:pPr lvl="0"/>
            <a:r>
              <a:rPr lang="en-GB" dirty="0"/>
              <a:t>Unnecessary emphasis can distort interpretation.</a:t>
            </a:r>
          </a:p>
        </p:txBody>
      </p:sp>
    </p:spTree>
    <p:extLst>
      <p:ext uri="{BB962C8B-B14F-4D97-AF65-F5344CB8AC3E}">
        <p14:creationId xmlns:p14="http://schemas.microsoft.com/office/powerpoint/2010/main" val="110335632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E021B0-9CFD-DE2F-5BE9-BA71BA1496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954BBF-3036-449B-6323-6BF00943D2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Accuracy in visualizations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7773E5E-62F1-500E-E33B-C79C068C63A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580911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740B74-E24A-6EA8-D091-07F10A3085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Making comparisons easy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F0B480D-02A8-63C0-A375-C74057F753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 dirty="0"/>
              <a:t>Which position accumulated more minutes? </a:t>
            </a:r>
          </a:p>
          <a:p>
            <a:pPr lvl="0"/>
            <a:r>
              <a:rPr lang="en-GB" dirty="0"/>
              <a:t>Approximately how many more minutes?</a:t>
            </a:r>
          </a:p>
          <a:p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F53FD1F-5C27-889D-B140-6FBEA397B4D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2677319"/>
            <a:ext cx="4654378" cy="365760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6D399B2E-24E6-B3F4-C649-841CC786BFB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99424" y="2677319"/>
            <a:ext cx="4582138" cy="3657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4692921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51F1FB-BA10-B3BA-681B-43D9A76B00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Accuracy of visual encodings</a:t>
            </a:r>
            <a:endParaRPr lang="en-US" dirty="0"/>
          </a:p>
        </p:txBody>
      </p:sp>
      <p:pic>
        <p:nvPicPr>
          <p:cNvPr id="4" name="Content Placeholder 7">
            <a:extLst>
              <a:ext uri="{FF2B5EF4-FFF2-40B4-BE49-F238E27FC236}">
                <a16:creationId xmlns:a16="http://schemas.microsoft.com/office/drawing/2014/main" id="{9EA047FD-5B8C-BF2E-A786-CD90A29A583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2306978"/>
            <a:ext cx="10515600" cy="3004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8657665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CC76C2-D4AF-7FDB-3F15-36030F0FA4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A8F4BD-A2C2-44EF-811D-432873A2F7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Accuracy of visual encodings</a:t>
            </a:r>
            <a:endParaRPr lang="en-US" dirty="0"/>
          </a:p>
        </p:txBody>
      </p:sp>
      <p:pic>
        <p:nvPicPr>
          <p:cNvPr id="4" name="Content Placeholder 7">
            <a:extLst>
              <a:ext uri="{FF2B5EF4-FFF2-40B4-BE49-F238E27FC236}">
                <a16:creationId xmlns:a16="http://schemas.microsoft.com/office/drawing/2014/main" id="{8CB5A405-5870-CC1D-4B60-8ED336EF868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2306978"/>
            <a:ext cx="10515600" cy="3004457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0B745FE6-79D2-83BA-A076-9D2E4EECDF0F}"/>
              </a:ext>
            </a:extLst>
          </p:cNvPr>
          <p:cNvSpPr/>
          <p:nvPr/>
        </p:nvSpPr>
        <p:spPr>
          <a:xfrm>
            <a:off x="10124661" y="2306977"/>
            <a:ext cx="1229138" cy="3004458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9434C68-539C-F858-2684-77C9EB341642}"/>
              </a:ext>
            </a:extLst>
          </p:cNvPr>
          <p:cNvSpPr/>
          <p:nvPr/>
        </p:nvSpPr>
        <p:spPr>
          <a:xfrm>
            <a:off x="6500191" y="2306977"/>
            <a:ext cx="1229138" cy="3004458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C3618CB-4F71-42C0-D894-4EB219A54CEA}"/>
              </a:ext>
            </a:extLst>
          </p:cNvPr>
          <p:cNvSpPr/>
          <p:nvPr/>
        </p:nvSpPr>
        <p:spPr>
          <a:xfrm>
            <a:off x="1921565" y="2306977"/>
            <a:ext cx="1229138" cy="3004458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9146C47-CF56-5FCF-2F9C-612D0FF830B5}"/>
              </a:ext>
            </a:extLst>
          </p:cNvPr>
          <p:cNvSpPr/>
          <p:nvPr/>
        </p:nvSpPr>
        <p:spPr>
          <a:xfrm>
            <a:off x="838199" y="2306977"/>
            <a:ext cx="1083365" cy="3004458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404140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1C357F-100D-0FC7-A142-67B4C8C348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7E2E76-D641-C4F6-D14D-8299765C2F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Selecting attributes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BA5C486-0514-F484-9CDA-9FE70ABECA8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564834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079C76-E1F7-D191-D6D8-C6D40E8454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Selecting attributes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B5B882-B8A6-490C-5D7B-E645ED07DB3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Which visual properties would appropriately represent:</a:t>
            </a:r>
          </a:p>
          <a:p>
            <a:pPr lvl="1"/>
            <a:r>
              <a:rPr lang="en-GB" dirty="0"/>
              <a:t>Position </a:t>
            </a:r>
          </a:p>
          <a:p>
            <a:pPr lvl="1"/>
            <a:r>
              <a:rPr lang="en-GB" dirty="0"/>
              <a:t>Minutes played </a:t>
            </a:r>
          </a:p>
          <a:p>
            <a:pPr lvl="1"/>
            <a:r>
              <a:rPr lang="en-GB" dirty="0"/>
              <a:t>Team </a:t>
            </a:r>
          </a:p>
          <a:p>
            <a:pPr lvl="1"/>
            <a:r>
              <a:rPr lang="en-GB" dirty="0"/>
              <a:t>Average sprint speed</a:t>
            </a:r>
          </a:p>
          <a:p>
            <a:endParaRPr lang="en-US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FC468708-A9C8-B7AB-65E1-9F2F378A81E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72336811"/>
              </p:ext>
            </p:extLst>
          </p:nvPr>
        </p:nvGraphicFramePr>
        <p:xfrm>
          <a:off x="2590799" y="4392175"/>
          <a:ext cx="7010401" cy="146304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323833">
                  <a:extLst>
                    <a:ext uri="{9D8B030D-6E8A-4147-A177-3AD203B41FA5}">
                      <a16:colId xmlns:a16="http://schemas.microsoft.com/office/drawing/2014/main" val="608328273"/>
                    </a:ext>
                  </a:extLst>
                </a:gridCol>
                <a:gridCol w="4686568">
                  <a:extLst>
                    <a:ext uri="{9D8B030D-6E8A-4147-A177-3AD203B41FA5}">
                      <a16:colId xmlns:a16="http://schemas.microsoft.com/office/drawing/2014/main" val="1120427308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Data type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Appropriate visual properties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390006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dirty="0"/>
                        <a:t>Numerical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dirty="0"/>
                        <a:t>Length, size, </a:t>
                      </a:r>
                      <a:r>
                        <a:rPr lang="en-GB" dirty="0" err="1"/>
                        <a:t>color</a:t>
                      </a:r>
                      <a:r>
                        <a:rPr lang="en-GB" dirty="0"/>
                        <a:t> intensity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9945625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dirty="0"/>
                        <a:t>Nominal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dirty="0" err="1"/>
                        <a:t>Color</a:t>
                      </a:r>
                      <a:r>
                        <a:rPr lang="en-GB" dirty="0"/>
                        <a:t> hue, shape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2805783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dirty="0"/>
                        <a:t>Ordinal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dirty="0" err="1"/>
                        <a:t>Color</a:t>
                      </a:r>
                      <a:r>
                        <a:rPr lang="en-GB" dirty="0"/>
                        <a:t> intensity, size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2814049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078462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6A0C08-6C02-1672-FDAA-4E1C959BDB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DA64DC-63E6-A64C-31D8-D66A8312B3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Identifying visual attributes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B255FAE-4678-CBBA-B153-B85E053CA3F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34344" y="1922798"/>
            <a:ext cx="6719455" cy="4254165"/>
          </a:xfrm>
        </p:spPr>
        <p:txBody>
          <a:bodyPr/>
          <a:lstStyle/>
          <a:p>
            <a:r>
              <a:rPr lang="en-US" dirty="0"/>
              <a:t>What visual attributes are used here?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F3BE06A-0992-1D36-A956-E82AC5C3B5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00377-489B-40EC-B059-26BDDD2E89B9}" type="slidenum">
              <a:rPr lang="en-US" smtClean="0"/>
              <a:pPr/>
              <a:t>23</a:t>
            </a:fld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2AE6D5B-AC01-85BF-188E-2DD0876C1B4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1279758"/>
            <a:ext cx="3235036" cy="5095183"/>
          </a:xfrm>
          <a:prstGeom prst="rect">
            <a:avLst/>
          </a:prstGeom>
        </p:spPr>
      </p:pic>
      <p:pic>
        <p:nvPicPr>
          <p:cNvPr id="7" name="Picture 2" descr="Why Visual Analytics? - Tableau">
            <a:extLst>
              <a:ext uri="{FF2B5EF4-FFF2-40B4-BE49-F238E27FC236}">
                <a16:creationId xmlns:a16="http://schemas.microsoft.com/office/drawing/2014/main" id="{572807D2-7E02-18DC-6F4D-373E7919E6F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21134" y="2602235"/>
            <a:ext cx="6094005" cy="332534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07278567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6C1092-BF0C-5C73-4BBD-CAA64E01A6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9907FC-D3C0-4BE9-FB2E-E4963311E5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Choosing the Right Chart Type 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5F6A9F1-E557-7839-3680-88CD8078747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616379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5CDF8D-2B58-8625-9E7E-B65ADFDB03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Match the chart to your question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03B395-A0BD-042A-8254-AB38C5103C7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You would never do analysis before the question</a:t>
            </a:r>
          </a:p>
          <a:p>
            <a:r>
              <a:rPr lang="en-US" dirty="0"/>
              <a:t>Same ideas apply here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A73654A-4B16-C0CE-367F-30419CF390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00377-489B-40EC-B059-26BDDD2E89B9}" type="slidenum">
              <a:rPr lang="en-US" smtClean="0"/>
              <a:pPr/>
              <a:t>25</a:t>
            </a:fld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503843A-D9F3-A48C-EF45-0AE4A60A2AC7}"/>
              </a:ext>
            </a:extLst>
          </p:cNvPr>
          <p:cNvSpPr/>
          <p:nvPr/>
        </p:nvSpPr>
        <p:spPr>
          <a:xfrm>
            <a:off x="1718200" y="4148716"/>
            <a:ext cx="1828800" cy="805070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000" dirty="0"/>
              <a:t>Research Question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5D6CAE1-ADA5-D5D9-7EA6-9751FFCD4B41}"/>
              </a:ext>
            </a:extLst>
          </p:cNvPr>
          <p:cNvSpPr/>
          <p:nvPr/>
        </p:nvSpPr>
        <p:spPr>
          <a:xfrm>
            <a:off x="4918600" y="4154677"/>
            <a:ext cx="1828800" cy="805070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000" dirty="0"/>
              <a:t>Visualization Type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082905B-3114-E5B5-6CA1-B051AB2462D2}"/>
              </a:ext>
            </a:extLst>
          </p:cNvPr>
          <p:cNvSpPr/>
          <p:nvPr/>
        </p:nvSpPr>
        <p:spPr>
          <a:xfrm>
            <a:off x="7946280" y="4148716"/>
            <a:ext cx="1828800" cy="805070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000" dirty="0"/>
              <a:t>Visual Encoding Methods</a:t>
            </a:r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35AC83D8-A04A-3FD4-E550-65562FEF1BE4}"/>
              </a:ext>
            </a:extLst>
          </p:cNvPr>
          <p:cNvSpPr/>
          <p:nvPr/>
        </p:nvSpPr>
        <p:spPr>
          <a:xfrm>
            <a:off x="3810000" y="4348480"/>
            <a:ext cx="822960" cy="39624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Arrow: Right 8">
            <a:extLst>
              <a:ext uri="{FF2B5EF4-FFF2-40B4-BE49-F238E27FC236}">
                <a16:creationId xmlns:a16="http://schemas.microsoft.com/office/drawing/2014/main" id="{2C579A41-46D9-BCCB-302F-98DB9F02AD7C}"/>
              </a:ext>
            </a:extLst>
          </p:cNvPr>
          <p:cNvSpPr/>
          <p:nvPr/>
        </p:nvSpPr>
        <p:spPr>
          <a:xfrm>
            <a:off x="6935360" y="4368800"/>
            <a:ext cx="822960" cy="39624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649681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E57BA0-78E2-3F36-B68F-77FFEAAD4A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Comparisons (rank)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D4F734-6154-A9C8-A362-34EB9DF03C1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Bar charts: Simple stat comparisons (points per game by player)</a:t>
            </a:r>
          </a:p>
          <a:p>
            <a:r>
              <a:rPr lang="en-US" dirty="0"/>
              <a:t>Grouped/stacked bars: Multi-category comparisons (shooting % by zone)</a:t>
            </a:r>
          </a:p>
          <a:p>
            <a:r>
              <a:rPr lang="en-US" dirty="0"/>
              <a:t>Dot plots: Clean alternative to bars, especially for rankings</a:t>
            </a:r>
          </a:p>
          <a:p>
            <a:r>
              <a:rPr lang="en-US" dirty="0"/>
              <a:t>Radar/spider charts: Multi-dimensional player comparisons (use cautiously!)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2910D20-7BB4-8BCC-314D-CF805A8463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00377-489B-40EC-B059-26BDDD2E89B9}" type="slidenum">
              <a:rPr lang="en-US" smtClean="0"/>
              <a:pPr/>
              <a:t>26</a:t>
            </a:fld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AD81678-C0F1-63E8-65AF-98C56EAB86E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76161" y="5033803"/>
            <a:ext cx="1200318" cy="114316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D60DA242-D6F9-4C30-13D7-8348F4760F5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23454" y="4988083"/>
            <a:ext cx="1162212" cy="1105054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5EB175A5-9673-0A59-A229-9DF3A738048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98153" y="4959504"/>
            <a:ext cx="1143160" cy="11336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5478373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5F1593-F2E7-A0A0-4235-5DCA483B93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Distribution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BC7D4B5-3BEA-A604-109D-2E41CFA3190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Histograms: Player height distribution, shot distance distribution</a:t>
            </a:r>
          </a:p>
          <a:p>
            <a:r>
              <a:rPr lang="en-US" dirty="0"/>
              <a:t>Density plots: Smoothed shooting ranges</a:t>
            </a:r>
          </a:p>
          <a:p>
            <a:r>
              <a:rPr lang="en-US" dirty="0"/>
              <a:t>Box plots: Comparing stat distributions across positions or teams</a:t>
            </a:r>
          </a:p>
          <a:p>
            <a:r>
              <a:rPr lang="en-US" dirty="0"/>
              <a:t>Violin plots: Showing full distribution shape (sprint speeds by position)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F748B8C-B129-4165-BA11-6AF432CA74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00377-489B-40EC-B059-26BDDD2E89B9}" type="slidenum">
              <a:rPr lang="en-US" smtClean="0"/>
              <a:pPr/>
              <a:t>27</a:t>
            </a:fld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3DBAAD0-EAB3-75AD-D9CF-FA8A4201EAD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7477"/>
          <a:stretch>
            <a:fillRect/>
          </a:stretch>
        </p:blipFill>
        <p:spPr>
          <a:xfrm>
            <a:off x="3591348" y="4732191"/>
            <a:ext cx="1190791" cy="1147763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2604EB65-D7BB-8ECF-7D60-829A955DF30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23551" y="4922196"/>
            <a:ext cx="1152686" cy="11050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9313958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13BC37-5B5E-79EE-8A29-38BC58CF75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Relationships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3DF0359-11C9-47B0-F490-B0B74F7AB7F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Scatter plots: Exploring correlations (height vs. rebounding)</a:t>
            </a:r>
          </a:p>
          <a:p>
            <a:r>
              <a:rPr lang="en-US" dirty="0"/>
              <a:t>Correlation matrices: Multiple pairwise correlation</a:t>
            </a:r>
          </a:p>
          <a:p>
            <a:r>
              <a:rPr lang="en-US" dirty="0" err="1"/>
              <a:t>Hexbin</a:t>
            </a:r>
            <a:r>
              <a:rPr lang="en-US" dirty="0"/>
              <a:t> plots: scatter plots with aggregation (shot charts)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9314446-E47F-0111-7142-2A51636E37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00377-489B-40EC-B059-26BDDD2E89B9}" type="slidenum">
              <a:rPr lang="en-US" smtClean="0"/>
              <a:pPr/>
              <a:t>28</a:t>
            </a:fld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916F363-37A5-B7AB-C478-A7D8C244EF9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95879" y="4823622"/>
            <a:ext cx="1086002" cy="1114581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55CA5EA7-974A-D1DA-43C5-B2F7166BC79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1097" y="4814096"/>
            <a:ext cx="1152686" cy="11241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0850711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1BD59E-A5C2-40A2-C9F7-71E7A43142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Part-to-whole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3A25C8-6278-66C0-8EAC-58A49D918EC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Stacked bars: Composition of team offense (3PT vs. 2PT vs. FT)</a:t>
            </a:r>
          </a:p>
          <a:p>
            <a:r>
              <a:rPr lang="en-US" dirty="0"/>
              <a:t>Tree maps: Allocating playing time or usage</a:t>
            </a:r>
          </a:p>
          <a:p>
            <a:r>
              <a:rPr lang="en-US" dirty="0"/>
              <a:t>Pie charts: use cautiously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F174C96-0ECF-F7B9-773A-D409FC351F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00377-489B-40EC-B059-26BDDD2E89B9}" type="slidenum">
              <a:rPr lang="en-US" smtClean="0"/>
              <a:pPr/>
              <a:t>29</a:t>
            </a:fld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93999F2-3185-6899-67FA-BC71144ED44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05073" y="4324366"/>
            <a:ext cx="1162212" cy="1105054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F7368AA-0850-42AA-F1C0-3EE8BB3CA88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8762" y="4267208"/>
            <a:ext cx="1190791" cy="11622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634346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2080A0-119A-029C-E094-BDC0A58233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Time series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DD91642-91F6-BA8F-B509-CEBCDF5AD95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Line charts: Performance over season, in-game momentum</a:t>
            </a:r>
          </a:p>
          <a:p>
            <a:r>
              <a:rPr lang="en-US" dirty="0"/>
              <a:t>Area charts: Cumulative stats over time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ABB9AAD-2CD6-09AE-9FF8-BD548FEC78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00377-489B-40EC-B059-26BDDD2E89B9}" type="slidenum">
              <a:rPr lang="en-US" smtClean="0"/>
              <a:pPr/>
              <a:t>30</a:t>
            </a:fld>
            <a:endParaRPr lang="en-US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D1BF2DCB-CE0F-C097-09B5-DEE49F006A2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82294" y="4590750"/>
            <a:ext cx="2416458" cy="1310128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DD78A14F-66FC-9220-D2E9-295543ED9EA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71503" y="4692649"/>
            <a:ext cx="2416458" cy="12082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4590974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1D2F4B-C143-AA1B-2824-EC8B168807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Spatial/Location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E6DC2B6-AA5B-2DF6-88F0-12D21D9C969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Heat maps: Player positioning, shot locations</a:t>
            </a:r>
          </a:p>
          <a:p>
            <a:r>
              <a:rPr lang="en-US" dirty="0"/>
              <a:t>Contour plots: Density of activity on field/court</a:t>
            </a:r>
          </a:p>
          <a:p>
            <a:r>
              <a:rPr lang="en-US" dirty="0"/>
              <a:t>Field/court overlays: Context matters in sports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4B8106C-0BCD-3CCE-0C04-6738F08453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00377-489B-40EC-B059-26BDDD2E89B9}" type="slidenum">
              <a:rPr lang="en-US" smtClean="0"/>
              <a:pPr/>
              <a:t>31</a:t>
            </a:fld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D288282-CC0B-EA10-4AD3-B3C3A2051F4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33056" y="4170865"/>
            <a:ext cx="2000529" cy="2095792"/>
          </a:xfrm>
          <a:prstGeom prst="rect">
            <a:avLst/>
          </a:prstGeom>
        </p:spPr>
      </p:pic>
      <p:pic>
        <p:nvPicPr>
          <p:cNvPr id="6146" name="Picture 2" descr="Solved: Searching for visualization Soccer heatmap - Microsoft Fabric  Community">
            <a:extLst>
              <a:ext uri="{FF2B5EF4-FFF2-40B4-BE49-F238E27FC236}">
                <a16:creationId xmlns:a16="http://schemas.microsoft.com/office/drawing/2014/main" id="{D1E82D65-4E46-FAFD-C075-2E4DB03DADE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91944" y="4451204"/>
            <a:ext cx="2667000" cy="1714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148" name="Picture 4" descr="10 Shocking Stats from the Seahawks' Thrilling NFC Championship Victory">
            <a:extLst>
              <a:ext uri="{FF2B5EF4-FFF2-40B4-BE49-F238E27FC236}">
                <a16:creationId xmlns:a16="http://schemas.microsoft.com/office/drawing/2014/main" id="{D09B586E-4E31-DF7B-EA62-E0EFE797601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65320" y="4377770"/>
            <a:ext cx="2766060" cy="18440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36012495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C11479-4465-E501-306F-6DE88AC412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Bad choices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1AAC521-CE38-4A1D-9175-A63CF81329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2B421D9-8E71-DC15-61CB-D81A16C98A8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25770" y="1463539"/>
            <a:ext cx="2692288" cy="2247652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6B2D9648-23E3-1761-DBB6-2C273BF309B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80849" y="1441937"/>
            <a:ext cx="3491783" cy="2433376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3334F3AA-C8D6-4C78-EF7B-B4BB0741B44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62478" y="4039435"/>
            <a:ext cx="3510154" cy="236926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23B7E74D-9ACB-909D-FE77-20B13180FD0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19369" y="3875313"/>
            <a:ext cx="3383231" cy="25333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3500408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692</TotalTime>
  <Words>1236</Words>
  <Application>Microsoft Office PowerPoint</Application>
  <PresentationFormat>Widescreen</PresentationFormat>
  <Paragraphs>475</Paragraphs>
  <Slides>32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32</vt:i4>
      </vt:variant>
    </vt:vector>
  </HeadingPairs>
  <TitlesOfParts>
    <vt:vector size="37" baseType="lpstr">
      <vt:lpstr>Aptos</vt:lpstr>
      <vt:lpstr>Aptos Display</vt:lpstr>
      <vt:lpstr>Arial</vt:lpstr>
      <vt:lpstr>Helvetica</vt:lpstr>
      <vt:lpstr>Office Theme</vt:lpstr>
      <vt:lpstr>Data Visualization</vt:lpstr>
      <vt:lpstr>Why visualization matters in sports analytics </vt:lpstr>
      <vt:lpstr>Why visualization matters in sports analytics </vt:lpstr>
      <vt:lpstr>Who played the most minutes?</vt:lpstr>
      <vt:lpstr>Gradient to represent magnitude</vt:lpstr>
      <vt:lpstr>Order to organize values</vt:lpstr>
      <vt:lpstr>Visual representation of values</vt:lpstr>
      <vt:lpstr>Why visualization matters in sports analytics </vt:lpstr>
      <vt:lpstr>Who played &gt;1500 minutes last season?</vt:lpstr>
      <vt:lpstr>Color, order, graphs</vt:lpstr>
      <vt:lpstr>Why visualization matters</vt:lpstr>
      <vt:lpstr>Directing attention</vt:lpstr>
      <vt:lpstr>Visual encoding</vt:lpstr>
      <vt:lpstr>Pre-attentive attributes </vt:lpstr>
      <vt:lpstr>Pre-attentive attributes </vt:lpstr>
      <vt:lpstr>Attention versus importance</vt:lpstr>
      <vt:lpstr>Accuracy in visualizations</vt:lpstr>
      <vt:lpstr>Making comparisons easy</vt:lpstr>
      <vt:lpstr>Accuracy of visual encodings</vt:lpstr>
      <vt:lpstr>Accuracy of visual encodings</vt:lpstr>
      <vt:lpstr>Selecting attributes</vt:lpstr>
      <vt:lpstr>Selecting attributes</vt:lpstr>
      <vt:lpstr>Identifying visual attributes</vt:lpstr>
      <vt:lpstr>Choosing the Right Chart Type </vt:lpstr>
      <vt:lpstr>Match the chart to your question</vt:lpstr>
      <vt:lpstr>Comparisons (rank)</vt:lpstr>
      <vt:lpstr>Distribution</vt:lpstr>
      <vt:lpstr>Relationships</vt:lpstr>
      <vt:lpstr>Part-to-whole</vt:lpstr>
      <vt:lpstr>Time series</vt:lpstr>
      <vt:lpstr>Spatial/Location data</vt:lpstr>
      <vt:lpstr>Bad choices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Onishi, Saryu</dc:creator>
  <cp:lastModifiedBy>Onishi, Saryu</cp:lastModifiedBy>
  <cp:revision>25</cp:revision>
  <dcterms:created xsi:type="dcterms:W3CDTF">2026-08-17T13:48:23Z</dcterms:created>
  <dcterms:modified xsi:type="dcterms:W3CDTF">2026-09-22T17:32:07Z</dcterms:modified>
</cp:coreProperties>
</file>