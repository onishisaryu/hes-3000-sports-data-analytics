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77" r:id="rId4"/>
    <p:sldId id="260" r:id="rId5"/>
    <p:sldId id="259" r:id="rId6"/>
    <p:sldId id="278" r:id="rId7"/>
    <p:sldId id="261" r:id="rId8"/>
    <p:sldId id="262" r:id="rId9"/>
    <p:sldId id="267" r:id="rId10"/>
    <p:sldId id="279" r:id="rId11"/>
    <p:sldId id="280" r:id="rId12"/>
    <p:sldId id="282" r:id="rId13"/>
    <p:sldId id="283" r:id="rId14"/>
    <p:sldId id="290" r:id="rId15"/>
    <p:sldId id="284" r:id="rId16"/>
    <p:sldId id="285" r:id="rId17"/>
    <p:sldId id="286" r:id="rId18"/>
    <p:sldId id="287" r:id="rId19"/>
    <p:sldId id="269" r:id="rId20"/>
    <p:sldId id="289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EEC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1254"/>
    <p:restoredTop sz="94658"/>
  </p:normalViewPr>
  <p:slideViewPr>
    <p:cSldViewPr snapToGrid="0">
      <p:cViewPr varScale="1">
        <p:scale>
          <a:sx n="96" d="100"/>
          <a:sy n="96" d="100"/>
        </p:scale>
        <p:origin x="184" y="6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F8D184-EE02-F047-9A48-A3F90DE615D5}" type="datetimeFigureOut">
              <a:rPr lang="en-US" smtClean="0"/>
              <a:t>8/22/26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7CF1AF-8744-D944-BF40-14B423B0A6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26438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Conclusions can be altered by emotion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Data driven insights cuts through this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Large samples: Humans can't reliably remember and process large amounts of information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Precise measurement: 96 mph not "pretty fast“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Complex interactions: Too many variables for intuition (e.g., lineup combinations)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Removing bias: Objective measurement vs. subjective impressions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60C251-82B7-4253-A774-38D73C276BCE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88735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rgbClr val="EEEC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B78C46-97B5-06A6-FCEF-1A1F72D6F7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1122363"/>
            <a:ext cx="10515600" cy="2387600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ED3A6AC-3ACF-3E00-27EA-CDC21E0D0C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199" y="3602038"/>
            <a:ext cx="10515599" cy="165576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2D74E7-FB50-6453-FBC4-4FF2059E7D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61C71-767E-B84C-BFB3-7B18856D27F4}" type="datetimeFigureOut">
              <a:rPr lang="en-US" smtClean="0"/>
              <a:t>8/22/26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DEC381-9EAC-65CA-E2D4-E9753C63FC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E85E49-459E-7153-8DCA-00BFA12DD9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CEFD2-39D4-B845-AAFB-DDCB278016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35308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244AAB-14A7-7BCA-3837-4F570792F3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3DB745-E89B-BA25-707B-D3F4B483C3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A29DF3-7131-344B-BE29-3470A6E4AD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61C71-767E-B84C-BFB3-7B18856D27F4}" type="datetimeFigureOut">
              <a:rPr lang="en-US" smtClean="0"/>
              <a:t>8/22/26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19C8A0-82E3-D43A-B433-03BD0E8A13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EC3461-EED3-DA55-3A67-403D2D4F60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CEFD2-39D4-B845-AAFB-DDCB278016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08945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9DEF06-5D11-579D-7B22-EDF525B072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3F87EE-121E-981D-94B0-7DD81A7608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509C7F-68AA-F83B-0CC2-643C7451C3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61C71-767E-B84C-BFB3-7B18856D27F4}" type="datetimeFigureOut">
              <a:rPr lang="en-US" smtClean="0"/>
              <a:t>8/22/26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BFDF23-F262-A143-3D94-2E03C5E805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1BCC86-AF79-D336-B20B-1E34423D79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CEFD2-39D4-B845-AAFB-DDCB278016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66718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FE23E6-4994-ADDB-53EF-33DAC62048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11385E-3FBA-00D8-820B-01457DE095D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400107-976D-189B-D5B8-F3309A029F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421288-007A-64D1-177C-EC493AB351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61C71-767E-B84C-BFB3-7B18856D27F4}" type="datetimeFigureOut">
              <a:rPr lang="en-US" smtClean="0"/>
              <a:t>8/22/26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8BDC7E-1ED0-A64E-B741-2BD6DCC161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110B18-79B2-CA9A-54E7-8E270EA6CA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CEFD2-39D4-B845-AAFB-DDCB278016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61133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0DBA0C-D408-C89D-A5A4-EE49BFEFE6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C15059-44C0-5CAB-DD62-331CAEACC2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8210DA-60F4-E204-139F-488557C3AC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9C6D382-4432-4F54-9B2C-18EA1D35025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00DFF74-3B74-1F87-68E5-7C634623838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63D8442-0A79-241F-AD71-72BAE0874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61C71-767E-B84C-BFB3-7B18856D27F4}" type="datetimeFigureOut">
              <a:rPr lang="en-US" smtClean="0"/>
              <a:t>8/22/26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1BD044B-09B6-F478-2B54-1F15413514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5518B98-54E9-0248-CDC2-25F053D11E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CEFD2-39D4-B845-AAFB-DDCB278016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72984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D98611-FF70-0739-AB12-3A0D4D6885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D6340F8-BFC2-15DC-7097-138E7417B9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61C71-767E-B84C-BFB3-7B18856D27F4}" type="datetimeFigureOut">
              <a:rPr lang="en-US" smtClean="0"/>
              <a:t>8/22/26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987FFF2-E8C5-FBDB-D95A-12987FF75C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02AAC0-7C6B-411F-8B27-54187B0878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CEFD2-39D4-B845-AAFB-DDCB278016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8407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3C24E59-43B1-B0E4-7BB5-449B4E6202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61C71-767E-B84C-BFB3-7B18856D27F4}" type="datetimeFigureOut">
              <a:rPr lang="en-US" smtClean="0"/>
              <a:t>8/22/26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09DB2FC-A612-3F77-71B9-89F90F23EC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7EA5C7-5EFB-A99C-8686-6EB2C8FCFA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CEFD2-39D4-B845-AAFB-DDCB278016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51730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96815E-33A2-36BD-141A-20E6987BFB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4EB718-3207-923E-BB2A-3A6A8B97CF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D8BF2C-0530-D542-CEA1-66680DF2CF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1246F5-476E-F02E-8D52-52095AD764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61C71-767E-B84C-BFB3-7B18856D27F4}" type="datetimeFigureOut">
              <a:rPr lang="en-US" smtClean="0"/>
              <a:t>8/22/26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CCBF9F-FEBA-A17C-67EF-779BF69825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3091D5-A6B8-C1A9-58A4-732980B56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CEFD2-39D4-B845-AAFB-DDCB278016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73461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BF53C8-34AC-4EC3-9EF2-7646130C5F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D95296B-D06F-EC13-3B4B-D0804D56AD1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AC15AD4-D0C4-4B3F-01A9-C4EB16F15D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85DC77-4EA3-68F2-C1B1-3B61F9D48A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61C71-767E-B84C-BFB3-7B18856D27F4}" type="datetimeFigureOut">
              <a:rPr lang="en-US" smtClean="0"/>
              <a:t>8/22/26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28E95B-5416-3489-B8F3-9294F9EAD5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231B0D-A406-6B24-1768-98B5238CCD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CEFD2-39D4-B845-AAFB-DDCB278016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44629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E7492E-5097-4D4A-B212-B9541B6D39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D2B2462-C37E-9A16-D9B2-03FE3550DC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65E3E0-2253-2E4B-C45D-9DD87541EC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61C71-767E-B84C-BFB3-7B18856D27F4}" type="datetimeFigureOut">
              <a:rPr lang="en-US" smtClean="0"/>
              <a:t>8/22/26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E8D6ED-F324-5EA4-EBC1-32D8A8A804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926162-D880-6B17-AFBB-2555E585E2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CEFD2-39D4-B845-AAFB-DDCB278016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58128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27EF97A-4C14-3B96-B570-63221FE4263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1FCF3E-3E21-12E5-F093-CD2EBC62CD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EEB50E-0940-C414-1C80-43A1C4CBF3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61C71-767E-B84C-BFB3-7B18856D27F4}" type="datetimeFigureOut">
              <a:rPr lang="en-US" smtClean="0"/>
              <a:t>8/22/26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434562-A92B-8D3C-4A79-2489A99752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47ADD3-AF08-2898-D3BF-4768616B38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CEFD2-39D4-B845-AAFB-DDCB278016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15101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C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5C7E355-A6C3-ABB7-5FB3-07B7718D69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126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BE3536-C253-FE9A-75A8-6625508B80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441938"/>
            <a:ext cx="10515600" cy="47350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27838E-35A9-F96A-354A-AE0FF3F8534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BF61C71-767E-B84C-BFB3-7B18856D27F4}" type="datetimeFigureOut">
              <a:rPr lang="en-US" smtClean="0"/>
              <a:t>8/22/26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6CBC5A-10F1-AA57-C7EC-9CDC8A53A5A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BCCEFD2-39D4-B845-AAFB-DDCB27801685}" type="slidenum">
              <a:rPr lang="en-US" smtClean="0"/>
              <a:t>‹#›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2EEC1130-6658-3CAB-3F94-0FA0AAB844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2072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jpe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C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D9270D-14C3-FED3-E83A-AD4E36EC7A8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GB" b="1" dirty="0"/>
              <a:t>Evolution of Sports Analytics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E03FB66-255C-9B0B-8F15-F85AACB34CE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Saryu Onishi</a:t>
            </a:r>
          </a:p>
          <a:p>
            <a:r>
              <a:rPr lang="en-GB" dirty="0"/>
              <a:t>HES 3000-002, Sport Performance Analytics</a:t>
            </a:r>
          </a:p>
        </p:txBody>
      </p:sp>
    </p:spTree>
    <p:extLst>
      <p:ext uri="{BB962C8B-B14F-4D97-AF65-F5344CB8AC3E}">
        <p14:creationId xmlns:p14="http://schemas.microsoft.com/office/powerpoint/2010/main" val="32942738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F48926-31C0-7A3A-D4C5-8469F2C46D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b="1" dirty="0"/>
              <a:t>The Paradigm Shift: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D69C09-0664-9687-E3AA-352CB4AB28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 b="1" dirty="0"/>
              <a:t>The Traditional Mindset:</a:t>
            </a:r>
            <a:r>
              <a:rPr lang="en-GB" dirty="0"/>
              <a:t> </a:t>
            </a:r>
          </a:p>
          <a:p>
            <a:pPr lvl="1"/>
            <a:r>
              <a:rPr lang="en-GB" dirty="0"/>
              <a:t>Heavy reliance on expert intuition, scouting lore, and decades of visual confirmation.</a:t>
            </a:r>
          </a:p>
          <a:p>
            <a:pPr lvl="1"/>
            <a:r>
              <a:rPr lang="en-GB" dirty="0"/>
              <a:t>The "gut feeling" approach to training and game planning.</a:t>
            </a:r>
          </a:p>
          <a:p>
            <a:pPr lvl="1"/>
            <a:endParaRPr lang="en-GB" dirty="0"/>
          </a:p>
          <a:p>
            <a:pPr lvl="0"/>
            <a:r>
              <a:rPr lang="en-GB" b="1" dirty="0"/>
              <a:t>Analytics Approach:</a:t>
            </a:r>
            <a:r>
              <a:rPr lang="en-GB" dirty="0"/>
              <a:t> </a:t>
            </a:r>
          </a:p>
          <a:p>
            <a:pPr lvl="1"/>
            <a:r>
              <a:rPr lang="en-GB" dirty="0"/>
              <a:t>Uncovering hidden patterns that human cognitive biases naturally filter out or miss.</a:t>
            </a:r>
          </a:p>
          <a:p>
            <a:pPr lvl="1"/>
            <a:r>
              <a:rPr lang="en-GB" dirty="0"/>
              <a:t>Data doesn't replace the eye test; it </a:t>
            </a:r>
            <a:r>
              <a:rPr lang="en-GB" b="1" dirty="0"/>
              <a:t>calibrates and enhances</a:t>
            </a:r>
            <a:r>
              <a:rPr lang="en-GB" dirty="0"/>
              <a:t> it.</a:t>
            </a:r>
          </a:p>
          <a:p>
            <a:pPr lvl="1"/>
            <a:endParaRPr lang="en-GB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71986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017520-F007-23A8-4025-D55EBA0DDF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leverage data for decision making?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9693FA-EFA3-DDA9-BDC2-0891FBDCFD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Bias: </a:t>
            </a:r>
          </a:p>
          <a:p>
            <a:pPr lvl="1"/>
            <a:r>
              <a:rPr lang="en-US" dirty="0"/>
              <a:t>Memory &amp; perception are unreliable</a:t>
            </a:r>
          </a:p>
          <a:p>
            <a:r>
              <a:rPr lang="en-US" dirty="0"/>
              <a:t>Scale: </a:t>
            </a:r>
          </a:p>
          <a:p>
            <a:pPr lvl="1"/>
            <a:r>
              <a:rPr lang="en-US" dirty="0"/>
              <a:t>Humans can’t track large samples</a:t>
            </a:r>
          </a:p>
          <a:p>
            <a:r>
              <a:rPr lang="en-US" dirty="0"/>
              <a:t>Precision: </a:t>
            </a:r>
          </a:p>
          <a:p>
            <a:pPr lvl="1"/>
            <a:r>
              <a:rPr lang="en-US" dirty="0"/>
              <a:t>96 mph ≠ “pretty fast”</a:t>
            </a:r>
          </a:p>
          <a:p>
            <a:r>
              <a:rPr lang="en-US" dirty="0"/>
              <a:t>Complexity: </a:t>
            </a:r>
          </a:p>
          <a:p>
            <a:pPr lvl="1"/>
            <a:r>
              <a:rPr lang="en-US" dirty="0"/>
              <a:t>Too many interacting variables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6213B7-F9CB-5BD0-B31D-C9BBE956BF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00377-489B-40EC-B059-26BDDD2E89B9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02601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717817-E14F-F219-0B1A-8AA0F42427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Beginning of Sports Analytics</a:t>
            </a:r>
          </a:p>
        </p:txBody>
      </p:sp>
      <p:pic>
        <p:nvPicPr>
          <p:cNvPr id="8" name="Content Placeholder 7" descr="A Pictorial Retrospective of Baseball: Part 7, the 1850s | by John Thorn |  Our Game">
            <a:extLst>
              <a:ext uri="{FF2B5EF4-FFF2-40B4-BE49-F238E27FC236}">
                <a16:creationId xmlns:a16="http://schemas.microsoft.com/office/drawing/2014/main" id="{32C5E694-64AF-9A67-E53C-F99A17748D4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49792" y="1441450"/>
            <a:ext cx="7292416" cy="4735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31638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76371F-8EB9-B1CB-16FD-4D5028B780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Analog Measurement (and Analysis)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4C5CA5-808E-4EF7-ED49-60145BDC8C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Mid-1800s–1960s</a:t>
            </a:r>
          </a:p>
          <a:p>
            <a:pPr lvl="0"/>
            <a:r>
              <a:rPr lang="en-GB" dirty="0"/>
              <a:t>Sports began turning performance into </a:t>
            </a:r>
            <a:r>
              <a:rPr lang="en-GB" b="1" dirty="0"/>
              <a:t>recorded information</a:t>
            </a:r>
            <a:r>
              <a:rPr lang="en-GB" dirty="0"/>
              <a:t>.</a:t>
            </a:r>
          </a:p>
          <a:p>
            <a:r>
              <a:rPr lang="en-GB" dirty="0"/>
              <a:t>Scouting remained largely observational and qualitative.</a:t>
            </a:r>
          </a:p>
          <a:p>
            <a:r>
              <a:rPr lang="en-GB" dirty="0"/>
              <a:t>Data collection was manual, limited, and primarily descriptive.</a:t>
            </a:r>
          </a:p>
          <a:p>
            <a:endParaRPr lang="en-GB" dirty="0"/>
          </a:p>
          <a:p>
            <a:r>
              <a:rPr lang="en-GB" dirty="0"/>
              <a:t>Limitations:</a:t>
            </a:r>
            <a:endParaRPr lang="en-GB" b="1" dirty="0"/>
          </a:p>
          <a:p>
            <a:pPr lvl="1"/>
            <a:r>
              <a:rPr lang="en-GB" dirty="0"/>
              <a:t>Box scores capture the </a:t>
            </a:r>
            <a:r>
              <a:rPr lang="en-GB" i="1" dirty="0"/>
              <a:t>what</a:t>
            </a:r>
            <a:r>
              <a:rPr lang="en-GB" dirty="0"/>
              <a:t> but entirely miss the how and why (i.e., context) – think back to opening exercise</a:t>
            </a:r>
          </a:p>
          <a:p>
            <a:pPr lvl="1"/>
            <a:r>
              <a:rPr lang="en-GB" dirty="0"/>
              <a:t>High susceptibility to </a:t>
            </a:r>
            <a:r>
              <a:rPr lang="en-GB" b="1" dirty="0"/>
              <a:t>confirmation bias</a:t>
            </a:r>
            <a:r>
              <a:rPr lang="en-GB" dirty="0"/>
              <a:t> and </a:t>
            </a:r>
            <a:r>
              <a:rPr lang="en-GB" b="1" dirty="0"/>
              <a:t>overgeneralization </a:t>
            </a:r>
            <a:r>
              <a:rPr lang="en-GB" dirty="0"/>
              <a:t>from small samples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54775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1BA872-1C09-453E-236A-561D67EA14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688FF1-7CDE-166F-3590-5898493A9B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Analog Measurement (and Analysis)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540031-5A7B-2D7F-48CC-7F9B1B7D29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50364" y="1441938"/>
            <a:ext cx="7303435" cy="4735025"/>
          </a:xfrm>
        </p:spPr>
        <p:txBody>
          <a:bodyPr/>
          <a:lstStyle/>
          <a:p>
            <a:pPr lvl="0"/>
            <a:r>
              <a:rPr lang="en-GB" b="1" dirty="0"/>
              <a:t>Henry Chadwick:</a:t>
            </a:r>
            <a:r>
              <a:rPr lang="en-GB" dirty="0"/>
              <a:t> </a:t>
            </a:r>
          </a:p>
          <a:p>
            <a:pPr lvl="1"/>
            <a:r>
              <a:rPr lang="en-GB" dirty="0"/>
              <a:t>Helped standardize the baseball box score.</a:t>
            </a:r>
          </a:p>
          <a:p>
            <a:pPr lvl="0"/>
            <a:r>
              <a:rPr lang="en-GB" b="1" dirty="0"/>
              <a:t>Harvey Pollack:</a:t>
            </a:r>
            <a:r>
              <a:rPr lang="en-GB" dirty="0"/>
              <a:t> </a:t>
            </a:r>
          </a:p>
          <a:p>
            <a:pPr lvl="1"/>
            <a:r>
              <a:rPr lang="en-GB" dirty="0"/>
              <a:t>Expanded the statistics recorded in basketball.</a:t>
            </a:r>
          </a:p>
          <a:p>
            <a:pPr lvl="0"/>
            <a:r>
              <a:rPr lang="en-GB" b="1" dirty="0"/>
              <a:t>Charles Reep:</a:t>
            </a:r>
            <a:r>
              <a:rPr lang="en-GB" dirty="0"/>
              <a:t> </a:t>
            </a:r>
          </a:p>
          <a:p>
            <a:pPr lvl="1"/>
            <a:r>
              <a:rPr lang="en-GB" dirty="0"/>
              <a:t>Manually coded actions and passing sequences in soccer.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33DE1791-5A7A-3E84-C81F-BF341568E4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5936" y="1327509"/>
            <a:ext cx="3355675" cy="21014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 Thorold Charles Reep (1904-2002) - Source:  The Sun  ">
            <a:extLst>
              <a:ext uri="{FF2B5EF4-FFF2-40B4-BE49-F238E27FC236}">
                <a16:creationId xmlns:a16="http://schemas.microsoft.com/office/drawing/2014/main" id="{E9C21E3D-C39A-3922-2FD4-40A9DCC163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3809450"/>
            <a:ext cx="2641270" cy="21376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03250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5CB5B-9908-17FF-3740-3BAF2BD4F1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Challenging Conventional Wisdom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07E0BA-A49C-C3A2-CEE4-15DFC387EE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1960s–1990s</a:t>
            </a:r>
          </a:p>
          <a:p>
            <a:pPr lvl="0"/>
            <a:r>
              <a:rPr lang="en-GB" dirty="0"/>
              <a:t>Analysts began questioning accepted beliefs and whether traditional statistics actually measured performance.</a:t>
            </a:r>
          </a:p>
          <a:p>
            <a:pPr lvl="0"/>
            <a:r>
              <a:rPr lang="en-GB" dirty="0"/>
              <a:t>Greater emphasis on efficiency/rates, context, and contribution.</a:t>
            </a:r>
          </a:p>
          <a:p>
            <a:pPr lvl="0"/>
            <a:r>
              <a:rPr lang="en-GB" dirty="0"/>
              <a:t>Analysis began moving from recording outcomes to evaluating decisions.</a:t>
            </a:r>
          </a:p>
          <a:p>
            <a:pPr lvl="0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375330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633170-FE53-47E0-1A1B-F4BD49D718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Challenging Conventional Wisdom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B1B5E1-E192-CCEA-4081-97831FB653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95640" y="1441938"/>
            <a:ext cx="6358160" cy="4735025"/>
          </a:xfrm>
        </p:spPr>
        <p:txBody>
          <a:bodyPr>
            <a:normAutofit/>
          </a:bodyPr>
          <a:lstStyle/>
          <a:p>
            <a:pPr lvl="0"/>
            <a:r>
              <a:rPr lang="en-GB" b="1" dirty="0"/>
              <a:t>Earnshaw Cook:</a:t>
            </a:r>
            <a:r>
              <a:rPr lang="en-GB" dirty="0"/>
              <a:t> </a:t>
            </a:r>
          </a:p>
          <a:p>
            <a:pPr lvl="1"/>
            <a:r>
              <a:rPr lang="en-GB" dirty="0"/>
              <a:t>Applied mathematical analysis to baseball strategy.</a:t>
            </a:r>
          </a:p>
          <a:p>
            <a:pPr lvl="0"/>
            <a:r>
              <a:rPr lang="en-GB" b="1" dirty="0"/>
              <a:t>Bill James:</a:t>
            </a:r>
            <a:r>
              <a:rPr lang="en-GB" dirty="0"/>
              <a:t> </a:t>
            </a:r>
          </a:p>
          <a:p>
            <a:pPr lvl="1"/>
            <a:r>
              <a:rPr lang="en-GB" dirty="0"/>
              <a:t>Challenged traditional measures and popularized sabermetrics.</a:t>
            </a:r>
          </a:p>
          <a:p>
            <a:pPr lvl="0"/>
            <a:r>
              <a:rPr lang="en-GB" b="1" dirty="0"/>
              <a:t>Pete Palmer:</a:t>
            </a:r>
            <a:r>
              <a:rPr lang="en-GB" dirty="0"/>
              <a:t> </a:t>
            </a:r>
          </a:p>
          <a:p>
            <a:pPr lvl="1"/>
            <a:r>
              <a:rPr lang="en-GB" dirty="0"/>
              <a:t>Developed methods for estimating runs and player value.</a:t>
            </a:r>
          </a:p>
        </p:txBody>
      </p:sp>
      <p:pic>
        <p:nvPicPr>
          <p:cNvPr id="5" name="Picture 4" descr="Earnshaw Cook and Scoring Index (DX)">
            <a:extLst>
              <a:ext uri="{FF2B5EF4-FFF2-40B4-BE49-F238E27FC236}">
                <a16:creationId xmlns:a16="http://schemas.microsoft.com/office/drawing/2014/main" id="{B0B3AED0-6A3A-C63C-507C-C8A57F8058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018" y="1592264"/>
            <a:ext cx="2233144" cy="2762800"/>
          </a:xfrm>
          <a:prstGeom prst="rect">
            <a:avLst/>
          </a:prstGeom>
        </p:spPr>
      </p:pic>
      <p:pic>
        <p:nvPicPr>
          <p:cNvPr id="6" name="Picture 4" descr="Does anyone know where I can find the self-published versions of Bill James'  Baseball Abstracts? : r/baseball">
            <a:extLst>
              <a:ext uri="{FF2B5EF4-FFF2-40B4-BE49-F238E27FC236}">
                <a16:creationId xmlns:a16="http://schemas.microsoft.com/office/drawing/2014/main" id="{DD97FEEA-6145-CCF2-9255-75A09DCA64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8441" b="99414" l="10000" r="90000">
                        <a14:foregroundMark x1="43750" y1="29308" x2="60938" y2="34115"/>
                        <a14:foregroundMark x1="60938" y1="34115" x2="42031" y2="35170"/>
                        <a14:foregroundMark x1="42031" y1="35170" x2="51563" y2="31184"/>
                        <a14:foregroundMark x1="53750" y1="36460" x2="37969" y2="41970"/>
                        <a14:foregroundMark x1="37969" y1="41970" x2="52500" y2="47714"/>
                        <a14:foregroundMark x1="52500" y1="47714" x2="51875" y2="36460"/>
                        <a14:foregroundMark x1="51875" y1="36460" x2="51875" y2="36460"/>
                        <a14:foregroundMark x1="48750" y1="40445" x2="47656" y2="40211"/>
                        <a14:foregroundMark x1="87188" y1="68347" x2="86875" y2="93552"/>
                        <a14:foregroundMark x1="86875" y1="93552" x2="44063" y2="99414"/>
                        <a14:foregroundMark x1="44063" y1="99414" x2="22656" y2="99414"/>
                        <a14:foregroundMark x1="22656" y1="99414" x2="15313" y2="85580"/>
                        <a14:foregroundMark x1="15313" y1="85580" x2="16563" y2="80539"/>
                        <a14:foregroundMark x1="78438" y1="16295" x2="64375" y2="6682"/>
                        <a14:foregroundMark x1="64375" y1="6682" x2="18438" y2="8441"/>
                        <a14:foregroundMark x1="18438" y1="8441" x2="17969" y2="15592"/>
                        <a14:foregroundMark x1="55156" y1="21336" x2="50156" y2="21336"/>
                        <a14:foregroundMark x1="44531" y1="19578" x2="41719" y2="19578"/>
                        <a14:foregroundMark x1="16094" y1="36811" x2="15156" y2="44549"/>
                        <a14:foregroundMark x1="18750" y1="23564" x2="15781" y2="28253"/>
                        <a14:foregroundMark x1="17500" y1="22978" x2="15781" y2="2532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47236" y="2872209"/>
            <a:ext cx="2479331" cy="33047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559531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3F9328-63E7-F283-786D-C9341805DA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was analytics still limited?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83BF0E-3CFE-EF87-2E46-64D11545A3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71202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BA4C53-AD77-2792-466D-699BAAA24E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Digital Measurement Revolution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128E0A-C1A5-D848-8E81-8BD954081A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1990s–2000s</a:t>
            </a:r>
          </a:p>
          <a:p>
            <a:pPr lvl="0"/>
            <a:r>
              <a:rPr lang="en-GB" dirty="0"/>
              <a:t>New technologies dramatically expanded the volume, frequency, and detail of sports data.</a:t>
            </a:r>
          </a:p>
          <a:p>
            <a:pPr lvl="0"/>
            <a:r>
              <a:rPr lang="en-GB" dirty="0"/>
              <a:t>Optical tracking, video analysis, and spatial tracking captured performance beyond traditional statistics.</a:t>
            </a:r>
          </a:p>
          <a:p>
            <a:pPr lvl="0"/>
            <a:r>
              <a:rPr lang="en-GB" dirty="0"/>
              <a:t>Movement and physiological responses could increasingly be measured continuously.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41524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3E8E19-A6D5-6B24-B0EC-2B231B8FC4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Digital Measurement Revolution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90B0D5-4DF0-AE3E-D37A-1491538542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 b="1" dirty="0"/>
              <a:t>Polar:</a:t>
            </a:r>
            <a:r>
              <a:rPr lang="en-GB" dirty="0"/>
              <a:t> Portable heart-rate monitoring.</a:t>
            </a:r>
          </a:p>
          <a:p>
            <a:pPr lvl="0"/>
            <a:r>
              <a:rPr lang="en-GB" b="1" dirty="0"/>
              <a:t>Garmin</a:t>
            </a:r>
            <a:r>
              <a:rPr lang="en-GB" dirty="0"/>
              <a:t>: Wearable GPS live distance and pace numbers.</a:t>
            </a:r>
          </a:p>
          <a:p>
            <a:pPr lvl="0"/>
            <a:r>
              <a:rPr lang="en-GB" b="1" dirty="0"/>
              <a:t>Catapult:</a:t>
            </a:r>
            <a:r>
              <a:rPr lang="en-GB" dirty="0"/>
              <a:t> Spatial tracking systems for team sports</a:t>
            </a:r>
          </a:p>
          <a:p>
            <a:pPr lvl="0"/>
            <a:r>
              <a:rPr lang="en-GB" b="1" dirty="0" err="1"/>
              <a:t>TrackMan</a:t>
            </a:r>
            <a:r>
              <a:rPr lang="en-GB" b="1" dirty="0"/>
              <a:t>:</a:t>
            </a:r>
            <a:r>
              <a:rPr lang="en-GB" dirty="0"/>
              <a:t> Radar-based ball and object tracking.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EBF902B-F490-11EE-8B5D-FCDA5DF193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5258" y="4058325"/>
            <a:ext cx="2118638" cy="2118638"/>
          </a:xfrm>
          <a:prstGeom prst="rect">
            <a:avLst/>
          </a:prstGeom>
        </p:spPr>
      </p:pic>
      <p:pic>
        <p:nvPicPr>
          <p:cNvPr id="5" name="Picture 4" descr="Trackman Portable B1: Key Metrics for Pitching and Hitting">
            <a:extLst>
              <a:ext uri="{FF2B5EF4-FFF2-40B4-BE49-F238E27FC236}">
                <a16:creationId xmlns:a16="http://schemas.microsoft.com/office/drawing/2014/main" id="{19C35A81-6C0E-D42D-551B-CA4639D058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1116" y="3894203"/>
            <a:ext cx="2490284" cy="2282760"/>
          </a:xfrm>
          <a:prstGeom prst="rect">
            <a:avLst/>
          </a:prstGeom>
        </p:spPr>
      </p:pic>
      <p:pic>
        <p:nvPicPr>
          <p:cNvPr id="7" name="Picture 6" descr="Baker Mayfield">
            <a:extLst>
              <a:ext uri="{FF2B5EF4-FFF2-40B4-BE49-F238E27FC236}">
                <a16:creationId xmlns:a16="http://schemas.microsoft.com/office/drawing/2014/main" id="{0C6CD73A-7F33-D96E-587F-73D927ED5A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18393" y="3641828"/>
            <a:ext cx="2951631" cy="29516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79370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6AE974-749D-26A9-250D-CC3618460C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Modern Performance Analytics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D6BDDC-AD2D-8A97-0565-9D24C034CB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2000s–Present</a:t>
            </a:r>
          </a:p>
          <a:p>
            <a:r>
              <a:rPr lang="en-US" dirty="0"/>
              <a:t>Analytics moved from isolated outsiders toward front offices, coaching staffs, and dedicated departments.</a:t>
            </a:r>
          </a:p>
          <a:p>
            <a:r>
              <a:rPr lang="en-US" dirty="0"/>
              <a:t>Analytics became integrated across scouting, strategy, athlete performance, and sports medicine.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42304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1410D3-14BB-B940-8BC0-66A58C0521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19A810-D007-8517-B35C-3A4AC4C38C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Modern Performance Analytics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B533AC-F25C-0956-D57D-B340BB3EF4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41938"/>
            <a:ext cx="7127680" cy="4735025"/>
          </a:xfrm>
        </p:spPr>
        <p:txBody>
          <a:bodyPr/>
          <a:lstStyle/>
          <a:p>
            <a:r>
              <a:rPr lang="en-US" dirty="0"/>
              <a:t>Billy Beane and Paul </a:t>
            </a:r>
            <a:r>
              <a:rPr lang="en-US" dirty="0" err="1"/>
              <a:t>DePodesta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Applied sabermetric ideas to player acquisition and roster construction in Oakland.</a:t>
            </a:r>
          </a:p>
          <a:p>
            <a:r>
              <a:rPr lang="en-US" dirty="0"/>
              <a:t>Daryl Morey</a:t>
            </a:r>
          </a:p>
          <a:p>
            <a:pPr lvl="1"/>
            <a:r>
              <a:rPr lang="en-US" dirty="0"/>
              <a:t>Built an analytically driven basketball operation around efficiency, probabilities, and decision-making.</a:t>
            </a:r>
          </a:p>
          <a:p>
            <a:r>
              <a:rPr lang="en-US" dirty="0"/>
              <a:t>Kirk Goldsberry</a:t>
            </a:r>
          </a:p>
          <a:p>
            <a:pPr lvl="1"/>
            <a:r>
              <a:rPr lang="en-US" dirty="0"/>
              <a:t>Used spatial data and visualization to transform how basketball shooting and defensive performance were understood.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093E34C-A376-9B12-C1DC-B60415A5D1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44890" y="1277816"/>
            <a:ext cx="2708910" cy="180594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D33F4BB-25A9-3CFC-4C85-AD95B28AC0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37794" y="3429000"/>
            <a:ext cx="2659292" cy="1533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70446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D56510-D7BD-CC61-4901-BAEC0CC0DE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Evolution of Sports Analytics through </a:t>
            </a:r>
            <a:r>
              <a:rPr lang="en-GB" i="1" dirty="0"/>
              <a:t>Moneyball</a:t>
            </a:r>
            <a:endParaRPr lang="en-US" i="1" dirty="0"/>
          </a:p>
        </p:txBody>
      </p:sp>
      <p:pic>
        <p:nvPicPr>
          <p:cNvPr id="4" name="Picture 2" descr="Cover of the book Moneyball, showing a closeup of a baseball player’s hand holding a baseball.">
            <a:extLst>
              <a:ext uri="{FF2B5EF4-FFF2-40B4-BE49-F238E27FC236}">
                <a16:creationId xmlns:a16="http://schemas.microsoft.com/office/drawing/2014/main" id="{106E10FE-1511-C90F-992E-AC7681816158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19055" y="1441450"/>
            <a:ext cx="3153889" cy="47355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904433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70F101-58B5-2887-7322-07CAB849B0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Before Billie Bean and the A’s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7A2720-1AD0-3F1A-F0C4-E415A6D2B4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41938"/>
            <a:ext cx="8500599" cy="4735025"/>
          </a:xfrm>
        </p:spPr>
        <p:txBody>
          <a:bodyPr/>
          <a:lstStyle/>
          <a:p>
            <a:pPr marL="0" indent="0">
              <a:buNone/>
            </a:pPr>
            <a:r>
              <a:rPr lang="en-GB" dirty="0"/>
              <a:t>1. Challenging the Traditional Measures</a:t>
            </a:r>
          </a:p>
          <a:p>
            <a:pPr lvl="1"/>
            <a:r>
              <a:rPr lang="en-GB" dirty="0"/>
              <a:t>Batting average (BA) was traditionally treated as a central measure of offensive performance.</a:t>
            </a:r>
          </a:p>
          <a:p>
            <a:pPr lvl="1"/>
            <a:r>
              <a:rPr lang="en-GB" dirty="0"/>
              <a:t>It captured hits but ignored other ways a player could reach base.</a:t>
            </a:r>
          </a:p>
          <a:p>
            <a:pPr lvl="1"/>
            <a:r>
              <a:rPr lang="en-GB" b="1" dirty="0"/>
              <a:t>Bill James </a:t>
            </a:r>
            <a:r>
              <a:rPr lang="en-GB" dirty="0"/>
              <a:t>questioned whether conventional statistics accurately represented player value.</a:t>
            </a:r>
          </a:p>
          <a:p>
            <a:pPr lvl="1"/>
            <a:r>
              <a:rPr lang="en-GB" dirty="0"/>
              <a:t>Measures such as on-base percentage (OBP) helped shift attention toward the production of runs rather than traditional reputation.</a:t>
            </a:r>
          </a:p>
        </p:txBody>
      </p:sp>
      <p:pic>
        <p:nvPicPr>
          <p:cNvPr id="6" name="Picture 4" descr="Does anyone know where I can find the self-published versions of Bill James'  Baseball Abstracts? : r/baseball">
            <a:extLst>
              <a:ext uri="{FF2B5EF4-FFF2-40B4-BE49-F238E27FC236}">
                <a16:creationId xmlns:a16="http://schemas.microsoft.com/office/drawing/2014/main" id="{8F7DFD8C-6EF6-FB4A-F17C-759E3AE1D1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8441" b="99414" l="10000" r="90000">
                        <a14:foregroundMark x1="43750" y1="29308" x2="60938" y2="34115"/>
                        <a14:foregroundMark x1="60938" y1="34115" x2="42031" y2="35170"/>
                        <a14:foregroundMark x1="42031" y1="35170" x2="51563" y2="31184"/>
                        <a14:foregroundMark x1="53750" y1="36460" x2="37969" y2="41970"/>
                        <a14:foregroundMark x1="37969" y1="41970" x2="52500" y2="47714"/>
                        <a14:foregroundMark x1="52500" y1="47714" x2="51875" y2="36460"/>
                        <a14:foregroundMark x1="51875" y1="36460" x2="51875" y2="36460"/>
                        <a14:foregroundMark x1="48750" y1="40445" x2="47656" y2="40211"/>
                        <a14:foregroundMark x1="87188" y1="68347" x2="86875" y2="93552"/>
                        <a14:foregroundMark x1="86875" y1="93552" x2="44063" y2="99414"/>
                        <a14:foregroundMark x1="44063" y1="99414" x2="22656" y2="99414"/>
                        <a14:foregroundMark x1="22656" y1="99414" x2="15313" y2="85580"/>
                        <a14:foregroundMark x1="15313" y1="85580" x2="16563" y2="80539"/>
                        <a14:foregroundMark x1="78438" y1="16295" x2="64375" y2="6682"/>
                        <a14:foregroundMark x1="64375" y1="6682" x2="18438" y2="8441"/>
                        <a14:foregroundMark x1="18438" y1="8441" x2="17969" y2="15592"/>
                        <a14:foregroundMark x1="55156" y1="21336" x2="50156" y2="21336"/>
                        <a14:foregroundMark x1="44531" y1="19578" x2="41719" y2="19578"/>
                        <a14:foregroundMark x1="16094" y1="36811" x2="15156" y2="44549"/>
                        <a14:foregroundMark x1="18750" y1="23564" x2="15781" y2="28253"/>
                        <a14:foregroundMark x1="17500" y1="22978" x2="15781" y2="2532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38799" y="1579503"/>
            <a:ext cx="2479331" cy="33047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755889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37D865-B6D7-3A90-B68D-C88152CDAA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Analysis to Implementation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77F0F1-7029-BD0B-2AA7-17A7652F07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2. The Oakland A's Put the Philosophy to Work</a:t>
            </a:r>
          </a:p>
          <a:p>
            <a:pPr lvl="1"/>
            <a:r>
              <a:rPr lang="en-GB" dirty="0"/>
              <a:t>The A's needed to build a competitive roster under substantial payroll constraints.</a:t>
            </a:r>
          </a:p>
          <a:p>
            <a:pPr lvl="1"/>
            <a:r>
              <a:rPr lang="en-GB" dirty="0"/>
              <a:t>Billy Beane, Paul </a:t>
            </a:r>
            <a:r>
              <a:rPr lang="en-GB" dirty="0" err="1"/>
              <a:t>DePodesta</a:t>
            </a:r>
            <a:r>
              <a:rPr lang="en-GB" dirty="0"/>
              <a:t>, and the Oakland front office looked for skills that contributed to winning but were undervalued by the player market.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0B9CBD4-E4F1-F1E7-BAA8-9080334EED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6905" y="3429000"/>
            <a:ext cx="4835571" cy="3185788"/>
          </a:xfrm>
          <a:prstGeom prst="rect">
            <a:avLst/>
          </a:prstGeom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B3C2358C-4221-58C9-F9ED-24A4BD7E7876}"/>
              </a:ext>
            </a:extLst>
          </p:cNvPr>
          <p:cNvSpPr txBox="1">
            <a:spLocks/>
          </p:cNvSpPr>
          <p:nvPr/>
        </p:nvSpPr>
        <p:spPr>
          <a:xfrm>
            <a:off x="838200" y="3429001"/>
            <a:ext cx="5948067" cy="27479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GB" dirty="0"/>
              <a:t>Analytical evidence began influencing scouting, valuation, and player-acquisition decisions.</a:t>
            </a:r>
          </a:p>
          <a:p>
            <a:pPr lvl="2"/>
            <a:r>
              <a:rPr lang="en-GB" dirty="0"/>
              <a:t>OBP became one prominent example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04586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5E01A7-C3E1-6543-4E7E-E15F70DA46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What Happens When Everyone Catches Up?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E8CD8A-6972-1F76-3E7A-E229716EA4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3. From Competitive Advantage to Widespread Adoption</a:t>
            </a:r>
          </a:p>
          <a:p>
            <a:pPr lvl="1"/>
            <a:r>
              <a:rPr lang="en-GB" dirty="0"/>
              <a:t>A’s demonstrated analytical methods could reveal market inefficiencies.</a:t>
            </a:r>
          </a:p>
          <a:p>
            <a:pPr lvl="1"/>
            <a:r>
              <a:rPr lang="en-GB" dirty="0"/>
              <a:t>Other organizations expanded their own analytics capabilities.</a:t>
            </a:r>
          </a:p>
          <a:p>
            <a:pPr lvl="1"/>
            <a:r>
              <a:rPr lang="en-GB" dirty="0"/>
              <a:t>Previously undervalued skills became more widely recognized </a:t>
            </a:r>
          </a:p>
          <a:p>
            <a:pPr lvl="2"/>
            <a:r>
              <a:rPr lang="en-GB" dirty="0"/>
              <a:t>(and the skill became appropriately priced)</a:t>
            </a:r>
          </a:p>
          <a:p>
            <a:pPr lvl="2"/>
            <a:r>
              <a:rPr lang="en-GB" dirty="0"/>
              <a:t>Competitive advantage of OBP </a:t>
            </a:r>
            <a:r>
              <a:rPr lang="en-GB" dirty="0" err="1"/>
              <a:t>dissapeared</a:t>
            </a:r>
            <a:r>
              <a:rPr lang="en-GB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3654081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257C94-CFAC-93C2-E14C-57DCA17713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Beyond </a:t>
            </a:r>
            <a:r>
              <a:rPr lang="en-GB" i="1" dirty="0"/>
              <a:t>Moneyball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B0EFA5-8792-08F9-5012-C91773A406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4. The Analytical Frontier Keeps Moving</a:t>
            </a:r>
          </a:p>
          <a:p>
            <a:pPr lvl="1"/>
            <a:r>
              <a:rPr lang="en-GB" dirty="0"/>
              <a:t>Modern analytics extends far beyond box scores and any single “advanced” statistic. </a:t>
            </a:r>
          </a:p>
          <a:p>
            <a:pPr lvl="1"/>
            <a:r>
              <a:rPr lang="en-GB" dirty="0"/>
              <a:t>Competitive advantage increasingly depends on asking better questions, </a:t>
            </a:r>
            <a:r>
              <a:rPr lang="en-GB" b="1" dirty="0"/>
              <a:t>domain expertise</a:t>
            </a:r>
            <a:r>
              <a:rPr lang="en-GB" dirty="0"/>
              <a:t>,  and effective communication / implementation.</a:t>
            </a:r>
          </a:p>
          <a:p>
            <a:endParaRPr lang="en-US" dirty="0"/>
          </a:p>
        </p:txBody>
      </p:sp>
      <p:pic>
        <p:nvPicPr>
          <p:cNvPr id="4" name="Picture 3" descr="MIT Sloan Sports Analytics Conference | Sports Analytics, Business, &amp;  Technology.">
            <a:extLst>
              <a:ext uri="{FF2B5EF4-FFF2-40B4-BE49-F238E27FC236}">
                <a16:creationId xmlns:a16="http://schemas.microsoft.com/office/drawing/2014/main" id="{A36BBB0E-7A71-D048-657E-B25E6E2531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82379" y="3547468"/>
            <a:ext cx="4227241" cy="3091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160910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C94A9F-BEA2-0A56-8DED-BA72C91B7E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The Modern Sports Analytics Landscape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47F0A6-90B9-9DE0-F578-AF97E31438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en-GB" dirty="0"/>
              <a:t>Performance analytics is now specialized into several “domains”:</a:t>
            </a:r>
          </a:p>
          <a:p>
            <a:pPr lvl="0"/>
            <a:r>
              <a:rPr lang="en-GB" dirty="0"/>
              <a:t>Scouting &amp; Talent Evaluation</a:t>
            </a:r>
          </a:p>
          <a:p>
            <a:pPr lvl="1"/>
            <a:r>
              <a:rPr lang="en-GB" dirty="0"/>
              <a:t>Objective profiling, tracking performance trajectories, and building predictive models for athlete recruitment.</a:t>
            </a:r>
          </a:p>
          <a:p>
            <a:pPr lvl="0"/>
            <a:r>
              <a:rPr lang="en-GB" dirty="0"/>
              <a:t>Athlete Tracking (Physical &amp; Spatial)</a:t>
            </a:r>
          </a:p>
          <a:p>
            <a:pPr lvl="1"/>
            <a:r>
              <a:rPr lang="en-GB" dirty="0"/>
              <a:t>Monitoring training and physical condition to manage training stress and prevent injuries.</a:t>
            </a:r>
          </a:p>
          <a:p>
            <a:pPr lvl="0"/>
            <a:r>
              <a:rPr lang="en-GB" dirty="0"/>
              <a:t>Strategy &amp; Tactical Optimization</a:t>
            </a:r>
          </a:p>
          <a:p>
            <a:pPr lvl="1"/>
            <a:r>
              <a:rPr lang="en-GB" dirty="0"/>
              <a:t>Leveraging situational probabilities and spatial efficiency to guide play-calling, defensive alignment, and game plans.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471761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1FEEC4-C9B3-9411-ECE9-4DDC03A38F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Summary &amp; Looking Ahead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4C1DF2-DDB5-6555-97CB-D1B4F72419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 b="1" dirty="0"/>
              <a:t>Key Takeaway:</a:t>
            </a:r>
            <a:r>
              <a:rPr lang="en-GB" dirty="0"/>
              <a:t> Sport analytics continually evolves as new questions, data, technologies, and methods reshape how performance is understood and decisions are made.</a:t>
            </a:r>
          </a:p>
          <a:p>
            <a:pPr lvl="0"/>
            <a:r>
              <a:rPr lang="en-GB" b="1" dirty="0"/>
              <a:t>Next Class: </a:t>
            </a:r>
            <a:r>
              <a:rPr lang="en-GB" dirty="0"/>
              <a:t>Overview of the three domains (Tracking, Scouting, Strategy) and how data changes sports decisions.</a:t>
            </a:r>
          </a:p>
          <a:p>
            <a:pPr lvl="0"/>
            <a:r>
              <a:rPr lang="en-GB" b="1" dirty="0"/>
              <a:t>For Next Time:</a:t>
            </a:r>
            <a:r>
              <a:rPr lang="en-GB" dirty="0"/>
              <a:t> Think about a specific sports decision you've seen coaches make that you'd like to </a:t>
            </a:r>
            <a:r>
              <a:rPr lang="en-GB" dirty="0" err="1"/>
              <a:t>analyze</a:t>
            </a:r>
            <a:r>
              <a:rPr lang="en-GB" dirty="0"/>
              <a:t> with data.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35608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576</TotalTime>
  <Words>936</Words>
  <Application>Microsoft Macintosh PowerPoint</Application>
  <PresentationFormat>Widescreen</PresentationFormat>
  <Paragraphs>115</Paragraphs>
  <Slides>20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Aptos</vt:lpstr>
      <vt:lpstr>Aptos Display</vt:lpstr>
      <vt:lpstr>Arial</vt:lpstr>
      <vt:lpstr>Office Theme</vt:lpstr>
      <vt:lpstr>Evolution of Sports Analytics</vt:lpstr>
      <vt:lpstr>The Paradigm Shift:</vt:lpstr>
      <vt:lpstr>Why leverage data for decision making?</vt:lpstr>
      <vt:lpstr>Beginning of Sports Analytics</vt:lpstr>
      <vt:lpstr>Analog Measurement (and Analysis)</vt:lpstr>
      <vt:lpstr>Analog Measurement (and Analysis)</vt:lpstr>
      <vt:lpstr>Challenging Conventional Wisdom</vt:lpstr>
      <vt:lpstr>Challenging Conventional Wisdom</vt:lpstr>
      <vt:lpstr>Why was analytics still limited?</vt:lpstr>
      <vt:lpstr>Digital Measurement Revolution</vt:lpstr>
      <vt:lpstr>Digital Measurement Revolution</vt:lpstr>
      <vt:lpstr>Modern Performance Analytics</vt:lpstr>
      <vt:lpstr>Modern Performance Analytics</vt:lpstr>
      <vt:lpstr>Evolution of Sports Analytics through Moneyball</vt:lpstr>
      <vt:lpstr>Before Billie Bean and the A’s</vt:lpstr>
      <vt:lpstr>Analysis to Implementation</vt:lpstr>
      <vt:lpstr>What Happens When Everyone Catches Up?</vt:lpstr>
      <vt:lpstr>Beyond Moneyball</vt:lpstr>
      <vt:lpstr>The Modern Sports Analytics Landscape</vt:lpstr>
      <vt:lpstr>Summary &amp; Looking Ahead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Onishi, Saryu</dc:creator>
  <cp:lastModifiedBy>Onishi, Saryu</cp:lastModifiedBy>
  <cp:revision>9</cp:revision>
  <dcterms:created xsi:type="dcterms:W3CDTF">2026-08-17T13:48:23Z</dcterms:created>
  <dcterms:modified xsi:type="dcterms:W3CDTF">2026-08-22T22:50:41Z</dcterms:modified>
</cp:coreProperties>
</file>