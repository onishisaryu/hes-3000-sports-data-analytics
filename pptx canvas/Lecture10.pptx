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316" r:id="rId3"/>
    <p:sldId id="366" r:id="rId4"/>
    <p:sldId id="397" r:id="rId5"/>
    <p:sldId id="398" r:id="rId6"/>
    <p:sldId id="399" r:id="rId7"/>
    <p:sldId id="400" r:id="rId8"/>
    <p:sldId id="401" r:id="rId9"/>
    <p:sldId id="402" r:id="rId10"/>
    <p:sldId id="403" r:id="rId11"/>
    <p:sldId id="416" r:id="rId12"/>
    <p:sldId id="404" r:id="rId13"/>
    <p:sldId id="406" r:id="rId14"/>
    <p:sldId id="415" r:id="rId15"/>
    <p:sldId id="414" r:id="rId16"/>
    <p:sldId id="413" r:id="rId17"/>
    <p:sldId id="407" r:id="rId18"/>
    <p:sldId id="408" r:id="rId19"/>
    <p:sldId id="409" r:id="rId20"/>
    <p:sldId id="410" r:id="rId21"/>
    <p:sldId id="411" r:id="rId22"/>
    <p:sldId id="412" r:id="rId23"/>
    <p:sldId id="417" r:id="rId24"/>
    <p:sldId id="396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C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8BA75F-BB6E-9F18-1648-74F52ADBFB50}" v="317" dt="2026-09-14T21:32:23.5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8157"/>
    <p:restoredTop sz="78493" autoAdjust="0"/>
  </p:normalViewPr>
  <p:slideViewPr>
    <p:cSldViewPr snapToGrid="0">
      <p:cViewPr varScale="1">
        <p:scale>
          <a:sx n="98" d="100"/>
          <a:sy n="98" d="100"/>
        </p:scale>
        <p:origin x="10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27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nishi, Saryu" userId="S::saryu@ou.edu::24ec4854-0e9b-4cd9-95b4-b9d15917116b" providerId="AD" clId="Web-{D68BA75F-BB6E-9F18-1648-74F52ADBFB50}"/>
    <pc:docChg chg="addSld modSld">
      <pc:chgData name="Onishi, Saryu" userId="S::saryu@ou.edu::24ec4854-0e9b-4cd9-95b4-b9d15917116b" providerId="AD" clId="Web-{D68BA75F-BB6E-9F18-1648-74F52ADBFB50}" dt="2026-09-14T21:32:21.071" v="322"/>
      <pc:docMkLst>
        <pc:docMk/>
      </pc:docMkLst>
      <pc:sldChg chg="modSp">
        <pc:chgData name="Onishi, Saryu" userId="S::saryu@ou.edu::24ec4854-0e9b-4cd9-95b4-b9d15917116b" providerId="AD" clId="Web-{D68BA75F-BB6E-9F18-1648-74F52ADBFB50}" dt="2026-09-14T21:23:01.601" v="188" actId="20577"/>
        <pc:sldMkLst>
          <pc:docMk/>
          <pc:sldMk cId="2206692154" sldId="301"/>
        </pc:sldMkLst>
        <pc:spChg chg="mod">
          <ac:chgData name="Onishi, Saryu" userId="S::saryu@ou.edu::24ec4854-0e9b-4cd9-95b4-b9d15917116b" providerId="AD" clId="Web-{D68BA75F-BB6E-9F18-1648-74F52ADBFB50}" dt="2026-09-14T21:23:01.601" v="188" actId="20577"/>
          <ac:spMkLst>
            <pc:docMk/>
            <pc:sldMk cId="2206692154" sldId="301"/>
            <ac:spMk id="3" creationId="{B7781857-C6C4-CF29-7D9F-C7FCD74ECA0D}"/>
          </ac:spMkLst>
        </pc:spChg>
      </pc:sldChg>
      <pc:sldChg chg="modSp">
        <pc:chgData name="Onishi, Saryu" userId="S::saryu@ou.edu::24ec4854-0e9b-4cd9-95b4-b9d15917116b" providerId="AD" clId="Web-{D68BA75F-BB6E-9F18-1648-74F52ADBFB50}" dt="2026-09-14T21:16:29.569" v="91" actId="20577"/>
        <pc:sldMkLst>
          <pc:docMk/>
          <pc:sldMk cId="404022894" sldId="309"/>
        </pc:sldMkLst>
        <pc:spChg chg="mod">
          <ac:chgData name="Onishi, Saryu" userId="S::saryu@ou.edu::24ec4854-0e9b-4cd9-95b4-b9d15917116b" providerId="AD" clId="Web-{D68BA75F-BB6E-9F18-1648-74F52ADBFB50}" dt="2026-09-14T21:16:29.569" v="91" actId="20577"/>
          <ac:spMkLst>
            <pc:docMk/>
            <pc:sldMk cId="404022894" sldId="309"/>
            <ac:spMk id="3" creationId="{51729538-923D-458B-77DC-2E172E5670ED}"/>
          </ac:spMkLst>
        </pc:spChg>
      </pc:sldChg>
      <pc:sldChg chg="modSp">
        <pc:chgData name="Onishi, Saryu" userId="S::saryu@ou.edu::24ec4854-0e9b-4cd9-95b4-b9d15917116b" providerId="AD" clId="Web-{D68BA75F-BB6E-9F18-1648-74F52ADBFB50}" dt="2026-09-14T21:07:36.208" v="9" actId="1076"/>
        <pc:sldMkLst>
          <pc:docMk/>
          <pc:sldMk cId="2375312425" sldId="341"/>
        </pc:sldMkLst>
        <pc:spChg chg="mod">
          <ac:chgData name="Onishi, Saryu" userId="S::saryu@ou.edu::24ec4854-0e9b-4cd9-95b4-b9d15917116b" providerId="AD" clId="Web-{D68BA75F-BB6E-9F18-1648-74F52ADBFB50}" dt="2026-09-14T21:07:32.817" v="8" actId="20577"/>
          <ac:spMkLst>
            <pc:docMk/>
            <pc:sldMk cId="2375312425" sldId="341"/>
            <ac:spMk id="3" creationId="{81DA9FF1-2CFE-687B-73EB-63D88B461873}"/>
          </ac:spMkLst>
        </pc:spChg>
        <pc:spChg chg="mod">
          <ac:chgData name="Onishi, Saryu" userId="S::saryu@ou.edu::24ec4854-0e9b-4cd9-95b4-b9d15917116b" providerId="AD" clId="Web-{D68BA75F-BB6E-9F18-1648-74F52ADBFB50}" dt="2026-09-14T21:07:36.208" v="9" actId="1076"/>
          <ac:spMkLst>
            <pc:docMk/>
            <pc:sldMk cId="2375312425" sldId="341"/>
            <ac:spMk id="5" creationId="{6F87B829-A4B6-1F78-9DA5-137B29194ED2}"/>
          </ac:spMkLst>
        </pc:spChg>
      </pc:sldChg>
      <pc:sldChg chg="modSp new">
        <pc:chgData name="Onishi, Saryu" userId="S::saryu@ou.edu::24ec4854-0e9b-4cd9-95b4-b9d15917116b" providerId="AD" clId="Web-{D68BA75F-BB6E-9F18-1648-74F52ADBFB50}" dt="2026-09-14T21:24:18.789" v="206" actId="20577"/>
        <pc:sldMkLst>
          <pc:docMk/>
          <pc:sldMk cId="2874847518" sldId="354"/>
        </pc:sldMkLst>
        <pc:spChg chg="mod">
          <ac:chgData name="Onishi, Saryu" userId="S::saryu@ou.edu::24ec4854-0e9b-4cd9-95b4-b9d15917116b" providerId="AD" clId="Web-{D68BA75F-BB6E-9F18-1648-74F52ADBFB50}" dt="2026-09-14T21:15:16.819" v="74" actId="20577"/>
          <ac:spMkLst>
            <pc:docMk/>
            <pc:sldMk cId="2874847518" sldId="354"/>
            <ac:spMk id="2" creationId="{B112D2BE-C4C4-4D20-846C-3EF3A9972AED}"/>
          </ac:spMkLst>
        </pc:spChg>
        <pc:spChg chg="mod">
          <ac:chgData name="Onishi, Saryu" userId="S::saryu@ou.edu::24ec4854-0e9b-4cd9-95b4-b9d15917116b" providerId="AD" clId="Web-{D68BA75F-BB6E-9F18-1648-74F52ADBFB50}" dt="2026-09-14T21:24:18.789" v="206" actId="20577"/>
          <ac:spMkLst>
            <pc:docMk/>
            <pc:sldMk cId="2874847518" sldId="354"/>
            <ac:spMk id="3" creationId="{D45FD767-E1AA-9C8B-849F-6E11EB3CB6C0}"/>
          </ac:spMkLst>
        </pc:spChg>
      </pc:sldChg>
      <pc:sldChg chg="modSp new">
        <pc:chgData name="Onishi, Saryu" userId="S::saryu@ou.edu::24ec4854-0e9b-4cd9-95b4-b9d15917116b" providerId="AD" clId="Web-{D68BA75F-BB6E-9F18-1648-74F52ADBFB50}" dt="2026-09-14T21:17:39.194" v="127" actId="20577"/>
        <pc:sldMkLst>
          <pc:docMk/>
          <pc:sldMk cId="809028509" sldId="355"/>
        </pc:sldMkLst>
        <pc:spChg chg="mod">
          <ac:chgData name="Onishi, Saryu" userId="S::saryu@ou.edu::24ec4854-0e9b-4cd9-95b4-b9d15917116b" providerId="AD" clId="Web-{D68BA75F-BB6E-9F18-1648-74F52ADBFB50}" dt="2026-09-14T21:17:39.194" v="127" actId="20577"/>
          <ac:spMkLst>
            <pc:docMk/>
            <pc:sldMk cId="809028509" sldId="355"/>
            <ac:spMk id="2" creationId="{9B3B2596-FD5F-03B2-820D-4B9F36FB3D0A}"/>
          </ac:spMkLst>
        </pc:spChg>
        <pc:spChg chg="mod">
          <ac:chgData name="Onishi, Saryu" userId="S::saryu@ou.edu::24ec4854-0e9b-4cd9-95b4-b9d15917116b" providerId="AD" clId="Web-{D68BA75F-BB6E-9F18-1648-74F52ADBFB50}" dt="2026-09-14T21:17:17.678" v="121" actId="20577"/>
          <ac:spMkLst>
            <pc:docMk/>
            <pc:sldMk cId="809028509" sldId="355"/>
            <ac:spMk id="3" creationId="{FAB2016C-BC61-0A1A-E451-7B3E637EF84A}"/>
          </ac:spMkLst>
        </pc:spChg>
      </pc:sldChg>
      <pc:sldChg chg="modSp new">
        <pc:chgData name="Onishi, Saryu" userId="S::saryu@ou.edu::24ec4854-0e9b-4cd9-95b4-b9d15917116b" providerId="AD" clId="Web-{D68BA75F-BB6E-9F18-1648-74F52ADBFB50}" dt="2026-09-14T21:17:57.460" v="132" actId="20577"/>
        <pc:sldMkLst>
          <pc:docMk/>
          <pc:sldMk cId="4290967881" sldId="356"/>
        </pc:sldMkLst>
        <pc:spChg chg="mod">
          <ac:chgData name="Onishi, Saryu" userId="S::saryu@ou.edu::24ec4854-0e9b-4cd9-95b4-b9d15917116b" providerId="AD" clId="Web-{D68BA75F-BB6E-9F18-1648-74F52ADBFB50}" dt="2026-09-14T21:17:53.944" v="130" actId="20577"/>
          <ac:spMkLst>
            <pc:docMk/>
            <pc:sldMk cId="4290967881" sldId="356"/>
            <ac:spMk id="2" creationId="{E2FA18D7-28B2-133F-662F-90CC8F55869B}"/>
          </ac:spMkLst>
        </pc:spChg>
        <pc:spChg chg="mod">
          <ac:chgData name="Onishi, Saryu" userId="S::saryu@ou.edu::24ec4854-0e9b-4cd9-95b4-b9d15917116b" providerId="AD" clId="Web-{D68BA75F-BB6E-9F18-1648-74F52ADBFB50}" dt="2026-09-14T21:17:57.460" v="132" actId="20577"/>
          <ac:spMkLst>
            <pc:docMk/>
            <pc:sldMk cId="4290967881" sldId="356"/>
            <ac:spMk id="3" creationId="{C603F302-AE7F-8CE3-9FC5-7C9203D4C4E2}"/>
          </ac:spMkLst>
        </pc:spChg>
      </pc:sldChg>
      <pc:sldChg chg="modSp add replId">
        <pc:chgData name="Onishi, Saryu" userId="S::saryu@ou.edu::24ec4854-0e9b-4cd9-95b4-b9d15917116b" providerId="AD" clId="Web-{D68BA75F-BB6E-9F18-1648-74F52ADBFB50}" dt="2026-09-14T21:18:30.835" v="139" actId="20577"/>
        <pc:sldMkLst>
          <pc:docMk/>
          <pc:sldMk cId="1767871761" sldId="357"/>
        </pc:sldMkLst>
        <pc:spChg chg="mod">
          <ac:chgData name="Onishi, Saryu" userId="S::saryu@ou.edu::24ec4854-0e9b-4cd9-95b4-b9d15917116b" providerId="AD" clId="Web-{D68BA75F-BB6E-9F18-1648-74F52ADBFB50}" dt="2026-09-14T21:18:30.835" v="139" actId="20577"/>
          <ac:spMkLst>
            <pc:docMk/>
            <pc:sldMk cId="1767871761" sldId="357"/>
            <ac:spMk id="3" creationId="{F328F1A0-F2E2-C4F6-63D0-F385C2C08D80}"/>
          </ac:spMkLst>
        </pc:spChg>
      </pc:sldChg>
      <pc:sldChg chg="add mod replId modShow">
        <pc:chgData name="Onishi, Saryu" userId="S::saryu@ou.edu::24ec4854-0e9b-4cd9-95b4-b9d15917116b" providerId="AD" clId="Web-{D68BA75F-BB6E-9F18-1648-74F52ADBFB50}" dt="2026-09-14T21:24:20.117" v="207"/>
        <pc:sldMkLst>
          <pc:docMk/>
          <pc:sldMk cId="2995389737" sldId="358"/>
        </pc:sldMkLst>
      </pc:sldChg>
      <pc:sldChg chg="modSp add replId">
        <pc:chgData name="Onishi, Saryu" userId="S::saryu@ou.edu::24ec4854-0e9b-4cd9-95b4-b9d15917116b" providerId="AD" clId="Web-{D68BA75F-BB6E-9F18-1648-74F52ADBFB50}" dt="2026-09-14T21:25:34.258" v="214" actId="20577"/>
        <pc:sldMkLst>
          <pc:docMk/>
          <pc:sldMk cId="1243830769" sldId="359"/>
        </pc:sldMkLst>
        <pc:spChg chg="mod">
          <ac:chgData name="Onishi, Saryu" userId="S::saryu@ou.edu::24ec4854-0e9b-4cd9-95b4-b9d15917116b" providerId="AD" clId="Web-{D68BA75F-BB6E-9F18-1648-74F52ADBFB50}" dt="2026-09-14T21:25:34.258" v="214" actId="20577"/>
          <ac:spMkLst>
            <pc:docMk/>
            <pc:sldMk cId="1243830769" sldId="359"/>
            <ac:spMk id="3" creationId="{451547EC-8C64-0100-020D-0D8510686817}"/>
          </ac:spMkLst>
        </pc:spChg>
      </pc:sldChg>
      <pc:sldChg chg="modSp new">
        <pc:chgData name="Onishi, Saryu" userId="S::saryu@ou.edu::24ec4854-0e9b-4cd9-95b4-b9d15917116b" providerId="AD" clId="Web-{D68BA75F-BB6E-9F18-1648-74F52ADBFB50}" dt="2026-09-14T21:26:53.070" v="229" actId="20577"/>
        <pc:sldMkLst>
          <pc:docMk/>
          <pc:sldMk cId="2381630488" sldId="360"/>
        </pc:sldMkLst>
        <pc:spChg chg="mod">
          <ac:chgData name="Onishi, Saryu" userId="S::saryu@ou.edu::24ec4854-0e9b-4cd9-95b4-b9d15917116b" providerId="AD" clId="Web-{D68BA75F-BB6E-9F18-1648-74F52ADBFB50}" dt="2026-09-14T21:26:53.070" v="229" actId="20577"/>
          <ac:spMkLst>
            <pc:docMk/>
            <pc:sldMk cId="2381630488" sldId="360"/>
            <ac:spMk id="3" creationId="{573F9774-8134-A9A4-DA1E-3A021D0E75A4}"/>
          </ac:spMkLst>
        </pc:spChg>
      </pc:sldChg>
      <pc:sldChg chg="addSp modSp new">
        <pc:chgData name="Onishi, Saryu" userId="S::saryu@ou.edu::24ec4854-0e9b-4cd9-95b4-b9d15917116b" providerId="AD" clId="Web-{D68BA75F-BB6E-9F18-1648-74F52ADBFB50}" dt="2026-09-14T21:28:09.180" v="264"/>
        <pc:sldMkLst>
          <pc:docMk/>
          <pc:sldMk cId="1486169029" sldId="361"/>
        </pc:sldMkLst>
        <pc:spChg chg="mod">
          <ac:chgData name="Onishi, Saryu" userId="S::saryu@ou.edu::24ec4854-0e9b-4cd9-95b4-b9d15917116b" providerId="AD" clId="Web-{D68BA75F-BB6E-9F18-1648-74F52ADBFB50}" dt="2026-09-14T21:27:11.758" v="238" actId="20577"/>
          <ac:spMkLst>
            <pc:docMk/>
            <pc:sldMk cId="1486169029" sldId="361"/>
            <ac:spMk id="2" creationId="{519443A2-C56F-F6DF-D387-0E48376C5816}"/>
          </ac:spMkLst>
        </pc:spChg>
        <pc:spChg chg="mod">
          <ac:chgData name="Onishi, Saryu" userId="S::saryu@ou.edu::24ec4854-0e9b-4cd9-95b4-b9d15917116b" providerId="AD" clId="Web-{D68BA75F-BB6E-9F18-1648-74F52ADBFB50}" dt="2026-09-14T21:27:21.649" v="246" actId="20577"/>
          <ac:spMkLst>
            <pc:docMk/>
            <pc:sldMk cId="1486169029" sldId="361"/>
            <ac:spMk id="3" creationId="{B4660DEF-0C6D-4352-D4C1-3F9EDC657A6D}"/>
          </ac:spMkLst>
        </pc:spChg>
        <pc:spChg chg="add mod">
          <ac:chgData name="Onishi, Saryu" userId="S::saryu@ou.edu::24ec4854-0e9b-4cd9-95b4-b9d15917116b" providerId="AD" clId="Web-{D68BA75F-BB6E-9F18-1648-74F52ADBFB50}" dt="2026-09-14T21:28:09.180" v="264"/>
          <ac:spMkLst>
            <pc:docMk/>
            <pc:sldMk cId="1486169029" sldId="361"/>
            <ac:spMk id="4" creationId="{ADEF0CF4-9F0B-9BCC-D6D4-49A532E4AD93}"/>
          </ac:spMkLst>
        </pc:spChg>
      </pc:sldChg>
      <pc:sldChg chg="addSp modSp new">
        <pc:chgData name="Onishi, Saryu" userId="S::saryu@ou.edu::24ec4854-0e9b-4cd9-95b4-b9d15917116b" providerId="AD" clId="Web-{D68BA75F-BB6E-9F18-1648-74F52ADBFB50}" dt="2026-09-14T21:32:21.071" v="322"/>
        <pc:sldMkLst>
          <pc:docMk/>
          <pc:sldMk cId="2995797760" sldId="362"/>
        </pc:sldMkLst>
        <pc:spChg chg="mod">
          <ac:chgData name="Onishi, Saryu" userId="S::saryu@ou.edu::24ec4854-0e9b-4cd9-95b4-b9d15917116b" providerId="AD" clId="Web-{D68BA75F-BB6E-9F18-1648-74F52ADBFB50}" dt="2026-09-14T21:28:52.883" v="278" actId="20577"/>
          <ac:spMkLst>
            <pc:docMk/>
            <pc:sldMk cId="2995797760" sldId="362"/>
            <ac:spMk id="2" creationId="{79865F0B-0A66-FF8B-3F5C-3BDD7AF304A8}"/>
          </ac:spMkLst>
        </pc:spChg>
        <pc:spChg chg="mod">
          <ac:chgData name="Onishi, Saryu" userId="S::saryu@ou.edu::24ec4854-0e9b-4cd9-95b4-b9d15917116b" providerId="AD" clId="Web-{D68BA75F-BB6E-9F18-1648-74F52ADBFB50}" dt="2026-09-14T21:32:16.696" v="320" actId="20577"/>
          <ac:spMkLst>
            <pc:docMk/>
            <pc:sldMk cId="2995797760" sldId="362"/>
            <ac:spMk id="3" creationId="{44203125-B9A9-9921-B918-608635B0F058}"/>
          </ac:spMkLst>
        </pc:spChg>
        <pc:graphicFrameChg chg="add mod modGraphic">
          <ac:chgData name="Onishi, Saryu" userId="S::saryu@ou.edu::24ec4854-0e9b-4cd9-95b4-b9d15917116b" providerId="AD" clId="Web-{D68BA75F-BB6E-9F18-1648-74F52ADBFB50}" dt="2026-09-14T21:32:21.071" v="322"/>
          <ac:graphicFrameMkLst>
            <pc:docMk/>
            <pc:sldMk cId="2995797760" sldId="362"/>
            <ac:graphicFrameMk id="5" creationId="{0EB1E87E-8339-EF70-96ED-F69529683223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95A223-E7C9-A243-9A70-FE01E1A1DD65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7D17FD-8842-8E4F-8C3E-EC8B634B2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881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458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rtl="0"/>
            <a:r>
              <a:rPr lang="en-GB" b="1" dirty="0"/>
              <a:t>Mean vs. median decision-making</a:t>
            </a:r>
            <a:r>
              <a:rPr lang="en-GB" dirty="0"/>
              <a:t> (most frequent, and conceptually foundational)</a:t>
            </a:r>
          </a:p>
          <a:p>
            <a:pPr lvl="0" rtl="0"/>
            <a:r>
              <a:rPr lang="en-GB" b="1" dirty="0"/>
              <a:t>Graph selection and matching to variable type</a:t>
            </a:r>
            <a:endParaRPr lang="en-GB" dirty="0"/>
          </a:p>
          <a:p>
            <a:pPr lvl="0" rtl="0"/>
            <a:r>
              <a:rPr lang="en-GB" b="1" dirty="0"/>
              <a:t>Describing a distribution in words</a:t>
            </a:r>
            <a:endParaRPr lang="en-GB" dirty="0"/>
          </a:p>
          <a:p>
            <a:pPr lvl="0" rtl="0"/>
            <a:r>
              <a:rPr lang="en-GB" b="1" dirty="0"/>
              <a:t>Excel selection and formula demo</a:t>
            </a:r>
            <a:r>
              <a:rPr lang="en-GB" dirty="0"/>
              <a:t> (quick and practical)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0C251-82B7-4253-A774-38D73C276BC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2952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A3904-24DD-BBD9-3F26-D97C96C5E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A92767-A574-B234-1F5B-6066209D0F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78ABCC-AE87-0888-D53F-61BC0491E5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rtl="0"/>
            <a:r>
              <a:rPr lang="en-GB" b="1" dirty="0"/>
              <a:t>Mean vs. median decision-making</a:t>
            </a:r>
            <a:r>
              <a:rPr lang="en-GB" dirty="0"/>
              <a:t> (most frequent, and conceptually foundational)</a:t>
            </a:r>
          </a:p>
          <a:p>
            <a:pPr lvl="0" rtl="0"/>
            <a:r>
              <a:rPr lang="en-GB" b="1" dirty="0"/>
              <a:t>Graph selection and matching to variable type</a:t>
            </a:r>
            <a:endParaRPr lang="en-GB" dirty="0"/>
          </a:p>
          <a:p>
            <a:pPr lvl="0" rtl="0"/>
            <a:r>
              <a:rPr lang="en-GB" b="1" dirty="0"/>
              <a:t>Describing a distribution in words</a:t>
            </a:r>
            <a:endParaRPr lang="en-GB" dirty="0"/>
          </a:p>
          <a:p>
            <a:pPr lvl="0" rtl="0"/>
            <a:r>
              <a:rPr lang="en-GB" b="1" dirty="0"/>
              <a:t>Excel selection and formula demo</a:t>
            </a:r>
            <a:r>
              <a:rPr lang="en-GB" dirty="0"/>
              <a:t> (quick and practical)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2E723-DC8C-43B8-8DBC-493302A06C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0C251-82B7-4253-A774-38D73C276BC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0943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“We judged these patterns visually. Pearson’s correlation coefficient puts a number on their linear direction and strength, giving us a consistent way to describe and compare them.”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738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99EF8-4C23-4FD0-899B-07426FF3C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E8036C-41C5-2CF2-5AFE-911FC1D4BA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1D69E2-AB2E-981D-8B09-F6A6350393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rtl="0"/>
            <a:r>
              <a:rPr lang="en-GB" b="1" dirty="0"/>
              <a:t>Mean vs. median decision-making</a:t>
            </a:r>
            <a:r>
              <a:rPr lang="en-GB" dirty="0"/>
              <a:t> (most frequent, and conceptually foundational)</a:t>
            </a:r>
          </a:p>
          <a:p>
            <a:pPr lvl="0" rtl="0"/>
            <a:r>
              <a:rPr lang="en-GB" b="1" dirty="0"/>
              <a:t>Graph selection and matching to variable type</a:t>
            </a:r>
            <a:endParaRPr lang="en-GB" dirty="0"/>
          </a:p>
          <a:p>
            <a:pPr lvl="0" rtl="0"/>
            <a:r>
              <a:rPr lang="en-GB" b="1" dirty="0"/>
              <a:t>Describing a distribution in words</a:t>
            </a:r>
            <a:endParaRPr lang="en-GB" dirty="0"/>
          </a:p>
          <a:p>
            <a:pPr lvl="0" rtl="0"/>
            <a:r>
              <a:rPr lang="en-GB" b="1" dirty="0"/>
              <a:t>Excel selection and formula demo</a:t>
            </a:r>
            <a:r>
              <a:rPr lang="en-GB" dirty="0"/>
              <a:t> (quick and practical)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09A08C-7DFF-E634-CB79-2CB083B95C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0C251-82B7-4253-A774-38D73C276BC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1356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The point is that usefulness depends on the task and the size of the error. You can call the observed-minus-predicted difference a </a:t>
            </a:r>
            <a:r>
              <a:rPr lang="en-GB" b="1" dirty="0"/>
              <a:t>residual</a:t>
            </a:r>
            <a:r>
              <a:rPr lang="en-GB" dirty="0"/>
              <a:t>, but leave formal error metrics for later.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00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DB77E-C484-9A28-A48B-29EF45AF1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92FED6-B986-FE1D-F8C2-1BB7629565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0C57B8-4E52-1127-B662-DF480A9FF2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rtl="0"/>
            <a:r>
              <a:rPr lang="en-GB" b="1" dirty="0"/>
              <a:t>Mean vs. median decision-making</a:t>
            </a:r>
            <a:r>
              <a:rPr lang="en-GB" dirty="0"/>
              <a:t> (most frequent, and conceptually foundational)</a:t>
            </a:r>
          </a:p>
          <a:p>
            <a:pPr lvl="0" rtl="0"/>
            <a:r>
              <a:rPr lang="en-GB" b="1" dirty="0"/>
              <a:t>Graph selection and matching to variable type</a:t>
            </a:r>
            <a:endParaRPr lang="en-GB" dirty="0"/>
          </a:p>
          <a:p>
            <a:pPr lvl="0" rtl="0"/>
            <a:r>
              <a:rPr lang="en-GB" b="1" dirty="0"/>
              <a:t>Describing a distribution in words</a:t>
            </a:r>
            <a:endParaRPr lang="en-GB" dirty="0"/>
          </a:p>
          <a:p>
            <a:pPr lvl="0" rtl="0"/>
            <a:r>
              <a:rPr lang="en-GB" b="1" dirty="0"/>
              <a:t>Excel selection and formula demo</a:t>
            </a:r>
            <a:r>
              <a:rPr lang="en-GB" dirty="0"/>
              <a:t> (quick and practical)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BFF80B-CAE7-FFB7-0065-0ECBE917A5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0C251-82B7-4253-A774-38D73C276BC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1165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Debrief:</a:t>
            </a:r>
          </a:p>
          <a:p>
            <a:pPr lvl="0"/>
            <a:r>
              <a:rPr lang="en-GB" dirty="0"/>
              <a:t>The graph and \(r\) describe association.</a:t>
            </a:r>
          </a:p>
          <a:p>
            <a:pPr lvl="0"/>
            <a:r>
              <a:rPr lang="en-GB" dirty="0"/>
              <a:t>The fitted line produces predictions; their accuracy still needs evaluation.</a:t>
            </a:r>
          </a:p>
          <a:p>
            <a:pPr lvl="0"/>
            <a:r>
              <a:rPr lang="en-GB" dirty="0"/>
              <a:t>A causal claim requires evidence about what happens when something changes.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482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023C4-8C70-E3C5-875E-93ADB8471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FC621D-DE1E-1563-2B16-AF60017F4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5BE690-1766-8F91-E5B3-490F455E03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For this example, strength, training background, or sport could help explain both jumping and sprinting performance.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63555F-DC77-C4E8-D57E-B2EB333B14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2484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Use a concrete comparison: observing jump height and sprint time versus randomly assigning athletes to a training intervention and a comparison condition. Be clear that the experiment estimates the </a:t>
            </a:r>
            <a:r>
              <a:rPr lang="en-GB" b="1" dirty="0"/>
              <a:t>effect of that intervention</a:t>
            </a:r>
            <a:r>
              <a:rPr lang="en-GB" dirty="0"/>
              <a:t>, rather than automatically proving that jump height itself causes sprint 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6061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Give pairs a minute, then take a few responses. Guide them toward:</a:t>
            </a:r>
          </a:p>
          <a:p>
            <a:pPr lvl="0"/>
            <a:r>
              <a:rPr lang="en-GB" dirty="0"/>
              <a:t>The data show an association between jump height and sprint time.</a:t>
            </a:r>
          </a:p>
          <a:p>
            <a:pPr lvl="0"/>
            <a:r>
              <a:rPr lang="en-GB" dirty="0"/>
              <a:t>The line estimates sprint time, but individual outcomes vary.</a:t>
            </a:r>
          </a:p>
          <a:p>
            <a:pPr lvl="0"/>
            <a:r>
              <a:rPr lang="en-GB" dirty="0"/>
              <a:t>This analysis alone doesn’t establish that adding jump training will improve sprint performance.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We started with a pattern on a graph. Now we can describe its strength, use an equation to estimate an outcome, and explain how far the evidence takes us. Next class, you’ll do those steps yourselves in Excel.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624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78C46-97B5-06A6-FCEF-1A1F72D6F7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105156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D3A6AC-3ACF-3E00-27EA-CDC21E0D0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3602038"/>
            <a:ext cx="10515599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D74E7-FB50-6453-FBC4-4FF2059E7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EC381-9EAC-65CA-E2D4-E9753C63F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85E49-459E-7153-8DCA-00BFA12DD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530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44AAB-14A7-7BCA-3837-4F570792F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DB745-E89B-BA25-707B-D3F4B483C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29DF3-7131-344B-BE29-3470A6E4A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9C8A0-82E3-D43A-B433-03BD0E8A1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C3461-EED3-DA55-3A67-403D2D4F6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94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EF06-5D11-579D-7B22-EDF525B07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F87EE-121E-981D-94B0-7DD81A760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09C7F-68AA-F83B-0CC2-643C7451C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FDF23-F262-A143-3D94-2E03C5E80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BCC86-AF79-D336-B20B-1E34423D7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6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E23E6-4994-ADDB-53EF-33DAC6204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1385E-3FBA-00D8-820B-01457DE095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400107-976D-189B-D5B8-F3309A029F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421288-007A-64D1-177C-EC493AB35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8BDC7E-1ED0-A64E-B741-2BD6DCC16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10B18-79B2-CA9A-54E7-8E270EA6C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113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DBA0C-D408-C89D-A5A4-EE49BFEFE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15059-44C0-5CAB-DD62-331CAEACC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8210DA-60F4-E204-139F-488557C3AC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C6D382-4432-4F54-9B2C-18EA1D3502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0DFF74-3B74-1F87-68E5-7C63462383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D8442-0A79-241F-AD71-72BAE0874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BD044B-09B6-F478-2B54-1F1541351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518B98-54E9-0248-CDC2-25F053D11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298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98611-FF70-0739-AB12-3A0D4D688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6340F8-BFC2-15DC-7097-138E7417B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87FFF2-E8C5-FBDB-D95A-12987FF75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02AAC0-7C6B-411F-8B27-54187B087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840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C24E59-43B1-B0E4-7BB5-449B4E620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9DB2FC-A612-3F77-71B9-89F90F23E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EA5C7-5EFB-A99C-8686-6EB2C8FCF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173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6815E-33A2-36BD-141A-20E6987BF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EB718-3207-923E-BB2A-3A6A8B97C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D8BF2C-0530-D542-CEA1-66680DF2C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246F5-476E-F02E-8D52-52095AD76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CBF9F-FEBA-A17C-67EF-779BF6982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3091D5-A6B8-C1A9-58A4-732980B56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346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F53C8-34AC-4EC3-9EF2-7646130C5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95296B-D06F-EC13-3B4B-D0804D56A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15AD4-D0C4-4B3F-01A9-C4EB16F15D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85DC77-4EA3-68F2-C1B1-3B61F9D48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28E95B-5416-3489-B8F3-9294F9EAD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31B0D-A406-6B24-1768-98B5238CC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462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7492E-5097-4D4A-B212-B9541B6D3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2B2462-C37E-9A16-D9B2-03FE3550DC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5E3E0-2253-2E4B-C45D-9DD87541E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8D6ED-F324-5EA4-EBC1-32D8A8A80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26162-D880-6B17-AFBB-2555E585E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812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7EF97A-4C14-3B96-B570-63221FE42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1FCF3E-3E21-12E5-F093-CD2EBC62CD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EB50E-0940-C414-1C80-43A1C4CBF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34562-A92B-8D3C-4A79-2489A9975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7ADD3-AF08-2898-D3BF-4768616B3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5101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96579-E85F-CE49-A1E7-090D69C7D3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46E8C1D3-413D-3F8C-2B71-1C4EB0ADE9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110401"/>
            <a:ext cx="10515600" cy="637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82772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C7E355-A6C3-ABB7-5FB3-07B7718D6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2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E3536-C253-FE9A-75A8-6625508B8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41938"/>
            <a:ext cx="10515600" cy="4735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7838E-35A9-F96A-354A-AE0FF3F853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F61C71-767E-B84C-BFB3-7B18856D27F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CBC5A-10F1-AA57-C7EC-9CDC8A53A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EEC1130-6658-3CAB-3F94-0FA0AAB844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207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9270D-14C3-FED3-E83A-AD4E36EC7A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4800" dirty="0"/>
              <a:t>Quantifying relationships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03FB66-255C-9B0B-8F15-F85AACB34C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Saryu Onishi</a:t>
            </a:r>
          </a:p>
          <a:p>
            <a:r>
              <a:rPr lang="en-GB" dirty="0"/>
              <a:t>HES 3000-002, Sport Performance Analytics</a:t>
            </a:r>
          </a:p>
        </p:txBody>
      </p:sp>
    </p:spTree>
    <p:extLst>
      <p:ext uri="{BB962C8B-B14F-4D97-AF65-F5344CB8AC3E}">
        <p14:creationId xmlns:p14="http://schemas.microsoft.com/office/powerpoint/2010/main" val="3294273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00E21B-1982-E0CA-1F9E-8355997AAE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2604BDD-1EB2-C9AE-AD81-128821271322}"/>
              </a:ext>
            </a:extLst>
          </p:cNvPr>
          <p:cNvSpPr txBox="1">
            <a:spLocks/>
          </p:cNvSpPr>
          <p:nvPr/>
        </p:nvSpPr>
        <p:spPr>
          <a:xfrm>
            <a:off x="838200" y="3110401"/>
            <a:ext cx="10515600" cy="6371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en-GB" b="0" cap="none" dirty="0"/>
              <a:t>What can we do beyond describing what happened?</a:t>
            </a:r>
            <a:endParaRPr lang="en-US" b="0" cap="none" dirty="0"/>
          </a:p>
        </p:txBody>
      </p:sp>
    </p:spTree>
    <p:extLst>
      <p:ext uri="{BB962C8B-B14F-4D97-AF65-F5344CB8AC3E}">
        <p14:creationId xmlns:p14="http://schemas.microsoft.com/office/powerpoint/2010/main" val="944151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3ED5F-9CC6-A209-CC91-A3402F9B4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Beyond descriptive statistics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89277-A54C-600B-5D1B-CC6FA5A75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Previously: summarize variables and visualize relationships.</a:t>
            </a:r>
          </a:p>
          <a:p>
            <a:pPr lvl="0"/>
            <a:r>
              <a:rPr lang="en-GB" dirty="0"/>
              <a:t>Today: quantify a relationship and use it to estimate an outcome.</a:t>
            </a:r>
          </a:p>
          <a:p>
            <a:pPr marL="0" lvl="0" indent="0">
              <a:buNone/>
            </a:pP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AEFA0D-70DC-29F5-63B3-4BF1D2696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468" y="3429000"/>
            <a:ext cx="3561063" cy="28949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A4461F-B4B7-363D-6B70-F8AB64989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610" y="3121569"/>
            <a:ext cx="2822473" cy="22944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A2F9AB-B60F-0DD9-7D4D-2109D4B00B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3265844"/>
            <a:ext cx="2822473" cy="226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069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C15F6-0DDE-9DCC-F99C-41D1C54CD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FB047E-A6F6-9B5E-334D-61EED0DF43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FB7D52F-427B-EEE0-FA49-6A128CC642FC}"/>
              </a:ext>
            </a:extLst>
          </p:cNvPr>
          <p:cNvSpPr txBox="1">
            <a:spLocks/>
          </p:cNvSpPr>
          <p:nvPr/>
        </p:nvSpPr>
        <p:spPr>
          <a:xfrm>
            <a:off x="838200" y="3110401"/>
            <a:ext cx="10515600" cy="6371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en-GB" b="0" cap="none" dirty="0"/>
              <a:t>Correlation Analysis</a:t>
            </a:r>
            <a:endParaRPr lang="en-US" b="0" cap="none" dirty="0"/>
          </a:p>
        </p:txBody>
      </p:sp>
    </p:spTree>
    <p:extLst>
      <p:ext uri="{BB962C8B-B14F-4D97-AF65-F5344CB8AC3E}">
        <p14:creationId xmlns:p14="http://schemas.microsoft.com/office/powerpoint/2010/main" val="3486726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756C3-D1EA-CF29-2ED9-AD0982155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48D91-9626-50E7-A7D5-29B538F93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How do two variables move together?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E28E1-9D88-3B65-D0B7-453C47AD8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Positive: higher values of one tend to accompany higher values of the other.</a:t>
            </a:r>
          </a:p>
          <a:p>
            <a:pPr lvl="0"/>
            <a:r>
              <a:rPr lang="en-GB" dirty="0"/>
              <a:t>Negative: higher values of one tend to accompany lower values of the other.</a:t>
            </a:r>
          </a:p>
        </p:txBody>
      </p:sp>
      <p:pic>
        <p:nvPicPr>
          <p:cNvPr id="5" name="Picture 4" descr="https://www.investopedia.com/thmb/2b8kkUpoknl2tKdZfbsCzI-2X54=/1500x0/filters:no_upscale():max_bytes(150000):strip_icc()/TC_3126228-how-to-calculate-the-correlation-coefficient-5aabeb313de423003610ee40.png">
            <a:extLst>
              <a:ext uri="{FF2B5EF4-FFF2-40B4-BE49-F238E27FC236}">
                <a16:creationId xmlns:a16="http://schemas.microsoft.com/office/drawing/2014/main" id="{1BA08E04-CF51-CAFF-C68E-FC2F136E4B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238" b="28412"/>
          <a:stretch>
            <a:fillRect/>
          </a:stretch>
        </p:blipFill>
        <p:spPr>
          <a:xfrm>
            <a:off x="2238375" y="3792991"/>
            <a:ext cx="7715250" cy="2383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497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E6D9D-E82E-AEAF-7798-2367791E4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20620-4950-8C0C-59D8-BD979FB87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Pearson’s correlation coefficient (</a:t>
            </a:r>
            <a:r>
              <a:rPr lang="en-GB" i="1" dirty="0"/>
              <a:t>r</a:t>
            </a:r>
            <a:r>
              <a:rPr lang="en-GB" dirty="0"/>
              <a:t>)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835B1-ECC7-0E61-50A5-391D07650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Measures the direction and strength of a linear relationship between two </a:t>
            </a:r>
            <a:r>
              <a:rPr lang="en-GB" b="1" u="sng" dirty="0"/>
              <a:t>numerical</a:t>
            </a:r>
            <a:r>
              <a:rPr lang="en-GB" dirty="0"/>
              <a:t> variables.</a:t>
            </a:r>
          </a:p>
          <a:p>
            <a:r>
              <a:rPr lang="en-GB" dirty="0"/>
              <a:t>Ranges from </a:t>
            </a:r>
            <a:r>
              <a:rPr lang="en-GB" b="1" dirty="0"/>
              <a:t>−1 to +1</a:t>
            </a:r>
            <a:r>
              <a:rPr lang="en-GB" dirty="0"/>
              <a:t>.</a:t>
            </a:r>
          </a:p>
          <a:p>
            <a:pPr lvl="0"/>
            <a:r>
              <a:rPr lang="en-GB" dirty="0"/>
              <a:t>The </a:t>
            </a:r>
            <a:r>
              <a:rPr lang="en-GB" b="1" dirty="0"/>
              <a:t>sign</a:t>
            </a:r>
            <a:r>
              <a:rPr lang="en-GB" dirty="0"/>
              <a:t> describes direction.</a:t>
            </a:r>
          </a:p>
          <a:p>
            <a:pPr lvl="0"/>
            <a:r>
              <a:rPr lang="en-GB" dirty="0"/>
              <a:t>The </a:t>
            </a:r>
            <a:r>
              <a:rPr lang="en-GB" b="1" dirty="0"/>
              <a:t>distance from zero</a:t>
            </a:r>
            <a:r>
              <a:rPr lang="en-GB" dirty="0"/>
              <a:t> describes the strength.</a:t>
            </a:r>
          </a:p>
          <a:p>
            <a:pPr lvl="0"/>
            <a:r>
              <a:rPr lang="en-GB" dirty="0"/>
              <a:t>Correlation has no units.</a:t>
            </a:r>
          </a:p>
        </p:txBody>
      </p:sp>
    </p:spTree>
    <p:extLst>
      <p:ext uri="{BB962C8B-B14F-4D97-AF65-F5344CB8AC3E}">
        <p14:creationId xmlns:p14="http://schemas.microsoft.com/office/powerpoint/2010/main" val="103801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B4B78-CEB5-09D0-23B2-8F8CFDEB4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A8E75-D022-C2F9-90DF-BD62E8732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Ranking correlations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F8D73-5371-638D-CE36-7ED7F3277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7816"/>
            <a:ext cx="10515600" cy="4518696"/>
          </a:xfrm>
        </p:spPr>
        <p:txBody>
          <a:bodyPr/>
          <a:lstStyle/>
          <a:p>
            <a:pPr lvl="0"/>
            <a:r>
              <a:rPr lang="en-GB" dirty="0"/>
              <a:t>Rank the plots from weakest to strongest</a:t>
            </a:r>
          </a:p>
          <a:p>
            <a:pPr lvl="0"/>
            <a:r>
              <a:rPr lang="en-GB" dirty="0"/>
              <a:t>Identify direction</a:t>
            </a:r>
          </a:p>
        </p:txBody>
      </p:sp>
      <p:pic>
        <p:nvPicPr>
          <p:cNvPr id="4" name="Picture 3" descr="https://www.statlect.com/images/linear-correlation-coefficient.png">
            <a:extLst>
              <a:ext uri="{FF2B5EF4-FFF2-40B4-BE49-F238E27FC236}">
                <a16:creationId xmlns:a16="http://schemas.microsoft.com/office/drawing/2014/main" id="{58AE00D0-930C-E62A-BCB0-FDD603AF46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28" t="39268" r="65303" b="32906"/>
          <a:stretch>
            <a:fillRect/>
          </a:stretch>
        </p:blipFill>
        <p:spPr>
          <a:xfrm>
            <a:off x="9082606" y="2563422"/>
            <a:ext cx="2743200" cy="2524714"/>
          </a:xfrm>
          <a:prstGeom prst="rect">
            <a:avLst/>
          </a:prstGeom>
        </p:spPr>
      </p:pic>
      <p:pic>
        <p:nvPicPr>
          <p:cNvPr id="5" name="Picture 4" descr="https://www.statlect.com/images/linear-correlation-coefficient.png">
            <a:extLst>
              <a:ext uri="{FF2B5EF4-FFF2-40B4-BE49-F238E27FC236}">
                <a16:creationId xmlns:a16="http://schemas.microsoft.com/office/drawing/2014/main" id="{D78764BF-5C6E-AFC1-92C5-BD0486BB87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607" t="39515" r="31524" b="32659"/>
          <a:stretch>
            <a:fillRect/>
          </a:stretch>
        </p:blipFill>
        <p:spPr>
          <a:xfrm>
            <a:off x="3178822" y="2563422"/>
            <a:ext cx="2743200" cy="2524714"/>
          </a:xfrm>
          <a:prstGeom prst="rect">
            <a:avLst/>
          </a:prstGeom>
        </p:spPr>
      </p:pic>
      <p:pic>
        <p:nvPicPr>
          <p:cNvPr id="6" name="Picture 5" descr="https://www.statlect.com/images/linear-correlation-coefficient.png">
            <a:extLst>
              <a:ext uri="{FF2B5EF4-FFF2-40B4-BE49-F238E27FC236}">
                <a16:creationId xmlns:a16="http://schemas.microsoft.com/office/drawing/2014/main" id="{F5AAA52A-F6EE-882A-12D1-154E0A73BC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262" t="70271" r="31869" b="1903"/>
          <a:stretch>
            <a:fillRect/>
          </a:stretch>
        </p:blipFill>
        <p:spPr>
          <a:xfrm>
            <a:off x="6096000" y="2563422"/>
            <a:ext cx="2743200" cy="2524714"/>
          </a:xfrm>
          <a:prstGeom prst="rect">
            <a:avLst/>
          </a:prstGeom>
        </p:spPr>
      </p:pic>
      <p:pic>
        <p:nvPicPr>
          <p:cNvPr id="7" name="Picture 6" descr="https://www.statlect.com/images/linear-correlation-coefficient.png">
            <a:extLst>
              <a:ext uri="{FF2B5EF4-FFF2-40B4-BE49-F238E27FC236}">
                <a16:creationId xmlns:a16="http://schemas.microsoft.com/office/drawing/2014/main" id="{EC045679-4644-89EC-A569-72CF67DA29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524" t="9643" r="31607" b="62531"/>
          <a:stretch>
            <a:fillRect/>
          </a:stretch>
        </p:blipFill>
        <p:spPr>
          <a:xfrm>
            <a:off x="307618" y="2563422"/>
            <a:ext cx="2743200" cy="252471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EBCA94F-5280-8F12-B688-2C2B219F1F94}"/>
              </a:ext>
            </a:extLst>
          </p:cNvPr>
          <p:cNvSpPr/>
          <p:nvPr/>
        </p:nvSpPr>
        <p:spPr>
          <a:xfrm>
            <a:off x="743387" y="2363397"/>
            <a:ext cx="1871662" cy="400050"/>
          </a:xfrm>
          <a:prstGeom prst="rect">
            <a:avLst/>
          </a:prstGeom>
          <a:solidFill>
            <a:srgbClr val="EEEC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CF4FE1-0CC0-47EB-24DB-DB59E1EAF635}"/>
              </a:ext>
            </a:extLst>
          </p:cNvPr>
          <p:cNvSpPr/>
          <p:nvPr/>
        </p:nvSpPr>
        <p:spPr>
          <a:xfrm>
            <a:off x="3614591" y="2412219"/>
            <a:ext cx="1871662" cy="400050"/>
          </a:xfrm>
          <a:prstGeom prst="rect">
            <a:avLst/>
          </a:prstGeom>
          <a:solidFill>
            <a:srgbClr val="EEEC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9A8295-DAAA-34E3-F40E-E937BC0AEBB1}"/>
              </a:ext>
            </a:extLst>
          </p:cNvPr>
          <p:cNvSpPr/>
          <p:nvPr/>
        </p:nvSpPr>
        <p:spPr>
          <a:xfrm>
            <a:off x="6705749" y="2363397"/>
            <a:ext cx="1871662" cy="400050"/>
          </a:xfrm>
          <a:prstGeom prst="rect">
            <a:avLst/>
          </a:prstGeom>
          <a:solidFill>
            <a:srgbClr val="EEEC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E59241-4256-F53C-B981-637F911CB293}"/>
              </a:ext>
            </a:extLst>
          </p:cNvPr>
          <p:cNvSpPr/>
          <p:nvPr/>
        </p:nvSpPr>
        <p:spPr>
          <a:xfrm>
            <a:off x="9576953" y="2412219"/>
            <a:ext cx="1871662" cy="400050"/>
          </a:xfrm>
          <a:prstGeom prst="rect">
            <a:avLst/>
          </a:prstGeom>
          <a:solidFill>
            <a:srgbClr val="EEEC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623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0F8EA-86C7-451C-D741-2807365C7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37F25-9491-17FF-8428-832C8017A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What Pearson’s </a:t>
            </a:r>
            <a:r>
              <a:rPr lang="en-GB" i="1" dirty="0"/>
              <a:t>r</a:t>
            </a:r>
            <a:r>
              <a:rPr lang="en-GB" dirty="0"/>
              <a:t> does (and doesn’t) tell us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600BB-5F9D-FC67-26A4-609D6F860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6582" y="1609175"/>
            <a:ext cx="6037217" cy="4567788"/>
          </a:xfrm>
        </p:spPr>
        <p:txBody>
          <a:bodyPr/>
          <a:lstStyle/>
          <a:p>
            <a:pPr lvl="0"/>
            <a:r>
              <a:rPr lang="en-GB" dirty="0"/>
              <a:t>A negative correlation is not a weak correlation.</a:t>
            </a:r>
          </a:p>
          <a:p>
            <a:pPr lvl="0"/>
            <a:r>
              <a:rPr lang="en-GB" i="1" dirty="0"/>
              <a:t>r</a:t>
            </a:r>
            <a:r>
              <a:rPr lang="en-GB" dirty="0"/>
              <a:t> describes a </a:t>
            </a:r>
            <a:r>
              <a:rPr lang="en-GB" b="1" dirty="0"/>
              <a:t>linear</a:t>
            </a:r>
            <a:r>
              <a:rPr lang="en-GB" dirty="0"/>
              <a:t> relationship.</a:t>
            </a:r>
          </a:p>
          <a:p>
            <a:pPr lvl="0"/>
            <a:r>
              <a:rPr lang="en-GB" i="1" dirty="0"/>
              <a:t>r</a:t>
            </a:r>
            <a:r>
              <a:rPr lang="en-GB" dirty="0"/>
              <a:t> ≈ 0 can still occur when there is a curved relationship.</a:t>
            </a:r>
          </a:p>
          <a:p>
            <a:pPr lvl="0"/>
            <a:r>
              <a:rPr lang="en-GB" dirty="0"/>
              <a:t>Always inspect the graph alongside the number.</a:t>
            </a:r>
          </a:p>
        </p:txBody>
      </p:sp>
      <p:pic>
        <p:nvPicPr>
          <p:cNvPr id="5" name="Picture 4" descr="Is there an equivalent to Pearson's Correlation coefficient for non-linear  relationships? : r/AskStatistics">
            <a:extLst>
              <a:ext uri="{FF2B5EF4-FFF2-40B4-BE49-F238E27FC236}">
                <a16:creationId xmlns:a16="http://schemas.microsoft.com/office/drawing/2014/main" id="{43CF7F1C-5F11-9512-55A9-667A5F982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37" y="1609175"/>
            <a:ext cx="4425267" cy="414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72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609B0-4CB4-6426-2A9E-7CB77EA9E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From a relationship to a 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CEE0C-51AC-683D-0D4E-D5AF68FDD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b="1" dirty="0"/>
              <a:t>Correlation</a:t>
            </a:r>
            <a:r>
              <a:rPr lang="en-GB" dirty="0"/>
              <a:t> describes the direction and strength of a linear relationship.</a:t>
            </a:r>
          </a:p>
          <a:p>
            <a:pPr lvl="0"/>
            <a:r>
              <a:rPr lang="en-GB" b="1" dirty="0"/>
              <a:t>Simple linear regression</a:t>
            </a:r>
            <a:r>
              <a:rPr lang="en-GB" dirty="0"/>
              <a:t> fits a line that describes the relationship in the variables’ original units.</a:t>
            </a:r>
          </a:p>
          <a:p>
            <a:pPr lvl="1"/>
            <a:r>
              <a:rPr lang="en-GB" dirty="0"/>
              <a:t>This line is sometimes called “trend line” or “line of best fit”</a:t>
            </a:r>
          </a:p>
        </p:txBody>
      </p:sp>
    </p:spTree>
    <p:extLst>
      <p:ext uri="{BB962C8B-B14F-4D97-AF65-F5344CB8AC3E}">
        <p14:creationId xmlns:p14="http://schemas.microsoft.com/office/powerpoint/2010/main" val="1461068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E2FEA-033E-D7E0-085E-EC7E2BD96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Describing linear relationships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D5108A-93B6-9515-B78B-C886D21651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Equation for a linear relationship:</a:t>
                </a:r>
              </a:p>
              <a:p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: the input or predictor.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: the predicted outcome when using the fitted equation.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/>
                  <a:t>: slope.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: intercept.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D5108A-93B6-9515-B78B-C886D21651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1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2316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33778-A0BE-1DFC-DC33-AFFEFD180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F0F93-DE2F-DBDE-6924-7AE586E0B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Scatter plot </a:t>
            </a:r>
            <a:r>
              <a:rPr lang="en-GB" dirty="0">
                <a:sym typeface="Wingdings" pitchFamily="2" charset="2"/>
              </a:rPr>
              <a:t></a:t>
            </a:r>
            <a:r>
              <a:rPr lang="en-GB" dirty="0"/>
              <a:t> </a:t>
            </a:r>
            <a:r>
              <a:rPr lang="en-GB" i="1" dirty="0"/>
              <a:t>r</a:t>
            </a:r>
            <a:r>
              <a:rPr lang="en-GB" dirty="0"/>
              <a:t> </a:t>
            </a:r>
            <a:r>
              <a:rPr lang="en-GB" dirty="0">
                <a:sym typeface="Wingdings" pitchFamily="2" charset="2"/>
              </a:rPr>
              <a:t></a:t>
            </a:r>
            <a:r>
              <a:rPr lang="en-GB" dirty="0"/>
              <a:t> line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D6539F-F2A2-4498-8EA8-C5317C94B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7972" y="1600200"/>
            <a:ext cx="4161653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438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E3685-0526-6941-EDB6-E1A2D4DC4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Scatter plot </a:t>
            </a:r>
            <a:r>
              <a:rPr lang="en-GB" dirty="0">
                <a:sym typeface="Wingdings" pitchFamily="2" charset="2"/>
              </a:rPr>
              <a:t></a:t>
            </a:r>
            <a:r>
              <a:rPr lang="en-GB" dirty="0"/>
              <a:t> </a:t>
            </a:r>
            <a:r>
              <a:rPr lang="en-GB" i="1" dirty="0"/>
              <a:t>r</a:t>
            </a:r>
            <a:r>
              <a:rPr lang="en-GB" dirty="0"/>
              <a:t> </a:t>
            </a:r>
            <a:r>
              <a:rPr lang="en-GB" dirty="0">
                <a:sym typeface="Wingdings" pitchFamily="2" charset="2"/>
              </a:rPr>
              <a:t></a:t>
            </a:r>
            <a:r>
              <a:rPr lang="en-GB" dirty="0"/>
              <a:t> line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56D23B-2EB0-CE1C-D87D-9FDCBDE38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00200"/>
            <a:ext cx="4161653" cy="3657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42AEF025-EB7B-5180-EB25-39B128D469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25439" y="1277816"/>
                <a:ext cx="6218874" cy="473502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Descriptive details of this relationship:</a:t>
                </a:r>
                <a:endParaRPr lang="en-GB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GB" dirty="0"/>
                  <a:t>: -0.82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dirty="0">
                        <a:latin typeface="Cambria Math" panose="02040503050406030204" pitchFamily="18" charset="0"/>
                      </a:rPr>
                      <m:t>sprint time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=4.32−0.0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41</m:t>
                    </m:r>
                    <m:d>
                      <m:dPr>
                        <m:ctrlPr>
                          <a:rPr lang="en-US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i="0" dirty="0">
                            <a:latin typeface="Cambria Math" panose="02040503050406030204" pitchFamily="18" charset="0"/>
                          </a:rPr>
                          <m:t>jump height </m:t>
                        </m:r>
                      </m:e>
                    </m:d>
                  </m:oMath>
                </a14:m>
                <a:endParaRPr lang="en-GB" dirty="0"/>
              </a:p>
              <a:p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pPr marL="0" indent="0">
                  <a:buNone/>
                </a:pPr>
                <a:r>
                  <a:rPr lang="en-GB" sz="2000" dirty="0"/>
                  <a:t>*</a:t>
                </a:r>
                <a:r>
                  <a:rPr lang="en-GB" sz="2000" i="1" dirty="0"/>
                  <a:t>r</a:t>
                </a:r>
                <a:r>
                  <a:rPr lang="en-GB" sz="2000" dirty="0"/>
                  <a:t> and equation can be obtained through software (more next class)</a:t>
                </a:r>
              </a:p>
              <a:p>
                <a:endParaRPr lang="en-GB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42AEF025-EB7B-5180-EB25-39B128D469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25439" y="1277816"/>
                <a:ext cx="6218874" cy="4735025"/>
              </a:xfrm>
              <a:blipFill>
                <a:blip r:embed="rId3"/>
                <a:stretch>
                  <a:fillRect l="-2041" t="-21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78954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F47E6-4008-9642-844A-BB14C5583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CAEE02-70F0-2480-25FB-04273935A2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C5BCA34-A7B7-77CC-3981-F10D0122D4FC}"/>
              </a:ext>
            </a:extLst>
          </p:cNvPr>
          <p:cNvSpPr txBox="1">
            <a:spLocks/>
          </p:cNvSpPr>
          <p:nvPr/>
        </p:nvSpPr>
        <p:spPr>
          <a:xfrm>
            <a:off x="838200" y="3110401"/>
            <a:ext cx="10515600" cy="6371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en-GB" b="0" cap="none" dirty="0"/>
              <a:t>Descriptive </a:t>
            </a:r>
            <a:r>
              <a:rPr lang="en-GB" b="0" cap="none" dirty="0">
                <a:sym typeface="Wingdings" pitchFamily="2" charset="2"/>
              </a:rPr>
              <a:t> </a:t>
            </a:r>
            <a:r>
              <a:rPr lang="en-GB" b="0" cap="none" dirty="0"/>
              <a:t>Predictive Analytics</a:t>
            </a:r>
            <a:endParaRPr lang="en-US" b="0" cap="none" dirty="0"/>
          </a:p>
        </p:txBody>
      </p:sp>
    </p:spTree>
    <p:extLst>
      <p:ext uri="{BB962C8B-B14F-4D97-AF65-F5344CB8AC3E}">
        <p14:creationId xmlns:p14="http://schemas.microsoft.com/office/powerpoint/2010/main" val="581368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59BB0-7795-15FE-AACE-EE4365C01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BB982F-8DB6-3CA2-51F0-C1DABD3AEE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41938"/>
                <a:ext cx="5928361" cy="4735025"/>
              </a:xfrm>
            </p:spPr>
            <p:txBody>
              <a:bodyPr/>
              <a:lstStyle/>
              <a:p>
                <a:r>
                  <a:rPr lang="en-US" dirty="0"/>
                  <a:t>A fitted line is the basis of simple predictions</a:t>
                </a: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: the input or predictor.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: the predicted outcome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/>
                  <a:t>: slope.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: intercept.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BB982F-8DB6-3CA2-51F0-C1DABD3AEE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41938"/>
                <a:ext cx="5928361" cy="4735025"/>
              </a:xfrm>
              <a:blipFill>
                <a:blip r:embed="rId2"/>
                <a:stretch>
                  <a:fillRect l="-1927" t="-21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7355E7D-38D8-BB59-95B3-72E4772CA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1" y="1758461"/>
            <a:ext cx="4587240" cy="4031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6774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5DB1A-017C-7104-2C55-A5E7932AA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36765-F6D9-ED86-EF1B-153CD0FAB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does the slope mean?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332EF2-8774-D0C1-C60F-B358B3F3A0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</m:rPr>
                        <a:rPr lang="en-US" i="0" dirty="0">
                          <a:latin typeface="Cambria Math" panose="02040503050406030204" pitchFamily="18" charset="0"/>
                        </a:rPr>
                        <m:t>Predicted sprint time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=4.32−0.0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41</m:t>
                      </m:r>
                      <m:d>
                        <m:dPr>
                          <m:ctrlPr>
                            <a:rPr lang="en-US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i="0" dirty="0">
                              <a:latin typeface="Cambria Math" panose="02040503050406030204" pitchFamily="18" charset="0"/>
                            </a:rPr>
                            <m:t>jump height 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pPr lvl="0"/>
                <a:endParaRPr lang="en-GB" dirty="0"/>
              </a:p>
              <a:p>
                <a:r>
                  <a:rPr lang="en-GB" dirty="0"/>
                  <a:t>Which value represents the slope?</a:t>
                </a:r>
              </a:p>
              <a:p>
                <a:r>
                  <a:rPr lang="en-GB" dirty="0"/>
                  <a:t>Is the slope negative because performance gets worse?</a:t>
                </a:r>
              </a:p>
              <a:p>
                <a:r>
                  <a:rPr lang="en-GB" dirty="0"/>
                  <a:t>For each additional inch of jump height, predicted sprint time is </a:t>
                </a:r>
                <a:r>
                  <a:rPr lang="en-GB" b="1" dirty="0"/>
                  <a:t>0.041 seconds lower</a:t>
                </a:r>
                <a:r>
                  <a:rPr lang="en-GB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332EF2-8774-D0C1-C60F-B358B3F3A0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19119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2B60F-760B-55B0-913D-F5E25BDC3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10555-1BFF-E5EC-5731-312B571B3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does the intercept mean?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1646A6-220F-CF05-20CF-CB3EE373E9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</m:rPr>
                        <a:rPr lang="en-US" i="0" dirty="0">
                          <a:latin typeface="Cambria Math" panose="02040503050406030204" pitchFamily="18" charset="0"/>
                        </a:rPr>
                        <m:t>Predicted sprint time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=4.32−0.0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41</m:t>
                      </m:r>
                      <m:d>
                        <m:dPr>
                          <m:ctrlPr>
                            <a:rPr lang="en-US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i="0" dirty="0">
                              <a:latin typeface="Cambria Math" panose="02040503050406030204" pitchFamily="18" charset="0"/>
                            </a:rPr>
                            <m:t>jump height 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pPr lvl="0"/>
                <a:endParaRPr lang="en-GB" dirty="0"/>
              </a:p>
              <a:p>
                <a:r>
                  <a:rPr lang="en-GB" dirty="0"/>
                  <a:t>The intercept predicts 4.32 seconds at a jump height of zero.</a:t>
                </a:r>
              </a:p>
              <a:p>
                <a:pPr lvl="0"/>
                <a:endParaRPr lang="en-GB" dirty="0"/>
              </a:p>
              <a:p>
                <a:pPr lvl="0"/>
                <a:r>
                  <a:rPr lang="en-GB" dirty="0"/>
                  <a:t>Zero may fall outside the observed data, so the intercept may have little practical meaning.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1646A6-220F-CF05-20CF-CB3EE373E9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16594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01EA8-32A8-326C-FDB9-798E5EE2D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E5F04-3E2D-D800-6E26-7F60FB7D0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Predict an outcome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2C4F84-4A16-1A4A-CFE4-49D684DA81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</m:rPr>
                        <a:rPr lang="en-US" i="0" dirty="0">
                          <a:latin typeface="Cambria Math" panose="02040503050406030204" pitchFamily="18" charset="0"/>
                        </a:rPr>
                        <m:t>Predicted sprint time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=4.32−0.0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41</m:t>
                      </m:r>
                      <m:d>
                        <m:dPr>
                          <m:ctrlPr>
                            <a:rPr lang="en-US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i="0" dirty="0">
                              <a:latin typeface="Cambria Math" panose="02040503050406030204" pitchFamily="18" charset="0"/>
                            </a:rPr>
                            <m:t>jump height 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pPr lvl="0"/>
                <a:endParaRPr lang="en-GB" dirty="0"/>
              </a:p>
              <a:p>
                <a:pPr lvl="0"/>
                <a:r>
                  <a:rPr lang="en-GB" dirty="0"/>
                  <a:t>What is the predicted sprint time for an athlete with a 20 inch jump?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2C4F84-4A16-1A4A-CFE4-49D684DA81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13435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80B3B-F48E-8693-205F-D6AB0247B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Prediction = best guess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760A3-9F40-BB57-BEFE-595B6650D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1938"/>
            <a:ext cx="5928361" cy="4735025"/>
          </a:xfrm>
        </p:spPr>
        <p:txBody>
          <a:bodyPr/>
          <a:lstStyle/>
          <a:p>
            <a:pPr lvl="0"/>
            <a:r>
              <a:rPr lang="en-GB" dirty="0"/>
              <a:t>Athletes with the same jump height can have different sprint times.</a:t>
            </a:r>
          </a:p>
          <a:p>
            <a:pPr lvl="0"/>
            <a:r>
              <a:rPr lang="en-GB" dirty="0"/>
              <a:t>Actual observations fall above and below the line.</a:t>
            </a:r>
          </a:p>
          <a:p>
            <a:pPr lvl="0"/>
            <a:r>
              <a:rPr lang="en-GB" dirty="0"/>
              <a:t>Other factors and ordinary variation remain.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350287-3B0E-5CD7-0400-D51308FE4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1" y="1758461"/>
            <a:ext cx="4587240" cy="4031641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59C180-2B20-7E98-66DE-F2A45A9CC243}"/>
              </a:ext>
            </a:extLst>
          </p:cNvPr>
          <p:cNvCxnSpPr>
            <a:cxnSpLocks/>
          </p:cNvCxnSpPr>
          <p:nvPr/>
        </p:nvCxnSpPr>
        <p:spPr>
          <a:xfrm>
            <a:off x="8882743" y="2351314"/>
            <a:ext cx="0" cy="2873829"/>
          </a:xfrm>
          <a:prstGeom prst="line">
            <a:avLst/>
          </a:prstGeom>
          <a:ln>
            <a:solidFill>
              <a:srgbClr val="FF000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27453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F2A62-81EF-DD22-54E7-93F8F0559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BF674E-ED23-B29F-53E8-4BD4CD5D5C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4F0DFB9-EB04-3AC5-56B1-3D53F413231E}"/>
              </a:ext>
            </a:extLst>
          </p:cNvPr>
          <p:cNvSpPr txBox="1">
            <a:spLocks/>
          </p:cNvSpPr>
          <p:nvPr/>
        </p:nvSpPr>
        <p:spPr>
          <a:xfrm>
            <a:off x="838200" y="3110401"/>
            <a:ext cx="10515600" cy="6371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en-GB" b="0" cap="none" dirty="0"/>
              <a:t>Association, prediction, and causation</a:t>
            </a:r>
            <a:endParaRPr lang="en-US" b="0" cap="none" dirty="0"/>
          </a:p>
        </p:txBody>
      </p:sp>
    </p:spTree>
    <p:extLst>
      <p:ext uri="{BB962C8B-B14F-4D97-AF65-F5344CB8AC3E}">
        <p14:creationId xmlns:p14="http://schemas.microsoft.com/office/powerpoint/2010/main" val="40718764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E92C4-2B74-421B-0FE4-5C1A02DFC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62D30-90E5-1CFB-0746-E4D865663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separate claims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56ED1-C839-D77A-B8ED-AA9D993D8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buFont typeface="+mj-lt"/>
              <a:buAutoNum type="arabicPeriod"/>
            </a:pPr>
            <a:r>
              <a:rPr lang="en-GB" dirty="0"/>
              <a:t>Athletes who jump higher tend to sprint faster.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GB" dirty="0"/>
              <a:t>Jump height helps us estimate sprint time.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GB" dirty="0"/>
              <a:t>Increasing jump height will cause sprint time to improve.</a:t>
            </a:r>
          </a:p>
          <a:p>
            <a:pPr marL="514350" lvl="0" indent="-514350">
              <a:buFont typeface="+mj-lt"/>
              <a:buAutoNum type="arabicPeriod"/>
            </a:pPr>
            <a:endParaRPr lang="en-GB" dirty="0"/>
          </a:p>
          <a:p>
            <a:pPr marL="514350" lvl="0" indent="-514350">
              <a:buFont typeface="+mj-lt"/>
              <a:buAutoNum type="arabicPeriod"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Small-group prompt:</a:t>
            </a:r>
          </a:p>
          <a:p>
            <a:r>
              <a:rPr lang="en-GB" dirty="0"/>
              <a:t>Which claims does this scatterplot support? Which require additional evidence?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0915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28794-7AE8-F481-701C-E1D563A13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EF287-C2AB-3DD0-9731-33A17E533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might variables be associated?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FA082-AF7E-5675-20E0-82A9A31BA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One variable may influence the other.</a:t>
            </a:r>
          </a:p>
          <a:p>
            <a:pPr lvl="0"/>
            <a:r>
              <a:rPr lang="en-GB" dirty="0"/>
              <a:t>Another factor may influence both.</a:t>
            </a:r>
          </a:p>
          <a:p>
            <a:pPr lvl="0"/>
            <a:r>
              <a:rPr lang="en-GB" dirty="0"/>
              <a:t>Group differences or sample selection may create the pattern.</a:t>
            </a:r>
          </a:p>
        </p:txBody>
      </p:sp>
      <p:pic>
        <p:nvPicPr>
          <p:cNvPr id="4" name="Picture 3" descr="What is a confounder (confounding variable) and why should I care? — Those  Nerdy Girls">
            <a:extLst>
              <a:ext uri="{FF2B5EF4-FFF2-40B4-BE49-F238E27FC236}">
                <a16:creationId xmlns:a16="http://schemas.microsoft.com/office/drawing/2014/main" id="{591FCD78-A2BE-8C43-D322-A5648D70AC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089967" y="2845934"/>
            <a:ext cx="4012066" cy="401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7103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8A621-7606-E778-E6B1-17C72ADA3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would support a causal claim?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3935D-D4C5-4BD0-9422-1F2C30CC7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A correlation alone does not establish cause and effect.</a:t>
            </a:r>
          </a:p>
          <a:p>
            <a:pPr lvl="0"/>
            <a:r>
              <a:rPr lang="en-GB" dirty="0"/>
              <a:t>Stronger evidence compares outcomes under different conditions while addressing other explanations.</a:t>
            </a:r>
          </a:p>
          <a:p>
            <a:pPr lvl="0"/>
            <a:r>
              <a:rPr lang="en-GB" dirty="0"/>
              <a:t>In sports, rule changes or policy changes can create opportunities for these comparisons.</a:t>
            </a:r>
          </a:p>
        </p:txBody>
      </p:sp>
      <p:pic>
        <p:nvPicPr>
          <p:cNvPr id="4" name="Picture 3" descr="Randomized Controlled Trial (RCTs)- Features, Principle, Steps, Bias">
            <a:extLst>
              <a:ext uri="{FF2B5EF4-FFF2-40B4-BE49-F238E27FC236}">
                <a16:creationId xmlns:a16="http://schemas.microsoft.com/office/drawing/2014/main" id="{5C8C7AF1-6BC0-93F2-E0D7-B1CF5B607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222664"/>
            <a:ext cx="4324210" cy="22702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CB8BC8-9636-C3B5-46E6-FEA39F3712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4595" y="4187379"/>
            <a:ext cx="5619205" cy="230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0247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EAEFA-641F-1B59-BE4C-1AC2B8072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Applying association, prediction and causation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2B9E5-F15F-0613-D09C-91049E59D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 coach sees that athletes who jump higher tend to sprint faster and says: </a:t>
            </a:r>
            <a:r>
              <a:rPr lang="en-GB" b="1" dirty="0"/>
              <a:t>“Let’s add jump training so everyone gets faster.”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Discuss in pairs</a:t>
            </a:r>
          </a:p>
          <a:p>
            <a:r>
              <a:rPr lang="en-GB" dirty="0"/>
              <a:t>How would you respond using what we learned today?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06412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569BE-B427-AD17-F40D-9FBDC7F49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C6377-8128-3C14-E606-5E51175DB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GB" b="1" dirty="0"/>
              <a:t>Correlation:</a:t>
            </a:r>
            <a:r>
              <a:rPr lang="en-GB" dirty="0"/>
              <a:t> How strongly do the variables move together in a linear pattern?</a:t>
            </a:r>
          </a:p>
          <a:p>
            <a:pPr lvl="0"/>
            <a:r>
              <a:rPr lang="en-GB" b="1" dirty="0"/>
              <a:t>Regression:</a:t>
            </a:r>
            <a:r>
              <a:rPr lang="en-GB" dirty="0"/>
              <a:t> What outcome does the fitted line predict for a given input?</a:t>
            </a:r>
          </a:p>
          <a:p>
            <a:pPr lvl="0"/>
            <a:r>
              <a:rPr lang="en-GB" b="1" dirty="0"/>
              <a:t>Causation:</a:t>
            </a:r>
            <a:r>
              <a:rPr lang="en-GB" dirty="0"/>
              <a:t> Does the study provide evidence that changing something changes the outcome?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Next time</a:t>
            </a:r>
          </a:p>
          <a:p>
            <a:r>
              <a:rPr lang="en-GB" dirty="0"/>
              <a:t>In class application activity</a:t>
            </a:r>
          </a:p>
        </p:txBody>
      </p:sp>
    </p:spTree>
    <p:extLst>
      <p:ext uri="{BB962C8B-B14F-4D97-AF65-F5344CB8AC3E}">
        <p14:creationId xmlns:p14="http://schemas.microsoft.com/office/powerpoint/2010/main" val="1104664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3633</TotalTime>
  <Words>1140</Words>
  <Application>Microsoft Macintosh PowerPoint</Application>
  <PresentationFormat>Widescreen</PresentationFormat>
  <Paragraphs>155</Paragraphs>
  <Slides>24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Aptos Display</vt:lpstr>
      <vt:lpstr>Arial</vt:lpstr>
      <vt:lpstr>Cambria Math</vt:lpstr>
      <vt:lpstr>Wingdings</vt:lpstr>
      <vt:lpstr>Office Theme</vt:lpstr>
      <vt:lpstr>Quantifying relationships</vt:lpstr>
      <vt:lpstr>PowerPoint Presentation</vt:lpstr>
      <vt:lpstr>Beyond descriptive statistics</vt:lpstr>
      <vt:lpstr>PowerPoint Presentation</vt:lpstr>
      <vt:lpstr>How do two variables move together?</vt:lpstr>
      <vt:lpstr>Pearson’s correlation coefficient (r) </vt:lpstr>
      <vt:lpstr>Ranking correlations</vt:lpstr>
      <vt:lpstr>What Pearson’s r does (and doesn’t) tell us</vt:lpstr>
      <vt:lpstr>From a relationship to a line</vt:lpstr>
      <vt:lpstr>Describing linear relationships</vt:lpstr>
      <vt:lpstr>Scatter plot  r  line</vt:lpstr>
      <vt:lpstr>Scatter plot  r  line</vt:lpstr>
      <vt:lpstr>PowerPoint Presentation</vt:lpstr>
      <vt:lpstr>Simple linear regression</vt:lpstr>
      <vt:lpstr>What does the slope mean?</vt:lpstr>
      <vt:lpstr>What does the intercept mean?</vt:lpstr>
      <vt:lpstr>Predict an outcome</vt:lpstr>
      <vt:lpstr>Prediction = best guess</vt:lpstr>
      <vt:lpstr>PowerPoint Presentation</vt:lpstr>
      <vt:lpstr>Three separate claims</vt:lpstr>
      <vt:lpstr>Why might variables be associated?</vt:lpstr>
      <vt:lpstr>What would support a causal claim?</vt:lpstr>
      <vt:lpstr>Applying association, prediction and causation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Onishi, Saryu</dc:creator>
  <cp:lastModifiedBy>Intern, Performance</cp:lastModifiedBy>
  <cp:revision>53</cp:revision>
  <dcterms:created xsi:type="dcterms:W3CDTF">2026-08-17T13:48:23Z</dcterms:created>
  <dcterms:modified xsi:type="dcterms:W3CDTF">2026-10-13T17:59:35Z</dcterms:modified>
</cp:coreProperties>
</file>