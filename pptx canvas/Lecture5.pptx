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2"/>
    <p:sldId id="333" r:id="rId3"/>
    <p:sldId id="343" r:id="rId4"/>
    <p:sldId id="338" r:id="rId5"/>
    <p:sldId id="336" r:id="rId6"/>
    <p:sldId id="344" r:id="rId7"/>
    <p:sldId id="345" r:id="rId8"/>
    <p:sldId id="337" r:id="rId9"/>
    <p:sldId id="346" r:id="rId10"/>
    <p:sldId id="347" r:id="rId11"/>
    <p:sldId id="348" r:id="rId12"/>
    <p:sldId id="349" r:id="rId13"/>
    <p:sldId id="305" r:id="rId14"/>
    <p:sldId id="334" r:id="rId15"/>
    <p:sldId id="350" r:id="rId16"/>
    <p:sldId id="309" r:id="rId17"/>
    <p:sldId id="355" r:id="rId18"/>
    <p:sldId id="363" r:id="rId19"/>
    <p:sldId id="351" r:id="rId20"/>
    <p:sldId id="335" r:id="rId21"/>
    <p:sldId id="339" r:id="rId22"/>
    <p:sldId id="364" r:id="rId23"/>
    <p:sldId id="340" r:id="rId24"/>
    <p:sldId id="353" r:id="rId25"/>
    <p:sldId id="341" r:id="rId26"/>
    <p:sldId id="354" r:id="rId27"/>
    <p:sldId id="359" r:id="rId28"/>
    <p:sldId id="362" r:id="rId29"/>
    <p:sldId id="361" r:id="rId30"/>
    <p:sldId id="360" r:id="rId31"/>
    <p:sldId id="301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EC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68BA75F-BB6E-9F18-1648-74F52ADBFB50}" v="317" dt="2026-09-14T21:32:23.52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78471" autoAdjust="0"/>
  </p:normalViewPr>
  <p:slideViewPr>
    <p:cSldViewPr snapToGrid="0">
      <p:cViewPr varScale="1">
        <p:scale>
          <a:sx n="67" d="100"/>
          <a:sy n="67" d="100"/>
        </p:scale>
        <p:origin x="4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270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5/10/relationships/revisionInfo" Target="revisionInfo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nishi, Saryu" userId="S::saryu@ou.edu::24ec4854-0e9b-4cd9-95b4-b9d15917116b" providerId="AD" clId="Web-{D68BA75F-BB6E-9F18-1648-74F52ADBFB50}"/>
    <pc:docChg chg="addSld modSld">
      <pc:chgData name="Onishi, Saryu" userId="S::saryu@ou.edu::24ec4854-0e9b-4cd9-95b4-b9d15917116b" providerId="AD" clId="Web-{D68BA75F-BB6E-9F18-1648-74F52ADBFB50}" dt="2026-09-14T21:32:21.071" v="322"/>
      <pc:docMkLst>
        <pc:docMk/>
      </pc:docMkLst>
      <pc:sldChg chg="modSp">
        <pc:chgData name="Onishi, Saryu" userId="S::saryu@ou.edu::24ec4854-0e9b-4cd9-95b4-b9d15917116b" providerId="AD" clId="Web-{D68BA75F-BB6E-9F18-1648-74F52ADBFB50}" dt="2026-09-14T21:23:01.601" v="188" actId="20577"/>
        <pc:sldMkLst>
          <pc:docMk/>
          <pc:sldMk cId="2206692154" sldId="301"/>
        </pc:sldMkLst>
        <pc:spChg chg="mod">
          <ac:chgData name="Onishi, Saryu" userId="S::saryu@ou.edu::24ec4854-0e9b-4cd9-95b4-b9d15917116b" providerId="AD" clId="Web-{D68BA75F-BB6E-9F18-1648-74F52ADBFB50}" dt="2026-09-14T21:23:01.601" v="188" actId="20577"/>
          <ac:spMkLst>
            <pc:docMk/>
            <pc:sldMk cId="2206692154" sldId="301"/>
            <ac:spMk id="3" creationId="{B7781857-C6C4-CF29-7D9F-C7FCD74ECA0D}"/>
          </ac:spMkLst>
        </pc:spChg>
      </pc:sldChg>
      <pc:sldChg chg="modSp">
        <pc:chgData name="Onishi, Saryu" userId="S::saryu@ou.edu::24ec4854-0e9b-4cd9-95b4-b9d15917116b" providerId="AD" clId="Web-{D68BA75F-BB6E-9F18-1648-74F52ADBFB50}" dt="2026-09-14T21:16:29.569" v="91" actId="20577"/>
        <pc:sldMkLst>
          <pc:docMk/>
          <pc:sldMk cId="404022894" sldId="309"/>
        </pc:sldMkLst>
        <pc:spChg chg="mod">
          <ac:chgData name="Onishi, Saryu" userId="S::saryu@ou.edu::24ec4854-0e9b-4cd9-95b4-b9d15917116b" providerId="AD" clId="Web-{D68BA75F-BB6E-9F18-1648-74F52ADBFB50}" dt="2026-09-14T21:16:29.569" v="91" actId="20577"/>
          <ac:spMkLst>
            <pc:docMk/>
            <pc:sldMk cId="404022894" sldId="309"/>
            <ac:spMk id="3" creationId="{51729538-923D-458B-77DC-2E172E5670ED}"/>
          </ac:spMkLst>
        </pc:spChg>
      </pc:sldChg>
      <pc:sldChg chg="modSp">
        <pc:chgData name="Onishi, Saryu" userId="S::saryu@ou.edu::24ec4854-0e9b-4cd9-95b4-b9d15917116b" providerId="AD" clId="Web-{D68BA75F-BB6E-9F18-1648-74F52ADBFB50}" dt="2026-09-14T21:07:36.208" v="9" actId="1076"/>
        <pc:sldMkLst>
          <pc:docMk/>
          <pc:sldMk cId="2375312425" sldId="341"/>
        </pc:sldMkLst>
        <pc:spChg chg="mod">
          <ac:chgData name="Onishi, Saryu" userId="S::saryu@ou.edu::24ec4854-0e9b-4cd9-95b4-b9d15917116b" providerId="AD" clId="Web-{D68BA75F-BB6E-9F18-1648-74F52ADBFB50}" dt="2026-09-14T21:07:32.817" v="8" actId="20577"/>
          <ac:spMkLst>
            <pc:docMk/>
            <pc:sldMk cId="2375312425" sldId="341"/>
            <ac:spMk id="3" creationId="{81DA9FF1-2CFE-687B-73EB-63D88B461873}"/>
          </ac:spMkLst>
        </pc:spChg>
        <pc:spChg chg="mod">
          <ac:chgData name="Onishi, Saryu" userId="S::saryu@ou.edu::24ec4854-0e9b-4cd9-95b4-b9d15917116b" providerId="AD" clId="Web-{D68BA75F-BB6E-9F18-1648-74F52ADBFB50}" dt="2026-09-14T21:07:36.208" v="9" actId="1076"/>
          <ac:spMkLst>
            <pc:docMk/>
            <pc:sldMk cId="2375312425" sldId="341"/>
            <ac:spMk id="5" creationId="{6F87B829-A4B6-1F78-9DA5-137B29194ED2}"/>
          </ac:spMkLst>
        </pc:spChg>
      </pc:sldChg>
      <pc:sldChg chg="modSp new">
        <pc:chgData name="Onishi, Saryu" userId="S::saryu@ou.edu::24ec4854-0e9b-4cd9-95b4-b9d15917116b" providerId="AD" clId="Web-{D68BA75F-BB6E-9F18-1648-74F52ADBFB50}" dt="2026-09-14T21:24:18.789" v="206" actId="20577"/>
        <pc:sldMkLst>
          <pc:docMk/>
          <pc:sldMk cId="2874847518" sldId="354"/>
        </pc:sldMkLst>
        <pc:spChg chg="mod">
          <ac:chgData name="Onishi, Saryu" userId="S::saryu@ou.edu::24ec4854-0e9b-4cd9-95b4-b9d15917116b" providerId="AD" clId="Web-{D68BA75F-BB6E-9F18-1648-74F52ADBFB50}" dt="2026-09-14T21:15:16.819" v="74" actId="20577"/>
          <ac:spMkLst>
            <pc:docMk/>
            <pc:sldMk cId="2874847518" sldId="354"/>
            <ac:spMk id="2" creationId="{B112D2BE-C4C4-4D20-846C-3EF3A9972AED}"/>
          </ac:spMkLst>
        </pc:spChg>
        <pc:spChg chg="mod">
          <ac:chgData name="Onishi, Saryu" userId="S::saryu@ou.edu::24ec4854-0e9b-4cd9-95b4-b9d15917116b" providerId="AD" clId="Web-{D68BA75F-BB6E-9F18-1648-74F52ADBFB50}" dt="2026-09-14T21:24:18.789" v="206" actId="20577"/>
          <ac:spMkLst>
            <pc:docMk/>
            <pc:sldMk cId="2874847518" sldId="354"/>
            <ac:spMk id="3" creationId="{D45FD767-E1AA-9C8B-849F-6E11EB3CB6C0}"/>
          </ac:spMkLst>
        </pc:spChg>
      </pc:sldChg>
      <pc:sldChg chg="modSp new">
        <pc:chgData name="Onishi, Saryu" userId="S::saryu@ou.edu::24ec4854-0e9b-4cd9-95b4-b9d15917116b" providerId="AD" clId="Web-{D68BA75F-BB6E-9F18-1648-74F52ADBFB50}" dt="2026-09-14T21:17:39.194" v="127" actId="20577"/>
        <pc:sldMkLst>
          <pc:docMk/>
          <pc:sldMk cId="809028509" sldId="355"/>
        </pc:sldMkLst>
        <pc:spChg chg="mod">
          <ac:chgData name="Onishi, Saryu" userId="S::saryu@ou.edu::24ec4854-0e9b-4cd9-95b4-b9d15917116b" providerId="AD" clId="Web-{D68BA75F-BB6E-9F18-1648-74F52ADBFB50}" dt="2026-09-14T21:17:39.194" v="127" actId="20577"/>
          <ac:spMkLst>
            <pc:docMk/>
            <pc:sldMk cId="809028509" sldId="355"/>
            <ac:spMk id="2" creationId="{9B3B2596-FD5F-03B2-820D-4B9F36FB3D0A}"/>
          </ac:spMkLst>
        </pc:spChg>
        <pc:spChg chg="mod">
          <ac:chgData name="Onishi, Saryu" userId="S::saryu@ou.edu::24ec4854-0e9b-4cd9-95b4-b9d15917116b" providerId="AD" clId="Web-{D68BA75F-BB6E-9F18-1648-74F52ADBFB50}" dt="2026-09-14T21:17:17.678" v="121" actId="20577"/>
          <ac:spMkLst>
            <pc:docMk/>
            <pc:sldMk cId="809028509" sldId="355"/>
            <ac:spMk id="3" creationId="{FAB2016C-BC61-0A1A-E451-7B3E637EF84A}"/>
          </ac:spMkLst>
        </pc:spChg>
      </pc:sldChg>
      <pc:sldChg chg="modSp new">
        <pc:chgData name="Onishi, Saryu" userId="S::saryu@ou.edu::24ec4854-0e9b-4cd9-95b4-b9d15917116b" providerId="AD" clId="Web-{D68BA75F-BB6E-9F18-1648-74F52ADBFB50}" dt="2026-09-14T21:17:57.460" v="132" actId="20577"/>
        <pc:sldMkLst>
          <pc:docMk/>
          <pc:sldMk cId="4290967881" sldId="356"/>
        </pc:sldMkLst>
        <pc:spChg chg="mod">
          <ac:chgData name="Onishi, Saryu" userId="S::saryu@ou.edu::24ec4854-0e9b-4cd9-95b4-b9d15917116b" providerId="AD" clId="Web-{D68BA75F-BB6E-9F18-1648-74F52ADBFB50}" dt="2026-09-14T21:17:53.944" v="130" actId="20577"/>
          <ac:spMkLst>
            <pc:docMk/>
            <pc:sldMk cId="4290967881" sldId="356"/>
            <ac:spMk id="2" creationId="{E2FA18D7-28B2-133F-662F-90CC8F55869B}"/>
          </ac:spMkLst>
        </pc:spChg>
        <pc:spChg chg="mod">
          <ac:chgData name="Onishi, Saryu" userId="S::saryu@ou.edu::24ec4854-0e9b-4cd9-95b4-b9d15917116b" providerId="AD" clId="Web-{D68BA75F-BB6E-9F18-1648-74F52ADBFB50}" dt="2026-09-14T21:17:57.460" v="132" actId="20577"/>
          <ac:spMkLst>
            <pc:docMk/>
            <pc:sldMk cId="4290967881" sldId="356"/>
            <ac:spMk id="3" creationId="{C603F302-AE7F-8CE3-9FC5-7C9203D4C4E2}"/>
          </ac:spMkLst>
        </pc:spChg>
      </pc:sldChg>
      <pc:sldChg chg="modSp add replId">
        <pc:chgData name="Onishi, Saryu" userId="S::saryu@ou.edu::24ec4854-0e9b-4cd9-95b4-b9d15917116b" providerId="AD" clId="Web-{D68BA75F-BB6E-9F18-1648-74F52ADBFB50}" dt="2026-09-14T21:18:30.835" v="139" actId="20577"/>
        <pc:sldMkLst>
          <pc:docMk/>
          <pc:sldMk cId="1767871761" sldId="357"/>
        </pc:sldMkLst>
        <pc:spChg chg="mod">
          <ac:chgData name="Onishi, Saryu" userId="S::saryu@ou.edu::24ec4854-0e9b-4cd9-95b4-b9d15917116b" providerId="AD" clId="Web-{D68BA75F-BB6E-9F18-1648-74F52ADBFB50}" dt="2026-09-14T21:18:30.835" v="139" actId="20577"/>
          <ac:spMkLst>
            <pc:docMk/>
            <pc:sldMk cId="1767871761" sldId="357"/>
            <ac:spMk id="3" creationId="{F328F1A0-F2E2-C4F6-63D0-F385C2C08D80}"/>
          </ac:spMkLst>
        </pc:spChg>
      </pc:sldChg>
      <pc:sldChg chg="add mod replId modShow">
        <pc:chgData name="Onishi, Saryu" userId="S::saryu@ou.edu::24ec4854-0e9b-4cd9-95b4-b9d15917116b" providerId="AD" clId="Web-{D68BA75F-BB6E-9F18-1648-74F52ADBFB50}" dt="2026-09-14T21:24:20.117" v="207"/>
        <pc:sldMkLst>
          <pc:docMk/>
          <pc:sldMk cId="2995389737" sldId="358"/>
        </pc:sldMkLst>
      </pc:sldChg>
      <pc:sldChg chg="modSp add replId">
        <pc:chgData name="Onishi, Saryu" userId="S::saryu@ou.edu::24ec4854-0e9b-4cd9-95b4-b9d15917116b" providerId="AD" clId="Web-{D68BA75F-BB6E-9F18-1648-74F52ADBFB50}" dt="2026-09-14T21:25:34.258" v="214" actId="20577"/>
        <pc:sldMkLst>
          <pc:docMk/>
          <pc:sldMk cId="1243830769" sldId="359"/>
        </pc:sldMkLst>
        <pc:spChg chg="mod">
          <ac:chgData name="Onishi, Saryu" userId="S::saryu@ou.edu::24ec4854-0e9b-4cd9-95b4-b9d15917116b" providerId="AD" clId="Web-{D68BA75F-BB6E-9F18-1648-74F52ADBFB50}" dt="2026-09-14T21:25:34.258" v="214" actId="20577"/>
          <ac:spMkLst>
            <pc:docMk/>
            <pc:sldMk cId="1243830769" sldId="359"/>
            <ac:spMk id="3" creationId="{451547EC-8C64-0100-020D-0D8510686817}"/>
          </ac:spMkLst>
        </pc:spChg>
      </pc:sldChg>
      <pc:sldChg chg="modSp new">
        <pc:chgData name="Onishi, Saryu" userId="S::saryu@ou.edu::24ec4854-0e9b-4cd9-95b4-b9d15917116b" providerId="AD" clId="Web-{D68BA75F-BB6E-9F18-1648-74F52ADBFB50}" dt="2026-09-14T21:26:53.070" v="229" actId="20577"/>
        <pc:sldMkLst>
          <pc:docMk/>
          <pc:sldMk cId="2381630488" sldId="360"/>
        </pc:sldMkLst>
        <pc:spChg chg="mod">
          <ac:chgData name="Onishi, Saryu" userId="S::saryu@ou.edu::24ec4854-0e9b-4cd9-95b4-b9d15917116b" providerId="AD" clId="Web-{D68BA75F-BB6E-9F18-1648-74F52ADBFB50}" dt="2026-09-14T21:26:53.070" v="229" actId="20577"/>
          <ac:spMkLst>
            <pc:docMk/>
            <pc:sldMk cId="2381630488" sldId="360"/>
            <ac:spMk id="3" creationId="{573F9774-8134-A9A4-DA1E-3A021D0E75A4}"/>
          </ac:spMkLst>
        </pc:spChg>
      </pc:sldChg>
      <pc:sldChg chg="addSp modSp new">
        <pc:chgData name="Onishi, Saryu" userId="S::saryu@ou.edu::24ec4854-0e9b-4cd9-95b4-b9d15917116b" providerId="AD" clId="Web-{D68BA75F-BB6E-9F18-1648-74F52ADBFB50}" dt="2026-09-14T21:28:09.180" v="264"/>
        <pc:sldMkLst>
          <pc:docMk/>
          <pc:sldMk cId="1486169029" sldId="361"/>
        </pc:sldMkLst>
        <pc:spChg chg="mod">
          <ac:chgData name="Onishi, Saryu" userId="S::saryu@ou.edu::24ec4854-0e9b-4cd9-95b4-b9d15917116b" providerId="AD" clId="Web-{D68BA75F-BB6E-9F18-1648-74F52ADBFB50}" dt="2026-09-14T21:27:11.758" v="238" actId="20577"/>
          <ac:spMkLst>
            <pc:docMk/>
            <pc:sldMk cId="1486169029" sldId="361"/>
            <ac:spMk id="2" creationId="{519443A2-C56F-F6DF-D387-0E48376C5816}"/>
          </ac:spMkLst>
        </pc:spChg>
        <pc:spChg chg="mod">
          <ac:chgData name="Onishi, Saryu" userId="S::saryu@ou.edu::24ec4854-0e9b-4cd9-95b4-b9d15917116b" providerId="AD" clId="Web-{D68BA75F-BB6E-9F18-1648-74F52ADBFB50}" dt="2026-09-14T21:27:21.649" v="246" actId="20577"/>
          <ac:spMkLst>
            <pc:docMk/>
            <pc:sldMk cId="1486169029" sldId="361"/>
            <ac:spMk id="3" creationId="{B4660DEF-0C6D-4352-D4C1-3F9EDC657A6D}"/>
          </ac:spMkLst>
        </pc:spChg>
        <pc:spChg chg="add mod">
          <ac:chgData name="Onishi, Saryu" userId="S::saryu@ou.edu::24ec4854-0e9b-4cd9-95b4-b9d15917116b" providerId="AD" clId="Web-{D68BA75F-BB6E-9F18-1648-74F52ADBFB50}" dt="2026-09-14T21:28:09.180" v="264"/>
          <ac:spMkLst>
            <pc:docMk/>
            <pc:sldMk cId="1486169029" sldId="361"/>
            <ac:spMk id="4" creationId="{ADEF0CF4-9F0B-9BCC-D6D4-49A532E4AD93}"/>
          </ac:spMkLst>
        </pc:spChg>
      </pc:sldChg>
      <pc:sldChg chg="addSp modSp new">
        <pc:chgData name="Onishi, Saryu" userId="S::saryu@ou.edu::24ec4854-0e9b-4cd9-95b4-b9d15917116b" providerId="AD" clId="Web-{D68BA75F-BB6E-9F18-1648-74F52ADBFB50}" dt="2026-09-14T21:32:21.071" v="322"/>
        <pc:sldMkLst>
          <pc:docMk/>
          <pc:sldMk cId="2995797760" sldId="362"/>
        </pc:sldMkLst>
        <pc:spChg chg="mod">
          <ac:chgData name="Onishi, Saryu" userId="S::saryu@ou.edu::24ec4854-0e9b-4cd9-95b4-b9d15917116b" providerId="AD" clId="Web-{D68BA75F-BB6E-9F18-1648-74F52ADBFB50}" dt="2026-09-14T21:28:52.883" v="278" actId="20577"/>
          <ac:spMkLst>
            <pc:docMk/>
            <pc:sldMk cId="2995797760" sldId="362"/>
            <ac:spMk id="2" creationId="{79865F0B-0A66-FF8B-3F5C-3BDD7AF304A8}"/>
          </ac:spMkLst>
        </pc:spChg>
        <pc:spChg chg="mod">
          <ac:chgData name="Onishi, Saryu" userId="S::saryu@ou.edu::24ec4854-0e9b-4cd9-95b4-b9d15917116b" providerId="AD" clId="Web-{D68BA75F-BB6E-9F18-1648-74F52ADBFB50}" dt="2026-09-14T21:32:16.696" v="320" actId="20577"/>
          <ac:spMkLst>
            <pc:docMk/>
            <pc:sldMk cId="2995797760" sldId="362"/>
            <ac:spMk id="3" creationId="{44203125-B9A9-9921-B918-608635B0F058}"/>
          </ac:spMkLst>
        </pc:spChg>
        <pc:graphicFrameChg chg="add mod modGraphic">
          <ac:chgData name="Onishi, Saryu" userId="S::saryu@ou.edu::24ec4854-0e9b-4cd9-95b4-b9d15917116b" providerId="AD" clId="Web-{D68BA75F-BB6E-9F18-1648-74F52ADBFB50}" dt="2026-09-14T21:32:21.071" v="322"/>
          <ac:graphicFrameMkLst>
            <pc:docMk/>
            <pc:sldMk cId="2995797760" sldId="362"/>
            <ac:graphicFrameMk id="5" creationId="{0EB1E87E-8339-EF70-96ED-F69529683223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95A223-E7C9-A243-9A70-FE01E1A1DD65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7D17FD-8842-8E4F-8C3E-EC8B634B2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8813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Some people seem to have done some level of analysis already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Overwhelming, difficult to know what variable applies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Be careful about jumping to conclusions and/or doing analysis to confirm your view point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7D17FD-8842-8E4F-8C3E-EC8B634B2D5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4580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can we make sure data is reliable?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7D17FD-8842-8E4F-8C3E-EC8B634B2D5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2011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7D17FD-8842-8E4F-8C3E-EC8B634B2D5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3244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There is a saying that originates from the world of computer </a:t>
            </a:r>
            <a:r>
              <a:rPr lang="en-US" err="1"/>
              <a:t>sience</a:t>
            </a:r>
            <a:r>
              <a:rPr lang="en-US"/>
              <a:t> , garbage in garbage out</a:t>
            </a:r>
          </a:p>
          <a:p>
            <a:endParaRPr lang="en-US"/>
          </a:p>
          <a:p>
            <a:r>
              <a:rPr lang="en-US"/>
              <a:t>Stats and models cannot fix flawed data</a:t>
            </a:r>
          </a:p>
          <a:p>
            <a:r>
              <a:rPr lang="en-US"/>
              <a:t>Your analysis is only as good as your data source</a:t>
            </a:r>
          </a:p>
          <a:p>
            <a:r>
              <a:rPr lang="en-US"/>
              <a:t>Example:</a:t>
            </a:r>
          </a:p>
          <a:p>
            <a:r>
              <a:rPr lang="en-US"/>
              <a:t>Wrong tagging, errors in device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60C251-82B7-4253-A774-38D73C276BCE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2476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D89F22-FE82-5B9A-8BCA-28F263DFBC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C7D0CF-BBF7-321C-4274-BA697A184F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323DB3-5FC4-B1AD-D389-704A488A92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Difficulty finding data for question was most common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Overwhelming, difficult to know what variable applies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Some people seem to have done some level of analysis already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Be careful about jumping to conclusions and/or doing analysis to confirm your view point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4263F6-6D1B-E4D8-E7AC-F8E3B3E563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7D17FD-8842-8E4F-8C3E-EC8B634B2D5A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9833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Possible Solution to consent and </a:t>
            </a:r>
            <a:r>
              <a:rPr lang="en-US" dirty="0" err="1"/>
              <a:t>weponization</a:t>
            </a:r>
            <a:r>
              <a:rPr lang="en-US" dirty="0"/>
              <a:t> issue</a:t>
            </a:r>
          </a:p>
          <a:p>
            <a:r>
              <a:rPr lang="en-US" dirty="0"/>
              <a:t>Education helps people understand the system. Guardrails protect them when knowledge alone is insufficient.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7D17FD-8842-8E4F-8C3E-EC8B634B2D5A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9480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EEEC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78C46-97B5-06A6-FCEF-1A1F72D6F7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1122363"/>
            <a:ext cx="10515600" cy="238760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D3A6AC-3ACF-3E00-27EA-CDC21E0D0C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199" y="3602038"/>
            <a:ext cx="10515599" cy="165576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2D74E7-FB50-6453-FBC4-4FF2059E7D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DEC381-9EAC-65CA-E2D4-E9753C63FC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E85E49-459E-7153-8DCA-00BFA12DD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5308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44AAB-14A7-7BCA-3837-4F570792F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3DB745-E89B-BA25-707B-D3F4B483C3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A29DF3-7131-344B-BE29-3470A6E4A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19C8A0-82E3-D43A-B433-03BD0E8A1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EC3461-EED3-DA55-3A67-403D2D4F6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8945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DEF06-5D11-579D-7B22-EDF525B07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3F87EE-121E-981D-94B0-7DD81A7608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509C7F-68AA-F83B-0CC2-643C7451C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BFDF23-F262-A143-3D94-2E03C5E805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1BCC86-AF79-D336-B20B-1E34423D7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6718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FE23E6-4994-ADDB-53EF-33DAC62048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11385E-3FBA-00D8-820B-01457DE095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400107-976D-189B-D5B8-F3309A029F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421288-007A-64D1-177C-EC493AB35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8BDC7E-1ED0-A64E-B741-2BD6DCC16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110B18-79B2-CA9A-54E7-8E270EA6C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1133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DBA0C-D408-C89D-A5A4-EE49BFEFE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C15059-44C0-5CAB-DD62-331CAEACC2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8210DA-60F4-E204-139F-488557C3AC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9C6D382-4432-4F54-9B2C-18EA1D3502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0DFF74-3B74-1F87-68E5-7C63462383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3D8442-0A79-241F-AD71-72BAE0874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1BD044B-09B6-F478-2B54-1F1541351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5518B98-54E9-0248-CDC2-25F053D11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2984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98611-FF70-0739-AB12-3A0D4D6885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6340F8-BFC2-15DC-7097-138E7417B9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87FFF2-E8C5-FBDB-D95A-12987FF75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02AAC0-7C6B-411F-8B27-54187B087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8407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3C24E59-43B1-B0E4-7BB5-449B4E620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9DB2FC-A612-3F77-71B9-89F90F23E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7EA5C7-5EFB-A99C-8686-6EB2C8FCF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1730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96815E-33A2-36BD-141A-20E6987BFB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4EB718-3207-923E-BB2A-3A6A8B97CF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D8BF2C-0530-D542-CEA1-66680DF2CF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1246F5-476E-F02E-8D52-52095AD76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CCBF9F-FEBA-A17C-67EF-779BF69825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3091D5-A6B8-C1A9-58A4-732980B56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73461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BF53C8-34AC-4EC3-9EF2-7646130C5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D95296B-D06F-EC13-3B4B-D0804D56AD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C15AD4-D0C4-4B3F-01A9-C4EB16F15D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85DC77-4EA3-68F2-C1B1-3B61F9D48A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28E95B-5416-3489-B8F3-9294F9EAD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231B0D-A406-6B24-1768-98B5238CCD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4629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7492E-5097-4D4A-B212-B9541B6D3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2B2462-C37E-9A16-D9B2-03FE3550DC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65E3E0-2253-2E4B-C45D-9DD87541EC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E8D6ED-F324-5EA4-EBC1-32D8A8A80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926162-D880-6B17-AFBB-2555E585E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8128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27EF97A-4C14-3B96-B570-63221FE426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1FCF3E-3E21-12E5-F093-CD2EBC62CD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EEB50E-0940-C414-1C80-43A1C4CBF3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434562-A92B-8D3C-4A79-2489A99752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47ADD3-AF08-2898-D3BF-4768616B3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5101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C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5C7E355-A6C3-ABB7-5FB3-07B7718D69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126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BE3536-C253-FE9A-75A8-6625508B80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41938"/>
            <a:ext cx="10515600" cy="47350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27838E-35A9-F96A-354A-AE0FF3F853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F61C71-767E-B84C-BFB3-7B18856D27F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6CBC5A-10F1-AA57-C7EC-9CDC8A53A5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2EEC1130-6658-3CAB-3F94-0FA0AAB844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2072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C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D9270D-14C3-FED3-E83A-AD4E36EC7A8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Reliability, Validity, and Ethics in Sports Analytics</a:t>
            </a:r>
            <a:endParaRPr lang="en-GB" sz="4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03FB66-255C-9B0B-8F15-F85AACB34CE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Saryu Onishi</a:t>
            </a:r>
          </a:p>
          <a:p>
            <a:r>
              <a:rPr lang="en-GB" dirty="0"/>
              <a:t>HES 3000-002, Sport Performance Analytics</a:t>
            </a:r>
          </a:p>
        </p:txBody>
      </p:sp>
    </p:spTree>
    <p:extLst>
      <p:ext uri="{BB962C8B-B14F-4D97-AF65-F5344CB8AC3E}">
        <p14:creationId xmlns:p14="http://schemas.microsoft.com/office/powerpoint/2010/main" val="32942738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C23F9-E941-0AF4-22BA-A79698C1B3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Illusion of precision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2B552A-4E74-0875-F50C-3D53B4BFBD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Media framing implies that GPS vests, force plates, and optical tracking systems give us an infallible, objective window into an athlete's soul and body.</a:t>
            </a:r>
          </a:p>
          <a:p>
            <a:endParaRPr lang="en-US" dirty="0"/>
          </a:p>
          <a:p>
            <a:r>
              <a:rPr lang="en-US" dirty="0"/>
              <a:t>Systems may produce numbers with multiple decimal places, but precision does not guarantee accuracy.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60025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8151F6-CCA6-F596-841B-8E8AAC39E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Messy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CCB888-7B01-3457-C927-B6F47BB730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Sport data are affected by:</a:t>
            </a:r>
          </a:p>
          <a:p>
            <a:pPr lvl="1"/>
            <a:r>
              <a:rPr lang="en-US" dirty="0"/>
              <a:t>Inconsistent procedures </a:t>
            </a:r>
          </a:p>
          <a:p>
            <a:pPr lvl="1"/>
            <a:r>
              <a:rPr lang="en-US" dirty="0"/>
              <a:t>Human error </a:t>
            </a:r>
          </a:p>
          <a:p>
            <a:pPr lvl="1"/>
            <a:r>
              <a:rPr lang="en-US" dirty="0"/>
              <a:t>Environmental conditions </a:t>
            </a:r>
          </a:p>
          <a:p>
            <a:pPr lvl="1"/>
            <a:r>
              <a:rPr lang="en-US" dirty="0"/>
              <a:t>Missing observations </a:t>
            </a:r>
          </a:p>
          <a:p>
            <a:pPr lvl="1"/>
            <a:endParaRPr lang="en-US" dirty="0"/>
          </a:p>
          <a:p>
            <a:r>
              <a:rPr lang="en-US" dirty="0"/>
              <a:t>Before analyzing performance, we must understand how the data were produced.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57243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0AA012-CFC6-E010-E70B-19E4F70D92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Trust in the measurement</a:t>
            </a:r>
          </a:p>
        </p:txBody>
      </p:sp>
      <p:pic>
        <p:nvPicPr>
          <p:cNvPr id="4" name="Content Placeholder 3" descr="Understanding Validity and Reliability in Data Analysis | Osama Abdelhay,  PhD posted on the topic | LinkedIn">
            <a:extLst>
              <a:ext uri="{FF2B5EF4-FFF2-40B4-BE49-F238E27FC236}">
                <a16:creationId xmlns:a16="http://schemas.microsoft.com/office/drawing/2014/main" id="{6B561CBD-5E54-4061-248A-E40124206B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48875"/>
          <a:stretch>
            <a:fillRect/>
          </a:stretch>
        </p:blipFill>
        <p:spPr>
          <a:xfrm>
            <a:off x="6096000" y="4953000"/>
            <a:ext cx="3098767" cy="1594135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53691E2-C9D8-79D9-0DF8-4BA7C67506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8416229"/>
              </p:ext>
            </p:extLst>
          </p:nvPr>
        </p:nvGraphicFramePr>
        <p:xfrm>
          <a:off x="838200" y="2880360"/>
          <a:ext cx="10515600" cy="10972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753299">
                  <a:extLst>
                    <a:ext uri="{9D8B030D-6E8A-4147-A177-3AD203B41FA5}">
                      <a16:colId xmlns:a16="http://schemas.microsoft.com/office/drawing/2014/main" val="3294920239"/>
                    </a:ext>
                  </a:extLst>
                </a:gridCol>
                <a:gridCol w="7762301">
                  <a:extLst>
                    <a:ext uri="{9D8B030D-6E8A-4147-A177-3AD203B41FA5}">
                      <a16:colId xmlns:a16="http://schemas.microsoft.com/office/drawing/2014/main" val="280255247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Concept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Primary question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934428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Reliability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Can the measurement be reproduced consistently?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304622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Validity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Does the measurement represent what we intend to measure?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17012802"/>
                  </a:ext>
                </a:extLst>
              </a:tr>
            </a:tbl>
          </a:graphicData>
        </a:graphic>
      </p:graphicFrame>
      <p:pic>
        <p:nvPicPr>
          <p:cNvPr id="3" name="Content Placeholder 3" descr="Understanding Validity and Reliability in Data Analysis | Osama Abdelhay,  PhD posted on the topic | LinkedIn">
            <a:extLst>
              <a:ext uri="{FF2B5EF4-FFF2-40B4-BE49-F238E27FC236}">
                <a16:creationId xmlns:a16="http://schemas.microsoft.com/office/drawing/2014/main" id="{9F19ADF7-2201-2C3F-CEEB-66847ED25AB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8875"/>
          <a:stretch>
            <a:fillRect/>
          </a:stretch>
        </p:blipFill>
        <p:spPr>
          <a:xfrm>
            <a:off x="2997233" y="4953000"/>
            <a:ext cx="3098767" cy="1594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74565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52450B-A717-38F2-4DCC-5568D4FFEE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Reliability = Consistency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02650E-A659-B4E4-DE5F-4FDBACF7CD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1938"/>
            <a:ext cx="7955935" cy="4735025"/>
          </a:xfrm>
        </p:spPr>
        <p:txBody>
          <a:bodyPr/>
          <a:lstStyle/>
          <a:p>
            <a:r>
              <a:rPr lang="en-US" dirty="0"/>
              <a:t>A reliable measurement produces similar results when the underlying performance has not meaningfully changed</a:t>
            </a:r>
          </a:p>
          <a:p>
            <a:pPr lvl="1"/>
            <a:endParaRPr lang="en-US" dirty="0"/>
          </a:p>
          <a:p>
            <a:r>
              <a:rPr lang="en-US" dirty="0"/>
              <a:t>Potential sources of inconsistency include:</a:t>
            </a:r>
          </a:p>
          <a:p>
            <a:pPr lvl="1"/>
            <a:r>
              <a:rPr lang="en-US" dirty="0"/>
              <a:t>Device measurement error </a:t>
            </a:r>
          </a:p>
          <a:p>
            <a:pPr lvl="1"/>
            <a:r>
              <a:rPr lang="en-US" dirty="0"/>
              <a:t>Device-to-device differences </a:t>
            </a:r>
          </a:p>
          <a:p>
            <a:pPr lvl="1"/>
            <a:r>
              <a:rPr lang="en-US" dirty="0"/>
              <a:t>Rater or analyst differences </a:t>
            </a:r>
          </a:p>
          <a:p>
            <a:pPr lvl="1"/>
            <a:r>
              <a:rPr lang="en-US" dirty="0"/>
              <a:t>Inconsistent testing procedures </a:t>
            </a:r>
          </a:p>
          <a:p>
            <a:pPr lvl="1"/>
            <a:r>
              <a:rPr lang="en-US" dirty="0"/>
              <a:t>Normal biological variation</a:t>
            </a:r>
          </a:p>
        </p:txBody>
      </p:sp>
      <p:pic>
        <p:nvPicPr>
          <p:cNvPr id="4" name="Picture 3" descr="Understanding Validity and Reliability in Data Analysis | Osama Abdelhay,  PhD posted on the topic | LinkedIn">
            <a:extLst>
              <a:ext uri="{FF2B5EF4-FFF2-40B4-BE49-F238E27FC236}">
                <a16:creationId xmlns:a16="http://schemas.microsoft.com/office/drawing/2014/main" id="{11289F6D-5290-F2B9-17EE-9D0CCD1FA6F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9964" t="-187" b="-1"/>
          <a:stretch>
            <a:fillRect/>
          </a:stretch>
        </p:blipFill>
        <p:spPr>
          <a:xfrm>
            <a:off x="8794135" y="1230814"/>
            <a:ext cx="2559665" cy="5157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62912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476DE-4C49-929B-91DE-2D3921555F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Types of reliability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053956-1E88-6917-EE6C-28D004CE8E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Test–retest reliability</a:t>
            </a:r>
          </a:p>
          <a:p>
            <a:pPr lvl="1"/>
            <a:r>
              <a:rPr lang="en-US" dirty="0"/>
              <a:t>Does the same athlete produce similar results when the test is repeated under similar conditions?</a:t>
            </a:r>
          </a:p>
          <a:p>
            <a:pPr lvl="1"/>
            <a:r>
              <a:rPr lang="en-US" dirty="0"/>
              <a:t>Eg: 1RM</a:t>
            </a:r>
          </a:p>
          <a:p>
            <a:r>
              <a:rPr lang="en-US" dirty="0"/>
              <a:t>Intra-rater reliability</a:t>
            </a:r>
          </a:p>
          <a:p>
            <a:pPr lvl="1"/>
            <a:r>
              <a:rPr lang="en-US" dirty="0"/>
              <a:t>Does the same observer produce similar measurements when repeating the process?</a:t>
            </a:r>
          </a:p>
          <a:p>
            <a:pPr lvl="1"/>
            <a:r>
              <a:rPr lang="en-US" dirty="0"/>
              <a:t>Eg: same statistician quantifying player stats</a:t>
            </a:r>
          </a:p>
          <a:p>
            <a:r>
              <a:rPr lang="en-US" dirty="0"/>
              <a:t>Inter-rater reliability</a:t>
            </a:r>
          </a:p>
          <a:p>
            <a:pPr lvl="1"/>
            <a:r>
              <a:rPr lang="en-US" dirty="0"/>
              <a:t>Do different observers produce similar measurements?</a:t>
            </a:r>
          </a:p>
          <a:p>
            <a:pPr lvl="1"/>
            <a:r>
              <a:rPr lang="en-US" dirty="0"/>
              <a:t>Eg: multiple statisticians quantifying player stats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1B5102-6D1E-D4D7-F736-ECC7B9867D25}"/>
              </a:ext>
            </a:extLst>
          </p:cNvPr>
          <p:cNvSpPr txBox="1"/>
          <p:nvPr/>
        </p:nvSpPr>
        <p:spPr>
          <a:xfrm>
            <a:off x="3049191" y="6292819"/>
            <a:ext cx="609361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solidFill>
                  <a:srgbClr val="FF0000"/>
                </a:solidFill>
              </a:rPr>
              <a:t>How can we make sure data is reliable?</a:t>
            </a:r>
          </a:p>
        </p:txBody>
      </p:sp>
    </p:spTree>
    <p:extLst>
      <p:ext uri="{BB962C8B-B14F-4D97-AF65-F5344CB8AC3E}">
        <p14:creationId xmlns:p14="http://schemas.microsoft.com/office/powerpoint/2010/main" val="5838390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696DEB-027B-528C-091C-586285F1D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Reliable… but valid?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038EC6-6F61-ECFB-A703-066FD40E61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athlete completes the same jump test three times under similar conditions:</a:t>
            </a:r>
          </a:p>
          <a:p>
            <a:pPr lvl="1"/>
            <a:r>
              <a:rPr lang="en-US" dirty="0"/>
              <a:t>Trial 1: 19.2 in</a:t>
            </a:r>
          </a:p>
          <a:p>
            <a:pPr lvl="1"/>
            <a:r>
              <a:rPr lang="en-US" dirty="0"/>
              <a:t>Trial 2: 19.5 in </a:t>
            </a:r>
          </a:p>
          <a:p>
            <a:pPr lvl="1"/>
            <a:r>
              <a:rPr lang="en-US" dirty="0"/>
              <a:t>Trial 3: 19.4 in </a:t>
            </a:r>
          </a:p>
          <a:p>
            <a:r>
              <a:rPr lang="en-US" dirty="0"/>
              <a:t>Is our data reliable?</a:t>
            </a:r>
          </a:p>
          <a:p>
            <a:pPr lvl="1"/>
            <a:r>
              <a:rPr lang="en-US" dirty="0"/>
              <a:t>appears highly reliable.</a:t>
            </a:r>
          </a:p>
          <a:p>
            <a:r>
              <a:rPr lang="en-US" dirty="0"/>
              <a:t>This does not tell us whether the device is measuring jump height correctly.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28426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093132-FC35-5FF8-03D1-67B37F2522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Validity = Measuring What We Intend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D8C520-363E-614C-03C2-CE29895D77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1938"/>
            <a:ext cx="10515600" cy="4330901"/>
          </a:xfrm>
        </p:spPr>
        <p:txBody>
          <a:bodyPr/>
          <a:lstStyle/>
          <a:p>
            <a:r>
              <a:rPr lang="en-US"/>
              <a:t>A valid measurement accurately represents the concept or outcome we want to study.</a:t>
            </a:r>
          </a:p>
        </p:txBody>
      </p:sp>
      <p:pic>
        <p:nvPicPr>
          <p:cNvPr id="5" name="Picture 4" descr="Understanding Validity and Reliability in Data Analysis | Osama Abdelhay,  PhD posted on the topic | LinkedIn">
            <a:extLst>
              <a:ext uri="{FF2B5EF4-FFF2-40B4-BE49-F238E27FC236}">
                <a16:creationId xmlns:a16="http://schemas.microsoft.com/office/drawing/2014/main" id="{2046E9F9-86DE-7621-06C7-B786FAAD911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52" t="48120" r="1" b="-94"/>
          <a:stretch>
            <a:fillRect/>
          </a:stretch>
        </p:blipFill>
        <p:spPr>
          <a:xfrm>
            <a:off x="6786390" y="2599981"/>
            <a:ext cx="5118253" cy="2675401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3A7785B-ED4F-5E16-7199-B0E2E21F526E}"/>
              </a:ext>
            </a:extLst>
          </p:cNvPr>
          <p:cNvSpPr txBox="1">
            <a:spLocks/>
          </p:cNvSpPr>
          <p:nvPr/>
        </p:nvSpPr>
        <p:spPr>
          <a:xfrm>
            <a:off x="838200" y="2390660"/>
            <a:ext cx="5948190" cy="37457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Examples:</a:t>
            </a:r>
          </a:p>
          <a:p>
            <a:pPr lvl="1"/>
            <a:r>
              <a:rPr lang="en-US" dirty="0"/>
              <a:t>Does the device accurately measure distance traveled? </a:t>
            </a:r>
          </a:p>
          <a:p>
            <a:pPr lvl="1"/>
            <a:r>
              <a:rPr lang="en-US" dirty="0"/>
              <a:t>Does “player load” represent overall physical stress? </a:t>
            </a:r>
          </a:p>
          <a:p>
            <a:pPr lvl="1"/>
            <a:r>
              <a:rPr lang="en-US" dirty="0"/>
              <a:t>Does AVG represent offensive contribution? </a:t>
            </a:r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81552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DEF567-4F24-1B52-D859-FA6AEBCA46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Types of Validity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E458A2-0053-7F25-9D80-B74B8FA27C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Criterion validity</a:t>
            </a:r>
          </a:p>
          <a:p>
            <a:pPr lvl="1"/>
            <a:r>
              <a:rPr lang="en-US" dirty="0"/>
              <a:t>Does the measurement agree with an accepted reference method?</a:t>
            </a:r>
          </a:p>
          <a:p>
            <a:pPr lvl="1"/>
            <a:r>
              <a:rPr lang="en-US" dirty="0"/>
              <a:t>Eg: jump height</a:t>
            </a:r>
          </a:p>
          <a:p>
            <a:r>
              <a:rPr lang="en-US" dirty="0"/>
              <a:t>Construct validity</a:t>
            </a:r>
          </a:p>
          <a:p>
            <a:pPr lvl="1"/>
            <a:r>
              <a:rPr lang="en-US" dirty="0"/>
              <a:t>Does the measurement behave as expected based on the underlying concept?</a:t>
            </a:r>
          </a:p>
          <a:p>
            <a:pPr lvl="1"/>
            <a:r>
              <a:rPr lang="en-US" dirty="0"/>
              <a:t>Eg: RPE vs actual intensity</a:t>
            </a:r>
          </a:p>
          <a:p>
            <a:r>
              <a:rPr lang="en-US" dirty="0"/>
              <a:t>Ecological validity</a:t>
            </a:r>
          </a:p>
          <a:p>
            <a:pPr lvl="1"/>
            <a:r>
              <a:rPr lang="en-US" dirty="0"/>
              <a:t>Does the measurement represent performance in the real sporting environment?</a:t>
            </a:r>
          </a:p>
          <a:p>
            <a:pPr lvl="1"/>
            <a:r>
              <a:rPr lang="en-US" dirty="0"/>
              <a:t>Eg: lab test results vs on-field performance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29007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CF2BE6-356D-296D-37D1-BCB55CD4B4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Reliable but Not Valid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53DF2D-9DB7-1EDE-AF2C-A4F11F3508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Imagine a bathroom scale that always reports weight 5 kg too high.</a:t>
            </a:r>
          </a:p>
          <a:p>
            <a:r>
              <a:rPr lang="en-US" dirty="0"/>
              <a:t>It gives consistent measurements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/>
              <a:t>reliable</a:t>
            </a:r>
          </a:p>
          <a:p>
            <a:r>
              <a:rPr lang="en-US" dirty="0"/>
              <a:t>It does not give accurate measurements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/>
              <a:t>not valid. 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In sport, a metric may consistently measure </a:t>
            </a:r>
            <a:r>
              <a:rPr lang="en-US" b="1" dirty="0"/>
              <a:t>something</a:t>
            </a:r>
            <a:r>
              <a:rPr lang="en-US" dirty="0"/>
              <a:t> without measuring what coaches think it measures.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Is this a problem?</a:t>
            </a:r>
          </a:p>
        </p:txBody>
      </p:sp>
    </p:spTree>
    <p:extLst>
      <p:ext uri="{BB962C8B-B14F-4D97-AF65-F5344CB8AC3E}">
        <p14:creationId xmlns:p14="http://schemas.microsoft.com/office/powerpoint/2010/main" val="527936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25085-661B-8E26-1DA8-6904E981A0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Understanding What the Metric Actually Means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4D6668-B2CB-9C1C-FD7F-149C748DDF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/>
              <a:t>Consider “player load.”</a:t>
            </a:r>
          </a:p>
          <a:p>
            <a:r>
              <a:rPr lang="en-US"/>
              <a:t>A device may calculate player load consistently, but:</a:t>
            </a:r>
          </a:p>
          <a:p>
            <a:pPr lvl="1"/>
            <a:r>
              <a:rPr lang="en-US"/>
              <a:t>Does it measure total physiological stress? </a:t>
            </a:r>
          </a:p>
          <a:p>
            <a:pPr lvl="1"/>
            <a:r>
              <a:rPr lang="en-US"/>
              <a:t>Does it account for collisions? </a:t>
            </a:r>
          </a:p>
          <a:p>
            <a:pPr lvl="1"/>
            <a:r>
              <a:rPr lang="en-US"/>
              <a:t>Does it capture psychological fatigue? </a:t>
            </a:r>
          </a:p>
          <a:p>
            <a:pPr lvl="1"/>
            <a:r>
              <a:rPr lang="en-US"/>
              <a:t>Can values be compared across devices or manufacturers? </a:t>
            </a:r>
          </a:p>
          <a:p>
            <a:pPr lvl="1"/>
            <a:r>
              <a:rPr lang="en-US"/>
              <a:t>Does the same value mean the same thing for every athlete? </a:t>
            </a:r>
          </a:p>
          <a:p>
            <a:pPr lvl="1"/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6558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E5C9A-C111-31F6-84ED-F4CD314110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Measurement Error Is Not Athlete Change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7531633-AB07-F24C-BFD2-AA016018C3C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Observed values contain multiple components:</a:t>
                </a:r>
              </a:p>
              <a:p>
                <a:pPr lvl="5"/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m:rPr>
                          <m:nor/>
                        </m:rPr>
                        <a:rPr lang="en-US" sz="2000" i="0">
                          <a:latin typeface="Cambria Math" panose="02040503050406030204" pitchFamily="18" charset="0"/>
                        </a:rPr>
                        <m:t>Observed value</m:t>
                      </m:r>
                      <m:r>
                        <a:rPr lang="en-US" sz="200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sz="2000" i="0">
                          <a:latin typeface="Cambria Math" panose="02040503050406030204" pitchFamily="18" charset="0"/>
                        </a:rPr>
                        <m:t>true performance</m:t>
                      </m:r>
                      <m:r>
                        <a:rPr lang="en-US" sz="200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nor/>
                        </m:rPr>
                        <a:rPr lang="en-US" sz="2000" i="0">
                          <a:latin typeface="Cambria Math" panose="02040503050406030204" pitchFamily="18" charset="0"/>
                        </a:rPr>
                        <m:t>measurement error</m:t>
                      </m:r>
                      <m:r>
                        <a:rPr lang="en-US" sz="200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nor/>
                        </m:rPr>
                        <a:rPr lang="en-US" sz="2000" i="0">
                          <a:latin typeface="Cambria Math" panose="02040503050406030204" pitchFamily="18" charset="0"/>
                        </a:rPr>
                        <m:t>normal variation</m:t>
                      </m:r>
                    </m:oMath>
                  </m:oMathPara>
                </a14:m>
                <a:endParaRPr lang="en-US" sz="700" b="0" dirty="0"/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A change in the number does not automatically indicate a </a:t>
                </a:r>
                <a:r>
                  <a:rPr lang="en-US" b="1" dirty="0"/>
                  <a:t>meaningful change </a:t>
                </a:r>
                <a:r>
                  <a:rPr lang="en-US" dirty="0"/>
                  <a:t>in the athlete.</a:t>
                </a:r>
              </a:p>
              <a:p>
                <a:pPr lvl="1"/>
                <a:r>
                  <a:rPr lang="en-US" dirty="0"/>
                  <a:t>Is the change larger than typical measurement error? </a:t>
                </a:r>
              </a:p>
              <a:p>
                <a:pPr lvl="1"/>
                <a:r>
                  <a:rPr lang="en-US" dirty="0"/>
                  <a:t>Is it larger than the athlete’s normal day-to-day variation? </a:t>
                </a:r>
              </a:p>
              <a:p>
                <a:pPr lvl="1"/>
                <a:r>
                  <a:rPr lang="en-US" dirty="0"/>
                  <a:t>Was the measurement collected under comparable conditions?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7531633-AB07-F24C-BFD2-AA016018C3C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60A5F50C-F05F-FB00-1A68-5887372B92CC}"/>
              </a:ext>
            </a:extLst>
          </p:cNvPr>
          <p:cNvSpPr txBox="1"/>
          <p:nvPr/>
        </p:nvSpPr>
        <p:spPr>
          <a:xfrm>
            <a:off x="2616200" y="5971753"/>
            <a:ext cx="66937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We will revisit this when discussing analytics in athlete monitoring</a:t>
            </a:r>
          </a:p>
        </p:txBody>
      </p:sp>
    </p:spTree>
    <p:extLst>
      <p:ext uri="{BB962C8B-B14F-4D97-AF65-F5344CB8AC3E}">
        <p14:creationId xmlns:p14="http://schemas.microsoft.com/office/powerpoint/2010/main" val="11669074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80DEF-9349-2FA7-8D0C-336C11A2FE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Garbage In, Garbage 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092F37-6541-2E89-2C50-CA513690CE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Your analysis is only as good as your data source</a:t>
            </a:r>
          </a:p>
          <a:p>
            <a:r>
              <a:rPr lang="en-US"/>
              <a:t>Stats and models cannot fix flawed data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9BAA79-90DF-1B30-BEB1-8375BD322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00377-489B-40EC-B059-26BDDD2E89B9}" type="slidenum">
              <a:rPr lang="en-US" smtClean="0"/>
              <a:pPr/>
              <a:t>13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D95BDD-8CDA-F68E-E02D-572E7E414F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8650" y="3144203"/>
            <a:ext cx="3790950" cy="3032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17053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71AE29-AC00-FC5D-E6BC-A4689E26B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Sensor Audit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D46CD0-A75D-E6E0-7B99-4CC8A49229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Think of a wearable or performance-monitoring device you have used. </a:t>
            </a:r>
            <a:r>
              <a:rPr lang="en-US" b="1"/>
              <a:t>What is one factor that could produce misleading or unusable data?</a:t>
            </a:r>
          </a:p>
          <a:p>
            <a:endParaRPr lang="en-US"/>
          </a:p>
          <a:p>
            <a:r>
              <a:rPr lang="en-US"/>
              <a:t>Possible categories:</a:t>
            </a:r>
          </a:p>
          <a:p>
            <a:pPr lvl="1"/>
            <a:r>
              <a:rPr lang="en-US"/>
              <a:t>Device placement </a:t>
            </a:r>
          </a:p>
          <a:p>
            <a:pPr lvl="1"/>
            <a:r>
              <a:rPr lang="en-US"/>
              <a:t>Poor contact </a:t>
            </a:r>
          </a:p>
          <a:p>
            <a:pPr lvl="1"/>
            <a:r>
              <a:rPr lang="en-US"/>
              <a:t>Environment </a:t>
            </a:r>
          </a:p>
          <a:p>
            <a:pPr lvl="1"/>
            <a:r>
              <a:rPr lang="en-US"/>
              <a:t>Athlete behavior</a:t>
            </a:r>
          </a:p>
        </p:txBody>
      </p:sp>
    </p:spTree>
    <p:extLst>
      <p:ext uri="{BB962C8B-B14F-4D97-AF65-F5344CB8AC3E}">
        <p14:creationId xmlns:p14="http://schemas.microsoft.com/office/powerpoint/2010/main" val="18852235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DD43A4-E717-C56C-7A72-B89CC8DEA2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Sensor Audit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4CA6AB-AE79-3CED-F3DC-993B999200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Poor contact or improper placement of a heart-rate chest strap can produce:</a:t>
            </a:r>
          </a:p>
          <a:p>
            <a:pPr lvl="1"/>
            <a:r>
              <a:rPr lang="en-US"/>
              <a:t>Missing observations </a:t>
            </a:r>
          </a:p>
          <a:p>
            <a:pPr lvl="1"/>
            <a:r>
              <a:rPr lang="en-US"/>
              <a:t>Sudden heart-rate spikes </a:t>
            </a:r>
          </a:p>
          <a:p>
            <a:pPr lvl="1"/>
            <a:r>
              <a:rPr lang="en-US"/>
              <a:t>Delayed responses </a:t>
            </a:r>
          </a:p>
          <a:p>
            <a:pPr lvl="1"/>
            <a:r>
              <a:rPr lang="en-US"/>
              <a:t>Data that appear real but are physiologically unlikely</a:t>
            </a:r>
          </a:p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C91167-16C7-A563-BEB2-2570A3870E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5528" y="4175303"/>
            <a:ext cx="6820944" cy="2317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28103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5A1D2-6E10-ED30-6584-C8F893146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Protect your analysis from bad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729538-923D-458B-77DC-2E172E5670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Before analyzing a dataset, ask:</a:t>
            </a:r>
            <a:endParaRPr lang="en-US"/>
          </a:p>
          <a:p>
            <a:pPr lvl="1"/>
            <a:r>
              <a:rPr lang="en-US">
                <a:ea typeface="+mn-lt"/>
                <a:cs typeface="+mn-lt"/>
              </a:rPr>
              <a:t>Who collected the data, and why?</a:t>
            </a:r>
          </a:p>
          <a:p>
            <a:pPr lvl="1"/>
            <a:r>
              <a:rPr lang="en-US">
                <a:ea typeface="+mn-lt"/>
                <a:cs typeface="+mn-lt"/>
              </a:rPr>
              <a:t>What technology or method was used?</a:t>
            </a:r>
          </a:p>
          <a:p>
            <a:pPr lvl="1"/>
            <a:r>
              <a:rPr lang="en-US">
                <a:ea typeface="+mn-lt"/>
                <a:cs typeface="+mn-lt"/>
              </a:rPr>
              <a:t>Has that method been validated for this setting?</a:t>
            </a:r>
          </a:p>
          <a:p>
            <a:pPr lvl="1"/>
            <a:r>
              <a:rPr lang="en-US">
                <a:ea typeface="+mn-lt"/>
                <a:cs typeface="+mn-lt"/>
              </a:rPr>
              <a:t>Was the methodology consistent across athletes and over time?</a:t>
            </a:r>
          </a:p>
          <a:p>
            <a:pPr lvl="1"/>
            <a:r>
              <a:rPr lang="en-US">
                <a:ea typeface="+mn-lt"/>
                <a:cs typeface="+mn-lt"/>
              </a:rPr>
              <a:t>What values are missing?</a:t>
            </a:r>
            <a:endParaRPr lang="en-US"/>
          </a:p>
          <a:p>
            <a:pPr lvl="1"/>
            <a:r>
              <a:rPr lang="en-US">
                <a:ea typeface="+mn-lt"/>
                <a:cs typeface="+mn-lt"/>
              </a:rPr>
              <a:t>Who or what is not represented?</a:t>
            </a:r>
            <a:endParaRPr lang="en-US"/>
          </a:p>
          <a:p>
            <a:pPr lvl="1"/>
            <a:r>
              <a:rPr lang="en-US">
                <a:ea typeface="+mn-lt"/>
                <a:cs typeface="+mn-lt"/>
              </a:rPr>
              <a:t>What decisions could be affected by the analysis?</a:t>
            </a:r>
          </a:p>
          <a:p>
            <a:pPr lvl="1"/>
            <a:r>
              <a:rPr lang="en-US">
                <a:ea typeface="+mn-lt"/>
                <a:cs typeface="+mn-lt"/>
              </a:rPr>
              <a:t>What can the data not establish?</a:t>
            </a:r>
            <a:endParaRPr lang="en-US"/>
          </a:p>
          <a:p>
            <a:pPr lvl="1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9D84DC-1007-4E28-B03C-026232E22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00377-489B-40EC-B059-26BDDD2E89B9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228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3B2596-FD5F-03B2-820D-4B9F36FB3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>
                <a:ea typeface="+mj-lt"/>
                <a:cs typeface="+mj-lt"/>
              </a:rPr>
              <a:t>Data-Quality Red Flags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B2016C-BC61-0A1A-E451-7B3E637EF8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Watch for: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Impossible or implausible values 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Sudden changes in measurement scale 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Duplicate observations 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Unexplained missing data 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Changes in devices or software 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Inconsistent testing conditions 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Different definitions across seasons 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Metrics with unclear calculations 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Systematic differences between groups 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Values that are unusually perfect</a:t>
            </a:r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0285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C4B6F9-F754-6776-911B-0A4FD1C323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A84870B-5CF0-4579-E360-A1811465F3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956337"/>
            <a:ext cx="10515600" cy="945327"/>
          </a:xfrm>
        </p:spPr>
        <p:txBody>
          <a:bodyPr>
            <a:normAutofit/>
          </a:bodyPr>
          <a:lstStyle/>
          <a:p>
            <a:pPr algn="ctr"/>
            <a:r>
              <a:rPr lang="en-US" sz="4800" dirty="0"/>
              <a:t>Ethics in Sports Analytics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EF660B1-DB01-EFE0-60C4-62E43D7841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7991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19A9B-0F79-670C-B231-6B2D811A09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Why does it matter?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32812F-2337-DC61-EE6F-1583E135D6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Athlete data may influence:</a:t>
            </a:r>
          </a:p>
          <a:p>
            <a:pPr lvl="1"/>
            <a:r>
              <a:rPr lang="en-US"/>
              <a:t>Playing time </a:t>
            </a:r>
          </a:p>
          <a:p>
            <a:pPr lvl="1"/>
            <a:r>
              <a:rPr lang="en-US"/>
              <a:t>Team selection </a:t>
            </a:r>
          </a:p>
          <a:p>
            <a:pPr lvl="1"/>
            <a:r>
              <a:rPr lang="en-US"/>
              <a:t>Scholarships </a:t>
            </a:r>
          </a:p>
          <a:p>
            <a:pPr lvl="1"/>
            <a:r>
              <a:rPr lang="en-US"/>
              <a:t>Contracts </a:t>
            </a:r>
          </a:p>
          <a:p>
            <a:pPr lvl="1"/>
            <a:r>
              <a:rPr lang="en-US"/>
              <a:t>Injury management </a:t>
            </a:r>
          </a:p>
          <a:p>
            <a:pPr lvl="1"/>
            <a:r>
              <a:rPr lang="en-US"/>
              <a:t>Return-to-play decisions </a:t>
            </a:r>
          </a:p>
          <a:p>
            <a:pPr lvl="1"/>
            <a:r>
              <a:rPr lang="en-US"/>
              <a:t>How coaches perceive an athlete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84013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C9398-E821-76AE-A6DC-5CD3BC9CFA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consent and ownership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CAF2A1-DAF7-3CDB-CB77-9129A90806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Athlete monitoring raises several questions:</a:t>
            </a:r>
          </a:p>
          <a:p>
            <a:pPr lvl="1"/>
            <a:r>
              <a:rPr lang="en-US" dirty="0"/>
              <a:t>Do athletes understand what is being collected? </a:t>
            </a:r>
          </a:p>
          <a:p>
            <a:pPr lvl="1"/>
            <a:r>
              <a:rPr lang="en-US" dirty="0"/>
              <a:t>Can they meaningfully refuse? </a:t>
            </a:r>
          </a:p>
          <a:p>
            <a:pPr lvl="1"/>
            <a:r>
              <a:rPr lang="en-US" dirty="0"/>
              <a:t>Who owns the data? </a:t>
            </a:r>
          </a:p>
          <a:p>
            <a:pPr lvl="1"/>
            <a:r>
              <a:rPr lang="en-US" dirty="0"/>
              <a:t>Who can access it? </a:t>
            </a:r>
          </a:p>
          <a:p>
            <a:pPr lvl="1"/>
            <a:r>
              <a:rPr lang="en-US" dirty="0"/>
              <a:t>How long will it be stored? </a:t>
            </a:r>
          </a:p>
          <a:p>
            <a:pPr lvl="1"/>
            <a:r>
              <a:rPr lang="en-US" dirty="0"/>
              <a:t>Can it be used for purposes beyond the original reason for collection? </a:t>
            </a:r>
          </a:p>
          <a:p>
            <a:pPr lvl="1"/>
            <a:r>
              <a:rPr lang="en-US" dirty="0"/>
              <a:t>What happens when an athlete leaves the team?</a:t>
            </a:r>
          </a:p>
          <a:p>
            <a:pPr lvl="1"/>
            <a:endParaRPr lang="en-US" dirty="0"/>
          </a:p>
          <a:p>
            <a:r>
              <a:rPr lang="en-US" b="1" dirty="0"/>
              <a:t>Participation is not necessarily the same as informed consent.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64230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E3FC8E-FC9F-6159-D6D2-C52AAB545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weaponization of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A570FF-5560-CC54-38BA-40BA764555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Data collected to support athletes can also be used against them.</a:t>
            </a:r>
          </a:p>
          <a:p>
            <a:pPr lvl="1"/>
            <a:r>
              <a:rPr lang="en-US"/>
              <a:t>Using wellness responses to question commitment </a:t>
            </a:r>
          </a:p>
          <a:p>
            <a:pPr lvl="1"/>
            <a:r>
              <a:rPr lang="en-US"/>
              <a:t>Using monitoring data during contract negotiations </a:t>
            </a:r>
          </a:p>
          <a:p>
            <a:pPr lvl="1"/>
            <a:r>
              <a:rPr lang="en-US"/>
              <a:t>Punishing athletes for reporting fatigue or pain </a:t>
            </a:r>
          </a:p>
          <a:p>
            <a:pPr lvl="1"/>
            <a:r>
              <a:rPr lang="en-US"/>
              <a:t>Sharing data outside its original purpose</a:t>
            </a:r>
          </a:p>
          <a:p>
            <a:pPr lvl="1"/>
            <a:endParaRPr lang="en-US"/>
          </a:p>
          <a:p>
            <a:r>
              <a:rPr lang="en-US"/>
              <a:t>If athletes believe honesty will be punished, they may stop providing honest data.</a:t>
            </a:r>
          </a:p>
          <a:p>
            <a:pPr lvl="1"/>
            <a:r>
              <a:rPr lang="en-US"/>
              <a:t>This produces both an ethical failure and a data-quality failure.</a:t>
            </a:r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5928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A091B9-5714-ADA6-AE7B-E09807742D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Establishing Trust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FE0D10-ECF7-C8FC-7334-7B9DA0976D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Educate athletes and coaches about what is collected, what the metrics mean, and how the data may be used. </a:t>
            </a:r>
          </a:p>
          <a:p>
            <a:pPr lvl="0"/>
            <a:r>
              <a:rPr lang="en-US" dirty="0"/>
              <a:t>Limit data access to people who need it. </a:t>
            </a:r>
          </a:p>
          <a:p>
            <a:pPr lvl="0"/>
            <a:r>
              <a:rPr lang="en-US" dirty="0"/>
              <a:t>Define acceptable uses before collecting the data. </a:t>
            </a:r>
          </a:p>
          <a:p>
            <a:pPr lvl="0"/>
            <a:r>
              <a:rPr lang="en-US" dirty="0"/>
              <a:t>Establish rules for storage, sharing, and deletion.</a:t>
            </a:r>
          </a:p>
        </p:txBody>
      </p:sp>
    </p:spTree>
    <p:extLst>
      <p:ext uri="{BB962C8B-B14F-4D97-AF65-F5344CB8AC3E}">
        <p14:creationId xmlns:p14="http://schemas.microsoft.com/office/powerpoint/2010/main" val="35585380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487054-D699-058B-0690-31590C9EA9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resource divide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4F2C60-E652-FA59-5ED5-E8E631854A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Funding determines ability to collect data</a:t>
            </a:r>
          </a:p>
          <a:p>
            <a:pPr lvl="1"/>
            <a:r>
              <a:rPr lang="en-US"/>
              <a:t>Tracking technology</a:t>
            </a:r>
          </a:p>
          <a:p>
            <a:pPr lvl="1"/>
            <a:r>
              <a:rPr lang="en-US"/>
              <a:t>Staff and technical expertise</a:t>
            </a:r>
          </a:p>
          <a:p>
            <a:pPr lvl="1"/>
            <a:r>
              <a:rPr lang="en-US"/>
              <a:t>Time for quality control</a:t>
            </a:r>
          </a:p>
          <a:p>
            <a:pPr lvl="1"/>
            <a:endParaRPr lang="en-US"/>
          </a:p>
          <a:p>
            <a:r>
              <a:rPr lang="en-US"/>
              <a:t>Better-resourced organizations do not simply have more data. They often have more opportunities to make the data usable.</a:t>
            </a:r>
          </a:p>
          <a:p>
            <a:endParaRPr lang="en-US"/>
          </a:p>
          <a:p>
            <a:r>
              <a:rPr lang="en-US"/>
              <a:t>How does this affect:</a:t>
            </a:r>
          </a:p>
          <a:p>
            <a:pPr lvl="1"/>
            <a:r>
              <a:rPr lang="en-US"/>
              <a:t>The quality of analytics?</a:t>
            </a:r>
          </a:p>
          <a:p>
            <a:pPr lvl="1"/>
            <a:r>
              <a:rPr lang="en-US"/>
              <a:t>Outcomes in each domain?</a:t>
            </a:r>
          </a:p>
        </p:txBody>
      </p:sp>
    </p:spTree>
    <p:extLst>
      <p:ext uri="{BB962C8B-B14F-4D97-AF65-F5344CB8AC3E}">
        <p14:creationId xmlns:p14="http://schemas.microsoft.com/office/powerpoint/2010/main" val="11684922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A39CA1-79C4-EBC6-6B78-5F27300B13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How Does the Resource Divide Affect Analytics?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FEEB65-DBFD-6FE1-C8B5-7740A4B0B2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Lower-resource programs may face:</a:t>
            </a:r>
          </a:p>
          <a:p>
            <a:pPr lvl="1"/>
            <a:r>
              <a:rPr lang="en-US"/>
              <a:t>Smaller datasets </a:t>
            </a:r>
          </a:p>
          <a:p>
            <a:pPr lvl="1"/>
            <a:r>
              <a:rPr lang="en-US"/>
              <a:t>Less complete dataset</a:t>
            </a:r>
          </a:p>
          <a:p>
            <a:pPr lvl="1"/>
            <a:r>
              <a:rPr lang="en-US"/>
              <a:t>Less staff time for cleaning and interpretation</a:t>
            </a:r>
          </a:p>
          <a:p>
            <a:pPr lvl="1"/>
            <a:endParaRPr lang="en-US"/>
          </a:p>
          <a:p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C94F608-69BC-C298-B831-67CD7E16D5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7236413"/>
              </p:ext>
            </p:extLst>
          </p:nvPr>
        </p:nvGraphicFramePr>
        <p:xfrm>
          <a:off x="838200" y="3809450"/>
          <a:ext cx="10515600" cy="14630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951602">
                  <a:extLst>
                    <a:ext uri="{9D8B030D-6E8A-4147-A177-3AD203B41FA5}">
                      <a16:colId xmlns:a16="http://schemas.microsoft.com/office/drawing/2014/main" val="3772345353"/>
                    </a:ext>
                  </a:extLst>
                </a:gridCol>
                <a:gridCol w="7563998">
                  <a:extLst>
                    <a:ext uri="{9D8B030D-6E8A-4147-A177-3AD203B41FA5}">
                      <a16:colId xmlns:a16="http://schemas.microsoft.com/office/drawing/2014/main" val="206176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Domain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Possible consequence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79135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Athlete monitoring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Less ability to individualize training or detect meaningful changes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618176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Scouting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Greater reliance on visible athletes and traditional networks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817105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Strategy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Less detailed opponent and game analysis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055972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4588486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A1F041-EA1D-44C9-9A34-3199EB88CC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invisible athlete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DA9FF1-2CFE-687B-73EB-63D88B4618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An athlete may be overlooked because they are: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Outside major recruiting networks 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Playing in a lower-resource environment 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Missing from commercial databases 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Competing against weaker or poorly documented opponents 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Measured using inconsistent methods 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Strong in qualities that the available metrics do not capture </a:t>
            </a:r>
            <a:endParaRPr lang="en-US"/>
          </a:p>
          <a:p>
            <a:endParaRPr lang="en-US">
              <a:ea typeface="+mn-lt"/>
              <a:cs typeface="+mn-lt"/>
            </a:endParaRPr>
          </a:p>
          <a:p>
            <a:r>
              <a:rPr lang="en-US">
                <a:ea typeface="+mn-lt"/>
                <a:cs typeface="+mn-lt"/>
              </a:rPr>
              <a:t>No data does not mean no ability.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It may only mean that the athlete was never observed by the system.</a:t>
            </a:r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531242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2D2BE-C4C4-4D20-846C-3EF3A9972A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Making the invisible athlete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5FD767-E1AA-9C8B-849F-6E11EB3CB6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/>
          </a:bodyPr>
          <a:lstStyle/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Statistical models can only identify athletes represented by their data.</a:t>
            </a:r>
            <a:endParaRPr lang="en-US"/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If scouting data primarily include:</a:t>
            </a:r>
          </a:p>
          <a:p>
            <a:pPr lvl="1">
              <a:buFont typeface="Courier New"/>
              <a:buChar char="o"/>
            </a:pPr>
            <a:r>
              <a:rPr lang="en-US">
                <a:ea typeface="+mn-lt"/>
                <a:cs typeface="+mn-lt"/>
              </a:rPr>
              <a:t>Highly recruited athletes </a:t>
            </a:r>
            <a:endParaRPr lang="en-US"/>
          </a:p>
          <a:p>
            <a:pPr lvl="1">
              <a:buFont typeface="Courier New"/>
              <a:buChar char="o"/>
            </a:pPr>
            <a:r>
              <a:rPr lang="en-US">
                <a:ea typeface="+mn-lt"/>
                <a:cs typeface="+mn-lt"/>
              </a:rPr>
              <a:t>Major competitions </a:t>
            </a:r>
            <a:endParaRPr lang="en-US"/>
          </a:p>
          <a:p>
            <a:pPr lvl="1">
              <a:buFont typeface="Courier New"/>
              <a:buChar char="o"/>
            </a:pPr>
            <a:r>
              <a:rPr lang="en-US">
                <a:ea typeface="+mn-lt"/>
                <a:cs typeface="+mn-lt"/>
              </a:rPr>
              <a:t>Well-funded programs </a:t>
            </a:r>
            <a:endParaRPr lang="en-US"/>
          </a:p>
          <a:p>
            <a:pPr lvl="1">
              <a:buFont typeface="Courier New"/>
              <a:buChar char="o"/>
            </a:pPr>
            <a:r>
              <a:rPr lang="en-US">
                <a:ea typeface="+mn-lt"/>
                <a:cs typeface="+mn-lt"/>
              </a:rPr>
              <a:t>Easily measured performance outcomes </a:t>
            </a:r>
            <a:endParaRPr lang="en-US"/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then the resulting analysis may reinforce existing scouting patterns.</a:t>
            </a:r>
          </a:p>
          <a:p>
            <a:pPr>
              <a:buFont typeface="Arial"/>
            </a:pPr>
            <a:endParaRPr lang="en-US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A model may learn who traditionally receives opportunities, not who has the most potential.</a:t>
            </a:r>
          </a:p>
          <a:p>
            <a:pPr>
              <a:buFont typeface="Arial"/>
            </a:pPr>
            <a:endParaRPr lang="en-US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87484751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64EB18-608F-8802-D194-101660423B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972B0F-8AC5-42F8-7BBE-D879510B8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Finding the invisible athlete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1547EC-8C64-0100-020D-0D85106868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Suppose the original question is: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Which athletes have the potential to succeed at the next level?</a:t>
            </a:r>
          </a:p>
          <a:p>
            <a:r>
              <a:rPr lang="en-US">
                <a:ea typeface="+mn-lt"/>
                <a:cs typeface="+mn-lt"/>
              </a:rPr>
              <a:t>The available data might only allow us to answer: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Which highly visible athletes currently have the best statistics?</a:t>
            </a:r>
          </a:p>
          <a:p>
            <a:r>
              <a:rPr lang="en-US">
                <a:ea typeface="+mn-lt"/>
                <a:cs typeface="+mn-lt"/>
              </a:rPr>
              <a:t>Those are not the same question.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Changing the question would be easier but it would preserve the same blind spots as everyone else.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383076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865F0B-0A66-FF8B-3F5C-3BDD7AF304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Streetlight effect - revisited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203125-B9A9-9921-B918-608635B0F0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The poorly illuminated area may contain the greatest competitive advantage.</a:t>
            </a:r>
          </a:p>
          <a:p>
            <a:r>
              <a:rPr lang="en-US"/>
              <a:t>Response to limited data: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EB1E87E-8339-EF70-96ED-F695296832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0597641"/>
              </p:ext>
            </p:extLst>
          </p:nvPr>
        </p:nvGraphicFramePr>
        <p:xfrm>
          <a:off x="2580105" y="3048000"/>
          <a:ext cx="7036346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18173">
                  <a:extLst>
                    <a:ext uri="{9D8B030D-6E8A-4147-A177-3AD203B41FA5}">
                      <a16:colId xmlns:a16="http://schemas.microsoft.com/office/drawing/2014/main" val="1050926683"/>
                    </a:ext>
                  </a:extLst>
                </a:gridCol>
                <a:gridCol w="3518173">
                  <a:extLst>
                    <a:ext uri="{9D8B030D-6E8A-4147-A177-3AD203B41FA5}">
                      <a16:colId xmlns:a16="http://schemas.microsoft.com/office/drawing/2014/main" val="394189048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Streetlight response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Appropriate response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53477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Replace it with what the dataset can easily answer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Preserve the purpose of the question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990972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Analyze only familiar variables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Seek new data or useful proxies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698283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Overstate what available data establish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State uncertainty and limitations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52006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Reproduce existing rankings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Investigate overlooked athletes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05764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9579776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9443A2-C56F-F6DF-D387-0E48376C58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Pursuing the harder 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660DEF-0C6D-4352-D4C1-3F9EDC657A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Overlooked athletes may be: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Less expensive to recruit or acquire 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Undervalued by competitors 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Available later in a draft or recruiting process 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ea typeface="+mn-lt"/>
                <a:cs typeface="+mn-lt"/>
              </a:rPr>
              <a:t>Better than their conventional statistics suggest </a:t>
            </a:r>
          </a:p>
          <a:p>
            <a:pPr lvl="1">
              <a:buFont typeface="Courier New" panose="020B0604020202020204" pitchFamily="34" charset="0"/>
              <a:buChar char="o"/>
            </a:pPr>
            <a:endParaRPr lang="en-US">
              <a:ea typeface="+mn-lt"/>
              <a:cs typeface="+mn-lt"/>
            </a:endParaRPr>
          </a:p>
          <a:p>
            <a:r>
              <a:rPr lang="en-US">
                <a:ea typeface="+mn-lt"/>
                <a:cs typeface="+mn-lt"/>
              </a:rPr>
              <a:t>If every organization uses the same convenient data, they will tend to identify the same athletes.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616902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4F4EC-D09F-1299-C75A-51B9846084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Alternative data and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3F9774-8134-A9A4-DA1E-3A021D0E75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When the available data do not answer the original question, analysts can: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Seek alternative data sources 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Collect new measurements 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Develop proxies for qualities that are difficult to observe 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endParaRPr lang="en-US" dirty="0">
              <a:ea typeface="+mn-lt"/>
              <a:cs typeface="+mn-lt"/>
            </a:endParaRPr>
          </a:p>
          <a:p>
            <a:r>
              <a:rPr lang="en-US" dirty="0">
                <a:ea typeface="+mn-lt"/>
                <a:cs typeface="+mn-lt"/>
              </a:rPr>
              <a:t>The goal is not to force an answer from inadequate data. It is to find a better way to investigate the original question.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163048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D6EB5-FEC2-47DE-01A3-F0E170543F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/>
              <a:t>Summary &amp; Looking Ahead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781857-C6C4-CF29-7D9F-C7FCD74ECA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Data are not automatically objective simply because they are numerical. Their credibility depends on how they were collected, interpreted, and used.</a:t>
            </a:r>
            <a:endParaRPr lang="en-US"/>
          </a:p>
          <a:p>
            <a:r>
              <a:rPr lang="en-US"/>
              <a:t>Before analysis, consider </a:t>
            </a:r>
            <a:r>
              <a:rPr lang="en-US" b="1"/>
              <a:t>reliability</a:t>
            </a:r>
            <a:r>
              <a:rPr lang="en-US"/>
              <a:t>, </a:t>
            </a:r>
            <a:r>
              <a:rPr lang="en-US" b="1"/>
              <a:t>validity </a:t>
            </a:r>
            <a:r>
              <a:rPr lang="en-US"/>
              <a:t>and </a:t>
            </a:r>
            <a:r>
              <a:rPr lang="en-US" b="1"/>
              <a:t>ethics.</a:t>
            </a:r>
          </a:p>
          <a:p>
            <a:r>
              <a:rPr lang="en-US"/>
              <a:t>Next: data characteristics</a:t>
            </a:r>
          </a:p>
        </p:txBody>
      </p:sp>
    </p:spTree>
    <p:extLst>
      <p:ext uri="{BB962C8B-B14F-4D97-AF65-F5344CB8AC3E}">
        <p14:creationId xmlns:p14="http://schemas.microsoft.com/office/powerpoint/2010/main" val="22066921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1686</Words>
  <Application>Microsoft Office PowerPoint</Application>
  <PresentationFormat>Widescreen</PresentationFormat>
  <Paragraphs>276</Paragraphs>
  <Slides>31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8" baseType="lpstr">
      <vt:lpstr>Aptos</vt:lpstr>
      <vt:lpstr>Aptos Display</vt:lpstr>
      <vt:lpstr>Arial</vt:lpstr>
      <vt:lpstr>Cambria Math</vt:lpstr>
      <vt:lpstr>Courier New</vt:lpstr>
      <vt:lpstr>Wingdings</vt:lpstr>
      <vt:lpstr>Office Theme</vt:lpstr>
      <vt:lpstr>Reliability, Validity, and Ethics in Sports Analytics</vt:lpstr>
      <vt:lpstr>Illusion of precision</vt:lpstr>
      <vt:lpstr>Messy data</vt:lpstr>
      <vt:lpstr>Trust in the measurement</vt:lpstr>
      <vt:lpstr>Reliability = Consistency</vt:lpstr>
      <vt:lpstr>Types of reliability</vt:lpstr>
      <vt:lpstr>Reliable… but valid? </vt:lpstr>
      <vt:lpstr>Validity = Measuring What We Intend</vt:lpstr>
      <vt:lpstr>Types of Validity</vt:lpstr>
      <vt:lpstr>Reliable but Not Valid</vt:lpstr>
      <vt:lpstr>Understanding What the Metric Actually Means</vt:lpstr>
      <vt:lpstr>Measurement Error Is Not Athlete Change</vt:lpstr>
      <vt:lpstr>Garbage In, Garbage Out</vt:lpstr>
      <vt:lpstr>Sensor Audit</vt:lpstr>
      <vt:lpstr>Sensor Audit Example</vt:lpstr>
      <vt:lpstr>Protect your analysis from bad data</vt:lpstr>
      <vt:lpstr>Data-Quality Red Flags</vt:lpstr>
      <vt:lpstr>Ethics in Sports Analytics</vt:lpstr>
      <vt:lpstr>Why does it matter?</vt:lpstr>
      <vt:lpstr>consent and ownership</vt:lpstr>
      <vt:lpstr>weaponization of data</vt:lpstr>
      <vt:lpstr>Establishing Trust</vt:lpstr>
      <vt:lpstr>The resource divide</vt:lpstr>
      <vt:lpstr>How Does the Resource Divide Affect Analytics?</vt:lpstr>
      <vt:lpstr>The invisible athlete</vt:lpstr>
      <vt:lpstr>Making the invisible athlete</vt:lpstr>
      <vt:lpstr>Finding the invisible athlete</vt:lpstr>
      <vt:lpstr>Streetlight effect - revisited</vt:lpstr>
      <vt:lpstr>Pursuing the harder question</vt:lpstr>
      <vt:lpstr>Alternative data and methods</vt:lpstr>
      <vt:lpstr>Summary &amp; Looking Ahead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Onishi, Saryu</dc:creator>
  <cp:lastModifiedBy>Author</cp:lastModifiedBy>
  <cp:revision>7</cp:revision>
  <dcterms:created xsi:type="dcterms:W3CDTF">2026-08-17T13:48:23Z</dcterms:created>
  <dcterms:modified xsi:type="dcterms:W3CDTF">2026-09-15T17:59:16Z</dcterms:modified>
</cp:coreProperties>
</file>