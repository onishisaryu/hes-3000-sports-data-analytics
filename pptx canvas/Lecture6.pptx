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08" r:id="rId3"/>
    <p:sldId id="302" r:id="rId4"/>
    <p:sldId id="309" r:id="rId5"/>
    <p:sldId id="310" r:id="rId6"/>
    <p:sldId id="311" r:id="rId7"/>
    <p:sldId id="313" r:id="rId8"/>
    <p:sldId id="315" r:id="rId9"/>
    <p:sldId id="314" r:id="rId10"/>
    <p:sldId id="317" r:id="rId11"/>
    <p:sldId id="318" r:id="rId12"/>
    <p:sldId id="319" r:id="rId13"/>
    <p:sldId id="320" r:id="rId14"/>
    <p:sldId id="321" r:id="rId15"/>
    <p:sldId id="322" r:id="rId16"/>
    <p:sldId id="316" r:id="rId17"/>
    <p:sldId id="323" r:id="rId18"/>
    <p:sldId id="325" r:id="rId19"/>
    <p:sldId id="326" r:id="rId20"/>
    <p:sldId id="324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0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1"/>
    <p:restoredTop sz="78493" autoAdjust="0"/>
  </p:normalViewPr>
  <p:slideViewPr>
    <p:cSldViewPr snapToGrid="0">
      <p:cViewPr varScale="1">
        <p:scale>
          <a:sx n="92" d="100"/>
          <a:sy n="92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6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 did the first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15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Tz</a:t>
            </a:r>
            <a:r>
              <a:rPr lang="en-US" dirty="0"/>
              <a:t> or </a:t>
            </a:r>
            <a:r>
              <a:rPr lang="en-US" dirty="0" err="1"/>
              <a:t>utc</a:t>
            </a:r>
            <a:r>
              <a:rPr lang="en-US" dirty="0"/>
              <a:t> as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4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55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example : </a:t>
            </a:r>
            <a:r>
              <a:rPr lang="en-US" dirty="0" err="1"/>
              <a:t>pbp</a:t>
            </a:r>
            <a:r>
              <a:rPr lang="en-US" dirty="0"/>
              <a:t> data vs box score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3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3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Characteristics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A51-81C3-C6F5-2019-D433E0EF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FEBF-A76B-F940-05F8-F0375E2E0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5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EA68-9D76-C3ED-5211-CE52685D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the Dataset, Not the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CDBDB-82A8-5849-D714-756FA1BB6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What is being measured? </a:t>
            </a:r>
          </a:p>
          <a:p>
            <a:pPr lvl="0"/>
            <a:r>
              <a:rPr lang="en-US" dirty="0"/>
              <a:t>When and where were the data collected? </a:t>
            </a:r>
          </a:p>
          <a:p>
            <a:pPr lvl="0"/>
            <a:r>
              <a:rPr lang="en-US" dirty="0"/>
              <a:t>What does one row represent? </a:t>
            </a:r>
          </a:p>
          <a:p>
            <a:pPr lvl="0"/>
            <a:r>
              <a:rPr lang="en-US" dirty="0"/>
              <a:t>What does each column represent?</a:t>
            </a:r>
          </a:p>
        </p:txBody>
      </p:sp>
    </p:spTree>
    <p:extLst>
      <p:ext uri="{BB962C8B-B14F-4D97-AF65-F5344CB8AC3E}">
        <p14:creationId xmlns:p14="http://schemas.microsoft.com/office/powerpoint/2010/main" val="42538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985B-AEAB-D6C2-3196-4F2C5977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One Row Represent?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1CBF-66A0-6B24-80B9-9C59857E2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row could represent:</a:t>
            </a:r>
          </a:p>
          <a:p>
            <a:pPr lvl="0"/>
            <a:r>
              <a:rPr lang="en-US" dirty="0"/>
              <a:t>One athlete </a:t>
            </a:r>
          </a:p>
          <a:p>
            <a:pPr lvl="0"/>
            <a:r>
              <a:rPr lang="en-US" dirty="0"/>
              <a:t>One athlete during one season </a:t>
            </a:r>
          </a:p>
          <a:p>
            <a:pPr lvl="0"/>
            <a:r>
              <a:rPr lang="en-US" dirty="0"/>
              <a:t>One athlete during one game </a:t>
            </a:r>
          </a:p>
          <a:p>
            <a:pPr lvl="0"/>
            <a:r>
              <a:rPr lang="en-US" dirty="0"/>
              <a:t>One shot, pass, or possession </a:t>
            </a:r>
          </a:p>
          <a:p>
            <a:pPr lvl="0"/>
            <a:r>
              <a:rPr lang="en-US" dirty="0"/>
              <a:t>One sensor measurement </a:t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dirty="0"/>
              <a:t>The meaning of a row is the dataset’s </a:t>
            </a:r>
            <a:r>
              <a:rPr lang="en-US" b="1" dirty="0"/>
              <a:t>unit of observation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0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21F7-B635-AEBB-0B89-0D274281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Same Sport, Different Units of Observation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FFC9F1-005F-76D7-D480-32EEEBE5D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93992"/>
              </p:ext>
            </p:extLst>
          </p:nvPr>
        </p:nvGraphicFramePr>
        <p:xfrm>
          <a:off x="3117056" y="2148840"/>
          <a:ext cx="5957888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3982280746"/>
                    </a:ext>
                  </a:extLst>
                </a:gridCol>
                <a:gridCol w="3757613">
                  <a:extLst>
                    <a:ext uri="{9D8B030D-6E8A-4147-A177-3AD203B41FA5}">
                      <a16:colId xmlns:a16="http://schemas.microsoft.com/office/drawing/2014/main" val="989172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row represents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341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athlete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34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Season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athlete-season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4089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Box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athlete-game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650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Shot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shot attempt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60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Training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athlete-session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77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 Hz GPS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athlete at 1/10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of a second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85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73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7CAB-1193-2284-EEA1-BF2C80F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159F-3A16-6F03-D249-93D5743E4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Granularity describes the level of detail in a dataset.</a:t>
            </a:r>
          </a:p>
          <a:p>
            <a:pPr lvl="0"/>
            <a:r>
              <a:rPr lang="en-US" dirty="0"/>
              <a:t>Season totals provide a broad summary. </a:t>
            </a:r>
          </a:p>
          <a:p>
            <a:pPr lvl="0"/>
            <a:r>
              <a:rPr lang="en-US" dirty="0"/>
              <a:t>Game-level data show changes across games. </a:t>
            </a:r>
          </a:p>
          <a:p>
            <a:pPr lvl="0"/>
            <a:r>
              <a:rPr lang="en-US" dirty="0"/>
              <a:t>Event-level data describe individual actions. </a:t>
            </a:r>
          </a:p>
          <a:p>
            <a:pPr lvl="0"/>
            <a:r>
              <a:rPr lang="en-US" dirty="0"/>
              <a:t>Sensor data may contain several measurements per second.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detailed data provide more possibilities, but also require more storage, cleaning, and interpretation.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3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5047-DEA9-1F80-2D2A-D547E1DA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Identifies Each Observation?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BF060-A02F-EDC6-327A-5146B2BE3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identifier distinguishes one observation from another.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 err="1"/>
              <a:t>athlete_id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game_id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date </a:t>
            </a:r>
          </a:p>
          <a:p>
            <a:pPr lvl="1"/>
            <a:r>
              <a:rPr lang="en-US" dirty="0" err="1"/>
              <a:t>trial_number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An athlete’s name may not be a reliable identifier:</a:t>
            </a:r>
          </a:p>
          <a:p>
            <a:pPr lvl="0"/>
            <a:r>
              <a:rPr lang="en-US" dirty="0"/>
              <a:t>Names may be misspelled. </a:t>
            </a:r>
          </a:p>
          <a:p>
            <a:pPr lvl="0"/>
            <a:r>
              <a:rPr lang="en-US" dirty="0"/>
              <a:t>Two athletes may share the same name. </a:t>
            </a:r>
          </a:p>
        </p:txBody>
      </p:sp>
    </p:spTree>
    <p:extLst>
      <p:ext uri="{BB962C8B-B14F-4D97-AF65-F5344CB8AC3E}">
        <p14:creationId xmlns:p14="http://schemas.microsoft.com/office/powerpoint/2010/main" val="80272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9603-2866-FFA9-180D-26C55934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53C44-1E29-6A77-1BB2-9CF271A20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2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9962-5468-23F5-1B40-D8CF00289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and Quantitative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98F7-BBE2-6BB2-6D62-93140D693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2578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Categorical variables</a:t>
            </a:r>
          </a:p>
          <a:p>
            <a:r>
              <a:rPr lang="en-US" dirty="0"/>
              <a:t>Describe groups, labels, or states.</a:t>
            </a:r>
          </a:p>
          <a:p>
            <a:pPr lvl="1"/>
            <a:r>
              <a:rPr lang="en-US" dirty="0"/>
              <a:t>Position </a:t>
            </a:r>
          </a:p>
          <a:p>
            <a:pPr lvl="1"/>
            <a:r>
              <a:rPr lang="en-US" dirty="0"/>
              <a:t>Team </a:t>
            </a:r>
          </a:p>
          <a:p>
            <a:pPr lvl="1"/>
            <a:r>
              <a:rPr lang="en-US" dirty="0"/>
              <a:t>Play type </a:t>
            </a:r>
          </a:p>
          <a:p>
            <a:pPr lvl="1"/>
            <a:r>
              <a:rPr lang="en-US" dirty="0"/>
              <a:t>Availability status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27B9FA-35EE-1358-DCE6-CEFFE707A8D4}"/>
              </a:ext>
            </a:extLst>
          </p:cNvPr>
          <p:cNvSpPr txBox="1">
            <a:spLocks/>
          </p:cNvSpPr>
          <p:nvPr/>
        </p:nvSpPr>
        <p:spPr>
          <a:xfrm>
            <a:off x="6096000" y="1441938"/>
            <a:ext cx="52578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Numerical variables</a:t>
            </a:r>
          </a:p>
          <a:p>
            <a:r>
              <a:rPr lang="en-US" dirty="0"/>
              <a:t>Represent counts or measurements.</a:t>
            </a:r>
          </a:p>
          <a:p>
            <a:pPr lvl="1"/>
            <a:r>
              <a:rPr lang="en-US" dirty="0"/>
              <a:t>Minutes played </a:t>
            </a:r>
          </a:p>
          <a:p>
            <a:pPr lvl="1"/>
            <a:r>
              <a:rPr lang="en-US" dirty="0"/>
              <a:t>Jump height </a:t>
            </a:r>
          </a:p>
          <a:p>
            <a:pPr lvl="1"/>
            <a:r>
              <a:rPr lang="en-US" dirty="0"/>
              <a:t>Distance traveled </a:t>
            </a:r>
          </a:p>
          <a:p>
            <a:pPr lvl="1"/>
            <a:r>
              <a:rPr lang="en-US" dirty="0"/>
              <a:t>Number of shots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7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4C6F-91B0-A238-9545-E2537760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5BC9-E379-4341-128E-D9C541A1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DBB8-626A-70F0-2A48-A5E37C033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2578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Nominal</a:t>
            </a:r>
          </a:p>
          <a:p>
            <a:r>
              <a:rPr lang="en-US" dirty="0"/>
              <a:t>Categories without an inherent order:</a:t>
            </a:r>
          </a:p>
          <a:p>
            <a:pPr lvl="1"/>
            <a:r>
              <a:rPr lang="en-US" dirty="0"/>
              <a:t>Position </a:t>
            </a:r>
          </a:p>
          <a:p>
            <a:pPr lvl="1"/>
            <a:r>
              <a:rPr lang="en-US" dirty="0"/>
              <a:t>Team </a:t>
            </a:r>
          </a:p>
          <a:p>
            <a:pPr lvl="1"/>
            <a:r>
              <a:rPr lang="en-US" dirty="0"/>
              <a:t>Shot outcome </a:t>
            </a:r>
          </a:p>
          <a:p>
            <a:pPr lvl="1"/>
            <a:r>
              <a:rPr lang="en-US" dirty="0"/>
              <a:t>Injury type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DD65AC-C404-5453-D318-1E14515B25F5}"/>
              </a:ext>
            </a:extLst>
          </p:cNvPr>
          <p:cNvSpPr txBox="1">
            <a:spLocks/>
          </p:cNvSpPr>
          <p:nvPr/>
        </p:nvSpPr>
        <p:spPr>
          <a:xfrm>
            <a:off x="6096000" y="1441938"/>
            <a:ext cx="52578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Ordinal</a:t>
            </a:r>
          </a:p>
          <a:p>
            <a:r>
              <a:rPr lang="en-US" dirty="0"/>
              <a:t>Categories with a meaningful order:</a:t>
            </a:r>
          </a:p>
          <a:p>
            <a:pPr lvl="1"/>
            <a:r>
              <a:rPr lang="en-US" dirty="0"/>
              <a:t>Low, moderate, high </a:t>
            </a:r>
          </a:p>
          <a:p>
            <a:pPr lvl="1"/>
            <a:r>
              <a:rPr lang="en-US" dirty="0"/>
              <a:t>First, second, third </a:t>
            </a:r>
          </a:p>
          <a:p>
            <a:pPr lvl="1"/>
            <a:r>
              <a:rPr lang="en-US" dirty="0"/>
              <a:t>Availability classifications </a:t>
            </a:r>
          </a:p>
          <a:p>
            <a:pPr lvl="1"/>
            <a:r>
              <a:rPr lang="en-US" dirty="0"/>
              <a:t>Subjective rating scales</a:t>
            </a:r>
          </a:p>
        </p:txBody>
      </p:sp>
      <p:pic>
        <p:nvPicPr>
          <p:cNvPr id="7" name="Picture 2" descr="BBC SPORT | Football | Laws &amp; Equipment | Positions guide: who is in a team?">
            <a:extLst>
              <a:ext uri="{FF2B5EF4-FFF2-40B4-BE49-F238E27FC236}">
                <a16:creationId xmlns:a16="http://schemas.microsoft.com/office/drawing/2014/main" id="{EDC5E7B1-60FF-2502-896B-3189CDD0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912" y="4639974"/>
            <a:ext cx="2412351" cy="173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What is the smiley face rating scale ...">
            <a:extLst>
              <a:ext uri="{FF2B5EF4-FFF2-40B4-BE49-F238E27FC236}">
                <a16:creationId xmlns:a16="http://schemas.microsoft.com/office/drawing/2014/main" id="{A8DAC0D1-0CB4-27C7-EAE8-D94F2314E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366" y="5126525"/>
            <a:ext cx="3183886" cy="105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78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A2787-833C-0F36-14B5-CC2173F3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F466-26E6-95EE-6399-7619B565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Counts and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B3D1-2787-6B5F-27F4-54B5A9842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2578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Discrete data</a:t>
            </a:r>
          </a:p>
          <a:p>
            <a:r>
              <a:rPr lang="en-US" dirty="0"/>
              <a:t>Usually represent counts:</a:t>
            </a:r>
          </a:p>
          <a:p>
            <a:pPr lvl="1"/>
            <a:r>
              <a:rPr lang="en-US" dirty="0"/>
              <a:t>Rebounds </a:t>
            </a:r>
          </a:p>
          <a:p>
            <a:pPr lvl="1"/>
            <a:r>
              <a:rPr lang="en-US" dirty="0"/>
              <a:t>Goals </a:t>
            </a:r>
          </a:p>
          <a:p>
            <a:pPr lvl="1"/>
            <a:r>
              <a:rPr lang="en-US" dirty="0"/>
              <a:t>Sprint efforts </a:t>
            </a:r>
          </a:p>
          <a:p>
            <a:pPr lvl="1"/>
            <a:r>
              <a:rPr lang="en-US" dirty="0"/>
              <a:t>Shot attempts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305780-7B86-3F92-C53A-C30BD7148551}"/>
              </a:ext>
            </a:extLst>
          </p:cNvPr>
          <p:cNvSpPr txBox="1">
            <a:spLocks/>
          </p:cNvSpPr>
          <p:nvPr/>
        </p:nvSpPr>
        <p:spPr>
          <a:xfrm>
            <a:off x="6095999" y="1441938"/>
            <a:ext cx="5915891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Continuous data</a:t>
            </a:r>
          </a:p>
          <a:p>
            <a:r>
              <a:rPr lang="en-US" dirty="0"/>
              <a:t>Usually represent measurements:</a:t>
            </a:r>
          </a:p>
          <a:p>
            <a:pPr lvl="1"/>
            <a:r>
              <a:rPr lang="en-US" dirty="0"/>
              <a:t>Speed </a:t>
            </a:r>
          </a:p>
          <a:p>
            <a:pPr lvl="1"/>
            <a:r>
              <a:rPr lang="en-US" dirty="0"/>
              <a:t>Distance </a:t>
            </a:r>
          </a:p>
          <a:p>
            <a:pPr lvl="1"/>
            <a:r>
              <a:rPr lang="en-US" dirty="0"/>
              <a:t>Time </a:t>
            </a:r>
          </a:p>
          <a:p>
            <a:pPr lvl="1"/>
            <a:r>
              <a:rPr lang="en-US" dirty="0"/>
              <a:t>Force </a:t>
            </a:r>
          </a:p>
          <a:p>
            <a:pPr lvl="1"/>
            <a:r>
              <a:rPr lang="en-US" dirty="0"/>
              <a:t>Jump height</a:t>
            </a:r>
          </a:p>
        </p:txBody>
      </p:sp>
      <p:pic>
        <p:nvPicPr>
          <p:cNvPr id="7" name="Picture 2" descr="Long jump but not as we know it! — Anything But Footy">
            <a:extLst>
              <a:ext uri="{FF2B5EF4-FFF2-40B4-BE49-F238E27FC236}">
                <a16:creationId xmlns:a16="http://schemas.microsoft.com/office/drawing/2014/main" id="{8467AE44-B2E4-8402-5690-A24F2C6DD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522" y="4460288"/>
            <a:ext cx="2434151" cy="188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hot Clock Violations: Full Guide">
            <a:extLst>
              <a:ext uri="{FF2B5EF4-FFF2-40B4-BE49-F238E27FC236}">
                <a16:creationId xmlns:a16="http://schemas.microsoft.com/office/drawing/2014/main" id="{D8E55EE7-9B86-B3B3-0099-253190F49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t="-70" r="31651" b="-741"/>
          <a:stretch>
            <a:fillRect/>
          </a:stretch>
        </p:blipFill>
        <p:spPr bwMode="auto">
          <a:xfrm>
            <a:off x="1500494" y="4492580"/>
            <a:ext cx="2840095" cy="184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F1FC-5599-3D35-4BAF-DD9D30F6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Dates and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81DD4-1929-042D-7FFB-ED44192A6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Dates and times may represent:</a:t>
            </a:r>
          </a:p>
          <a:p>
            <a:pPr lvl="0"/>
            <a:r>
              <a:rPr lang="en-US" dirty="0"/>
              <a:t>Competition date </a:t>
            </a:r>
          </a:p>
          <a:p>
            <a:pPr lvl="0"/>
            <a:r>
              <a:rPr lang="en-US" dirty="0"/>
              <a:t>Collection date </a:t>
            </a:r>
          </a:p>
          <a:p>
            <a:pPr lvl="0"/>
            <a:r>
              <a:rPr lang="en-US" dirty="0"/>
              <a:t>Session start time </a:t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dirty="0"/>
              <a:t>Common problems include:</a:t>
            </a:r>
          </a:p>
          <a:p>
            <a:pPr lvl="0"/>
            <a:r>
              <a:rPr lang="en-US" dirty="0"/>
              <a:t>09/10/26 versus 10/09/26 </a:t>
            </a:r>
          </a:p>
          <a:p>
            <a:pPr lvl="0"/>
            <a:r>
              <a:rPr lang="en-US" dirty="0"/>
              <a:t>Dates stored as text </a:t>
            </a:r>
          </a:p>
          <a:p>
            <a:pPr lvl="0"/>
            <a:r>
              <a:rPr lang="en-US" dirty="0"/>
              <a:t>Inconsistent time zones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8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1157-B5CB-EC02-0DB8-63A17D0F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and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809AC-0E82-DE7E-320A-AE0DDF0A4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number has little meaning without a definition and unit.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The unit can completely change what is being measured</a:t>
            </a:r>
          </a:p>
          <a:p>
            <a:pPr lvl="1"/>
            <a:r>
              <a:rPr lang="en-US" dirty="0"/>
              <a:t>Is speed measured in mph, km/h, or m/s? </a:t>
            </a:r>
          </a:p>
          <a:p>
            <a:pPr lvl="1"/>
            <a:r>
              <a:rPr lang="en-US" dirty="0"/>
              <a:t>Is body mass recorded in pounds or kilograms? </a:t>
            </a:r>
          </a:p>
          <a:p>
            <a:pPr lvl="1"/>
            <a:r>
              <a:rPr lang="en-US" dirty="0"/>
              <a:t>Is duration recorded in seconds or minutes?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4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E17F-B910-C655-8C5F-08F82982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2CBC-6B09-2143-5C4B-51D6CE061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dictionary explains the variables in a dataset.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EF1E61-B61E-6F52-D915-5699DAFB6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0623"/>
              </p:ext>
            </p:extLst>
          </p:nvPr>
        </p:nvGraphicFramePr>
        <p:xfrm>
          <a:off x="838200" y="2711926"/>
          <a:ext cx="1051560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882643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77914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75449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or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7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athlete_id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athlete identifier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260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spent participating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341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tracked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14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session_rpe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Athlete-reported exertion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1–10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1598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player_load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tracked 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651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89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BF1-754B-85C9-4147-BC050F1E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F8DB4-1D5A-65A2-CAC9-F2805C1FE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36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FB65-BA5C-20EF-FC15-88DDE9BF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and Long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EDFB-0D89-8BE3-07D2-69CC95EBD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Wide format</a:t>
            </a:r>
          </a:p>
          <a:p>
            <a:r>
              <a:rPr lang="en-US" dirty="0"/>
              <a:t>Multiple measurements appear in separate columns.</a:t>
            </a:r>
          </a:p>
          <a:p>
            <a:pPr marL="0" indent="0" algn="ctr">
              <a:buNone/>
            </a:pPr>
            <a:r>
              <a:rPr lang="en-US" u="sng" dirty="0"/>
              <a:t>Athlete | Week_1 | Week_2 | Week_3</a:t>
            </a:r>
          </a:p>
          <a:p>
            <a:pPr marL="0" indent="0">
              <a:buNone/>
            </a:pPr>
            <a:r>
              <a:rPr lang="en-US" dirty="0"/>
              <a:t>Long format</a:t>
            </a:r>
          </a:p>
          <a:p>
            <a:r>
              <a:rPr lang="en-US" dirty="0"/>
              <a:t>Each measurement appears in a separate row.</a:t>
            </a:r>
          </a:p>
          <a:p>
            <a:pPr marL="0" indent="0" algn="ctr">
              <a:buNone/>
            </a:pPr>
            <a:r>
              <a:rPr lang="en-US" u="sng" dirty="0"/>
              <a:t>Athlete | Week | </a:t>
            </a:r>
            <a:r>
              <a:rPr lang="en-US" u="sng" dirty="0" err="1"/>
              <a:t>Jump_Height</a:t>
            </a:r>
            <a:endParaRPr lang="en-US" u="sng" dirty="0"/>
          </a:p>
          <a:p>
            <a:pPr marL="0" indent="0" algn="ctr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Wide vs Long :</a:t>
            </a:r>
          </a:p>
          <a:p>
            <a:pPr lvl="0"/>
            <a:r>
              <a:rPr lang="en-US" dirty="0"/>
              <a:t>Wide data are often easier to read in a spreadsheet. </a:t>
            </a:r>
          </a:p>
          <a:p>
            <a:pPr lvl="0"/>
            <a:r>
              <a:rPr lang="en-US" dirty="0"/>
              <a:t>Long data are usually easier to group, visualize, and analyze.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48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C387-6D03-B5BC-4A66-343FDC57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vs Long?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0CCC7-C9CF-0C6C-A6A5-3E96D8484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would be better for:</a:t>
            </a:r>
          </a:p>
          <a:p>
            <a:pPr lvl="1"/>
            <a:r>
              <a:rPr lang="en-US" dirty="0"/>
              <a:t>Plotting jump height across ten weeks </a:t>
            </a:r>
          </a:p>
          <a:p>
            <a:pPr lvl="1"/>
            <a:r>
              <a:rPr lang="en-US" dirty="0"/>
              <a:t>Comparing the most recent test for every athlete </a:t>
            </a:r>
          </a:p>
          <a:p>
            <a:pPr lvl="1"/>
            <a:r>
              <a:rPr lang="en-US" dirty="0"/>
              <a:t>Entering scores for a small number of assessments </a:t>
            </a:r>
          </a:p>
          <a:p>
            <a:pPr lvl="1"/>
            <a:r>
              <a:rPr lang="en-US" dirty="0"/>
              <a:t>Adding new testing dates throughout a season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D3C796-0F69-5945-6DEC-2EBDFB5DAC89}"/>
              </a:ext>
            </a:extLst>
          </p:cNvPr>
          <p:cNvSpPr txBox="1">
            <a:spLocks/>
          </p:cNvSpPr>
          <p:nvPr/>
        </p:nvSpPr>
        <p:spPr>
          <a:xfrm>
            <a:off x="7928264" y="1641764"/>
            <a:ext cx="3958936" cy="453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Long</a:t>
            </a:r>
          </a:p>
          <a:p>
            <a:pPr marL="457200" lvl="1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Either</a:t>
            </a:r>
          </a:p>
          <a:p>
            <a:pPr marL="457200" lvl="1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000" dirty="0">
                <a:sym typeface="Wingdings" panose="05000000000000000000" pitchFamily="2" charset="2"/>
              </a:rPr>
              <a:t> Wide may be convenient</a:t>
            </a:r>
            <a:endParaRPr lang="en-US" sz="2000" dirty="0"/>
          </a:p>
          <a:p>
            <a:pPr marL="457200" lvl="1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Long </a:t>
            </a:r>
          </a:p>
        </p:txBody>
      </p:sp>
    </p:spTree>
    <p:extLst>
      <p:ext uri="{BB962C8B-B14F-4D97-AF65-F5344CB8AC3E}">
        <p14:creationId xmlns:p14="http://schemas.microsoft.com/office/powerpoint/2010/main" val="390448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6939-1DDD-D543-88C1-ABD59103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10E0-63B1-F4BE-6DE7-28DA9D2E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and Summary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612A-5EFB-7D17-C537-ECA3EA444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2578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Raw data</a:t>
            </a:r>
          </a:p>
          <a:p>
            <a:pPr lvl="0"/>
            <a:r>
              <a:rPr lang="en-US" dirty="0"/>
              <a:t>Individual events or measurements </a:t>
            </a:r>
          </a:p>
          <a:p>
            <a:pPr lvl="0"/>
            <a:r>
              <a:rPr lang="en-US" dirty="0"/>
              <a:t>Greater detail </a:t>
            </a:r>
          </a:p>
          <a:p>
            <a:pPr lvl="0"/>
            <a:r>
              <a:rPr lang="en-US" dirty="0"/>
              <a:t>More opportunities for checking and reanalysis</a:t>
            </a:r>
          </a:p>
          <a:p>
            <a:pPr lvl="0"/>
            <a:r>
              <a:rPr lang="en-US" dirty="0"/>
              <a:t>Eg: every jump trial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03D65-1FA6-557C-8EA3-269B9014FF19}"/>
              </a:ext>
            </a:extLst>
          </p:cNvPr>
          <p:cNvSpPr txBox="1">
            <a:spLocks/>
          </p:cNvSpPr>
          <p:nvPr/>
        </p:nvSpPr>
        <p:spPr>
          <a:xfrm>
            <a:off x="6096000" y="1441938"/>
            <a:ext cx="52578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Summary data</a:t>
            </a:r>
          </a:p>
          <a:p>
            <a:pPr lvl="0"/>
            <a:r>
              <a:rPr lang="en-US" dirty="0"/>
              <a:t>Totals, averages, or maximums </a:t>
            </a:r>
          </a:p>
          <a:p>
            <a:pPr lvl="0"/>
            <a:r>
              <a:rPr lang="en-US" dirty="0"/>
              <a:t>Easier to interpret quickly </a:t>
            </a:r>
          </a:p>
          <a:p>
            <a:pPr lvl="0"/>
            <a:r>
              <a:rPr lang="en-US" dirty="0"/>
              <a:t>May hide variation or unusual observations</a:t>
            </a:r>
          </a:p>
          <a:p>
            <a:pPr lvl="0"/>
            <a:r>
              <a:rPr lang="en-US" dirty="0"/>
              <a:t>Eg: each athlete’s average or maximum jump height</a:t>
            </a:r>
          </a:p>
        </p:txBody>
      </p:sp>
    </p:spTree>
    <p:extLst>
      <p:ext uri="{BB962C8B-B14F-4D97-AF65-F5344CB8AC3E}">
        <p14:creationId xmlns:p14="http://schemas.microsoft.com/office/powerpoint/2010/main" val="32661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958E-54AB-310F-3207-DE94B32B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Dataset, Multiple Tables?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1580C-E257-96E6-2648-2D78A91D6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data may be stored across several related tables:</a:t>
            </a:r>
          </a:p>
          <a:p>
            <a:pPr lvl="1"/>
            <a:r>
              <a:rPr lang="en-US" dirty="0"/>
              <a:t>Athlete information </a:t>
            </a:r>
          </a:p>
          <a:p>
            <a:pPr lvl="1"/>
            <a:r>
              <a:rPr lang="en-US" dirty="0"/>
              <a:t>Games or training sessions </a:t>
            </a:r>
          </a:p>
          <a:p>
            <a:pPr lvl="1"/>
            <a:r>
              <a:rPr lang="en-US" dirty="0"/>
              <a:t>Performance test results</a:t>
            </a:r>
          </a:p>
          <a:p>
            <a:pPr lvl="1"/>
            <a:endParaRPr lang="en-US" dirty="0"/>
          </a:p>
          <a:p>
            <a:r>
              <a:rPr lang="en-US" dirty="0"/>
              <a:t>Trying to place everything in one spreadsheet can produce:</a:t>
            </a:r>
          </a:p>
          <a:p>
            <a:pPr lvl="1"/>
            <a:r>
              <a:rPr lang="en-US" dirty="0"/>
              <a:t>Repeated athlete information </a:t>
            </a:r>
          </a:p>
          <a:p>
            <a:pPr lvl="1"/>
            <a:r>
              <a:rPr lang="en-US" dirty="0"/>
              <a:t>Inconsistent values </a:t>
            </a:r>
          </a:p>
          <a:p>
            <a:pPr lvl="1"/>
            <a:r>
              <a:rPr lang="en-US" dirty="0"/>
              <a:t>Excessively wide datasets </a:t>
            </a:r>
          </a:p>
          <a:p>
            <a:pPr lvl="1"/>
            <a:r>
              <a:rPr lang="en-US" dirty="0"/>
              <a:t>Confusion about what each row represents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0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E0F9-F4C2-59CE-431E-8CD1D034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C1C8D-D20F-7FED-E7BF-3DD21FE50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CSV</a:t>
            </a:r>
          </a:p>
          <a:p>
            <a:pPr lvl="1"/>
            <a:r>
              <a:rPr lang="en-US" dirty="0"/>
              <a:t>Plain-text table </a:t>
            </a:r>
          </a:p>
          <a:p>
            <a:pPr lvl="1"/>
            <a:r>
              <a:rPr lang="en-US" dirty="0"/>
              <a:t>Easy to import into most software </a:t>
            </a:r>
          </a:p>
          <a:p>
            <a:pPr lvl="1"/>
            <a:r>
              <a:rPr lang="en-US" dirty="0"/>
              <a:t>Does not preserve formatting, formulas, or multiple sheets </a:t>
            </a:r>
          </a:p>
          <a:p>
            <a:r>
              <a:rPr lang="en-US" dirty="0"/>
              <a:t>Excel</a:t>
            </a:r>
          </a:p>
          <a:p>
            <a:pPr lvl="1"/>
            <a:r>
              <a:rPr lang="en-US" dirty="0"/>
              <a:t>Supports multiple sheets, formulas, and formatting </a:t>
            </a:r>
          </a:p>
          <a:p>
            <a:pPr lvl="1"/>
            <a:r>
              <a:rPr lang="en-US" dirty="0"/>
              <a:t>Convenient for manual data entry </a:t>
            </a:r>
          </a:p>
          <a:p>
            <a:pPr lvl="1"/>
            <a:r>
              <a:rPr lang="en-US" dirty="0"/>
              <a:t>Makes it easier to create structures that look good but analyze poorly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52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3220-561F-9FF1-DCA8-40319325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4B440-F45A-BCD1-6ED2-530E36471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34CD-A20A-C0F2-26F6-F1776365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Spreadsheet Designed for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D488-9E3E-F30F-3C84-B5127FFF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spreadsheet may be readable to a person but difficult to analyze.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Common examples:</a:t>
            </a:r>
          </a:p>
          <a:p>
            <a:pPr lvl="1"/>
            <a:r>
              <a:rPr lang="en-US" dirty="0"/>
              <a:t>Merged cells </a:t>
            </a:r>
          </a:p>
          <a:p>
            <a:pPr lvl="1"/>
            <a:r>
              <a:rPr lang="en-US" dirty="0"/>
              <a:t>Multiple header rows </a:t>
            </a:r>
          </a:p>
          <a:p>
            <a:pPr lvl="1"/>
            <a:r>
              <a:rPr lang="en-US" dirty="0"/>
              <a:t>Blank rows separating groups </a:t>
            </a:r>
          </a:p>
          <a:p>
            <a:pPr lvl="1"/>
            <a:r>
              <a:rPr lang="en-US" dirty="0"/>
              <a:t>Totals mixed with individual observations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Statistical software cannot interpret meaning that exists through visual formatting.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18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BC42-EE3E-1A23-215C-06BAC427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Column, One Type of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CEA9-72E9-C871-D0B7-7C83F75F4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Problematic cells might contain:</a:t>
            </a:r>
          </a:p>
          <a:p>
            <a:pPr lvl="1"/>
            <a:r>
              <a:rPr lang="en-US" dirty="0"/>
              <a:t>185 </a:t>
            </a:r>
            <a:r>
              <a:rPr lang="en-US" dirty="0" err="1"/>
              <a:t>lb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Injured - ankle </a:t>
            </a:r>
          </a:p>
          <a:p>
            <a:pPr lvl="1"/>
            <a:r>
              <a:rPr lang="en-US" dirty="0"/>
              <a:t>DNP </a:t>
            </a:r>
          </a:p>
          <a:p>
            <a:pPr lvl="1"/>
            <a:r>
              <a:rPr lang="en-US" dirty="0"/>
              <a:t>Smith, John #24</a:t>
            </a:r>
          </a:p>
          <a:p>
            <a:r>
              <a:rPr lang="en-US" dirty="0"/>
              <a:t>These combine values, units, notes, or identifiers.</a:t>
            </a:r>
          </a:p>
          <a:p>
            <a:r>
              <a:rPr lang="en-US" dirty="0"/>
              <a:t>One column should have one consistent meaning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BC1AF7-B80A-009B-1395-0B8D83BF9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30423"/>
              </p:ext>
            </p:extLst>
          </p:nvPr>
        </p:nvGraphicFramePr>
        <p:xfrm>
          <a:off x="838200" y="5045222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547137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6421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940134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035784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93976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jersey_number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weight_lbs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injury_location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1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Injured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ankle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04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9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7FB7-C06E-606E-6846-0C6A9B75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Inconsistent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FA97-5B32-D11C-FDB7-9AA70FA3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same category might appear as:</a:t>
            </a:r>
          </a:p>
          <a:p>
            <a:pPr lvl="1"/>
            <a:r>
              <a:rPr lang="en-US" dirty="0"/>
              <a:t>Guard </a:t>
            </a:r>
          </a:p>
          <a:p>
            <a:pPr lvl="1"/>
            <a:r>
              <a:rPr lang="en-US" dirty="0"/>
              <a:t>guard </a:t>
            </a:r>
          </a:p>
          <a:p>
            <a:pPr lvl="1"/>
            <a:r>
              <a:rPr lang="en-US" dirty="0"/>
              <a:t>G </a:t>
            </a:r>
          </a:p>
          <a:p>
            <a:pPr lvl="1"/>
            <a:r>
              <a:rPr lang="en-US" dirty="0"/>
              <a:t>G (with an extra space)</a:t>
            </a:r>
          </a:p>
          <a:p>
            <a:pPr lvl="1"/>
            <a:r>
              <a:rPr lang="en-US" dirty="0"/>
              <a:t>Point Guard</a:t>
            </a:r>
          </a:p>
          <a:p>
            <a:endParaRPr lang="en-US" dirty="0"/>
          </a:p>
          <a:p>
            <a:r>
              <a:rPr lang="en-US" dirty="0"/>
              <a:t>To a person, these may appear equivalent but to software, they are different categories.</a:t>
            </a:r>
          </a:p>
          <a:p>
            <a:r>
              <a:rPr lang="en-US" dirty="0"/>
              <a:t>Categories need consistent spelling, capitalization, and definitions.</a:t>
            </a:r>
          </a:p>
        </p:txBody>
      </p:sp>
    </p:spTree>
    <p:extLst>
      <p:ext uri="{BB962C8B-B14F-4D97-AF65-F5344CB8AC3E}">
        <p14:creationId xmlns:p14="http://schemas.microsoft.com/office/powerpoint/2010/main" val="247178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06CA-33DE-77B2-0C53-DF92156B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data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6E33-CB20-1D4C-4E50-2DFCB609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observations: truly identical or represent separate events?</a:t>
            </a:r>
          </a:p>
          <a:p>
            <a:r>
              <a:rPr lang="en-US" dirty="0"/>
              <a:t>Impossible and suspicious values</a:t>
            </a:r>
          </a:p>
          <a:p>
            <a:r>
              <a:rPr lang="en-US" dirty="0"/>
              <a:t>Missing data: truly missing or 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2211091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1B5B-1B99-9433-BAC0-05D7065F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Hygiene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639CB-A3D8-3AF9-2E2B-4E818BC4C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18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B68C-EAF5-2FA2-3D7D-34747FFD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Hygiene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0034C-3EC5-A339-92D7-7BB658EC9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hygiene means keeping data organized, consistent, and understandable.</a:t>
            </a:r>
          </a:p>
          <a:p>
            <a:r>
              <a:rPr lang="en-US" dirty="0"/>
              <a:t>Before analysis: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Preserve the original file.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 a separate working copy (in excel, copy sheet).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Identify the meaning of each row and column. (data dictionary)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Standardize categories, formats, and units.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Check duplicates, ranges, and missing values.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Document important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399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Understand the dataset before calculating anything. </a:t>
            </a:r>
          </a:p>
          <a:p>
            <a:pPr lvl="0"/>
            <a:r>
              <a:rPr lang="en-US" dirty="0"/>
              <a:t>Structure determines what questions the data can answer. </a:t>
            </a:r>
          </a:p>
          <a:p>
            <a:pPr lvl="0"/>
            <a:r>
              <a:rPr lang="en-US" dirty="0"/>
              <a:t>Values require definitions, units, and context. </a:t>
            </a:r>
          </a:p>
          <a:p>
            <a:pPr lvl="0"/>
            <a:r>
              <a:rPr lang="en-US" dirty="0"/>
              <a:t>Missing values can represent different situations. </a:t>
            </a:r>
          </a:p>
          <a:p>
            <a:pPr lvl="0"/>
            <a:r>
              <a:rPr lang="en-US" dirty="0"/>
              <a:t>Data inspection should occur before analysis.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Next: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1070</Words>
  <Application>Microsoft Office PowerPoint</Application>
  <PresentationFormat>Widescreen</PresentationFormat>
  <Paragraphs>252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Data Characteristics</vt:lpstr>
      <vt:lpstr>Understanding the Dataset</vt:lpstr>
      <vt:lpstr>Start With the Dataset, Not the Numbers</vt:lpstr>
      <vt:lpstr>What Does One Row Represent?</vt:lpstr>
      <vt:lpstr>The Same Sport, Different Units of Observation</vt:lpstr>
      <vt:lpstr>Data Granularity</vt:lpstr>
      <vt:lpstr>What Identifies Each Observation?</vt:lpstr>
      <vt:lpstr>Variables and Data Formats</vt:lpstr>
      <vt:lpstr>Qualitative and Quantitative Data</vt:lpstr>
      <vt:lpstr>Categories</vt:lpstr>
      <vt:lpstr>Counts and Measurements</vt:lpstr>
      <vt:lpstr>Dates and Times</vt:lpstr>
      <vt:lpstr>Units and Definitions</vt:lpstr>
      <vt:lpstr>Data Dictionary</vt:lpstr>
      <vt:lpstr>Data Structure</vt:lpstr>
      <vt:lpstr>Wide and Long Data</vt:lpstr>
      <vt:lpstr>Wide vs Long?</vt:lpstr>
      <vt:lpstr>Raw Data and Summary Data</vt:lpstr>
      <vt:lpstr>One Dataset, Multiple Tables?</vt:lpstr>
      <vt:lpstr>Common File Formats</vt:lpstr>
      <vt:lpstr>Common Problems</vt:lpstr>
      <vt:lpstr>Spreadsheet Designed for People</vt:lpstr>
      <vt:lpstr>One Column, One Type of Information</vt:lpstr>
      <vt:lpstr>Inconsistent Categories</vt:lpstr>
      <vt:lpstr>Other common data problems</vt:lpstr>
      <vt:lpstr>Data Hygiene</vt:lpstr>
      <vt:lpstr>Basic Data Hygiene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19</cp:revision>
  <dcterms:created xsi:type="dcterms:W3CDTF">2026-08-17T13:48:23Z</dcterms:created>
  <dcterms:modified xsi:type="dcterms:W3CDTF">2026-09-17T19:11:17Z</dcterms:modified>
</cp:coreProperties>
</file>