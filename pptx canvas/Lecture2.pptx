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96" r:id="rId3"/>
    <p:sldId id="270" r:id="rId4"/>
    <p:sldId id="295" r:id="rId5"/>
    <p:sldId id="271" r:id="rId6"/>
    <p:sldId id="297" r:id="rId7"/>
    <p:sldId id="298" r:id="rId8"/>
    <p:sldId id="272" r:id="rId9"/>
    <p:sldId id="276" r:id="rId10"/>
    <p:sldId id="299" r:id="rId11"/>
    <p:sldId id="277" r:id="rId12"/>
    <p:sldId id="273" r:id="rId13"/>
    <p:sldId id="302" r:id="rId14"/>
    <p:sldId id="300" r:id="rId15"/>
    <p:sldId id="274" r:id="rId16"/>
    <p:sldId id="286" r:id="rId17"/>
    <p:sldId id="287" r:id="rId18"/>
    <p:sldId id="305" r:id="rId19"/>
    <p:sldId id="288" r:id="rId20"/>
    <p:sldId id="289" r:id="rId21"/>
    <p:sldId id="293" r:id="rId22"/>
    <p:sldId id="282" r:id="rId23"/>
    <p:sldId id="283" r:id="rId24"/>
    <p:sldId id="284" r:id="rId25"/>
    <p:sldId id="30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17"/>
    <p:restoredTop sz="74247"/>
  </p:normalViewPr>
  <p:slideViewPr>
    <p:cSldViewPr snapToGrid="0">
      <p:cViewPr varScale="1">
        <p:scale>
          <a:sx n="63" d="100"/>
          <a:sy n="63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83CEDE-E647-47CA-A667-559E9030B27A}" type="doc">
      <dgm:prSet loTypeId="urn:microsoft.com/office/officeart/2018/5/layout/CenteredIconLabelDescriptionList" loCatId="icon" qsTypeId="urn:microsoft.com/office/officeart/2005/8/quickstyle/simple1#6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557560-20D7-45F3-93CA-59CA59F1FAFA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sz="2000" dirty="0"/>
            <a:t>Scouting &amp; Talent Evaluation</a:t>
          </a:r>
          <a:endParaRPr lang="en-US" sz="2000" dirty="0"/>
        </a:p>
      </dgm:t>
    </dgm:pt>
    <dgm:pt modelId="{E4CAD1B0-2735-4664-B73D-F7A5D7A98788}" type="parTrans" cxnId="{101328D3-F892-4573-9C2B-24C8E576A0FB}">
      <dgm:prSet/>
      <dgm:spPr/>
      <dgm:t>
        <a:bodyPr/>
        <a:lstStyle/>
        <a:p>
          <a:endParaRPr lang="en-US"/>
        </a:p>
      </dgm:t>
    </dgm:pt>
    <dgm:pt modelId="{6B5FF232-FFD8-464C-A2BF-F6879257252B}" type="sibTrans" cxnId="{101328D3-F892-4573-9C2B-24C8E576A0FB}">
      <dgm:prSet/>
      <dgm:spPr/>
      <dgm:t>
        <a:bodyPr/>
        <a:lstStyle/>
        <a:p>
          <a:endParaRPr lang="en-US"/>
        </a:p>
      </dgm:t>
    </dgm:pt>
    <dgm:pt modelId="{55068EE7-2CDE-410B-8408-2991BA615557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sz="2000" dirty="0"/>
            <a:t>Athlete Tracking</a:t>
          </a:r>
          <a:endParaRPr lang="en-US" sz="2000" dirty="0"/>
        </a:p>
      </dgm:t>
    </dgm:pt>
    <dgm:pt modelId="{EE46C4A3-0788-43EB-A140-AE6135C8C210}" type="parTrans" cxnId="{C90831B4-0F89-4842-AD65-49024538AF10}">
      <dgm:prSet/>
      <dgm:spPr/>
      <dgm:t>
        <a:bodyPr/>
        <a:lstStyle/>
        <a:p>
          <a:endParaRPr lang="en-US"/>
        </a:p>
      </dgm:t>
    </dgm:pt>
    <dgm:pt modelId="{E7B2F60A-DD8A-48A2-9F2F-E7CD45848433}" type="sibTrans" cxnId="{C90831B4-0F89-4842-AD65-49024538AF10}">
      <dgm:prSet/>
      <dgm:spPr/>
      <dgm:t>
        <a:bodyPr/>
        <a:lstStyle/>
        <a:p>
          <a:endParaRPr lang="en-US"/>
        </a:p>
      </dgm:t>
    </dgm:pt>
    <dgm:pt modelId="{08ACE292-7BB7-4DF5-A9BD-1B7A8660DA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Strategy &amp; Tactical Optimization</a:t>
          </a:r>
          <a:endParaRPr lang="en-US" dirty="0"/>
        </a:p>
      </dgm:t>
    </dgm:pt>
    <dgm:pt modelId="{DC370E83-4313-4300-A10B-DBC8240DE5AA}" type="parTrans" cxnId="{0C22E3B0-2E25-4CB1-B905-D786EE9F523E}">
      <dgm:prSet/>
      <dgm:spPr/>
      <dgm:t>
        <a:bodyPr/>
        <a:lstStyle/>
        <a:p>
          <a:endParaRPr lang="en-US"/>
        </a:p>
      </dgm:t>
    </dgm:pt>
    <dgm:pt modelId="{AF45A36A-B36E-483A-9AAB-A482BE9224E7}" type="sibTrans" cxnId="{0C22E3B0-2E25-4CB1-B905-D786EE9F523E}">
      <dgm:prSet/>
      <dgm:spPr/>
      <dgm:t>
        <a:bodyPr/>
        <a:lstStyle/>
        <a:p>
          <a:endParaRPr lang="en-US"/>
        </a:p>
      </dgm:t>
    </dgm:pt>
    <dgm:pt modelId="{3213E622-B109-42DA-801F-B0F2BD5F8295}" type="pres">
      <dgm:prSet presAssocID="{A583CEDE-E647-47CA-A667-559E9030B27A}" presName="root" presStyleCnt="0">
        <dgm:presLayoutVars>
          <dgm:dir/>
          <dgm:resizeHandles val="exact"/>
        </dgm:presLayoutVars>
      </dgm:prSet>
      <dgm:spPr/>
    </dgm:pt>
    <dgm:pt modelId="{E56AC07C-FB60-4CF0-8860-E2D998A12AC2}" type="pres">
      <dgm:prSet presAssocID="{E7557560-20D7-45F3-93CA-59CA59F1FAFA}" presName="compNode" presStyleCnt="0"/>
      <dgm:spPr/>
    </dgm:pt>
    <dgm:pt modelId="{D7DEB794-E1E8-45CB-B56A-E1BEF5BF397D}" type="pres">
      <dgm:prSet presAssocID="{E7557560-20D7-45F3-93CA-59CA59F1FAFA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77CA0889-87A2-4A01-A15E-D71A85BDF4AA}" type="pres">
      <dgm:prSet presAssocID="{E7557560-20D7-45F3-93CA-59CA59F1FAFA}" presName="iconSpace" presStyleCnt="0"/>
      <dgm:spPr/>
    </dgm:pt>
    <dgm:pt modelId="{A23C1CDD-357C-458D-8788-A42EEB8EFB3D}" type="pres">
      <dgm:prSet presAssocID="{E7557560-20D7-45F3-93CA-59CA59F1FAFA}" presName="parTx" presStyleLbl="revTx" presStyleIdx="0" presStyleCnt="6">
        <dgm:presLayoutVars>
          <dgm:chMax val="0"/>
          <dgm:chPref val="0"/>
        </dgm:presLayoutVars>
      </dgm:prSet>
      <dgm:spPr/>
    </dgm:pt>
    <dgm:pt modelId="{3F22567E-3953-4C71-8C53-DB2D58B1DC7E}" type="pres">
      <dgm:prSet presAssocID="{E7557560-20D7-45F3-93CA-59CA59F1FAFA}" presName="txSpace" presStyleCnt="0"/>
      <dgm:spPr/>
    </dgm:pt>
    <dgm:pt modelId="{B0C7D408-00F6-410C-8935-8E4506F76249}" type="pres">
      <dgm:prSet presAssocID="{E7557560-20D7-45F3-93CA-59CA59F1FAFA}" presName="desTx" presStyleLbl="revTx" presStyleIdx="1" presStyleCnt="6">
        <dgm:presLayoutVars/>
      </dgm:prSet>
      <dgm:spPr/>
    </dgm:pt>
    <dgm:pt modelId="{CB7F799C-3676-42EE-B818-1623F7C468CE}" type="pres">
      <dgm:prSet presAssocID="{6B5FF232-FFD8-464C-A2BF-F6879257252B}" presName="sibTrans" presStyleCnt="0"/>
      <dgm:spPr/>
    </dgm:pt>
    <dgm:pt modelId="{1C1F7804-62E5-4649-A4B1-B80505A7584E}" type="pres">
      <dgm:prSet presAssocID="{55068EE7-2CDE-410B-8408-2991BA615557}" presName="compNode" presStyleCnt="0"/>
      <dgm:spPr/>
    </dgm:pt>
    <dgm:pt modelId="{A431BDFC-AEE0-4655-9C58-0D3278EDB5F8}" type="pres">
      <dgm:prSet presAssocID="{55068EE7-2CDE-410B-8408-2991BA61555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8E6FABD8-2220-464A-8FBC-D656631DC7F5}" type="pres">
      <dgm:prSet presAssocID="{55068EE7-2CDE-410B-8408-2991BA615557}" presName="iconSpace" presStyleCnt="0"/>
      <dgm:spPr/>
    </dgm:pt>
    <dgm:pt modelId="{832D6505-5A04-4327-86E1-02382CB34F7E}" type="pres">
      <dgm:prSet presAssocID="{55068EE7-2CDE-410B-8408-2991BA615557}" presName="parTx" presStyleLbl="revTx" presStyleIdx="2" presStyleCnt="6">
        <dgm:presLayoutVars>
          <dgm:chMax val="0"/>
          <dgm:chPref val="0"/>
        </dgm:presLayoutVars>
      </dgm:prSet>
      <dgm:spPr/>
    </dgm:pt>
    <dgm:pt modelId="{890A0B6E-9017-4AFE-A256-43A92A27A196}" type="pres">
      <dgm:prSet presAssocID="{55068EE7-2CDE-410B-8408-2991BA615557}" presName="txSpace" presStyleCnt="0"/>
      <dgm:spPr/>
    </dgm:pt>
    <dgm:pt modelId="{66D4A7D1-E564-4186-ADB0-C697680BC561}" type="pres">
      <dgm:prSet presAssocID="{55068EE7-2CDE-410B-8408-2991BA615557}" presName="desTx" presStyleLbl="revTx" presStyleIdx="3" presStyleCnt="6">
        <dgm:presLayoutVars/>
      </dgm:prSet>
      <dgm:spPr/>
    </dgm:pt>
    <dgm:pt modelId="{BDE5E34A-757E-42F6-A4B9-AFF77E915901}" type="pres">
      <dgm:prSet presAssocID="{E7B2F60A-DD8A-48A2-9F2F-E7CD45848433}" presName="sibTrans" presStyleCnt="0"/>
      <dgm:spPr/>
    </dgm:pt>
    <dgm:pt modelId="{44C1EF23-21E5-4B12-9A05-B8C38105D3D2}" type="pres">
      <dgm:prSet presAssocID="{08ACE292-7BB7-4DF5-A9BD-1B7A8660DA89}" presName="compNode" presStyleCnt="0"/>
      <dgm:spPr/>
    </dgm:pt>
    <dgm:pt modelId="{807C542B-62FB-4F2C-B6F2-73FA2E2B251A}" type="pres">
      <dgm:prSet presAssocID="{08ACE292-7BB7-4DF5-A9BD-1B7A8660DA89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 with solid fill"/>
        </a:ext>
      </dgm:extLst>
    </dgm:pt>
    <dgm:pt modelId="{AB9D50C6-8063-450E-AFD9-F1CFDA68163A}" type="pres">
      <dgm:prSet presAssocID="{08ACE292-7BB7-4DF5-A9BD-1B7A8660DA89}" presName="iconSpace" presStyleCnt="0"/>
      <dgm:spPr/>
    </dgm:pt>
    <dgm:pt modelId="{780F3C3D-DDE2-4474-ADB3-A2AA4A868D0E}" type="pres">
      <dgm:prSet presAssocID="{08ACE292-7BB7-4DF5-A9BD-1B7A8660DA89}" presName="parTx" presStyleLbl="revTx" presStyleIdx="4" presStyleCnt="6">
        <dgm:presLayoutVars>
          <dgm:chMax val="0"/>
          <dgm:chPref val="0"/>
        </dgm:presLayoutVars>
      </dgm:prSet>
      <dgm:spPr/>
    </dgm:pt>
    <dgm:pt modelId="{04E9643E-1ECE-4DC2-8433-53432518B951}" type="pres">
      <dgm:prSet presAssocID="{08ACE292-7BB7-4DF5-A9BD-1B7A8660DA89}" presName="txSpace" presStyleCnt="0"/>
      <dgm:spPr/>
    </dgm:pt>
    <dgm:pt modelId="{EBBC1388-3B93-4130-A7B1-76FFBB48699A}" type="pres">
      <dgm:prSet presAssocID="{08ACE292-7BB7-4DF5-A9BD-1B7A8660DA89}" presName="desTx" presStyleLbl="revTx" presStyleIdx="5" presStyleCnt="6">
        <dgm:presLayoutVars/>
      </dgm:prSet>
      <dgm:spPr/>
    </dgm:pt>
  </dgm:ptLst>
  <dgm:cxnLst>
    <dgm:cxn modelId="{2A592928-8130-4D3F-B733-D66AC2B831E6}" type="presOf" srcId="{55068EE7-2CDE-410B-8408-2991BA615557}" destId="{832D6505-5A04-4327-86E1-02382CB34F7E}" srcOrd="0" destOrd="0" presId="urn:microsoft.com/office/officeart/2018/5/layout/CenteredIconLabelDescriptionList"/>
    <dgm:cxn modelId="{DF47FA2E-5A25-41C2-BC5B-3BB074AAD85B}" type="presOf" srcId="{08ACE292-7BB7-4DF5-A9BD-1B7A8660DA89}" destId="{780F3C3D-DDE2-4474-ADB3-A2AA4A868D0E}" srcOrd="0" destOrd="0" presId="urn:microsoft.com/office/officeart/2018/5/layout/CenteredIconLabelDescriptionList"/>
    <dgm:cxn modelId="{D0A69632-A509-4AC9-88C5-1C58E2E6D928}" type="presOf" srcId="{A583CEDE-E647-47CA-A667-559E9030B27A}" destId="{3213E622-B109-42DA-801F-B0F2BD5F8295}" srcOrd="0" destOrd="0" presId="urn:microsoft.com/office/officeart/2018/5/layout/CenteredIconLabelDescriptionList"/>
    <dgm:cxn modelId="{0C22E3B0-2E25-4CB1-B905-D786EE9F523E}" srcId="{A583CEDE-E647-47CA-A667-559E9030B27A}" destId="{08ACE292-7BB7-4DF5-A9BD-1B7A8660DA89}" srcOrd="2" destOrd="0" parTransId="{DC370E83-4313-4300-A10B-DBC8240DE5AA}" sibTransId="{AF45A36A-B36E-483A-9AAB-A482BE9224E7}"/>
    <dgm:cxn modelId="{C90831B4-0F89-4842-AD65-49024538AF10}" srcId="{A583CEDE-E647-47CA-A667-559E9030B27A}" destId="{55068EE7-2CDE-410B-8408-2991BA615557}" srcOrd="1" destOrd="0" parTransId="{EE46C4A3-0788-43EB-A140-AE6135C8C210}" sibTransId="{E7B2F60A-DD8A-48A2-9F2F-E7CD45848433}"/>
    <dgm:cxn modelId="{101328D3-F892-4573-9C2B-24C8E576A0FB}" srcId="{A583CEDE-E647-47CA-A667-559E9030B27A}" destId="{E7557560-20D7-45F3-93CA-59CA59F1FAFA}" srcOrd="0" destOrd="0" parTransId="{E4CAD1B0-2735-4664-B73D-F7A5D7A98788}" sibTransId="{6B5FF232-FFD8-464C-A2BF-F6879257252B}"/>
    <dgm:cxn modelId="{67985ED8-9027-4E07-B24D-E6D60FACAE96}" type="presOf" srcId="{E7557560-20D7-45F3-93CA-59CA59F1FAFA}" destId="{A23C1CDD-357C-458D-8788-A42EEB8EFB3D}" srcOrd="0" destOrd="0" presId="urn:microsoft.com/office/officeart/2018/5/layout/CenteredIconLabelDescriptionList"/>
    <dgm:cxn modelId="{A22EC50F-A737-431A-97B9-362C746C21FB}" type="presParOf" srcId="{3213E622-B109-42DA-801F-B0F2BD5F8295}" destId="{E56AC07C-FB60-4CF0-8860-E2D998A12AC2}" srcOrd="0" destOrd="0" presId="urn:microsoft.com/office/officeart/2018/5/layout/CenteredIconLabelDescriptionList"/>
    <dgm:cxn modelId="{0CF9B889-83E8-4F18-AC5E-3E1DDE4B8DC6}" type="presParOf" srcId="{E56AC07C-FB60-4CF0-8860-E2D998A12AC2}" destId="{D7DEB794-E1E8-45CB-B56A-E1BEF5BF397D}" srcOrd="0" destOrd="0" presId="urn:microsoft.com/office/officeart/2018/5/layout/CenteredIconLabelDescriptionList"/>
    <dgm:cxn modelId="{6E756A4F-E8A0-4725-812C-DABB41FB0587}" type="presParOf" srcId="{E56AC07C-FB60-4CF0-8860-E2D998A12AC2}" destId="{77CA0889-87A2-4A01-A15E-D71A85BDF4AA}" srcOrd="1" destOrd="0" presId="urn:microsoft.com/office/officeart/2018/5/layout/CenteredIconLabelDescriptionList"/>
    <dgm:cxn modelId="{D393ECF4-3E95-4AC4-A241-C1EB5D0E0625}" type="presParOf" srcId="{E56AC07C-FB60-4CF0-8860-E2D998A12AC2}" destId="{A23C1CDD-357C-458D-8788-A42EEB8EFB3D}" srcOrd="2" destOrd="0" presId="urn:microsoft.com/office/officeart/2018/5/layout/CenteredIconLabelDescriptionList"/>
    <dgm:cxn modelId="{708932CB-CEA3-4A18-83CE-583716BA6A52}" type="presParOf" srcId="{E56AC07C-FB60-4CF0-8860-E2D998A12AC2}" destId="{3F22567E-3953-4C71-8C53-DB2D58B1DC7E}" srcOrd="3" destOrd="0" presId="urn:microsoft.com/office/officeart/2018/5/layout/CenteredIconLabelDescriptionList"/>
    <dgm:cxn modelId="{C51E8F33-4641-47B8-A482-493071D71040}" type="presParOf" srcId="{E56AC07C-FB60-4CF0-8860-E2D998A12AC2}" destId="{B0C7D408-00F6-410C-8935-8E4506F76249}" srcOrd="4" destOrd="0" presId="urn:microsoft.com/office/officeart/2018/5/layout/CenteredIconLabelDescriptionList"/>
    <dgm:cxn modelId="{4A7E5707-CED8-4429-A710-85CE992F52C0}" type="presParOf" srcId="{3213E622-B109-42DA-801F-B0F2BD5F8295}" destId="{CB7F799C-3676-42EE-B818-1623F7C468CE}" srcOrd="1" destOrd="0" presId="urn:microsoft.com/office/officeart/2018/5/layout/CenteredIconLabelDescriptionList"/>
    <dgm:cxn modelId="{6ABDD80C-B84E-49D2-9DA1-5D151CBDFCD3}" type="presParOf" srcId="{3213E622-B109-42DA-801F-B0F2BD5F8295}" destId="{1C1F7804-62E5-4649-A4B1-B80505A7584E}" srcOrd="2" destOrd="0" presId="urn:microsoft.com/office/officeart/2018/5/layout/CenteredIconLabelDescriptionList"/>
    <dgm:cxn modelId="{3E816AD2-C949-47B5-B5D7-25B3B888DDBD}" type="presParOf" srcId="{1C1F7804-62E5-4649-A4B1-B80505A7584E}" destId="{A431BDFC-AEE0-4655-9C58-0D3278EDB5F8}" srcOrd="0" destOrd="0" presId="urn:microsoft.com/office/officeart/2018/5/layout/CenteredIconLabelDescriptionList"/>
    <dgm:cxn modelId="{8A5C84A1-3AF0-4761-8D99-8F6395FD73E1}" type="presParOf" srcId="{1C1F7804-62E5-4649-A4B1-B80505A7584E}" destId="{8E6FABD8-2220-464A-8FBC-D656631DC7F5}" srcOrd="1" destOrd="0" presId="urn:microsoft.com/office/officeart/2018/5/layout/CenteredIconLabelDescriptionList"/>
    <dgm:cxn modelId="{01AE3FC9-CD10-4ED5-8F2C-5246DD13D88B}" type="presParOf" srcId="{1C1F7804-62E5-4649-A4B1-B80505A7584E}" destId="{832D6505-5A04-4327-86E1-02382CB34F7E}" srcOrd="2" destOrd="0" presId="urn:microsoft.com/office/officeart/2018/5/layout/CenteredIconLabelDescriptionList"/>
    <dgm:cxn modelId="{846BD028-8250-434E-9DF7-8A6A8E57800F}" type="presParOf" srcId="{1C1F7804-62E5-4649-A4B1-B80505A7584E}" destId="{890A0B6E-9017-4AFE-A256-43A92A27A196}" srcOrd="3" destOrd="0" presId="urn:microsoft.com/office/officeart/2018/5/layout/CenteredIconLabelDescriptionList"/>
    <dgm:cxn modelId="{0DDE3176-5104-4C90-BCD6-999363D3B3A7}" type="presParOf" srcId="{1C1F7804-62E5-4649-A4B1-B80505A7584E}" destId="{66D4A7D1-E564-4186-ADB0-C697680BC561}" srcOrd="4" destOrd="0" presId="urn:microsoft.com/office/officeart/2018/5/layout/CenteredIconLabelDescriptionList"/>
    <dgm:cxn modelId="{2643A944-7271-448E-84E1-161C730A29F1}" type="presParOf" srcId="{3213E622-B109-42DA-801F-B0F2BD5F8295}" destId="{BDE5E34A-757E-42F6-A4B9-AFF77E915901}" srcOrd="3" destOrd="0" presId="urn:microsoft.com/office/officeart/2018/5/layout/CenteredIconLabelDescriptionList"/>
    <dgm:cxn modelId="{64DA158F-76C5-44D4-A138-80DB1FEBC6DB}" type="presParOf" srcId="{3213E622-B109-42DA-801F-B0F2BD5F8295}" destId="{44C1EF23-21E5-4B12-9A05-B8C38105D3D2}" srcOrd="4" destOrd="0" presId="urn:microsoft.com/office/officeart/2018/5/layout/CenteredIconLabelDescriptionList"/>
    <dgm:cxn modelId="{EC2323E2-E5CE-4D60-B1FD-A429572152D9}" type="presParOf" srcId="{44C1EF23-21E5-4B12-9A05-B8C38105D3D2}" destId="{807C542B-62FB-4F2C-B6F2-73FA2E2B251A}" srcOrd="0" destOrd="0" presId="urn:microsoft.com/office/officeart/2018/5/layout/CenteredIconLabelDescriptionList"/>
    <dgm:cxn modelId="{02B0A021-A457-4C97-A025-714F7D332301}" type="presParOf" srcId="{44C1EF23-21E5-4B12-9A05-B8C38105D3D2}" destId="{AB9D50C6-8063-450E-AFD9-F1CFDA68163A}" srcOrd="1" destOrd="0" presId="urn:microsoft.com/office/officeart/2018/5/layout/CenteredIconLabelDescriptionList"/>
    <dgm:cxn modelId="{56A0F445-0B1A-4AA4-94EA-28708E1F5F4A}" type="presParOf" srcId="{44C1EF23-21E5-4B12-9A05-B8C38105D3D2}" destId="{780F3C3D-DDE2-4474-ADB3-A2AA4A868D0E}" srcOrd="2" destOrd="0" presId="urn:microsoft.com/office/officeart/2018/5/layout/CenteredIconLabelDescriptionList"/>
    <dgm:cxn modelId="{8D244324-EB91-4BBC-AC45-4C26D8951B2D}" type="presParOf" srcId="{44C1EF23-21E5-4B12-9A05-B8C38105D3D2}" destId="{04E9643E-1ECE-4DC2-8433-53432518B951}" srcOrd="3" destOrd="0" presId="urn:microsoft.com/office/officeart/2018/5/layout/CenteredIconLabelDescriptionList"/>
    <dgm:cxn modelId="{BC393C2E-1E38-4B82-8C27-81138203C25C}" type="presParOf" srcId="{44C1EF23-21E5-4B12-9A05-B8C38105D3D2}" destId="{EBBC1388-3B93-4130-A7B1-76FFBB48699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BC92FE-39A7-43AA-B371-06FC86F327F9}" type="doc">
      <dgm:prSet loTypeId="urn:microsoft.com/office/officeart/2018/2/layout/IconLabelDescriptionList" loCatId="icon" qsTypeId="urn:microsoft.com/office/officeart/2005/8/quickstyle/simple1#64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F707721-8F8B-47D7-804D-3109819BE9E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1. Descriptive</a:t>
          </a:r>
          <a:endParaRPr lang="en-US" dirty="0"/>
        </a:p>
      </dgm:t>
    </dgm:pt>
    <dgm:pt modelId="{0FC4F028-2679-4C1A-B02A-BBF2B9F63150}" type="parTrans" cxnId="{B7533276-D027-4A08-AAC4-F4BA9C626469}">
      <dgm:prSet/>
      <dgm:spPr/>
      <dgm:t>
        <a:bodyPr/>
        <a:lstStyle/>
        <a:p>
          <a:endParaRPr lang="en-US"/>
        </a:p>
      </dgm:t>
    </dgm:pt>
    <dgm:pt modelId="{AD3A7166-8836-435B-B8AE-8C254DF1AADE}" type="sibTrans" cxnId="{B7533276-D027-4A08-AAC4-F4BA9C626469}">
      <dgm:prSet/>
      <dgm:spPr/>
      <dgm:t>
        <a:bodyPr/>
        <a:lstStyle/>
        <a:p>
          <a:endParaRPr lang="en-US"/>
        </a:p>
      </dgm:t>
    </dgm:pt>
    <dgm:pt modelId="{B926BFFD-0A0C-4EEB-8DDF-BEC101799EE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What happened?</a:t>
          </a:r>
          <a:endParaRPr lang="en-US" dirty="0"/>
        </a:p>
      </dgm:t>
    </dgm:pt>
    <dgm:pt modelId="{384DE573-DE35-423E-ADF0-85DCBE7F93AC}" type="parTrans" cxnId="{070E2886-5A38-4F04-B146-077C50F2C998}">
      <dgm:prSet/>
      <dgm:spPr/>
      <dgm:t>
        <a:bodyPr/>
        <a:lstStyle/>
        <a:p>
          <a:endParaRPr lang="en-US"/>
        </a:p>
      </dgm:t>
    </dgm:pt>
    <dgm:pt modelId="{8440D828-B4A6-4F66-BA98-5086977F3C49}" type="sibTrans" cxnId="{070E2886-5A38-4F04-B146-077C50F2C998}">
      <dgm:prSet/>
      <dgm:spPr/>
      <dgm:t>
        <a:bodyPr/>
        <a:lstStyle/>
        <a:p>
          <a:endParaRPr lang="en-US"/>
        </a:p>
      </dgm:t>
    </dgm:pt>
    <dgm:pt modelId="{136F4BFD-0582-4579-82A5-A95C73D558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2. Diagnostic</a:t>
          </a:r>
          <a:endParaRPr lang="en-US"/>
        </a:p>
      </dgm:t>
    </dgm:pt>
    <dgm:pt modelId="{C67336CF-F313-49B9-A40A-B41BFDE55BC3}" type="parTrans" cxnId="{E62F4FD4-71A7-44CA-9422-49F00DCFAD4F}">
      <dgm:prSet/>
      <dgm:spPr/>
      <dgm:t>
        <a:bodyPr/>
        <a:lstStyle/>
        <a:p>
          <a:endParaRPr lang="en-US"/>
        </a:p>
      </dgm:t>
    </dgm:pt>
    <dgm:pt modelId="{A648417D-217C-434C-9334-E0774764047B}" type="sibTrans" cxnId="{E62F4FD4-71A7-44CA-9422-49F00DCFAD4F}">
      <dgm:prSet/>
      <dgm:spPr/>
      <dgm:t>
        <a:bodyPr/>
        <a:lstStyle/>
        <a:p>
          <a:endParaRPr lang="en-US"/>
        </a:p>
      </dgm:t>
    </dgm:pt>
    <dgm:pt modelId="{3902D11C-F772-4D98-AD43-68757266B87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Why / how did it happen?</a:t>
          </a:r>
          <a:endParaRPr lang="en-US" dirty="0"/>
        </a:p>
      </dgm:t>
    </dgm:pt>
    <dgm:pt modelId="{604A71A0-6B61-4D71-83AF-2F99DB02191E}" type="parTrans" cxnId="{29660571-F26F-45B6-8E2C-167DA4BE26D0}">
      <dgm:prSet/>
      <dgm:spPr/>
      <dgm:t>
        <a:bodyPr/>
        <a:lstStyle/>
        <a:p>
          <a:endParaRPr lang="en-US"/>
        </a:p>
      </dgm:t>
    </dgm:pt>
    <dgm:pt modelId="{90F04341-BC2E-414C-B73C-082CA4A032F2}" type="sibTrans" cxnId="{29660571-F26F-45B6-8E2C-167DA4BE26D0}">
      <dgm:prSet/>
      <dgm:spPr/>
      <dgm:t>
        <a:bodyPr/>
        <a:lstStyle/>
        <a:p>
          <a:endParaRPr lang="en-US"/>
        </a:p>
      </dgm:t>
    </dgm:pt>
    <dgm:pt modelId="{D02B5C5A-D5CF-4981-88F1-9872057F38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3. Predictive </a:t>
          </a:r>
          <a:endParaRPr lang="en-US"/>
        </a:p>
      </dgm:t>
    </dgm:pt>
    <dgm:pt modelId="{28D3AB59-3A7D-4C16-AFF5-5CE3FB30E651}" type="parTrans" cxnId="{EA80F0A2-D621-404F-AC17-FF86954DC666}">
      <dgm:prSet/>
      <dgm:spPr/>
      <dgm:t>
        <a:bodyPr/>
        <a:lstStyle/>
        <a:p>
          <a:endParaRPr lang="en-US"/>
        </a:p>
      </dgm:t>
    </dgm:pt>
    <dgm:pt modelId="{E8926A1D-43E6-4A00-9FAA-64901C7B3941}" type="sibTrans" cxnId="{EA80F0A2-D621-404F-AC17-FF86954DC666}">
      <dgm:prSet/>
      <dgm:spPr/>
      <dgm:t>
        <a:bodyPr/>
        <a:lstStyle/>
        <a:p>
          <a:endParaRPr lang="en-US"/>
        </a:p>
      </dgm:t>
    </dgm:pt>
    <dgm:pt modelId="{5D7E3DDE-E800-40BB-8333-6FA2DC05CC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is likely to happen?</a:t>
          </a:r>
          <a:endParaRPr lang="en-US"/>
        </a:p>
      </dgm:t>
    </dgm:pt>
    <dgm:pt modelId="{0CEE91DF-5475-4D34-BB77-D1BD09D119CB}" type="parTrans" cxnId="{FCD80AA3-A162-42C3-BD4E-10B046F1EC8F}">
      <dgm:prSet/>
      <dgm:spPr/>
      <dgm:t>
        <a:bodyPr/>
        <a:lstStyle/>
        <a:p>
          <a:endParaRPr lang="en-US"/>
        </a:p>
      </dgm:t>
    </dgm:pt>
    <dgm:pt modelId="{D50F909D-B1A2-4D59-AF8A-4C59330DC506}" type="sibTrans" cxnId="{FCD80AA3-A162-42C3-BD4E-10B046F1EC8F}">
      <dgm:prSet/>
      <dgm:spPr/>
      <dgm:t>
        <a:bodyPr/>
        <a:lstStyle/>
        <a:p>
          <a:endParaRPr lang="en-US"/>
        </a:p>
      </dgm:t>
    </dgm:pt>
    <dgm:pt modelId="{60FFA69C-7C61-4DA1-AD1E-3AA5351D8F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4. Prescriptive</a:t>
          </a:r>
          <a:endParaRPr lang="en-US"/>
        </a:p>
      </dgm:t>
    </dgm:pt>
    <dgm:pt modelId="{F7703B36-43F1-4FDD-9CC8-8BE666BA12DB}" type="parTrans" cxnId="{0FEE528B-D499-48FD-B7B0-186A736EB87F}">
      <dgm:prSet/>
      <dgm:spPr/>
      <dgm:t>
        <a:bodyPr/>
        <a:lstStyle/>
        <a:p>
          <a:endParaRPr lang="en-US"/>
        </a:p>
      </dgm:t>
    </dgm:pt>
    <dgm:pt modelId="{26831936-AA72-4136-92B5-044BA81B31BD}" type="sibTrans" cxnId="{0FEE528B-D499-48FD-B7B0-186A736EB87F}">
      <dgm:prSet/>
      <dgm:spPr/>
      <dgm:t>
        <a:bodyPr/>
        <a:lstStyle/>
        <a:p>
          <a:endParaRPr lang="en-US"/>
        </a:p>
      </dgm:t>
    </dgm:pt>
    <dgm:pt modelId="{D2FB5E07-4AE8-4A52-A529-EAF5514CCBF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should we do about it?</a:t>
          </a:r>
          <a:endParaRPr lang="en-US"/>
        </a:p>
      </dgm:t>
    </dgm:pt>
    <dgm:pt modelId="{0E861B8B-27B2-4E4C-9D13-45B7E6978B81}" type="parTrans" cxnId="{BEE89AEF-8C6A-4222-867F-211FB33D3B2F}">
      <dgm:prSet/>
      <dgm:spPr/>
      <dgm:t>
        <a:bodyPr/>
        <a:lstStyle/>
        <a:p>
          <a:endParaRPr lang="en-US"/>
        </a:p>
      </dgm:t>
    </dgm:pt>
    <dgm:pt modelId="{F4542E72-ED74-4F26-A65A-2BCFEF551534}" type="sibTrans" cxnId="{BEE89AEF-8C6A-4222-867F-211FB33D3B2F}">
      <dgm:prSet/>
      <dgm:spPr/>
      <dgm:t>
        <a:bodyPr/>
        <a:lstStyle/>
        <a:p>
          <a:endParaRPr lang="en-US"/>
        </a:p>
      </dgm:t>
    </dgm:pt>
    <dgm:pt modelId="{6D871FBD-051F-44D1-B00F-6FBA349FEA21}" type="pres">
      <dgm:prSet presAssocID="{83BC92FE-39A7-43AA-B371-06FC86F327F9}" presName="root" presStyleCnt="0">
        <dgm:presLayoutVars>
          <dgm:dir/>
          <dgm:resizeHandles val="exact"/>
        </dgm:presLayoutVars>
      </dgm:prSet>
      <dgm:spPr/>
    </dgm:pt>
    <dgm:pt modelId="{39E77AD7-91C5-4D46-9BC8-CF6809AC7A23}" type="pres">
      <dgm:prSet presAssocID="{BF707721-8F8B-47D7-804D-3109819BE9E5}" presName="compNode" presStyleCnt="0"/>
      <dgm:spPr/>
    </dgm:pt>
    <dgm:pt modelId="{E4928810-BCC7-4F98-A356-F4FA46189ED3}" type="pres">
      <dgm:prSet presAssocID="{BF707721-8F8B-47D7-804D-3109819BE9E5}" presName="iconRect" presStyleLbl="node1" presStyleIdx="0" presStyleCnt="4" custLinFactNeighborX="-50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1BDB177-DEDC-410D-AA8A-55B9A4315704}" type="pres">
      <dgm:prSet presAssocID="{BF707721-8F8B-47D7-804D-3109819BE9E5}" presName="iconSpace" presStyleCnt="0"/>
      <dgm:spPr/>
    </dgm:pt>
    <dgm:pt modelId="{8E6B3E7A-9238-4392-BD23-80F64B24C815}" type="pres">
      <dgm:prSet presAssocID="{BF707721-8F8B-47D7-804D-3109819BE9E5}" presName="parTx" presStyleLbl="revTx" presStyleIdx="0" presStyleCnt="8">
        <dgm:presLayoutVars>
          <dgm:chMax val="0"/>
          <dgm:chPref val="0"/>
        </dgm:presLayoutVars>
      </dgm:prSet>
      <dgm:spPr/>
    </dgm:pt>
    <dgm:pt modelId="{47E5C1E9-8383-481E-92CA-34243039DDD4}" type="pres">
      <dgm:prSet presAssocID="{BF707721-8F8B-47D7-804D-3109819BE9E5}" presName="txSpace" presStyleCnt="0"/>
      <dgm:spPr/>
    </dgm:pt>
    <dgm:pt modelId="{A745A52F-9E23-45EE-8F17-4DA17BE2B6CF}" type="pres">
      <dgm:prSet presAssocID="{BF707721-8F8B-47D7-804D-3109819BE9E5}" presName="desTx" presStyleLbl="revTx" presStyleIdx="1" presStyleCnt="8">
        <dgm:presLayoutVars/>
      </dgm:prSet>
      <dgm:spPr/>
    </dgm:pt>
    <dgm:pt modelId="{34250BE4-3296-42CC-9373-F6519E695556}" type="pres">
      <dgm:prSet presAssocID="{AD3A7166-8836-435B-B8AE-8C254DF1AADE}" presName="sibTrans" presStyleCnt="0"/>
      <dgm:spPr/>
    </dgm:pt>
    <dgm:pt modelId="{D0C5416B-BCCD-4943-A68B-BAA03102CA37}" type="pres">
      <dgm:prSet presAssocID="{136F4BFD-0582-4579-82A5-A95C73D55870}" presName="compNode" presStyleCnt="0"/>
      <dgm:spPr/>
    </dgm:pt>
    <dgm:pt modelId="{E4CCD96E-359E-4AA4-B588-048619C54F92}" type="pres">
      <dgm:prSet presAssocID="{136F4BFD-0582-4579-82A5-A95C73D5587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1DF6E32-7FF9-4D0B-8C00-DF1D4138C330}" type="pres">
      <dgm:prSet presAssocID="{136F4BFD-0582-4579-82A5-A95C73D55870}" presName="iconSpace" presStyleCnt="0"/>
      <dgm:spPr/>
    </dgm:pt>
    <dgm:pt modelId="{CAE12482-5CF7-471D-81B3-93E1D402E333}" type="pres">
      <dgm:prSet presAssocID="{136F4BFD-0582-4579-82A5-A95C73D55870}" presName="parTx" presStyleLbl="revTx" presStyleIdx="2" presStyleCnt="8">
        <dgm:presLayoutVars>
          <dgm:chMax val="0"/>
          <dgm:chPref val="0"/>
        </dgm:presLayoutVars>
      </dgm:prSet>
      <dgm:spPr/>
    </dgm:pt>
    <dgm:pt modelId="{1EFD1EB2-FA81-4FA8-9196-9D983B07D33D}" type="pres">
      <dgm:prSet presAssocID="{136F4BFD-0582-4579-82A5-A95C73D55870}" presName="txSpace" presStyleCnt="0"/>
      <dgm:spPr/>
    </dgm:pt>
    <dgm:pt modelId="{DF164D61-735C-4C87-8347-8B99FE586313}" type="pres">
      <dgm:prSet presAssocID="{136F4BFD-0582-4579-82A5-A95C73D55870}" presName="desTx" presStyleLbl="revTx" presStyleIdx="3" presStyleCnt="8">
        <dgm:presLayoutVars/>
      </dgm:prSet>
      <dgm:spPr/>
    </dgm:pt>
    <dgm:pt modelId="{87346C0F-81A6-42B5-B781-B793D5482864}" type="pres">
      <dgm:prSet presAssocID="{A648417D-217C-434C-9334-E0774764047B}" presName="sibTrans" presStyleCnt="0"/>
      <dgm:spPr/>
    </dgm:pt>
    <dgm:pt modelId="{0716210E-F8B6-4C61-B850-54652405DE05}" type="pres">
      <dgm:prSet presAssocID="{D02B5C5A-D5CF-4981-88F1-9872057F386D}" presName="compNode" presStyleCnt="0"/>
      <dgm:spPr/>
    </dgm:pt>
    <dgm:pt modelId="{666A0142-3994-4944-9021-255BBA065A0C}" type="pres">
      <dgm:prSet presAssocID="{D02B5C5A-D5CF-4981-88F1-9872057F386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FCEF46A-B042-495E-8C45-25640ADB92BE}" type="pres">
      <dgm:prSet presAssocID="{D02B5C5A-D5CF-4981-88F1-9872057F386D}" presName="iconSpace" presStyleCnt="0"/>
      <dgm:spPr/>
    </dgm:pt>
    <dgm:pt modelId="{336AF011-C230-4B81-BC26-BF1B3B4EA562}" type="pres">
      <dgm:prSet presAssocID="{D02B5C5A-D5CF-4981-88F1-9872057F386D}" presName="parTx" presStyleLbl="revTx" presStyleIdx="4" presStyleCnt="8">
        <dgm:presLayoutVars>
          <dgm:chMax val="0"/>
          <dgm:chPref val="0"/>
        </dgm:presLayoutVars>
      </dgm:prSet>
      <dgm:spPr/>
    </dgm:pt>
    <dgm:pt modelId="{61DEFD93-FCFF-4DDA-86C5-8A382E4DFBC5}" type="pres">
      <dgm:prSet presAssocID="{D02B5C5A-D5CF-4981-88F1-9872057F386D}" presName="txSpace" presStyleCnt="0"/>
      <dgm:spPr/>
    </dgm:pt>
    <dgm:pt modelId="{BC429B17-4FF9-4CFE-A522-B522D9FDB460}" type="pres">
      <dgm:prSet presAssocID="{D02B5C5A-D5CF-4981-88F1-9872057F386D}" presName="desTx" presStyleLbl="revTx" presStyleIdx="5" presStyleCnt="8">
        <dgm:presLayoutVars/>
      </dgm:prSet>
      <dgm:spPr/>
    </dgm:pt>
    <dgm:pt modelId="{6491C7AE-4ACD-4A46-AF45-29C36013C418}" type="pres">
      <dgm:prSet presAssocID="{E8926A1D-43E6-4A00-9FAA-64901C7B3941}" presName="sibTrans" presStyleCnt="0"/>
      <dgm:spPr/>
    </dgm:pt>
    <dgm:pt modelId="{FB2B048C-C5E8-4D16-9310-B1807DED3D42}" type="pres">
      <dgm:prSet presAssocID="{60FFA69C-7C61-4DA1-AD1E-3AA5351D8F7B}" presName="compNode" presStyleCnt="0"/>
      <dgm:spPr/>
    </dgm:pt>
    <dgm:pt modelId="{3B74E4F1-1538-449B-978E-E9FFF5835B2B}" type="pres">
      <dgm:prSet presAssocID="{60FFA69C-7C61-4DA1-AD1E-3AA5351D8F7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63052B2B-EF66-4454-B27A-47B91830E209}" type="pres">
      <dgm:prSet presAssocID="{60FFA69C-7C61-4DA1-AD1E-3AA5351D8F7B}" presName="iconSpace" presStyleCnt="0"/>
      <dgm:spPr/>
    </dgm:pt>
    <dgm:pt modelId="{146C8532-5FED-4962-B4DE-1032849C3828}" type="pres">
      <dgm:prSet presAssocID="{60FFA69C-7C61-4DA1-AD1E-3AA5351D8F7B}" presName="parTx" presStyleLbl="revTx" presStyleIdx="6" presStyleCnt="8">
        <dgm:presLayoutVars>
          <dgm:chMax val="0"/>
          <dgm:chPref val="0"/>
        </dgm:presLayoutVars>
      </dgm:prSet>
      <dgm:spPr/>
    </dgm:pt>
    <dgm:pt modelId="{B31F5CE5-9315-4CD9-B103-ABA8AF8165A7}" type="pres">
      <dgm:prSet presAssocID="{60FFA69C-7C61-4DA1-AD1E-3AA5351D8F7B}" presName="txSpace" presStyleCnt="0"/>
      <dgm:spPr/>
    </dgm:pt>
    <dgm:pt modelId="{FDA8A98A-01BE-42F2-BDE9-E61C616C5813}" type="pres">
      <dgm:prSet presAssocID="{60FFA69C-7C61-4DA1-AD1E-3AA5351D8F7B}" presName="desTx" presStyleLbl="revTx" presStyleIdx="7" presStyleCnt="8">
        <dgm:presLayoutVars/>
      </dgm:prSet>
      <dgm:spPr/>
    </dgm:pt>
  </dgm:ptLst>
  <dgm:cxnLst>
    <dgm:cxn modelId="{790FDC00-E3FF-4B63-887A-8ACFB0540A48}" type="presOf" srcId="{136F4BFD-0582-4579-82A5-A95C73D55870}" destId="{CAE12482-5CF7-471D-81B3-93E1D402E333}" srcOrd="0" destOrd="0" presId="urn:microsoft.com/office/officeart/2018/2/layout/IconLabelDescriptionList"/>
    <dgm:cxn modelId="{1ADAC26C-C21D-4F5E-80D2-8F2BD6A07754}" type="presOf" srcId="{3902D11C-F772-4D98-AD43-68757266B871}" destId="{DF164D61-735C-4C87-8347-8B99FE586313}" srcOrd="0" destOrd="0" presId="urn:microsoft.com/office/officeart/2018/2/layout/IconLabelDescriptionList"/>
    <dgm:cxn modelId="{A4A1FA4D-CC62-41D9-B89B-8C82D955DCA7}" type="presOf" srcId="{BF707721-8F8B-47D7-804D-3109819BE9E5}" destId="{8E6B3E7A-9238-4392-BD23-80F64B24C815}" srcOrd="0" destOrd="0" presId="urn:microsoft.com/office/officeart/2018/2/layout/IconLabelDescriptionList"/>
    <dgm:cxn modelId="{EB4A6A4F-8117-4111-8788-25BAA3A3086B}" type="presOf" srcId="{60FFA69C-7C61-4DA1-AD1E-3AA5351D8F7B}" destId="{146C8532-5FED-4962-B4DE-1032849C3828}" srcOrd="0" destOrd="0" presId="urn:microsoft.com/office/officeart/2018/2/layout/IconLabelDescriptionList"/>
    <dgm:cxn modelId="{29660571-F26F-45B6-8E2C-167DA4BE26D0}" srcId="{136F4BFD-0582-4579-82A5-A95C73D55870}" destId="{3902D11C-F772-4D98-AD43-68757266B871}" srcOrd="0" destOrd="0" parTransId="{604A71A0-6B61-4D71-83AF-2F99DB02191E}" sibTransId="{90F04341-BC2E-414C-B73C-082CA4A032F2}"/>
    <dgm:cxn modelId="{3E5FE871-02BD-482D-BC2F-0212E6353F34}" type="presOf" srcId="{D02B5C5A-D5CF-4981-88F1-9872057F386D}" destId="{336AF011-C230-4B81-BC26-BF1B3B4EA562}" srcOrd="0" destOrd="0" presId="urn:microsoft.com/office/officeart/2018/2/layout/IconLabelDescriptionList"/>
    <dgm:cxn modelId="{B7533276-D027-4A08-AAC4-F4BA9C626469}" srcId="{83BC92FE-39A7-43AA-B371-06FC86F327F9}" destId="{BF707721-8F8B-47D7-804D-3109819BE9E5}" srcOrd="0" destOrd="0" parTransId="{0FC4F028-2679-4C1A-B02A-BBF2B9F63150}" sibTransId="{AD3A7166-8836-435B-B8AE-8C254DF1AADE}"/>
    <dgm:cxn modelId="{CB594185-3462-4788-9746-2E3AF6B2657E}" type="presOf" srcId="{5D7E3DDE-E800-40BB-8333-6FA2DC05CC7E}" destId="{BC429B17-4FF9-4CFE-A522-B522D9FDB460}" srcOrd="0" destOrd="0" presId="urn:microsoft.com/office/officeart/2018/2/layout/IconLabelDescriptionList"/>
    <dgm:cxn modelId="{070E2886-5A38-4F04-B146-077C50F2C998}" srcId="{BF707721-8F8B-47D7-804D-3109819BE9E5}" destId="{B926BFFD-0A0C-4EEB-8DDF-BEC101799EE4}" srcOrd="0" destOrd="0" parTransId="{384DE573-DE35-423E-ADF0-85DCBE7F93AC}" sibTransId="{8440D828-B4A6-4F66-BA98-5086977F3C49}"/>
    <dgm:cxn modelId="{0FEE528B-D499-48FD-B7B0-186A736EB87F}" srcId="{83BC92FE-39A7-43AA-B371-06FC86F327F9}" destId="{60FFA69C-7C61-4DA1-AD1E-3AA5351D8F7B}" srcOrd="3" destOrd="0" parTransId="{F7703B36-43F1-4FDD-9CC8-8BE666BA12DB}" sibTransId="{26831936-AA72-4136-92B5-044BA81B31BD}"/>
    <dgm:cxn modelId="{CD3D908F-F1F6-457A-94E9-93A5C91C8257}" type="presOf" srcId="{B926BFFD-0A0C-4EEB-8DDF-BEC101799EE4}" destId="{A745A52F-9E23-45EE-8F17-4DA17BE2B6CF}" srcOrd="0" destOrd="0" presId="urn:microsoft.com/office/officeart/2018/2/layout/IconLabelDescriptionList"/>
    <dgm:cxn modelId="{AC664A9E-E110-4A3B-8F8B-CE0C2EAA5D46}" type="presOf" srcId="{83BC92FE-39A7-43AA-B371-06FC86F327F9}" destId="{6D871FBD-051F-44D1-B00F-6FBA349FEA21}" srcOrd="0" destOrd="0" presId="urn:microsoft.com/office/officeart/2018/2/layout/IconLabelDescriptionList"/>
    <dgm:cxn modelId="{EA80F0A2-D621-404F-AC17-FF86954DC666}" srcId="{83BC92FE-39A7-43AA-B371-06FC86F327F9}" destId="{D02B5C5A-D5CF-4981-88F1-9872057F386D}" srcOrd="2" destOrd="0" parTransId="{28D3AB59-3A7D-4C16-AFF5-5CE3FB30E651}" sibTransId="{E8926A1D-43E6-4A00-9FAA-64901C7B3941}"/>
    <dgm:cxn modelId="{FCD80AA3-A162-42C3-BD4E-10B046F1EC8F}" srcId="{D02B5C5A-D5CF-4981-88F1-9872057F386D}" destId="{5D7E3DDE-E800-40BB-8333-6FA2DC05CC7E}" srcOrd="0" destOrd="0" parTransId="{0CEE91DF-5475-4D34-BB77-D1BD09D119CB}" sibTransId="{D50F909D-B1A2-4D59-AF8A-4C59330DC506}"/>
    <dgm:cxn modelId="{E62F4FD4-71A7-44CA-9422-49F00DCFAD4F}" srcId="{83BC92FE-39A7-43AA-B371-06FC86F327F9}" destId="{136F4BFD-0582-4579-82A5-A95C73D55870}" srcOrd="1" destOrd="0" parTransId="{C67336CF-F313-49B9-A40A-B41BFDE55BC3}" sibTransId="{A648417D-217C-434C-9334-E0774764047B}"/>
    <dgm:cxn modelId="{0D2EE2E9-11FF-4CDC-A2D5-8F236743A8AA}" type="presOf" srcId="{D2FB5E07-4AE8-4A52-A529-EAF5514CCBF0}" destId="{FDA8A98A-01BE-42F2-BDE9-E61C616C5813}" srcOrd="0" destOrd="0" presId="urn:microsoft.com/office/officeart/2018/2/layout/IconLabelDescriptionList"/>
    <dgm:cxn modelId="{BEE89AEF-8C6A-4222-867F-211FB33D3B2F}" srcId="{60FFA69C-7C61-4DA1-AD1E-3AA5351D8F7B}" destId="{D2FB5E07-4AE8-4A52-A529-EAF5514CCBF0}" srcOrd="0" destOrd="0" parTransId="{0E861B8B-27B2-4E4C-9D13-45B7E6978B81}" sibTransId="{F4542E72-ED74-4F26-A65A-2BCFEF551534}"/>
    <dgm:cxn modelId="{5A210101-2428-4748-9B7C-F01CC61E2D8D}" type="presParOf" srcId="{6D871FBD-051F-44D1-B00F-6FBA349FEA21}" destId="{39E77AD7-91C5-4D46-9BC8-CF6809AC7A23}" srcOrd="0" destOrd="0" presId="urn:microsoft.com/office/officeart/2018/2/layout/IconLabelDescriptionList"/>
    <dgm:cxn modelId="{A6692499-9E2D-4AA0-ACAD-EEBE32EDF7D1}" type="presParOf" srcId="{39E77AD7-91C5-4D46-9BC8-CF6809AC7A23}" destId="{E4928810-BCC7-4F98-A356-F4FA46189ED3}" srcOrd="0" destOrd="0" presId="urn:microsoft.com/office/officeart/2018/2/layout/IconLabelDescriptionList"/>
    <dgm:cxn modelId="{6BC281F6-4181-4E26-AEC5-8B0DCEEE2CF9}" type="presParOf" srcId="{39E77AD7-91C5-4D46-9BC8-CF6809AC7A23}" destId="{01BDB177-DEDC-410D-AA8A-55B9A4315704}" srcOrd="1" destOrd="0" presId="urn:microsoft.com/office/officeart/2018/2/layout/IconLabelDescriptionList"/>
    <dgm:cxn modelId="{ACA90FB5-3C18-4458-A604-4F4FF4A28E31}" type="presParOf" srcId="{39E77AD7-91C5-4D46-9BC8-CF6809AC7A23}" destId="{8E6B3E7A-9238-4392-BD23-80F64B24C815}" srcOrd="2" destOrd="0" presId="urn:microsoft.com/office/officeart/2018/2/layout/IconLabelDescriptionList"/>
    <dgm:cxn modelId="{B83B1686-8091-4ACC-BBC2-BE2982AC4B78}" type="presParOf" srcId="{39E77AD7-91C5-4D46-9BC8-CF6809AC7A23}" destId="{47E5C1E9-8383-481E-92CA-34243039DDD4}" srcOrd="3" destOrd="0" presId="urn:microsoft.com/office/officeart/2018/2/layout/IconLabelDescriptionList"/>
    <dgm:cxn modelId="{1498D413-0DD9-453E-9092-1D080AAA8455}" type="presParOf" srcId="{39E77AD7-91C5-4D46-9BC8-CF6809AC7A23}" destId="{A745A52F-9E23-45EE-8F17-4DA17BE2B6CF}" srcOrd="4" destOrd="0" presId="urn:microsoft.com/office/officeart/2018/2/layout/IconLabelDescriptionList"/>
    <dgm:cxn modelId="{91932EBE-21BB-483F-BA4A-0A3500441470}" type="presParOf" srcId="{6D871FBD-051F-44D1-B00F-6FBA349FEA21}" destId="{34250BE4-3296-42CC-9373-F6519E695556}" srcOrd="1" destOrd="0" presId="urn:microsoft.com/office/officeart/2018/2/layout/IconLabelDescriptionList"/>
    <dgm:cxn modelId="{3B7A05A4-8225-4263-A57A-DC12855BE69D}" type="presParOf" srcId="{6D871FBD-051F-44D1-B00F-6FBA349FEA21}" destId="{D0C5416B-BCCD-4943-A68B-BAA03102CA37}" srcOrd="2" destOrd="0" presId="urn:microsoft.com/office/officeart/2018/2/layout/IconLabelDescriptionList"/>
    <dgm:cxn modelId="{5F7A82B8-3135-468C-BDD9-EACBAA60DC48}" type="presParOf" srcId="{D0C5416B-BCCD-4943-A68B-BAA03102CA37}" destId="{E4CCD96E-359E-4AA4-B588-048619C54F92}" srcOrd="0" destOrd="0" presId="urn:microsoft.com/office/officeart/2018/2/layout/IconLabelDescriptionList"/>
    <dgm:cxn modelId="{FD2FD98B-4A49-414B-8224-8EB09D9D1AD3}" type="presParOf" srcId="{D0C5416B-BCCD-4943-A68B-BAA03102CA37}" destId="{91DF6E32-7FF9-4D0B-8C00-DF1D4138C330}" srcOrd="1" destOrd="0" presId="urn:microsoft.com/office/officeart/2018/2/layout/IconLabelDescriptionList"/>
    <dgm:cxn modelId="{B570D716-47C2-4334-B4C4-1379BF03C009}" type="presParOf" srcId="{D0C5416B-BCCD-4943-A68B-BAA03102CA37}" destId="{CAE12482-5CF7-471D-81B3-93E1D402E333}" srcOrd="2" destOrd="0" presId="urn:microsoft.com/office/officeart/2018/2/layout/IconLabelDescriptionList"/>
    <dgm:cxn modelId="{F0B3E5C7-48A9-4E7F-8E16-F90C2E41B229}" type="presParOf" srcId="{D0C5416B-BCCD-4943-A68B-BAA03102CA37}" destId="{1EFD1EB2-FA81-4FA8-9196-9D983B07D33D}" srcOrd="3" destOrd="0" presId="urn:microsoft.com/office/officeart/2018/2/layout/IconLabelDescriptionList"/>
    <dgm:cxn modelId="{43E2B326-5AC8-48E4-A365-CF332ED94CB7}" type="presParOf" srcId="{D0C5416B-BCCD-4943-A68B-BAA03102CA37}" destId="{DF164D61-735C-4C87-8347-8B99FE586313}" srcOrd="4" destOrd="0" presId="urn:microsoft.com/office/officeart/2018/2/layout/IconLabelDescriptionList"/>
    <dgm:cxn modelId="{71228B75-5A14-4431-A997-62644AC50B46}" type="presParOf" srcId="{6D871FBD-051F-44D1-B00F-6FBA349FEA21}" destId="{87346C0F-81A6-42B5-B781-B793D5482864}" srcOrd="3" destOrd="0" presId="urn:microsoft.com/office/officeart/2018/2/layout/IconLabelDescriptionList"/>
    <dgm:cxn modelId="{D94326D5-3F34-4BC3-99E2-8C9BA353C343}" type="presParOf" srcId="{6D871FBD-051F-44D1-B00F-6FBA349FEA21}" destId="{0716210E-F8B6-4C61-B850-54652405DE05}" srcOrd="4" destOrd="0" presId="urn:microsoft.com/office/officeart/2018/2/layout/IconLabelDescriptionList"/>
    <dgm:cxn modelId="{102B466B-3E04-4D2B-9017-C89508287AD1}" type="presParOf" srcId="{0716210E-F8B6-4C61-B850-54652405DE05}" destId="{666A0142-3994-4944-9021-255BBA065A0C}" srcOrd="0" destOrd="0" presId="urn:microsoft.com/office/officeart/2018/2/layout/IconLabelDescriptionList"/>
    <dgm:cxn modelId="{27145EAF-93CA-4ADE-84AC-22A80FAF913B}" type="presParOf" srcId="{0716210E-F8B6-4C61-B850-54652405DE05}" destId="{3FCEF46A-B042-495E-8C45-25640ADB92BE}" srcOrd="1" destOrd="0" presId="urn:microsoft.com/office/officeart/2018/2/layout/IconLabelDescriptionList"/>
    <dgm:cxn modelId="{327C89F1-DD04-4D54-B8F2-D6CBAEA328F2}" type="presParOf" srcId="{0716210E-F8B6-4C61-B850-54652405DE05}" destId="{336AF011-C230-4B81-BC26-BF1B3B4EA562}" srcOrd="2" destOrd="0" presId="urn:microsoft.com/office/officeart/2018/2/layout/IconLabelDescriptionList"/>
    <dgm:cxn modelId="{9DB92405-B1D5-4014-A33D-FBC193CC2066}" type="presParOf" srcId="{0716210E-F8B6-4C61-B850-54652405DE05}" destId="{61DEFD93-FCFF-4DDA-86C5-8A382E4DFBC5}" srcOrd="3" destOrd="0" presId="urn:microsoft.com/office/officeart/2018/2/layout/IconLabelDescriptionList"/>
    <dgm:cxn modelId="{76457AEA-1F3C-4595-B9FE-E1D628DF2E42}" type="presParOf" srcId="{0716210E-F8B6-4C61-B850-54652405DE05}" destId="{BC429B17-4FF9-4CFE-A522-B522D9FDB460}" srcOrd="4" destOrd="0" presId="urn:microsoft.com/office/officeart/2018/2/layout/IconLabelDescriptionList"/>
    <dgm:cxn modelId="{91072E67-FA61-4A76-98C7-0692E6462604}" type="presParOf" srcId="{6D871FBD-051F-44D1-B00F-6FBA349FEA21}" destId="{6491C7AE-4ACD-4A46-AF45-29C36013C418}" srcOrd="5" destOrd="0" presId="urn:microsoft.com/office/officeart/2018/2/layout/IconLabelDescriptionList"/>
    <dgm:cxn modelId="{F8E19062-B512-4AF9-BA00-ED2EC0EA9FD5}" type="presParOf" srcId="{6D871FBD-051F-44D1-B00F-6FBA349FEA21}" destId="{FB2B048C-C5E8-4D16-9310-B1807DED3D42}" srcOrd="6" destOrd="0" presId="urn:microsoft.com/office/officeart/2018/2/layout/IconLabelDescriptionList"/>
    <dgm:cxn modelId="{4CDBD21E-D432-49AD-94D5-50F9390223CB}" type="presParOf" srcId="{FB2B048C-C5E8-4D16-9310-B1807DED3D42}" destId="{3B74E4F1-1538-449B-978E-E9FFF5835B2B}" srcOrd="0" destOrd="0" presId="urn:microsoft.com/office/officeart/2018/2/layout/IconLabelDescriptionList"/>
    <dgm:cxn modelId="{A75D244A-8BD2-4300-8F3D-C927C1182D2F}" type="presParOf" srcId="{FB2B048C-C5E8-4D16-9310-B1807DED3D42}" destId="{63052B2B-EF66-4454-B27A-47B91830E209}" srcOrd="1" destOrd="0" presId="urn:microsoft.com/office/officeart/2018/2/layout/IconLabelDescriptionList"/>
    <dgm:cxn modelId="{1ED5FC35-CE64-4102-A33F-3010B3025CD3}" type="presParOf" srcId="{FB2B048C-C5E8-4D16-9310-B1807DED3D42}" destId="{146C8532-5FED-4962-B4DE-1032849C3828}" srcOrd="2" destOrd="0" presId="urn:microsoft.com/office/officeart/2018/2/layout/IconLabelDescriptionList"/>
    <dgm:cxn modelId="{B35B5942-C9F6-4CDA-9744-A58C4B6428DC}" type="presParOf" srcId="{FB2B048C-C5E8-4D16-9310-B1807DED3D42}" destId="{B31F5CE5-9315-4CD9-B103-ABA8AF8165A7}" srcOrd="3" destOrd="0" presId="urn:microsoft.com/office/officeart/2018/2/layout/IconLabelDescriptionList"/>
    <dgm:cxn modelId="{BFD92C6F-DCB6-413E-BE77-CAD24C90762E}" type="presParOf" srcId="{FB2B048C-C5E8-4D16-9310-B1807DED3D42}" destId="{FDA8A98A-01BE-42F2-BDE9-E61C616C581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EB794-E1E8-45CB-B56A-E1BEF5BF397D}">
      <dsp:nvSpPr>
        <dsp:cNvPr id="0" name=""/>
        <dsp:cNvSpPr/>
      </dsp:nvSpPr>
      <dsp:spPr>
        <a:xfrm>
          <a:off x="1061437" y="472477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C1CDD-357C-458D-8788-A42EEB8EFB3D}">
      <dsp:nvSpPr>
        <dsp:cNvPr id="0" name=""/>
        <dsp:cNvSpPr/>
      </dsp:nvSpPr>
      <dsp:spPr>
        <a:xfrm>
          <a:off x="1582" y="1713204"/>
          <a:ext cx="3261093" cy="626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Scouting &amp; Talent Evaluation</a:t>
          </a:r>
          <a:endParaRPr lang="en-US" sz="2000" kern="1200" dirty="0"/>
        </a:p>
      </dsp:txBody>
      <dsp:txXfrm>
        <a:off x="1582" y="1713204"/>
        <a:ext cx="3261093" cy="626741"/>
      </dsp:txXfrm>
    </dsp:sp>
    <dsp:sp modelId="{B0C7D408-00F6-410C-8935-8E4506F76249}">
      <dsp:nvSpPr>
        <dsp:cNvPr id="0" name=""/>
        <dsp:cNvSpPr/>
      </dsp:nvSpPr>
      <dsp:spPr>
        <a:xfrm>
          <a:off x="1582" y="2386152"/>
          <a:ext cx="3261093" cy="396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31BDFC-AEE0-4655-9C58-0D3278EDB5F8}">
      <dsp:nvSpPr>
        <dsp:cNvPr id="0" name=""/>
        <dsp:cNvSpPr/>
      </dsp:nvSpPr>
      <dsp:spPr>
        <a:xfrm>
          <a:off x="4893223" y="472477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D6505-5A04-4327-86E1-02382CB34F7E}">
      <dsp:nvSpPr>
        <dsp:cNvPr id="0" name=""/>
        <dsp:cNvSpPr/>
      </dsp:nvSpPr>
      <dsp:spPr>
        <a:xfrm>
          <a:off x="3833367" y="1713204"/>
          <a:ext cx="3261093" cy="626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Athlete Tracking</a:t>
          </a:r>
          <a:endParaRPr lang="en-US" sz="2000" kern="1200" dirty="0"/>
        </a:p>
      </dsp:txBody>
      <dsp:txXfrm>
        <a:off x="3833367" y="1713204"/>
        <a:ext cx="3261093" cy="626741"/>
      </dsp:txXfrm>
    </dsp:sp>
    <dsp:sp modelId="{66D4A7D1-E564-4186-ADB0-C697680BC561}">
      <dsp:nvSpPr>
        <dsp:cNvPr id="0" name=""/>
        <dsp:cNvSpPr/>
      </dsp:nvSpPr>
      <dsp:spPr>
        <a:xfrm>
          <a:off x="3833367" y="2386152"/>
          <a:ext cx="3261093" cy="396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7C542B-62FB-4F2C-B6F2-73FA2E2B251A}">
      <dsp:nvSpPr>
        <dsp:cNvPr id="0" name=""/>
        <dsp:cNvSpPr/>
      </dsp:nvSpPr>
      <dsp:spPr>
        <a:xfrm>
          <a:off x="8725008" y="472477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F3C3D-DDE2-4474-ADB3-A2AA4A868D0E}">
      <dsp:nvSpPr>
        <dsp:cNvPr id="0" name=""/>
        <dsp:cNvSpPr/>
      </dsp:nvSpPr>
      <dsp:spPr>
        <a:xfrm>
          <a:off x="7665152" y="1713204"/>
          <a:ext cx="3261093" cy="626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Strategy &amp; Tactical Optimization</a:t>
          </a:r>
          <a:endParaRPr lang="en-US" sz="2000" kern="1200" dirty="0"/>
        </a:p>
      </dsp:txBody>
      <dsp:txXfrm>
        <a:off x="7665152" y="1713204"/>
        <a:ext cx="3261093" cy="626741"/>
      </dsp:txXfrm>
    </dsp:sp>
    <dsp:sp modelId="{EBBC1388-3B93-4130-A7B1-76FFBB48699A}">
      <dsp:nvSpPr>
        <dsp:cNvPr id="0" name=""/>
        <dsp:cNvSpPr/>
      </dsp:nvSpPr>
      <dsp:spPr>
        <a:xfrm>
          <a:off x="7665152" y="2386152"/>
          <a:ext cx="3261093" cy="396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8810-BCC7-4F98-A356-F4FA46189ED3}">
      <dsp:nvSpPr>
        <dsp:cNvPr id="0" name=""/>
        <dsp:cNvSpPr/>
      </dsp:nvSpPr>
      <dsp:spPr>
        <a:xfrm>
          <a:off x="0" y="712772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B3E7A-9238-4392-BD23-80F64B24C815}">
      <dsp:nvSpPr>
        <dsp:cNvPr id="0" name=""/>
        <dsp:cNvSpPr/>
      </dsp:nvSpPr>
      <dsp:spPr>
        <a:xfrm>
          <a:off x="4219" y="1637501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 dirty="0"/>
            <a:t>1. Descriptive</a:t>
          </a:r>
          <a:endParaRPr lang="en-US" sz="2300" kern="1200" dirty="0"/>
        </a:p>
      </dsp:txBody>
      <dsp:txXfrm>
        <a:off x="4219" y="1637501"/>
        <a:ext cx="2413125" cy="361968"/>
      </dsp:txXfrm>
    </dsp:sp>
    <dsp:sp modelId="{A745A52F-9E23-45EE-8F17-4DA17BE2B6CF}">
      <dsp:nvSpPr>
        <dsp:cNvPr id="0" name=""/>
        <dsp:cNvSpPr/>
      </dsp:nvSpPr>
      <dsp:spPr>
        <a:xfrm>
          <a:off x="4219" y="2036742"/>
          <a:ext cx="2413125" cy="539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What happened?</a:t>
          </a:r>
          <a:endParaRPr lang="en-US" sz="1700" kern="1200" dirty="0"/>
        </a:p>
      </dsp:txBody>
      <dsp:txXfrm>
        <a:off x="4219" y="2036742"/>
        <a:ext cx="2413125" cy="539639"/>
      </dsp:txXfrm>
    </dsp:sp>
    <dsp:sp modelId="{E4CCD96E-359E-4AA4-B588-048619C54F92}">
      <dsp:nvSpPr>
        <dsp:cNvPr id="0" name=""/>
        <dsp:cNvSpPr/>
      </dsp:nvSpPr>
      <dsp:spPr>
        <a:xfrm>
          <a:off x="2839641" y="712772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12482-5CF7-471D-81B3-93E1D402E333}">
      <dsp:nvSpPr>
        <dsp:cNvPr id="0" name=""/>
        <dsp:cNvSpPr/>
      </dsp:nvSpPr>
      <dsp:spPr>
        <a:xfrm>
          <a:off x="2839641" y="1637501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2. Diagnostic</a:t>
          </a:r>
          <a:endParaRPr lang="en-US" sz="2300" kern="1200"/>
        </a:p>
      </dsp:txBody>
      <dsp:txXfrm>
        <a:off x="2839641" y="1637501"/>
        <a:ext cx="2413125" cy="361968"/>
      </dsp:txXfrm>
    </dsp:sp>
    <dsp:sp modelId="{DF164D61-735C-4C87-8347-8B99FE586313}">
      <dsp:nvSpPr>
        <dsp:cNvPr id="0" name=""/>
        <dsp:cNvSpPr/>
      </dsp:nvSpPr>
      <dsp:spPr>
        <a:xfrm>
          <a:off x="2839641" y="2036742"/>
          <a:ext cx="2413125" cy="539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Why / how did it happen?</a:t>
          </a:r>
          <a:endParaRPr lang="en-US" sz="1700" kern="1200" dirty="0"/>
        </a:p>
      </dsp:txBody>
      <dsp:txXfrm>
        <a:off x="2839641" y="2036742"/>
        <a:ext cx="2413125" cy="539639"/>
      </dsp:txXfrm>
    </dsp:sp>
    <dsp:sp modelId="{666A0142-3994-4944-9021-255BBA065A0C}">
      <dsp:nvSpPr>
        <dsp:cNvPr id="0" name=""/>
        <dsp:cNvSpPr/>
      </dsp:nvSpPr>
      <dsp:spPr>
        <a:xfrm>
          <a:off x="5675062" y="712772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AF011-C230-4B81-BC26-BF1B3B4EA562}">
      <dsp:nvSpPr>
        <dsp:cNvPr id="0" name=""/>
        <dsp:cNvSpPr/>
      </dsp:nvSpPr>
      <dsp:spPr>
        <a:xfrm>
          <a:off x="5675062" y="1637501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3. Predictive </a:t>
          </a:r>
          <a:endParaRPr lang="en-US" sz="2300" kern="1200"/>
        </a:p>
      </dsp:txBody>
      <dsp:txXfrm>
        <a:off x="5675062" y="1637501"/>
        <a:ext cx="2413125" cy="361968"/>
      </dsp:txXfrm>
    </dsp:sp>
    <dsp:sp modelId="{BC429B17-4FF9-4CFE-A522-B522D9FDB460}">
      <dsp:nvSpPr>
        <dsp:cNvPr id="0" name=""/>
        <dsp:cNvSpPr/>
      </dsp:nvSpPr>
      <dsp:spPr>
        <a:xfrm>
          <a:off x="5675062" y="2036742"/>
          <a:ext cx="2413125" cy="539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What is likely to happen?</a:t>
          </a:r>
          <a:endParaRPr lang="en-US" sz="1700" kern="1200"/>
        </a:p>
      </dsp:txBody>
      <dsp:txXfrm>
        <a:off x="5675062" y="2036742"/>
        <a:ext cx="2413125" cy="539639"/>
      </dsp:txXfrm>
    </dsp:sp>
    <dsp:sp modelId="{3B74E4F1-1538-449B-978E-E9FFF5835B2B}">
      <dsp:nvSpPr>
        <dsp:cNvPr id="0" name=""/>
        <dsp:cNvSpPr/>
      </dsp:nvSpPr>
      <dsp:spPr>
        <a:xfrm>
          <a:off x="8510484" y="712772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C8532-5FED-4962-B4DE-1032849C3828}">
      <dsp:nvSpPr>
        <dsp:cNvPr id="0" name=""/>
        <dsp:cNvSpPr/>
      </dsp:nvSpPr>
      <dsp:spPr>
        <a:xfrm>
          <a:off x="8510484" y="1637501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4. Prescriptive</a:t>
          </a:r>
          <a:endParaRPr lang="en-US" sz="2300" kern="1200"/>
        </a:p>
      </dsp:txBody>
      <dsp:txXfrm>
        <a:off x="8510484" y="1637501"/>
        <a:ext cx="2413125" cy="361968"/>
      </dsp:txXfrm>
    </dsp:sp>
    <dsp:sp modelId="{FDA8A98A-01BE-42F2-BDE9-E61C616C5813}">
      <dsp:nvSpPr>
        <dsp:cNvPr id="0" name=""/>
        <dsp:cNvSpPr/>
      </dsp:nvSpPr>
      <dsp:spPr>
        <a:xfrm>
          <a:off x="8510484" y="2036742"/>
          <a:ext cx="2413125" cy="539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What should we do about it?</a:t>
          </a:r>
          <a:endParaRPr lang="en-US" sz="1700" kern="1200"/>
        </a:p>
      </dsp:txBody>
      <dsp:txXfrm>
        <a:off x="8510484" y="2036742"/>
        <a:ext cx="2413125" cy="539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 of the three domains (Tracking, Scouting, Strategy) and how data changes sports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BE ABLE TO IDENTIFY WHICH DOMAIN THEIR QUESTION IS IN</a:t>
            </a:r>
          </a:p>
          <a:p>
            <a:pPr marL="171450" indent="-171450">
              <a:buFontTx/>
              <a:buChar char="-"/>
            </a:pPr>
            <a:r>
              <a:rPr lang="en-US" dirty="0"/>
              <a:t>Is it about signing talent?</a:t>
            </a:r>
          </a:p>
          <a:p>
            <a:pPr marL="171450" indent="-171450">
              <a:buFontTx/>
              <a:buChar char="-"/>
            </a:pPr>
            <a:r>
              <a:rPr lang="en-US" dirty="0"/>
              <a:t>Is it about athlete’s training?</a:t>
            </a:r>
          </a:p>
          <a:p>
            <a:pPr marL="171450" indent="-171450">
              <a:buFontTx/>
              <a:buChar char="-"/>
            </a:pPr>
            <a:r>
              <a:rPr lang="en-US" dirty="0"/>
              <a:t>Is it about how we play the game?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06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things to consider when investigating scouting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43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times scouting does not rely on a single data point (it may in your project)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FF0000"/>
                </a:solidFill>
              </a:rPr>
              <a:t>Which source would you trust most?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83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context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33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important, we will come back to this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39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Sports analytics is not defined by how complicated the method is. It is defined by whether data are being used thoughtfully to understand a problem and support a decision. Sometimes that requires a predictive model. Often, it requires accurate reporting, appropriate context, and clear communication.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73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Three Domains: Scouting, Tracking, and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4B99-C0BE-C514-46EC-CAE531CB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Sport Analytics Begins With a Decision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C063E-392D-93CE-404B-5B2C5A5F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For any sport analytics problem, ask: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Who will use the analysis?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decision are they trying to make?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information could improve that decision?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are the consequences of being wrong?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data might provide that information?</a:t>
            </a:r>
          </a:p>
        </p:txBody>
      </p:sp>
    </p:spTree>
    <p:extLst>
      <p:ext uri="{BB962C8B-B14F-4D97-AF65-F5344CB8AC3E}">
        <p14:creationId xmlns:p14="http://schemas.microsoft.com/office/powerpoint/2010/main" val="247780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2A2B-5817-51A8-D2A2-29D0DEAE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1AA7A-7F93-5D7D-958E-1D9C62FF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Understand where sport performance analytics is applied and how each domain supports real-world decisions.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1DA72B8-9C87-E1AF-B98A-35BB87112E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0847204"/>
              </p:ext>
            </p:extLst>
          </p:nvPr>
        </p:nvGraphicFramePr>
        <p:xfrm>
          <a:off x="838200" y="2921675"/>
          <a:ext cx="10927829" cy="3255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555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DFB2-CE6D-8D09-7A4F-E5EAB912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Domains and the Different Decision Environments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64D41-7567-2E1C-0750-CDA1D99E6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Scouting and Talent Evaluation</a:t>
            </a:r>
            <a:endParaRPr lang="en-GB" dirty="0"/>
          </a:p>
          <a:p>
            <a:pPr lvl="1"/>
            <a:r>
              <a:rPr lang="en-GB" dirty="0"/>
              <a:t>Evaluating athletes, projecting future performance, and informing recruitment.</a:t>
            </a:r>
          </a:p>
          <a:p>
            <a:pPr lvl="0"/>
            <a:r>
              <a:rPr lang="en-GB" b="1" dirty="0"/>
              <a:t>Athlete Tracking and Monitoring</a:t>
            </a:r>
            <a:endParaRPr lang="en-GB" dirty="0"/>
          </a:p>
          <a:p>
            <a:pPr lvl="1"/>
            <a:r>
              <a:rPr lang="en-GB" dirty="0"/>
              <a:t>Understanding training, competition demands, and athlete responses over time.</a:t>
            </a:r>
          </a:p>
          <a:p>
            <a:pPr lvl="0"/>
            <a:r>
              <a:rPr lang="en-GB" b="1" dirty="0"/>
              <a:t>Strategy and Tactical Analysis</a:t>
            </a:r>
            <a:endParaRPr lang="en-GB" dirty="0"/>
          </a:p>
          <a:p>
            <a:pPr lvl="1"/>
            <a:r>
              <a:rPr lang="en-GB" dirty="0"/>
              <a:t>Understanding how games unfold and supporting decisions about how to compete.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ECB83-3DBA-34CE-AFBB-623A4072F058}"/>
              </a:ext>
            </a:extLst>
          </p:cNvPr>
          <p:cNvSpPr txBox="1"/>
          <p:nvPr/>
        </p:nvSpPr>
        <p:spPr>
          <a:xfrm>
            <a:off x="1600200" y="5707007"/>
            <a:ext cx="899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domains describe </a:t>
            </a:r>
            <a:r>
              <a:rPr lang="en-GB" b="1" dirty="0"/>
              <a:t>where</a:t>
            </a:r>
            <a:r>
              <a:rPr lang="en-GB" dirty="0"/>
              <a:t> analytics is applied and </a:t>
            </a:r>
            <a:r>
              <a:rPr lang="en-GB" b="1" dirty="0"/>
              <a:t>which decisions </a:t>
            </a:r>
            <a:r>
              <a:rPr lang="en-GB" dirty="0"/>
              <a:t>it supports.</a:t>
            </a:r>
            <a:endParaRPr lang="en-GB" sz="2250" b="0" i="0" dirty="0">
              <a:solidFill>
                <a:srgbClr val="1A292C"/>
              </a:solidFill>
              <a:effectLst/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35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4136-6AB5-567E-BCA2-30F498FB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Domain 1: Scouting &amp; Talent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B0BD-3051-24B4-5424-4207D8E42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Evaluate current ability, understand development, and estimate future fit or performance.</a:t>
            </a:r>
          </a:p>
          <a:p>
            <a:pPr lvl="0"/>
            <a:endParaRPr lang="en-GB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E16221-1AC7-206D-F7E7-4283DB69983B}"/>
              </a:ext>
            </a:extLst>
          </p:cNvPr>
          <p:cNvSpPr/>
          <p:nvPr/>
        </p:nvSpPr>
        <p:spPr>
          <a:xfrm>
            <a:off x="6525491" y="2673927"/>
            <a:ext cx="4828309" cy="31865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b="1" dirty="0"/>
              <a:t>Common information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Performance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Training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Physical and technical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Competition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Age</a:t>
            </a:r>
            <a:endParaRPr lang="en-US" sz="2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598009-99A9-1900-5EDE-D2E3B9B9F140}"/>
              </a:ext>
            </a:extLst>
          </p:cNvPr>
          <p:cNvSpPr/>
          <p:nvPr/>
        </p:nvSpPr>
        <p:spPr>
          <a:xfrm>
            <a:off x="838200" y="2743200"/>
            <a:ext cx="4828309" cy="31865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b="1" dirty="0"/>
              <a:t>Common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Recruit or draft an athlete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Compare potential prospects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Identify development priorities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Build a balanced roster</a:t>
            </a:r>
          </a:p>
          <a:p>
            <a:pPr algn="ctr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6991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AAF79-5196-4304-D2BA-8C5841BF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Evaluation Depends on the Reference Point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8892-CBFC-012B-DD3C-CB4D5B925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Consider the claim: “This athlete is an excellent shooter.”</a:t>
            </a:r>
          </a:p>
          <a:p>
            <a:r>
              <a:rPr lang="en-GB" dirty="0"/>
              <a:t>Excellent compared with what?</a:t>
            </a:r>
          </a:p>
          <a:p>
            <a:pPr lvl="1"/>
            <a:r>
              <a:rPr lang="en-GB" dirty="0"/>
              <a:t>Teammates? </a:t>
            </a:r>
          </a:p>
          <a:p>
            <a:pPr lvl="1"/>
            <a:r>
              <a:rPr lang="en-GB" dirty="0"/>
              <a:t>Players at the same position? </a:t>
            </a:r>
          </a:p>
          <a:p>
            <a:pPr lvl="1"/>
            <a:r>
              <a:rPr lang="en-GB" dirty="0"/>
              <a:t>Players of the same age? </a:t>
            </a:r>
          </a:p>
          <a:p>
            <a:pPr lvl="1"/>
            <a:r>
              <a:rPr lang="en-GB" dirty="0"/>
              <a:t>Players in the current league? </a:t>
            </a:r>
          </a:p>
          <a:p>
            <a:pPr lvl="1"/>
            <a:r>
              <a:rPr lang="en-GB" dirty="0"/>
              <a:t>Players at the level being considered?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49910-3D7F-B243-1D1A-6A64D459F79B}"/>
              </a:ext>
            </a:extLst>
          </p:cNvPr>
          <p:cNvSpPr txBox="1"/>
          <p:nvPr/>
        </p:nvSpPr>
        <p:spPr>
          <a:xfrm>
            <a:off x="2126672" y="5046730"/>
            <a:ext cx="7938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rgbClr val="FF0000"/>
                </a:solidFill>
                <a:effectLst/>
                <a:latin typeface="+mn-lt"/>
              </a:rPr>
              <a:t>A number becomes evaluative only when it has a meaningful comparison.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86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11B7-D164-DCF2-8F93-9836E1AD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Evidence From Different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B40D-236F-2A3B-8951-44CB5B32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In scouting:</a:t>
            </a:r>
          </a:p>
          <a:p>
            <a:pPr lvl="0"/>
            <a:r>
              <a:rPr lang="en-GB" b="1" dirty="0"/>
              <a:t>Statistical performance:</a:t>
            </a:r>
            <a:r>
              <a:rPr lang="en-GB" dirty="0"/>
              <a:t> what the athlete has produced </a:t>
            </a:r>
          </a:p>
          <a:p>
            <a:pPr lvl="0"/>
            <a:r>
              <a:rPr lang="en-GB" b="1" dirty="0"/>
              <a:t>Video and observation:</a:t>
            </a:r>
            <a:r>
              <a:rPr lang="en-GB" dirty="0"/>
              <a:t> how that performance occurred </a:t>
            </a:r>
          </a:p>
          <a:p>
            <a:pPr lvl="0"/>
            <a:r>
              <a:rPr lang="en-GB" b="1" dirty="0"/>
              <a:t>Physical testing:</a:t>
            </a:r>
            <a:r>
              <a:rPr lang="en-GB" dirty="0"/>
              <a:t> the athlete’s specific capabilities </a:t>
            </a:r>
          </a:p>
          <a:p>
            <a:pPr lvl="0"/>
            <a:r>
              <a:rPr lang="en-GB" b="1" dirty="0"/>
              <a:t>Interviews and background:</a:t>
            </a:r>
            <a:r>
              <a:rPr lang="en-GB" dirty="0"/>
              <a:t> the athlete’s role, experience, and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92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6C524E-B2B4-7A6C-16BF-529B5D15D21E}"/>
              </a:ext>
            </a:extLst>
          </p:cNvPr>
          <p:cNvSpPr/>
          <p:nvPr/>
        </p:nvSpPr>
        <p:spPr>
          <a:xfrm>
            <a:off x="838200" y="2618509"/>
            <a:ext cx="4828309" cy="31865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b="1" dirty="0"/>
              <a:t>Common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Adjust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Plan recovery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Prepare for competition demands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Evaluate return-to-play progression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8469D-40F7-7830-05F1-2D005D4F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Domain 2: Athlete Tracking and Monitoring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87C13-1F8F-6A9D-FF31-C0F3288FE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Understand what athletes do and how they respond across training and competition.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26C4C5-D99B-CDA1-7F9C-769BF13A41A9}"/>
              </a:ext>
            </a:extLst>
          </p:cNvPr>
          <p:cNvSpPr/>
          <p:nvPr/>
        </p:nvSpPr>
        <p:spPr>
          <a:xfrm>
            <a:off x="6525491" y="2618509"/>
            <a:ext cx="4828309" cy="31865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b="1" dirty="0"/>
              <a:t>Common information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External load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Internal load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Wellness and readiness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Performance-test results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45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0C65-AACC-AC0A-76CE-4647060FA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E9B5-E8BC-BC83-E6EF-9F91BC10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11274"/>
          </a:xfrm>
        </p:spPr>
        <p:txBody>
          <a:bodyPr>
            <a:normAutofit/>
          </a:bodyPr>
          <a:lstStyle/>
          <a:p>
            <a:r>
              <a:rPr lang="en-GB" dirty="0"/>
              <a:t>Tracking Connects the Training Plan, Completed Work, and Athlete Response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88A1B-7759-ED77-C7D4-03E0BC0B3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48163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What was prescribed?</a:t>
            </a:r>
          </a:p>
          <a:p>
            <a:pPr lvl="1"/>
            <a:r>
              <a:rPr lang="en-GB" dirty="0"/>
              <a:t>The planned training or competition demand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What did the athlete complete?</a:t>
            </a:r>
          </a:p>
          <a:p>
            <a:pPr lvl="1"/>
            <a:r>
              <a:rPr lang="en-GB" dirty="0"/>
              <a:t>Duration, distance, accelerations, impacts, repetitions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How did the athlete respond?</a:t>
            </a:r>
          </a:p>
          <a:p>
            <a:pPr lvl="1"/>
            <a:r>
              <a:rPr lang="en-GB" dirty="0"/>
              <a:t>Heart rate, RPE, soreness, wellness, performance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475B5E-C7BA-FAD6-E9CD-CB2AB1EB4ACE}"/>
              </a:ext>
            </a:extLst>
          </p:cNvPr>
          <p:cNvSpPr txBox="1"/>
          <p:nvPr/>
        </p:nvSpPr>
        <p:spPr>
          <a:xfrm>
            <a:off x="1572491" y="5960031"/>
            <a:ext cx="9047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GB" dirty="0"/>
              <a:t>Workload has meaning only when interpreted in context.</a:t>
            </a:r>
            <a:endParaRPr lang="en-GB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34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AD42-60BD-21B3-61E1-DFB92D3C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Monitoring Data Requires Interpretation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E94A3-5163-F037-E798-2DCEA765A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Athlete monitoring data can identify unusual patterns or changes. 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A flag indicates that something may deserve </a:t>
            </a:r>
            <a:r>
              <a:rPr lang="en-GB" b="1" dirty="0"/>
              <a:t>attention </a:t>
            </a:r>
            <a:r>
              <a:rPr lang="en-GB" dirty="0"/>
              <a:t>but does not diagnose a problem.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Coaches and practitioners must interpret the information within the athlete’s broader </a:t>
            </a:r>
            <a:r>
              <a:rPr lang="en-GB" b="1" dirty="0"/>
              <a:t>context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35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7492E-1A95-E2DA-32AA-CCE155FA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C891-583F-87DA-AC76-852BE7EE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Domain 3: Strategy &amp; Tactical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63C36-4A2B-4B2F-2821-321706FDB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Understand patterns of play and support decisions about how to compete.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6C42FA8-19F9-6724-9126-2281495E58FA}"/>
              </a:ext>
            </a:extLst>
          </p:cNvPr>
          <p:cNvSpPr/>
          <p:nvPr/>
        </p:nvSpPr>
        <p:spPr>
          <a:xfrm>
            <a:off x="838199" y="2618509"/>
            <a:ext cx="4846320" cy="31865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b="1" dirty="0"/>
              <a:t>Common information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Events and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Spatial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Situational tendencies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Probabilities and expected value</a:t>
            </a:r>
            <a:endParaRPr lang="en-US" sz="2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4C124B-F576-640F-99B6-413600FB67D6}"/>
              </a:ext>
            </a:extLst>
          </p:cNvPr>
          <p:cNvSpPr/>
          <p:nvPr/>
        </p:nvSpPr>
        <p:spPr>
          <a:xfrm>
            <a:off x="6525490" y="2618509"/>
            <a:ext cx="4846320" cy="31865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b="1" dirty="0"/>
              <a:t>Common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Select lineups or rotations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Prepare for an opponent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Choose offensive or defensive tactics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Make in-game adjustments</a:t>
            </a:r>
          </a:p>
        </p:txBody>
      </p:sp>
    </p:spTree>
    <p:extLst>
      <p:ext uri="{BB962C8B-B14F-4D97-AF65-F5344CB8AC3E}">
        <p14:creationId xmlns:p14="http://schemas.microsoft.com/office/powerpoint/2010/main" val="423314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0091-86A6-44ED-8B85-AF5B811F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Situational Context and Game Event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6D2A-36B4-B854-420B-C54066EF7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value of a shot, pass, or play depends on: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When </a:t>
            </a:r>
            <a:r>
              <a:rPr lang="en-GB" dirty="0"/>
              <a:t>it occurred: score, time remaining, and game situation 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Where </a:t>
            </a:r>
            <a:r>
              <a:rPr lang="en-GB" dirty="0"/>
              <a:t>it occurred: player location and defensive pressure 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Who </a:t>
            </a:r>
            <a:r>
              <a:rPr lang="en-GB" dirty="0"/>
              <a:t>was involved: opponent, matchup, and teammates on the court or field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6A89B-06FB-BADD-6211-2E10A63ADC10}"/>
              </a:ext>
            </a:extLst>
          </p:cNvPr>
          <p:cNvSpPr txBox="1"/>
          <p:nvPr/>
        </p:nvSpPr>
        <p:spPr>
          <a:xfrm>
            <a:off x="1572491" y="5185229"/>
            <a:ext cx="9047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GB" dirty="0"/>
              <a:t>Strategy analysis asks not only what happened, but when, where, and against whom.</a:t>
            </a:r>
            <a:endParaRPr lang="en-GB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10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9AD9-21AB-F292-D8DE-189FC168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Developing an Analytical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B6CB8-04B0-5CB0-1F16-6718FEDB9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76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F151-17A3-BE94-563E-EEC74FD0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Analytical Questions Serve Different Purposes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2B59-4E9C-1A2A-0D85-1247AFC5E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Within any domain, we might want to:</a:t>
            </a:r>
          </a:p>
          <a:p>
            <a:pPr lvl="1"/>
            <a:endParaRPr lang="en-GB" b="1" dirty="0"/>
          </a:p>
          <a:p>
            <a:pPr lvl="1"/>
            <a:r>
              <a:rPr lang="en-GB" b="1" dirty="0"/>
              <a:t>Describe</a:t>
            </a:r>
            <a:r>
              <a:rPr lang="en-GB" dirty="0"/>
              <a:t> what occurred 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Diagnose</a:t>
            </a:r>
            <a:r>
              <a:rPr lang="en-GB" dirty="0"/>
              <a:t> why it may have occurred 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Predict</a:t>
            </a:r>
            <a:r>
              <a:rPr lang="en-GB" dirty="0"/>
              <a:t> what may occur next 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Prescribe</a:t>
            </a:r>
            <a:r>
              <a:rPr lang="en-GB" dirty="0"/>
              <a:t> what action should be taken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9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E687-775F-7437-EDC7-D51CFF5A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9710"/>
          </a:xfrm>
        </p:spPr>
        <p:txBody>
          <a:bodyPr>
            <a:normAutofit/>
          </a:bodyPr>
          <a:lstStyle/>
          <a:p>
            <a:r>
              <a:rPr lang="en-GB" dirty="0"/>
              <a:t>Four Types of Analytical Questions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C7561EA-9584-52D2-BAC5-64D0CEFB10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5187922"/>
              </p:ext>
            </p:extLst>
          </p:nvPr>
        </p:nvGraphicFramePr>
        <p:xfrm>
          <a:off x="644056" y="2112580"/>
          <a:ext cx="10927829" cy="3289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D501C34-509A-81FF-B053-22366C2BFE5A}"/>
              </a:ext>
            </a:extLst>
          </p:cNvPr>
          <p:cNvSpPr txBox="1"/>
          <p:nvPr/>
        </p:nvSpPr>
        <p:spPr>
          <a:xfrm>
            <a:off x="3059970" y="5197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1800" b="0" i="0" dirty="0">
                <a:solidFill>
                  <a:srgbClr val="FF0000"/>
                </a:solidFill>
                <a:effectLst/>
                <a:latin typeface="+mn-lt"/>
              </a:rPr>
              <a:t>These are different purposes. </a:t>
            </a:r>
            <a:r>
              <a:rPr lang="en-GB" sz="1800" b="1" i="0" dirty="0">
                <a:solidFill>
                  <a:srgbClr val="FF0000"/>
                </a:solidFill>
                <a:effectLst/>
                <a:latin typeface="+mn-lt"/>
              </a:rPr>
              <a:t>Not </a:t>
            </a:r>
            <a:r>
              <a:rPr lang="en-GB" sz="1800" b="0" i="0" dirty="0">
                <a:solidFill>
                  <a:srgbClr val="FF0000"/>
                </a:solidFill>
                <a:effectLst/>
                <a:latin typeface="+mn-lt"/>
              </a:rPr>
              <a:t>a ranking</a:t>
            </a:r>
            <a:endParaRPr lang="en-GB" sz="2250" b="0" i="0" dirty="0">
              <a:solidFill>
                <a:srgbClr val="FF0000"/>
              </a:solidFill>
              <a:effectLst/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742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C1E5-3253-BE3B-A177-555F6256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Descriptive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80534-F617-B253-BAEF-A99C9EDB1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Descriptive analytics summarizes past or current data to show what occurred.</a:t>
            </a:r>
          </a:p>
          <a:p>
            <a:r>
              <a:rPr lang="en-GB" dirty="0"/>
              <a:t>Identifies patterns and results, but it does not explain why they occurred.</a:t>
            </a:r>
            <a:endParaRPr lang="en-US" dirty="0"/>
          </a:p>
          <a:p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b="1" dirty="0"/>
              <a:t>Tracking:</a:t>
            </a:r>
            <a:r>
              <a:rPr lang="en-GB" dirty="0"/>
              <a:t> How much high-intensity work did the athlete complete? </a:t>
            </a:r>
          </a:p>
          <a:p>
            <a:pPr lvl="1"/>
            <a:r>
              <a:rPr lang="en-GB" b="1" dirty="0"/>
              <a:t>Scouting:</a:t>
            </a:r>
            <a:r>
              <a:rPr lang="en-GB" dirty="0"/>
              <a:t> What are the prospect’s current performance statistics? </a:t>
            </a:r>
          </a:p>
          <a:p>
            <a:pPr lvl="1"/>
            <a:r>
              <a:rPr lang="en-GB" b="1" dirty="0"/>
              <a:t>Strategy:</a:t>
            </a:r>
            <a:r>
              <a:rPr lang="en-GB" dirty="0"/>
              <a:t> Which players created the most scoring opportunities?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253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CB77-6EDD-8F3F-C963-1FA974FE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6ED2-15F2-DD91-5BA2-2809D0269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Diagnostic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6E8A-DA09-6CFB-6676-2D8217C9C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Diagnostic analytics uses data to investigate the </a:t>
            </a:r>
            <a:r>
              <a:rPr lang="en-GB" b="1" dirty="0"/>
              <a:t>possible</a:t>
            </a:r>
            <a:r>
              <a:rPr lang="en-GB" dirty="0"/>
              <a:t> reasons behind an outcome.</a:t>
            </a:r>
          </a:p>
          <a:p>
            <a:r>
              <a:rPr lang="en-GB" dirty="0"/>
              <a:t>May identify </a:t>
            </a:r>
            <a:r>
              <a:rPr lang="en-GB" b="1" dirty="0"/>
              <a:t>possible</a:t>
            </a:r>
            <a:r>
              <a:rPr lang="en-GB" i="1" dirty="0"/>
              <a:t> </a:t>
            </a:r>
            <a:r>
              <a:rPr lang="en-GB" dirty="0"/>
              <a:t>explanations, but an observed relationship </a:t>
            </a:r>
            <a:r>
              <a:rPr lang="en-GB" b="1" dirty="0"/>
              <a:t>does not prove </a:t>
            </a:r>
            <a:r>
              <a:rPr lang="en-GB" dirty="0"/>
              <a:t>causation.</a:t>
            </a:r>
          </a:p>
          <a:p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Did workload increase because practice was longer or more intense? </a:t>
            </a:r>
          </a:p>
          <a:p>
            <a:pPr lvl="1"/>
            <a:r>
              <a:rPr lang="en-GB" dirty="0"/>
              <a:t>Did the player perform differently against stronger opponents? </a:t>
            </a:r>
          </a:p>
          <a:p>
            <a:pPr lvl="1"/>
            <a:r>
              <a:rPr lang="en-GB" dirty="0"/>
              <a:t>Did turnovers contribute to the team allowing more shots?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65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467B-B4E5-CEF4-9E7B-8AC4FA6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Spurious Correlation in </a:t>
            </a:r>
            <a:r>
              <a:rPr lang="en-GB" dirty="0"/>
              <a:t>Diagnostic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1D64F-8619-3164-2F4C-D3C09F926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Relationship in which two or more events or variables are associated but not causally related</a:t>
            </a:r>
          </a:p>
          <a:p>
            <a:r>
              <a:rPr lang="en-US" dirty="0"/>
              <a:t>Relationship may be driven by coincidence or a </a:t>
            </a:r>
            <a:r>
              <a:rPr lang="en-US" b="1" dirty="0"/>
              <a:t>confounding variable </a:t>
            </a:r>
          </a:p>
        </p:txBody>
      </p:sp>
      <p:pic>
        <p:nvPicPr>
          <p:cNvPr id="4" name="Picture 3" descr="Ice cream consumption correlates with Robberies in South Carolina (r=0.901)">
            <a:extLst>
              <a:ext uri="{FF2B5EF4-FFF2-40B4-BE49-F238E27FC236}">
                <a16:creationId xmlns:a16="http://schemas.microsoft.com/office/drawing/2014/main" id="{1BE9FF5C-F8E0-913E-17DE-DC8AF2A17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0" y="3010564"/>
            <a:ext cx="3968879" cy="34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5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CC08-6958-F7A2-ACE4-B776B9A57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E0C7-70E6-46DA-F9E1-7120A151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Predictive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030B7-F5DE-72F2-FE6B-F9F7C08DA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Predictive analytics uses available information to estimate an unknown outcome, often in the future.</a:t>
            </a:r>
          </a:p>
          <a:p>
            <a:r>
              <a:rPr lang="en-GB" dirty="0"/>
              <a:t>Predictions are uncertain and depend on the quality of the data and assumptions.</a:t>
            </a:r>
          </a:p>
          <a:p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How is the athlete likely to perform in the next game? </a:t>
            </a:r>
          </a:p>
          <a:p>
            <a:pPr lvl="1"/>
            <a:r>
              <a:rPr lang="en-GB" dirty="0"/>
              <a:t>Which prospect is most likely to succeed at the next level? </a:t>
            </a:r>
          </a:p>
          <a:p>
            <a:pPr lvl="1"/>
            <a:r>
              <a:rPr lang="en-GB" dirty="0"/>
              <a:t>What is the probability that a possession produces a score?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63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98FE-CCCB-1001-6CB6-CA9D38D9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EED7-BE09-3B77-081C-C5843302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Prescriptive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4FAB-9362-0D28-BF87-CA3A0A1FD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Prescriptive analytics uses evidence to compare possible actions and recommend what should be done.</a:t>
            </a:r>
          </a:p>
          <a:p>
            <a:r>
              <a:rPr lang="en-GB" dirty="0"/>
              <a:t>May </a:t>
            </a:r>
            <a:r>
              <a:rPr lang="en-GB" b="1" u="sng" dirty="0"/>
              <a:t>guide</a:t>
            </a:r>
            <a:r>
              <a:rPr lang="en-GB" dirty="0"/>
              <a:t> decisions, but the final choice also depends on context, priorities, experience, and human judgment.</a:t>
            </a:r>
          </a:p>
          <a:p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Should the athlete’s training be modified? </a:t>
            </a:r>
          </a:p>
          <a:p>
            <a:pPr lvl="1"/>
            <a:r>
              <a:rPr lang="en-GB" dirty="0"/>
              <a:t>Which prospect should the team select? </a:t>
            </a:r>
          </a:p>
          <a:p>
            <a:pPr lvl="1"/>
            <a:r>
              <a:rPr lang="en-GB" dirty="0"/>
              <a:t>Which defensive strategy should the team use?</a:t>
            </a:r>
          </a:p>
        </p:txBody>
      </p:sp>
    </p:spTree>
    <p:extLst>
      <p:ext uri="{BB962C8B-B14F-4D97-AF65-F5344CB8AC3E}">
        <p14:creationId xmlns:p14="http://schemas.microsoft.com/office/powerpoint/2010/main" val="72116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6E13-5384-F6B8-7FF6-738F2767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Analytics Chain in Each Domain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5AD1FB-31AD-54B2-4A9C-187608065D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40987"/>
              </p:ext>
            </p:extLst>
          </p:nvPr>
        </p:nvGraphicFramePr>
        <p:xfrm>
          <a:off x="838200" y="2254726"/>
          <a:ext cx="10515600" cy="310896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516439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474513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815520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97386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44665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Diagnostic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Predictive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Prescriptive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Scouting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has the player done?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Why has performance varied?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might the player perform at the next level?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Should we recruit or draft the player?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786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Athlete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work did the athlete complete?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Why did workload or readiness change?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might the athlete respond tomorrow?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Should training be modified?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6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Game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happened during the game?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Why did the strategy succeed or fail?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is likely against the next opponent?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What strategy should the team use?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443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635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AABE-630C-BE7E-C207-7F502C7B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Analytics Is a Connected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74CFF-8068-9093-0DB3-427FA9D0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Description can support diagnosis, diagnosis can inform prediction, and all three can contribute to a recommendation.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782F88-38E0-4B72-24A8-1306D30D5582}"/>
              </a:ext>
            </a:extLst>
          </p:cNvPr>
          <p:cNvSpPr/>
          <p:nvPr/>
        </p:nvSpPr>
        <p:spPr>
          <a:xfrm>
            <a:off x="1148937" y="3352250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Descriptive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588D409-93BC-51D5-47E6-7F11165C0988}"/>
              </a:ext>
            </a:extLst>
          </p:cNvPr>
          <p:cNvSpPr/>
          <p:nvPr/>
        </p:nvSpPr>
        <p:spPr>
          <a:xfrm>
            <a:off x="3139043" y="3567134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AEB840-F944-BEEA-38E9-63C242B5BBF2}"/>
              </a:ext>
            </a:extLst>
          </p:cNvPr>
          <p:cNvSpPr/>
          <p:nvPr/>
        </p:nvSpPr>
        <p:spPr>
          <a:xfrm>
            <a:off x="3846615" y="3354530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Diagnostic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D3B2D4F-E522-6E84-5A49-48B9DD093CFA}"/>
              </a:ext>
            </a:extLst>
          </p:cNvPr>
          <p:cNvSpPr/>
          <p:nvPr/>
        </p:nvSpPr>
        <p:spPr>
          <a:xfrm>
            <a:off x="5836721" y="3569414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0115D1-850B-3AF9-77F6-E126493420F4}"/>
              </a:ext>
            </a:extLst>
          </p:cNvPr>
          <p:cNvSpPr/>
          <p:nvPr/>
        </p:nvSpPr>
        <p:spPr>
          <a:xfrm>
            <a:off x="6504710" y="3352250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Predictive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6C186F5-3E52-E86C-00AF-9BB5162BA1B8}"/>
              </a:ext>
            </a:extLst>
          </p:cNvPr>
          <p:cNvSpPr/>
          <p:nvPr/>
        </p:nvSpPr>
        <p:spPr>
          <a:xfrm>
            <a:off x="8494816" y="3567134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2ECBD38-13DC-59A9-C95E-2D7966D40DDC}"/>
              </a:ext>
            </a:extLst>
          </p:cNvPr>
          <p:cNvSpPr/>
          <p:nvPr/>
        </p:nvSpPr>
        <p:spPr>
          <a:xfrm>
            <a:off x="9202388" y="3331908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Prescriptive</a:t>
            </a:r>
          </a:p>
        </p:txBody>
      </p:sp>
    </p:spTree>
    <p:extLst>
      <p:ext uri="{BB962C8B-B14F-4D97-AF65-F5344CB8AC3E}">
        <p14:creationId xmlns:p14="http://schemas.microsoft.com/office/powerpoint/2010/main" val="801508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D775-A112-9AF9-5D1F-F62BCE02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6960-7901-AB28-CBA3-949C0482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 Analytical Work Is Rarely Linear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CAA5F0-6E53-A555-1152-E733DCFDF09C}"/>
              </a:ext>
            </a:extLst>
          </p:cNvPr>
          <p:cNvSpPr/>
          <p:nvPr/>
        </p:nvSpPr>
        <p:spPr>
          <a:xfrm>
            <a:off x="7505699" y="2164843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Predictive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D0D4C3A-526C-76CB-F794-7165AB6441E1}"/>
              </a:ext>
            </a:extLst>
          </p:cNvPr>
          <p:cNvSpPr/>
          <p:nvPr/>
        </p:nvSpPr>
        <p:spPr>
          <a:xfrm rot="2872106">
            <a:off x="9067303" y="3260213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07DF87-DD44-BEA8-AA52-58A227E0FACD}"/>
              </a:ext>
            </a:extLst>
          </p:cNvPr>
          <p:cNvSpPr/>
          <p:nvPr/>
        </p:nvSpPr>
        <p:spPr>
          <a:xfrm>
            <a:off x="2858985" y="2149558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Descriptive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33E3A46-654D-3745-1B1B-F084CE632680}"/>
              </a:ext>
            </a:extLst>
          </p:cNvPr>
          <p:cNvSpPr/>
          <p:nvPr/>
        </p:nvSpPr>
        <p:spPr>
          <a:xfrm>
            <a:off x="5286895" y="3925817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Diagnostic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A98941D-8F63-F9AC-5CD5-3FAB4E59CC08}"/>
              </a:ext>
            </a:extLst>
          </p:cNvPr>
          <p:cNvSpPr/>
          <p:nvPr/>
        </p:nvSpPr>
        <p:spPr>
          <a:xfrm rot="18801083">
            <a:off x="7438542" y="3227008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00CD9E-121F-6BC0-0916-DBD2C2A662F2}"/>
              </a:ext>
            </a:extLst>
          </p:cNvPr>
          <p:cNvSpPr/>
          <p:nvPr/>
        </p:nvSpPr>
        <p:spPr>
          <a:xfrm>
            <a:off x="8883733" y="3925817"/>
            <a:ext cx="184067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Prescriptive</a:t>
            </a:r>
          </a:p>
        </p:txBody>
      </p:sp>
      <p:sp>
        <p:nvSpPr>
          <p:cNvPr id="15" name="Magnetic Disk 14">
            <a:extLst>
              <a:ext uri="{FF2B5EF4-FFF2-40B4-BE49-F238E27FC236}">
                <a16:creationId xmlns:a16="http://schemas.microsoft.com/office/drawing/2014/main" id="{DDD59D53-0BF2-CBEC-7D6F-5D7CA63637DE}"/>
              </a:ext>
            </a:extLst>
          </p:cNvPr>
          <p:cNvSpPr/>
          <p:nvPr/>
        </p:nvSpPr>
        <p:spPr>
          <a:xfrm>
            <a:off x="838200" y="2464005"/>
            <a:ext cx="1163782" cy="41059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5C562E6-0EB2-6FF1-9937-9E86B58AF423}"/>
              </a:ext>
            </a:extLst>
          </p:cNvPr>
          <p:cNvSpPr/>
          <p:nvPr/>
        </p:nvSpPr>
        <p:spPr>
          <a:xfrm>
            <a:off x="2151413" y="2426099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595E51-A76C-EB48-AF77-7A2F954F66A6}"/>
              </a:ext>
            </a:extLst>
          </p:cNvPr>
          <p:cNvGrpSpPr/>
          <p:nvPr/>
        </p:nvGrpSpPr>
        <p:grpSpPr>
          <a:xfrm>
            <a:off x="5478483" y="2015504"/>
            <a:ext cx="1163782" cy="1108548"/>
            <a:chOff x="997527" y="4004676"/>
            <a:chExt cx="1163782" cy="1108548"/>
          </a:xfrm>
        </p:grpSpPr>
        <p:sp>
          <p:nvSpPr>
            <p:cNvPr id="20" name="Magnetic Disk 19">
              <a:extLst>
                <a:ext uri="{FF2B5EF4-FFF2-40B4-BE49-F238E27FC236}">
                  <a16:creationId xmlns:a16="http://schemas.microsoft.com/office/drawing/2014/main" id="{C75A93FE-8E1C-DE7F-3F48-024E6627F04B}"/>
                </a:ext>
              </a:extLst>
            </p:cNvPr>
            <p:cNvSpPr/>
            <p:nvPr/>
          </p:nvSpPr>
          <p:spPr>
            <a:xfrm>
              <a:off x="997527" y="4702629"/>
              <a:ext cx="1163782" cy="410595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Magnetic Disk 20">
              <a:extLst>
                <a:ext uri="{FF2B5EF4-FFF2-40B4-BE49-F238E27FC236}">
                  <a16:creationId xmlns:a16="http://schemas.microsoft.com/office/drawing/2014/main" id="{F5AB6600-3CE9-1A67-845B-C6554A26236F}"/>
                </a:ext>
              </a:extLst>
            </p:cNvPr>
            <p:cNvSpPr/>
            <p:nvPr/>
          </p:nvSpPr>
          <p:spPr>
            <a:xfrm>
              <a:off x="997527" y="4344931"/>
              <a:ext cx="1163782" cy="410595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22" name="Magnetic Disk 21">
              <a:extLst>
                <a:ext uri="{FF2B5EF4-FFF2-40B4-BE49-F238E27FC236}">
                  <a16:creationId xmlns:a16="http://schemas.microsoft.com/office/drawing/2014/main" id="{B7DDCEDA-194C-3B5F-DD08-FD26C999F49E}"/>
                </a:ext>
              </a:extLst>
            </p:cNvPr>
            <p:cNvSpPr/>
            <p:nvPr/>
          </p:nvSpPr>
          <p:spPr>
            <a:xfrm>
              <a:off x="997527" y="4004676"/>
              <a:ext cx="1163782" cy="410595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ight Arrow 22">
            <a:extLst>
              <a:ext uri="{FF2B5EF4-FFF2-40B4-BE49-F238E27FC236}">
                <a16:creationId xmlns:a16="http://schemas.microsoft.com/office/drawing/2014/main" id="{1C945C0C-1E0E-1C8E-FFC4-B8AAFAEB88FE}"/>
              </a:ext>
            </a:extLst>
          </p:cNvPr>
          <p:cNvSpPr/>
          <p:nvPr/>
        </p:nvSpPr>
        <p:spPr>
          <a:xfrm>
            <a:off x="6791696" y="2369371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10">
            <a:extLst>
              <a:ext uri="{FF2B5EF4-FFF2-40B4-BE49-F238E27FC236}">
                <a16:creationId xmlns:a16="http://schemas.microsoft.com/office/drawing/2014/main" id="{F8D00B4E-5019-385A-00F9-88EF7EA66798}"/>
              </a:ext>
            </a:extLst>
          </p:cNvPr>
          <p:cNvSpPr/>
          <p:nvPr/>
        </p:nvSpPr>
        <p:spPr>
          <a:xfrm rot="2872106">
            <a:off x="4685346" y="3260212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gnetic Disk 14">
            <a:extLst>
              <a:ext uri="{FF2B5EF4-FFF2-40B4-BE49-F238E27FC236}">
                <a16:creationId xmlns:a16="http://schemas.microsoft.com/office/drawing/2014/main" id="{3A81D705-48DD-03D2-FA63-8DA562319BB9}"/>
              </a:ext>
            </a:extLst>
          </p:cNvPr>
          <p:cNvSpPr/>
          <p:nvPr/>
        </p:nvSpPr>
        <p:spPr>
          <a:xfrm>
            <a:off x="3157525" y="4276163"/>
            <a:ext cx="1163782" cy="41059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7" name="Right Arrow 17">
            <a:extLst>
              <a:ext uri="{FF2B5EF4-FFF2-40B4-BE49-F238E27FC236}">
                <a16:creationId xmlns:a16="http://schemas.microsoft.com/office/drawing/2014/main" id="{EE119E15-F600-9DEE-D5F2-4173C101A4D3}"/>
              </a:ext>
            </a:extLst>
          </p:cNvPr>
          <p:cNvSpPr/>
          <p:nvPr/>
        </p:nvSpPr>
        <p:spPr>
          <a:xfrm>
            <a:off x="4469774" y="4114267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gnetic Disk 14">
            <a:extLst>
              <a:ext uri="{FF2B5EF4-FFF2-40B4-BE49-F238E27FC236}">
                <a16:creationId xmlns:a16="http://schemas.microsoft.com/office/drawing/2014/main" id="{706D57CE-82CD-A455-7EC6-295C78BB5D64}"/>
              </a:ext>
            </a:extLst>
          </p:cNvPr>
          <p:cNvSpPr/>
          <p:nvPr/>
        </p:nvSpPr>
        <p:spPr>
          <a:xfrm>
            <a:off x="3162226" y="3933228"/>
            <a:ext cx="1163782" cy="41059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ight Arrow 22">
            <a:extLst>
              <a:ext uri="{FF2B5EF4-FFF2-40B4-BE49-F238E27FC236}">
                <a16:creationId xmlns:a16="http://schemas.microsoft.com/office/drawing/2014/main" id="{D840C640-27D1-B0ED-939B-B21E542B9A51}"/>
              </a:ext>
            </a:extLst>
          </p:cNvPr>
          <p:cNvSpPr/>
          <p:nvPr/>
        </p:nvSpPr>
        <p:spPr>
          <a:xfrm>
            <a:off x="7726581" y="4174201"/>
            <a:ext cx="55814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916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C448-0E80-7EFF-4754-8229B404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6AE1-4E7C-4C41-76FF-F2538718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More Complex ≠ More Valuable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AA4CE-A3EC-AB3B-0675-93654EC1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Much of the daily work in sport analytics involves:</a:t>
            </a:r>
          </a:p>
          <a:p>
            <a:pPr lvl="1"/>
            <a:r>
              <a:rPr lang="en-GB" dirty="0"/>
              <a:t>Collecting, cleaning, and organizing data </a:t>
            </a:r>
          </a:p>
          <a:p>
            <a:pPr lvl="1"/>
            <a:r>
              <a:rPr lang="en-GB" dirty="0"/>
              <a:t>Defining metrics consistently </a:t>
            </a:r>
          </a:p>
          <a:p>
            <a:pPr lvl="1"/>
            <a:r>
              <a:rPr lang="en-GB" dirty="0"/>
              <a:t>Identifying meaningful changes and patterns </a:t>
            </a:r>
          </a:p>
          <a:p>
            <a:pPr lvl="1"/>
            <a:r>
              <a:rPr lang="en-GB" dirty="0"/>
              <a:t>Communicating findings to decision-makers 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Predictive models can be valuable, but only when they address a real decision and are supported by reliable foundational work.</a:t>
            </a:r>
          </a:p>
        </p:txBody>
      </p:sp>
    </p:spTree>
    <p:extLst>
      <p:ext uri="{BB962C8B-B14F-4D97-AF65-F5344CB8AC3E}">
        <p14:creationId xmlns:p14="http://schemas.microsoft.com/office/powerpoint/2010/main" val="232933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 three domains describe where sport analytics is applied. </a:t>
            </a:r>
          </a:p>
          <a:p>
            <a:pPr lvl="0"/>
            <a:r>
              <a:rPr lang="en-GB" dirty="0"/>
              <a:t>Descriptive, diagnostic, predictive, and prescriptive questions describe what the analysis is intended to accomplish.</a:t>
            </a:r>
          </a:p>
          <a:p>
            <a:r>
              <a:rPr lang="en-US" dirty="0"/>
              <a:t>Next: Turning practitioner concerns into clear, testable analytical questions</a:t>
            </a:r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</TotalTime>
  <Words>1360</Words>
  <Application>Microsoft Office PowerPoint</Application>
  <PresentationFormat>Widescreen</PresentationFormat>
  <Paragraphs>223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Fira Sans</vt:lpstr>
      <vt:lpstr>Office Theme</vt:lpstr>
      <vt:lpstr>The Three Domains: Scouting, Tracking, and Strategy</vt:lpstr>
      <vt:lpstr>Sport Analytics Begins With a Decision</vt:lpstr>
      <vt:lpstr>Overview</vt:lpstr>
      <vt:lpstr>Domains and the Different Decision Environments</vt:lpstr>
      <vt:lpstr>Domain 1: Scouting &amp; Talent Evaluation</vt:lpstr>
      <vt:lpstr>Evaluation Depends on the Reference Point</vt:lpstr>
      <vt:lpstr>Evidence From Different Sources</vt:lpstr>
      <vt:lpstr>Domain 2: Athlete Tracking and Monitoring</vt:lpstr>
      <vt:lpstr>Tracking Connects the Training Plan, Completed Work, and Athlete Response</vt:lpstr>
      <vt:lpstr>Monitoring Data Requires Interpretation</vt:lpstr>
      <vt:lpstr>Domain 3: Strategy &amp; Tactical Analysis</vt:lpstr>
      <vt:lpstr>Situational Context and Game Event </vt:lpstr>
      <vt:lpstr>Developing an Analytical Question</vt:lpstr>
      <vt:lpstr>Analytical Questions Serve Different Purposes</vt:lpstr>
      <vt:lpstr>Four Types of Analytical Questions</vt:lpstr>
      <vt:lpstr>Descriptive Analytics</vt:lpstr>
      <vt:lpstr>Diagnostic Analytics</vt:lpstr>
      <vt:lpstr>Spurious Correlation in Diagnostic Analytics</vt:lpstr>
      <vt:lpstr>Predictive Analytics</vt:lpstr>
      <vt:lpstr>Prescriptive Analytics</vt:lpstr>
      <vt:lpstr>Analytics Chain in Each Domain</vt:lpstr>
      <vt:lpstr>Analytics Is a Connected Process</vt:lpstr>
      <vt:lpstr>Real Analytical Work Is Rarely Linear</vt:lpstr>
      <vt:lpstr>More Complex ≠ More Valuable</vt:lpstr>
      <vt:lpstr>Summary &amp; 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Author</cp:lastModifiedBy>
  <cp:revision>19</cp:revision>
  <dcterms:created xsi:type="dcterms:W3CDTF">2026-08-17T13:48:23Z</dcterms:created>
  <dcterms:modified xsi:type="dcterms:W3CDTF">2026-09-01T17:20:17Z</dcterms:modified>
</cp:coreProperties>
</file>