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420" r:id="rId3"/>
    <p:sldId id="410" r:id="rId4"/>
    <p:sldId id="366" r:id="rId5"/>
    <p:sldId id="428" r:id="rId6"/>
    <p:sldId id="401" r:id="rId7"/>
    <p:sldId id="398" r:id="rId8"/>
    <p:sldId id="413" r:id="rId9"/>
    <p:sldId id="416" r:id="rId10"/>
    <p:sldId id="419" r:id="rId11"/>
    <p:sldId id="402" r:id="rId12"/>
    <p:sldId id="399" r:id="rId13"/>
    <p:sldId id="412" r:id="rId14"/>
    <p:sldId id="417" r:id="rId15"/>
    <p:sldId id="423" r:id="rId16"/>
    <p:sldId id="422" r:id="rId17"/>
    <p:sldId id="424" r:id="rId18"/>
    <p:sldId id="425" r:id="rId19"/>
    <p:sldId id="427" r:id="rId20"/>
    <p:sldId id="418" r:id="rId21"/>
    <p:sldId id="3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3"/>
    <p:restoredTop sz="78493" autoAdjust="0"/>
  </p:normalViewPr>
  <p:slideViewPr>
    <p:cSldViewPr snapToGrid="0">
      <p:cViewPr varScale="1">
        <p:scale>
          <a:sx n="98" d="100"/>
          <a:sy n="98" d="100"/>
        </p:scale>
        <p:origin x="1112" y="192"/>
      </p:cViewPr>
      <p:guideLst/>
    </p:cSldViewPr>
  </p:slideViewPr>
  <p:outlineViewPr>
    <p:cViewPr>
      <p:scale>
        <a:sx n="33" d="100"/>
        <a:sy n="33" d="100"/>
      </p:scale>
      <p:origin x="0" y="-286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30" d="100"/>
        <a:sy n="130" d="100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3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44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99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0431-ED20-021C-BC93-5AAA45A8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6B00F-5982-0508-8DC8-3208A062C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B052B-05FF-6810-AA15-845630568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BAEB6-4E58-D0B2-A4FD-9A9F05431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66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863E2-A521-DEA7-E317-32402477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9FEE3-48FB-9FF2-3CE0-000B6B7AA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C83E7-D787-0088-EE8C-DEFCAD3C8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957D-DBB9-4182-BF79-BAD97ED7C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51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3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27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way excel does this…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20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84A53-A1DC-42CB-D0C5-F1C78E78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E20BF-3B39-CD8B-CADD-3046499AE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0EA0A-A56A-6891-8720-4824E83AE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85331-3A19-B849-BB88-0A20397C0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1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62E2-754A-D67C-8217-738F860D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56F61-7DEC-6086-68A8-10AAF4DEE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F9FF1-09CC-AAA9-641C-93CBFB603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GB" b="1" dirty="0"/>
              <a:t>Mean vs. median decision-making</a:t>
            </a:r>
            <a:r>
              <a:rPr lang="en-GB" dirty="0"/>
              <a:t> (most frequent, and conceptually foundational)</a:t>
            </a:r>
          </a:p>
          <a:p>
            <a:pPr lvl="0" rtl="0"/>
            <a:r>
              <a:rPr lang="en-GB" b="1" dirty="0"/>
              <a:t>Graph selection and matching to variable type</a:t>
            </a:r>
            <a:endParaRPr lang="en-GB" dirty="0"/>
          </a:p>
          <a:p>
            <a:pPr lvl="0" rtl="0"/>
            <a:r>
              <a:rPr lang="en-GB" b="1" dirty="0"/>
              <a:t>Describing a distribution in words</a:t>
            </a:r>
            <a:endParaRPr lang="en-GB" dirty="0"/>
          </a:p>
          <a:p>
            <a:pPr lvl="0" rtl="0"/>
            <a:r>
              <a:rPr lang="en-GB" b="1" dirty="0"/>
              <a:t>Excel selection and formula demo</a:t>
            </a:r>
            <a:r>
              <a:rPr lang="en-GB" dirty="0"/>
              <a:t> (quick and practical)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90F8E-7AF7-C2E2-3197-E5009F78C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945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=0.49</m:t>
                    </m:r>
                  </m:oMath>
                </a14:m>
                <a:r>
                  <a:rPr lang="en-GB" dirty="0"/>
                  <a:t>, our model only explains </a:t>
                </a:r>
                <a:r>
                  <a:rPr lang="en-GB" b="1" dirty="0"/>
                  <a:t>49%</a:t>
                </a:r>
                <a:r>
                  <a:rPr lang="en-GB" dirty="0"/>
                  <a:t> of the variation. Over half of what is happening on the court/field is driven by factors our model completely ignores.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GB" dirty="0"/>
                  <a:t>If </a:t>
                </a:r>
                <a:r>
                  <a:rPr lang="en-US" i="0">
                    <a:latin typeface="Cambria Math" panose="02040503050406030204" pitchFamily="18" charset="0"/>
                  </a:rPr>
                  <a:t>𝑟=0.7</a:t>
                </a:r>
                <a:r>
                  <a:rPr lang="en-GB" dirty="0"/>
                  <a:t>, </a:t>
                </a:r>
                <a:r>
                  <a:rPr lang="en-US" i="0">
                    <a:latin typeface="Cambria Math" panose="02040503050406030204" pitchFamily="18" charset="0"/>
                  </a:rPr>
                  <a:t>𝑟^2=0.49</a:t>
                </a:r>
                <a:r>
                  <a:rPr lang="en-GB" dirty="0"/>
                  <a:t>, our model only explains </a:t>
                </a:r>
                <a:r>
                  <a:rPr lang="en-GB" b="1" dirty="0"/>
                  <a:t>49%</a:t>
                </a:r>
                <a:r>
                  <a:rPr lang="en-GB" dirty="0"/>
                  <a:t> of the variation. Over half of what is happening on the court/field is driven by factors our model completely ignores.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93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1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91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0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74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547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724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32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0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E8C1D3-413D-3F8C-2B71-1C4EB0ADE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77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Evaluating Predictions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5F45-1B12-B673-5DC4-B1EB20EF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 Can Do Already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7DD85-7FE0-BE73-4DFF-58D5BF557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Choose variables and create a scatterplot.</a:t>
            </a:r>
          </a:p>
          <a:p>
            <a:pPr lvl="0"/>
            <a:r>
              <a:rPr lang="en-GB" dirty="0"/>
              <a:t>Describe the direction and strength of a relationship.</a:t>
            </a:r>
          </a:p>
          <a:p>
            <a:pPr lvl="0"/>
            <a:r>
              <a:rPr lang="en-GB" dirty="0"/>
              <a:t>Use a trendline equation to make a prediction.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8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8D0A-9352-4AA3-6CD3-1EBBFADD5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Correlation vs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4CD-5E03-5F04-E0E5-BF90FDC21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Correlation: How strongly do the variables move together in a linear pattern?</a:t>
            </a:r>
          </a:p>
          <a:p>
            <a:r>
              <a:rPr lang="en-US" dirty="0"/>
              <a:t>Regression: What outcome does the fitted line predict for a given input?</a:t>
            </a:r>
          </a:p>
          <a:p>
            <a:endParaRPr lang="en-US" dirty="0"/>
          </a:p>
          <a:p>
            <a:r>
              <a:rPr lang="en-US" dirty="0"/>
              <a:t>Correlation is symmetrical, prediction is directional</a:t>
            </a:r>
          </a:p>
        </p:txBody>
      </p:sp>
    </p:spTree>
    <p:extLst>
      <p:ext uri="{BB962C8B-B14F-4D97-AF65-F5344CB8AC3E}">
        <p14:creationId xmlns:p14="http://schemas.microsoft.com/office/powerpoint/2010/main" val="55967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ED5F-9CC6-A209-CC91-A3402F9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Prediction Has a Direction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9277-A54C-600B-5D1B-CC6FA5A7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b="1" dirty="0"/>
              <a:t>Outcome ~ Predictor</a:t>
            </a:r>
          </a:p>
          <a:p>
            <a:r>
              <a:rPr lang="en-GB" dirty="0"/>
              <a:t>Outcome on the y, predictor on the x.</a:t>
            </a:r>
          </a:p>
          <a:p>
            <a:r>
              <a:rPr lang="en-GB" dirty="0"/>
              <a:t>Do these two models answer the same question?</a:t>
            </a:r>
          </a:p>
          <a:p>
            <a:pPr lvl="1"/>
            <a:r>
              <a:rPr lang="en-GB" dirty="0"/>
              <a:t>points ~ fouls</a:t>
            </a:r>
          </a:p>
          <a:p>
            <a:pPr lvl="1"/>
            <a:r>
              <a:rPr lang="en-GB" dirty="0"/>
              <a:t>fouls ~ points</a:t>
            </a:r>
          </a:p>
          <a:p>
            <a:r>
              <a:rPr lang="en-GB" b="1" u="sng" dirty="0"/>
              <a:t>Why</a:t>
            </a:r>
            <a:r>
              <a:rPr lang="en-GB" dirty="0"/>
              <a:t> would you expect them to be related?</a:t>
            </a:r>
          </a:p>
          <a:p>
            <a:pPr lvl="1"/>
            <a:r>
              <a:rPr lang="en-US" dirty="0"/>
              <a:t>points ~ assists</a:t>
            </a:r>
          </a:p>
          <a:p>
            <a:pPr lvl="2"/>
            <a:r>
              <a:rPr lang="en-US" dirty="0"/>
              <a:t>Can describe how assists relate to points</a:t>
            </a:r>
          </a:p>
          <a:p>
            <a:pPr lvl="2"/>
            <a:r>
              <a:rPr lang="en-US" dirty="0"/>
              <a:t>Cannot be used to conclude more passing = more points</a:t>
            </a:r>
          </a:p>
        </p:txBody>
      </p:sp>
    </p:spTree>
    <p:extLst>
      <p:ext uri="{BB962C8B-B14F-4D97-AF65-F5344CB8AC3E}">
        <p14:creationId xmlns:p14="http://schemas.microsoft.com/office/powerpoint/2010/main" val="235406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9EEA-D05C-BD78-74EE-783FFD69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C546-B30A-DD64-9B57-FA9C1BCC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Prediction Has a Direction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1CC80A-73DA-B3DC-CEA2-628F3D00B4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GB" b="1" dirty="0"/>
                  <a:t>Outcome ~ Predictor</a:t>
                </a:r>
                <a:endParaRPr lang="en-GB" dirty="0"/>
              </a:p>
              <a:p>
                <a:pPr lvl="0"/>
                <a:r>
                  <a:rPr lang="en-GB" dirty="0"/>
                  <a:t>To test the direction, use this: </a:t>
                </a:r>
                <a:r>
                  <a:rPr lang="en-GB" i="1" dirty="0"/>
                  <a:t>"We are using [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i="1" dirty="0"/>
                  <a:t>] to predict [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i="1" dirty="0"/>
                  <a:t>]."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Ask yourself: Does it make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1CC80A-73DA-B3DC-CEA2-628F3D00B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62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8EF43-2371-1A30-A981-28FD7ABF0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5EFECE-F3E8-9B2D-3A2F-B9808243F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7F8DDD-0512-1CB3-6632-709EDDF6E181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b="0" cap="none" dirty="0"/>
              <a:t>Trend line vs regression</a:t>
            </a:r>
          </a:p>
        </p:txBody>
      </p:sp>
    </p:spTree>
    <p:extLst>
      <p:ext uri="{BB962C8B-B14F-4D97-AF65-F5344CB8AC3E}">
        <p14:creationId xmlns:p14="http://schemas.microsoft.com/office/powerpoint/2010/main" val="414371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56C3-D1EA-CF29-2ED9-AD098215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8D91-9626-50E7-A7D5-29B538F9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Trend Lines vs. Regressions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E28E1-9D88-3B65-D0B7-453C47AD8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trend line is NOT the same as a predictive model, It is a descriptive </a:t>
            </a:r>
            <a:r>
              <a:rPr lang="en-GB" b="1" dirty="0"/>
              <a:t>visual summary</a:t>
            </a:r>
            <a:r>
              <a:rPr lang="en-GB" dirty="0"/>
              <a:t> of the pattern. </a:t>
            </a:r>
          </a:p>
          <a:p>
            <a:r>
              <a:rPr lang="en-GB" dirty="0"/>
              <a:t>A regression model (simple linear regression) uses a </a:t>
            </a:r>
            <a:r>
              <a:rPr lang="en-GB" b="1" dirty="0"/>
              <a:t>statistical method</a:t>
            </a:r>
            <a:r>
              <a:rPr lang="en-GB" dirty="0"/>
              <a:t>.</a:t>
            </a:r>
          </a:p>
          <a:p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ED799-7BA1-4503-6A45-6FBDA0DE5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257" y="3429000"/>
            <a:ext cx="3313398" cy="29120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FB1D7-2FB4-0D12-8775-DDC3CF103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345" y="3428999"/>
            <a:ext cx="3313399" cy="291208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DFC4A6-F67E-AFEB-BE87-F2E209706454}"/>
              </a:ext>
            </a:extLst>
          </p:cNvPr>
          <p:cNvCxnSpPr/>
          <p:nvPr/>
        </p:nvCxnSpPr>
        <p:spPr>
          <a:xfrm>
            <a:off x="2207623" y="3931920"/>
            <a:ext cx="2560320" cy="1776549"/>
          </a:xfrm>
          <a:prstGeom prst="line">
            <a:avLst/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3464C2-D268-2537-F882-5572E1382DFD}"/>
                  </a:ext>
                </a:extLst>
              </p:cNvPr>
              <p:cNvSpPr txBox="1"/>
              <p:nvPr/>
            </p:nvSpPr>
            <p:spPr>
              <a:xfrm>
                <a:off x="5675077" y="4358529"/>
                <a:ext cx="637623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6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3464C2-D268-2537-F882-5572E1382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077" y="4358529"/>
                <a:ext cx="637623" cy="923330"/>
              </a:xfrm>
              <a:prstGeom prst="rect">
                <a:avLst/>
              </a:prstGeom>
              <a:blipFill>
                <a:blip r:embed="rId5"/>
                <a:stretch>
                  <a:fillRect l="-28846" r="-28846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49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ADAB-17CA-0933-5F8F-BA08F49B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BB06-3732-8C7F-6BFE-41E824FD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Trend Lines vs. Regressions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3CB0E-58ED-EB59-A60C-EAEF7AC83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trend line is NOT the same as a predictive model, It is a descriptive </a:t>
            </a:r>
            <a:r>
              <a:rPr lang="en-GB" b="1" dirty="0"/>
              <a:t>visual summary</a:t>
            </a:r>
            <a:r>
              <a:rPr lang="en-GB" dirty="0"/>
              <a:t> of the pattern. </a:t>
            </a:r>
          </a:p>
          <a:p>
            <a:r>
              <a:rPr lang="en-GB" dirty="0"/>
              <a:t>A regression model (simple linear regression) uses a </a:t>
            </a:r>
            <a:r>
              <a:rPr lang="en-GB" b="1" dirty="0"/>
              <a:t>statistical method</a:t>
            </a:r>
            <a:r>
              <a:rPr lang="en-GB" dirty="0"/>
              <a:t>.</a:t>
            </a:r>
          </a:p>
          <a:p>
            <a:endParaRPr lang="en-GB" b="1" dirty="0"/>
          </a:p>
          <a:p>
            <a:pPr marL="0" lvl="0" indent="0" algn="ctr">
              <a:buNone/>
            </a:pPr>
            <a:r>
              <a:rPr lang="en-GB" b="1" dirty="0"/>
              <a:t>BUT</a:t>
            </a:r>
          </a:p>
          <a:p>
            <a:pPr marL="0" lvl="0" indent="0">
              <a:buNone/>
            </a:pPr>
            <a:endParaRPr lang="en-GB" b="1" dirty="0"/>
          </a:p>
          <a:p>
            <a:pPr lvl="0"/>
            <a:r>
              <a:rPr lang="en-GB" dirty="0"/>
              <a:t>Excel’s linear trendline uses statistical methods to fit the trend line by </a:t>
            </a:r>
            <a:r>
              <a:rPr lang="en-GB" b="1" dirty="0"/>
              <a:t>minimizing the residual</a:t>
            </a:r>
          </a:p>
          <a:p>
            <a:pPr lvl="0"/>
            <a:r>
              <a:rPr lang="en-GB" dirty="0"/>
              <a:t>The displayed equation lets us calculate predicted outcomes.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64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6A6A-3E6A-FD02-9CBE-6115BA7F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Minimizing the residuals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0B86-7FCF-1C00-B205-868FA8D50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GB" dirty="0"/>
              <a:t>Residual = Actual – Predicted</a:t>
            </a:r>
          </a:p>
          <a:p>
            <a:pPr marL="0" lvl="0" indent="0" algn="ctr">
              <a:buNone/>
            </a:pPr>
            <a:endParaRPr lang="en-GB" dirty="0"/>
          </a:p>
          <a:p>
            <a:pPr lvl="0"/>
            <a:r>
              <a:rPr lang="en-GB" b="1" dirty="0"/>
              <a:t>Positive:</a:t>
            </a:r>
            <a:r>
              <a:rPr lang="en-GB" dirty="0"/>
              <a:t> Actual outcome is above the prediction.</a:t>
            </a:r>
          </a:p>
          <a:p>
            <a:pPr lvl="0"/>
            <a:r>
              <a:rPr lang="en-GB" b="1" dirty="0"/>
              <a:t>Negative:</a:t>
            </a:r>
            <a:r>
              <a:rPr lang="en-GB" dirty="0"/>
              <a:t> Actual outcome is below the prediction.</a:t>
            </a:r>
          </a:p>
          <a:p>
            <a:pPr lvl="0"/>
            <a:endParaRPr lang="en-GB" dirty="0"/>
          </a:p>
          <a:p>
            <a:r>
              <a:rPr lang="en-GB" b="1" dirty="0"/>
              <a:t>Example:</a:t>
            </a:r>
          </a:p>
          <a:p>
            <a:pPr lvl="1"/>
            <a:r>
              <a:rPr lang="en-GB" dirty="0"/>
              <a:t>Predicted wins = 43</a:t>
            </a:r>
          </a:p>
          <a:p>
            <a:pPr lvl="1"/>
            <a:r>
              <a:rPr lang="en-GB" dirty="0"/>
              <a:t>Actual wins = 48</a:t>
            </a:r>
          </a:p>
          <a:p>
            <a:pPr lvl="1"/>
            <a:r>
              <a:rPr lang="en-GB" b="1" dirty="0"/>
              <a:t>Residual = +5 wins</a:t>
            </a:r>
            <a:endParaRPr lang="en-GB" dirty="0"/>
          </a:p>
          <a:p>
            <a:endParaRPr lang="en-US" dirty="0"/>
          </a:p>
        </p:txBody>
      </p:sp>
      <p:pic>
        <p:nvPicPr>
          <p:cNvPr id="4" name="Picture 3" descr="Ordinary Least Squares">
            <a:extLst>
              <a:ext uri="{FF2B5EF4-FFF2-40B4-BE49-F238E27FC236}">
                <a16:creationId xmlns:a16="http://schemas.microsoft.com/office/drawing/2014/main" id="{67DE030A-41C3-CF05-91AA-FBB3A7D400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815"/>
          <a:stretch>
            <a:fillRect/>
          </a:stretch>
        </p:blipFill>
        <p:spPr>
          <a:xfrm>
            <a:off x="6658791" y="3655975"/>
            <a:ext cx="3552009" cy="283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8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80E6-31EB-5EFF-529C-C6A9A615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FE99-E482-2F2E-3AA2-46BFF972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OLS Regressions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0A584-095C-4E20-C711-61DC93723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Ordinary Least Squares (OLS) chooses the slope and intercept that minimize the </a:t>
            </a:r>
            <a:r>
              <a:rPr lang="en-GB" b="1" dirty="0"/>
              <a:t>sum of squared residuals</a:t>
            </a:r>
            <a:r>
              <a:rPr lang="en-GB" dirty="0"/>
              <a:t>.</a:t>
            </a:r>
          </a:p>
        </p:txBody>
      </p:sp>
      <p:pic>
        <p:nvPicPr>
          <p:cNvPr id="4" name="Picture 3" descr="Ordinary Least Squares">
            <a:extLst>
              <a:ext uri="{FF2B5EF4-FFF2-40B4-BE49-F238E27FC236}">
                <a16:creationId xmlns:a16="http://schemas.microsoft.com/office/drawing/2014/main" id="{0EBA6671-550B-549C-2DF1-CD3A4F053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37526"/>
            <a:ext cx="7772400" cy="323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79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A3D8-E524-C496-ABBD-7C315635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BFC01A-D881-D3C2-8DBD-20E30DE111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A19A4C-5490-A09B-4998-F962B44FAC9D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b="0" cap="none" dirty="0"/>
              <a:t>Correlation vs Determination</a:t>
            </a:r>
          </a:p>
        </p:txBody>
      </p:sp>
    </p:spTree>
    <p:extLst>
      <p:ext uri="{BB962C8B-B14F-4D97-AF65-F5344CB8AC3E}">
        <p14:creationId xmlns:p14="http://schemas.microsoft.com/office/powerpoint/2010/main" val="368916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5F6EC-178A-1E9F-78FE-B7154FB09D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Point of Confusion: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vs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5F6EC-178A-1E9F-78FE-B7154FB09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8219" b="-20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3651C-6387-2E0A-9C68-CF13C45B98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GB" b="1" dirty="0"/>
                  <a:t>The Correlation Coefficient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b="1" dirty="0"/>
                  <a:t>):</a:t>
                </a:r>
                <a:r>
                  <a:rPr lang="en-GB" dirty="0"/>
                  <a:t>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 tells us the </a:t>
                </a:r>
                <a:r>
                  <a:rPr lang="en-GB" i="1" dirty="0"/>
                  <a:t>strength and direction</a:t>
                </a:r>
                <a:r>
                  <a:rPr lang="en-GB" dirty="0"/>
                  <a:t> of a linear relationship </a:t>
                </a:r>
              </a:p>
              <a:p>
                <a:pPr lvl="0"/>
                <a:endParaRPr lang="en-GB" dirty="0"/>
              </a:p>
              <a:p>
                <a:pPr marL="0" lvl="0" indent="0">
                  <a:buNone/>
                </a:pPr>
                <a:r>
                  <a:rPr lang="en-GB" b="1" dirty="0"/>
                  <a:t>The Coefficient of Determination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b="1" dirty="0"/>
                  <a:t>):</a:t>
                </a:r>
                <a:r>
                  <a:rPr lang="en-GB" dirty="0"/>
                  <a:t> </a:t>
                </a:r>
              </a:p>
              <a:p>
                <a:pPr lvl="0"/>
                <a:r>
                  <a:rPr lang="en-GB" dirty="0"/>
                  <a:t>Describes the proportion of variation in the outcome accounted for by the fitted model.</a:t>
                </a:r>
              </a:p>
              <a:p>
                <a:r>
                  <a:rPr lang="en-GB" dirty="0"/>
                  <a:t>R² does not show whether the relationship is positive or negative.</a:t>
                </a:r>
              </a:p>
              <a:p>
                <a:pPr lvl="0"/>
                <a:r>
                  <a:rPr lang="en-GB" u="sng" dirty="0"/>
                  <a:t>For simple OLS regression</a:t>
                </a:r>
                <a:r>
                  <a:rPr lang="en-GB" dirty="0"/>
                  <a:t> with an intercept, </a:t>
                </a:r>
                <a:r>
                  <a:rPr lang="en-GB" b="1" dirty="0"/>
                  <a:t>R² = r²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3651C-6387-2E0A-9C68-CF13C45B9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06" t="-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46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DF63F2-6FEA-D979-ECF4-533E4C1782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vs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2DF63F2-6FEA-D979-ECF4-533E4C178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8219" b="-20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92983-7D45-F5B4-87E2-74370F6824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  <a:defRPr/>
                </a:pPr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=0.49</m:t>
                    </m:r>
                  </m:oMath>
                </a14:m>
                <a:r>
                  <a:rPr lang="en-GB" dirty="0"/>
                  <a:t>, </a:t>
                </a:r>
              </a:p>
              <a:p>
                <a:pPr>
                  <a:spcBef>
                    <a:spcPts val="0"/>
                  </a:spcBef>
                  <a:defRPr/>
                </a:pPr>
                <a:endParaRPr lang="en-GB" dirty="0"/>
              </a:p>
              <a:p>
                <a:pPr>
                  <a:spcBef>
                    <a:spcPts val="0"/>
                  </a:spcBef>
                  <a:defRPr/>
                </a:pPr>
                <a:r>
                  <a:rPr lang="en-GB" dirty="0"/>
                  <a:t>The r value tells us the variables have a positive linear relationship.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GB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value tells us the model explains </a:t>
                </a:r>
                <a:r>
                  <a:rPr lang="en-GB" b="1" dirty="0"/>
                  <a:t>49%</a:t>
                </a:r>
                <a:r>
                  <a:rPr lang="en-GB" dirty="0"/>
                  <a:t> of the variation. </a:t>
                </a:r>
              </a:p>
              <a:p>
                <a:pPr lvl="1">
                  <a:spcBef>
                    <a:spcPts val="0"/>
                  </a:spcBef>
                  <a:defRPr/>
                </a:pPr>
                <a:r>
                  <a:rPr lang="en-GB" dirty="0"/>
                  <a:t>The remaining 51% is not accounted for by this fitted model. </a:t>
                </a:r>
              </a:p>
              <a:p>
                <a:pPr lvl="1">
                  <a:spcBef>
                    <a:spcPts val="0"/>
                  </a:spcBef>
                  <a:defRPr/>
                </a:pPr>
                <a:endParaRPr lang="en-GB" dirty="0"/>
              </a:p>
              <a:p>
                <a:pPr>
                  <a:spcBef>
                    <a:spcPts val="0"/>
                  </a:spcBef>
                  <a:defRPr/>
                </a:pPr>
                <a:r>
                  <a:rPr lang="en-GB" b="1" dirty="0"/>
                  <a:t>This does not mean:</a:t>
                </a:r>
                <a:endParaRPr lang="en-GB" dirty="0"/>
              </a:p>
              <a:p>
                <a:pPr lvl="1"/>
                <a:r>
                  <a:rPr lang="en-GB" dirty="0"/>
                  <a:t>Predictions are “49% accurate.”</a:t>
                </a:r>
              </a:p>
              <a:p>
                <a:pPr lvl="1"/>
                <a:r>
                  <a:rPr lang="en-GB" dirty="0"/>
                  <a:t>The predictor causes 49% of the outcome.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E92983-7D45-F5B4-87E2-74370F6824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06" t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20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913FF-3922-BF57-FDE2-896D8137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Putting it all together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973B7-9D14-096B-9B85-E0258F4DC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/>
              <a:t>Direction:</a:t>
            </a:r>
            <a:r>
              <a:rPr lang="en-GB" dirty="0"/>
              <a:t> What are we predicting, and from what?</a:t>
            </a:r>
          </a:p>
          <a:p>
            <a:pPr lvl="0"/>
            <a:r>
              <a:rPr lang="en-GB" b="1" dirty="0"/>
              <a:t>r:</a:t>
            </a:r>
            <a:r>
              <a:rPr lang="en-GB" dirty="0"/>
              <a:t> How strong is the linear relationship?</a:t>
            </a:r>
          </a:p>
          <a:p>
            <a:pPr lvl="0"/>
            <a:r>
              <a:rPr lang="en-GB" b="1" dirty="0"/>
              <a:t>Slope:</a:t>
            </a:r>
            <a:r>
              <a:rPr lang="en-GB" dirty="0"/>
              <a:t> How does the predicted outcome change as x increases?</a:t>
            </a:r>
          </a:p>
          <a:p>
            <a:pPr lvl="0"/>
            <a:r>
              <a:rPr lang="en-GB" b="1" dirty="0"/>
              <a:t>R²:</a:t>
            </a:r>
            <a:r>
              <a:rPr lang="en-GB" dirty="0"/>
              <a:t> How much variation does the model account for?</a:t>
            </a:r>
          </a:p>
          <a:p>
            <a:pPr lvl="0"/>
            <a:r>
              <a:rPr lang="en-GB" b="1" dirty="0"/>
              <a:t>Prediction:</a:t>
            </a:r>
            <a:r>
              <a:rPr lang="en-GB" dirty="0"/>
              <a:t> What outcome does the equation give for a chosen x-value?</a:t>
            </a:r>
          </a:p>
        </p:txBody>
      </p:sp>
    </p:spTree>
    <p:extLst>
      <p:ext uri="{BB962C8B-B14F-4D97-AF65-F5344CB8AC3E}">
        <p14:creationId xmlns:p14="http://schemas.microsoft.com/office/powerpoint/2010/main" val="170555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8AAE3D-B4B7-F3FD-33D6-07152E83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Uncertainty in Predictions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AF43A-E8CC-D728-4E23-30BD1070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limitation to analysis</a:t>
            </a:r>
          </a:p>
        </p:txBody>
      </p:sp>
    </p:spTree>
    <p:extLst>
      <p:ext uri="{BB962C8B-B14F-4D97-AF65-F5344CB8AC3E}">
        <p14:creationId xmlns:p14="http://schemas.microsoft.com/office/powerpoint/2010/main" val="186792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2ED86-F215-1755-4311-DF23C6C5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Sample Size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6D364-1466-574E-A4A6-E1363685B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sports, sample sizes can tiny (for team level analysis, n can be 8~12)</a:t>
            </a:r>
          </a:p>
          <a:p>
            <a:r>
              <a:rPr lang="en-GB" dirty="0"/>
              <a:t>In small samples, one outlier can have a large influence a trendline</a:t>
            </a:r>
          </a:p>
          <a:p>
            <a:r>
              <a:rPr lang="en-GB" dirty="0"/>
              <a:t>More observations generally help us estimate the relationship more reliably, but sample size alone does not guarantee useful predictions.</a:t>
            </a:r>
          </a:p>
        </p:txBody>
      </p:sp>
      <p:pic>
        <p:nvPicPr>
          <p:cNvPr id="4" name="Picture 3" descr="The ultimate guide to correctly calculating A/B testing sample size and  test duration">
            <a:extLst>
              <a:ext uri="{FF2B5EF4-FFF2-40B4-BE49-F238E27FC236}">
                <a16:creationId xmlns:a16="http://schemas.microsoft.com/office/drawing/2014/main" id="{555BEA2A-E70B-EEAD-5A6C-CC8157D5C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659" y="4371974"/>
            <a:ext cx="3978681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4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7E9F2-D9F8-6FD4-7160-507EC6FE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EFA3-9B1F-0362-5708-C81716BF8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Models are most defensible when applied to athletes and situations similar to those in the original data.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Population</a:t>
            </a:r>
            <a:r>
              <a:rPr lang="en-GB" dirty="0"/>
              <a:t>: A model developed with elite male sprinters may not perform well for youth female distance runners.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Extrapolation</a:t>
            </a:r>
            <a:r>
              <a:rPr lang="en-GB" dirty="0"/>
              <a:t>: Predicting for a 36-inch jump when the observed range was 15–28 inches extends beyond the evidence.</a:t>
            </a:r>
          </a:p>
          <a:p>
            <a:pPr lvl="1"/>
            <a:endParaRPr lang="en-GB" dirty="0"/>
          </a:p>
          <a:p>
            <a:pPr lvl="1"/>
            <a:r>
              <a:rPr lang="en-GB" b="1" dirty="0"/>
              <a:t>Context</a:t>
            </a:r>
            <a:r>
              <a:rPr lang="en-GB" dirty="0"/>
              <a:t>: Relationships measured on a laboratory treadmill may differ during outdoor competition.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8069A-82D7-9E0A-777E-5A390F3DF46B}"/>
              </a:ext>
            </a:extLst>
          </p:cNvPr>
          <p:cNvSpPr txBox="1"/>
          <p:nvPr/>
        </p:nvSpPr>
        <p:spPr>
          <a:xfrm>
            <a:off x="3775236" y="5971753"/>
            <a:ext cx="4641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the specific context for case study 3?</a:t>
            </a:r>
          </a:p>
        </p:txBody>
      </p:sp>
    </p:spTree>
    <p:extLst>
      <p:ext uri="{BB962C8B-B14F-4D97-AF65-F5344CB8AC3E}">
        <p14:creationId xmlns:p14="http://schemas.microsoft.com/office/powerpoint/2010/main" val="71880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C506-2B44-B98B-C4ED-A923D4E2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Overfitting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5A5B9-F2FD-33C4-7FEF-53C9CE3D2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Underfitting: Model is too simple</a:t>
            </a:r>
          </a:p>
          <a:p>
            <a:pPr lvl="1"/>
            <a:r>
              <a:rPr lang="en-GB" dirty="0"/>
              <a:t>Misses the true trend.</a:t>
            </a:r>
          </a:p>
          <a:p>
            <a:pPr lvl="0"/>
            <a:r>
              <a:rPr lang="en-GB" dirty="0"/>
              <a:t>Good Fit: Captures the core underlying athletic pattern (the </a:t>
            </a:r>
            <a:r>
              <a:rPr lang="en-GB" i="1" dirty="0"/>
              <a:t>signal</a:t>
            </a:r>
            <a:r>
              <a:rPr lang="en-GB" dirty="0"/>
              <a:t>).</a:t>
            </a:r>
          </a:p>
          <a:p>
            <a:pPr lvl="0"/>
            <a:r>
              <a:rPr lang="en-GB" dirty="0"/>
              <a:t>Overfitting: Model fits every tiny detail (the </a:t>
            </a:r>
            <a:r>
              <a:rPr lang="en-GB" i="1" dirty="0"/>
              <a:t>noise</a:t>
            </a:r>
            <a:r>
              <a:rPr lang="en-GB" dirty="0"/>
              <a:t>)</a:t>
            </a:r>
            <a:endParaRPr lang="en-US" dirty="0"/>
          </a:p>
          <a:p>
            <a:pPr lvl="1"/>
            <a:r>
              <a:rPr lang="en-GB" dirty="0"/>
              <a:t>Fits existing data very closely, but may predict new observations poorly.</a:t>
            </a:r>
            <a:endParaRPr lang="en-US" dirty="0"/>
          </a:p>
        </p:txBody>
      </p:sp>
      <p:pic>
        <p:nvPicPr>
          <p:cNvPr id="5" name="Picture 4" descr="https://docs.aws.amazon.com/images/machine-learning/latest/dg/images/mlconcepts_image5.png">
            <a:extLst>
              <a:ext uri="{FF2B5EF4-FFF2-40B4-BE49-F238E27FC236}">
                <a16:creationId xmlns:a16="http://schemas.microsoft.com/office/drawing/2014/main" id="{C509DAF0-C19A-B00E-9CDA-C83C8F695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405" y="4237073"/>
            <a:ext cx="5639189" cy="17059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08A462-08D4-BF90-F44D-5F44CFD37EC8}"/>
              </a:ext>
            </a:extLst>
          </p:cNvPr>
          <p:cNvSpPr txBox="1"/>
          <p:nvPr/>
        </p:nvSpPr>
        <p:spPr>
          <a:xfrm>
            <a:off x="6991156" y="5943046"/>
            <a:ext cx="1924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is not better</a:t>
            </a:r>
          </a:p>
        </p:txBody>
      </p:sp>
    </p:spTree>
    <p:extLst>
      <p:ext uri="{BB962C8B-B14F-4D97-AF65-F5344CB8AC3E}">
        <p14:creationId xmlns:p14="http://schemas.microsoft.com/office/powerpoint/2010/main" val="102099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6A2F-FF37-3F3E-852A-E5ECF4A9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contributing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A0B2-2326-1991-8C9C-C08594FCE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 single predictor will not capture everything related to the outcome. </a:t>
            </a:r>
          </a:p>
          <a:p>
            <a:r>
              <a:rPr lang="en-GB" dirty="0"/>
              <a:t>Eg: payroll may help predict wins, but injuries, player availability, and coaching may also matter.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49C4EA-5B0F-2245-66D7-559EDC66D972}"/>
              </a:ext>
            </a:extLst>
          </p:cNvPr>
          <p:cNvSpPr/>
          <p:nvPr/>
        </p:nvSpPr>
        <p:spPr>
          <a:xfrm>
            <a:off x="3733800" y="3644900"/>
            <a:ext cx="1485900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Factor 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DCDD86-C45D-3F5B-0072-D3EA91BC86E1}"/>
              </a:ext>
            </a:extLst>
          </p:cNvPr>
          <p:cNvSpPr/>
          <p:nvPr/>
        </p:nvSpPr>
        <p:spPr>
          <a:xfrm>
            <a:off x="3733800" y="4593431"/>
            <a:ext cx="1485900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Factor 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BAAB113-35F1-4854-7962-310264EB1E55}"/>
              </a:ext>
            </a:extLst>
          </p:cNvPr>
          <p:cNvSpPr/>
          <p:nvPr/>
        </p:nvSpPr>
        <p:spPr>
          <a:xfrm>
            <a:off x="3733800" y="5482829"/>
            <a:ext cx="1485900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Factor C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D8CD5F9-BBD6-0240-8E13-859D07417219}"/>
              </a:ext>
            </a:extLst>
          </p:cNvPr>
          <p:cNvSpPr/>
          <p:nvPr/>
        </p:nvSpPr>
        <p:spPr>
          <a:xfrm>
            <a:off x="5473192" y="464219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65F25541-4406-C88A-07C2-59F1DBDFC071}"/>
              </a:ext>
            </a:extLst>
          </p:cNvPr>
          <p:cNvSpPr/>
          <p:nvPr/>
        </p:nvSpPr>
        <p:spPr>
          <a:xfrm rot="1304208">
            <a:off x="5523364" y="3896703"/>
            <a:ext cx="111292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E896C67-6814-1DD2-7836-D2E94E477ECA}"/>
              </a:ext>
            </a:extLst>
          </p:cNvPr>
          <p:cNvSpPr/>
          <p:nvPr/>
        </p:nvSpPr>
        <p:spPr>
          <a:xfrm rot="19869131">
            <a:off x="5513967" y="5334489"/>
            <a:ext cx="122709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353C01-1B94-300F-E03E-EBDE806D0002}"/>
              </a:ext>
            </a:extLst>
          </p:cNvPr>
          <p:cNvSpPr/>
          <p:nvPr/>
        </p:nvSpPr>
        <p:spPr>
          <a:xfrm>
            <a:off x="6781840" y="4553518"/>
            <a:ext cx="1625559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241859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1BC6-7D13-8E8E-4494-512D5C51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Before Using the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2D60-39ED-32C4-E1BB-1A7CB194F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Does the prediction answer our question?</a:t>
            </a:r>
          </a:p>
          <a:p>
            <a:pPr lvl="0"/>
            <a:r>
              <a:rPr lang="en-GB" dirty="0"/>
              <a:t>Does a straight line reasonably describe the pattern?</a:t>
            </a:r>
          </a:p>
          <a:p>
            <a:pPr lvl="0"/>
            <a:r>
              <a:rPr lang="en-GB" dirty="0"/>
              <a:t>How widely do observations scatter around the line?</a:t>
            </a:r>
          </a:p>
          <a:p>
            <a:pPr lvl="0"/>
            <a:r>
              <a:rPr lang="en-GB" dirty="0"/>
              <a:t>Are we applying it to a comparable athlete or situation?</a:t>
            </a:r>
          </a:p>
          <a:p>
            <a:pPr lvl="0"/>
            <a:r>
              <a:rPr lang="en-GB" dirty="0"/>
              <a:t>Is the input within the range represented in our data?</a:t>
            </a:r>
          </a:p>
        </p:txBody>
      </p:sp>
    </p:spTree>
    <p:extLst>
      <p:ext uri="{BB962C8B-B14F-4D97-AF65-F5344CB8AC3E}">
        <p14:creationId xmlns:p14="http://schemas.microsoft.com/office/powerpoint/2010/main" val="200430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Prediction direction: Define what we predict and what we use to predict it.</a:t>
            </a:r>
          </a:p>
          <a:p>
            <a:pPr lvl="0"/>
            <a:r>
              <a:rPr lang="en-GB" dirty="0"/>
              <a:t>OLS and residuals: Fit the line and describe its misses.</a:t>
            </a:r>
          </a:p>
          <a:p>
            <a:pPr lvl="0"/>
            <a:r>
              <a:rPr lang="en-GB" dirty="0"/>
              <a:t>r and R²: Describe linear association and variation accounted for.</a:t>
            </a:r>
          </a:p>
          <a:p>
            <a:pPr lvl="0"/>
            <a:r>
              <a:rPr lang="en-GB" dirty="0"/>
              <a:t>Using the model: Consider the sample, data range, and sporting context.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4996</TotalTime>
  <Words>1036</Words>
  <Application>Microsoft Macintosh PowerPoint</Application>
  <PresentationFormat>Widescreen</PresentationFormat>
  <Paragraphs>148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Evaluating Predictions</vt:lpstr>
      <vt:lpstr>What We Can Do Already</vt:lpstr>
      <vt:lpstr>Review: Correlation vs Prediction</vt:lpstr>
      <vt:lpstr>Prediction Has a Direction</vt:lpstr>
      <vt:lpstr>Prediction Has a Direction</vt:lpstr>
      <vt:lpstr>PowerPoint Presentation</vt:lpstr>
      <vt:lpstr>Trend Lines vs. Regressions</vt:lpstr>
      <vt:lpstr>Trend Lines vs. Regressions</vt:lpstr>
      <vt:lpstr>Minimizing the residuals</vt:lpstr>
      <vt:lpstr>OLS Regressions</vt:lpstr>
      <vt:lpstr>PowerPoint Presentation</vt:lpstr>
      <vt:lpstr>Point of Confusion: r vs R^2</vt:lpstr>
      <vt:lpstr>Interpreting r vs R^2</vt:lpstr>
      <vt:lpstr>Putting it all together</vt:lpstr>
      <vt:lpstr>Uncertainty in Predictions</vt:lpstr>
      <vt:lpstr>Sample Size</vt:lpstr>
      <vt:lpstr>Generalizability</vt:lpstr>
      <vt:lpstr>Overfitting</vt:lpstr>
      <vt:lpstr>Other contributing factors</vt:lpstr>
      <vt:lpstr>Check Before Using the Model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Intern, Performance</cp:lastModifiedBy>
  <cp:revision>67</cp:revision>
  <dcterms:created xsi:type="dcterms:W3CDTF">2026-08-17T13:48:23Z</dcterms:created>
  <dcterms:modified xsi:type="dcterms:W3CDTF">2026-10-20T19:35:36Z</dcterms:modified>
</cp:coreProperties>
</file>