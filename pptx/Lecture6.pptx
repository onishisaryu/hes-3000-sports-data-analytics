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308" r:id="rId3"/>
    <p:sldId id="302" r:id="rId4"/>
    <p:sldId id="336" r:id="rId5"/>
    <p:sldId id="309" r:id="rId6"/>
    <p:sldId id="310" r:id="rId7"/>
    <p:sldId id="311" r:id="rId8"/>
    <p:sldId id="313" r:id="rId9"/>
    <p:sldId id="315" r:id="rId10"/>
    <p:sldId id="314" r:id="rId11"/>
    <p:sldId id="317" r:id="rId12"/>
    <p:sldId id="318" r:id="rId13"/>
    <p:sldId id="319" r:id="rId14"/>
    <p:sldId id="320" r:id="rId15"/>
    <p:sldId id="321" r:id="rId16"/>
    <p:sldId id="322" r:id="rId17"/>
    <p:sldId id="316" r:id="rId18"/>
    <p:sldId id="323" r:id="rId19"/>
    <p:sldId id="325" r:id="rId20"/>
    <p:sldId id="326" r:id="rId21"/>
    <p:sldId id="324" r:id="rId22"/>
    <p:sldId id="327" r:id="rId23"/>
    <p:sldId id="328" r:id="rId24"/>
    <p:sldId id="329" r:id="rId25"/>
    <p:sldId id="330" r:id="rId26"/>
    <p:sldId id="331" r:id="rId27"/>
    <p:sldId id="332" r:id="rId28"/>
    <p:sldId id="333" r:id="rId29"/>
    <p:sldId id="334" r:id="rId30"/>
    <p:sldId id="335" r:id="rId31"/>
    <p:sldId id="30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8BA75F-BB6E-9F18-1648-74F52ADBFB50}" v="317" dt="2026-09-14T21:32:23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78492" autoAdjust="0"/>
  </p:normalViewPr>
  <p:slideViewPr>
    <p:cSldViewPr snapToGrid="0">
      <p:cViewPr varScale="1">
        <p:scale>
          <a:sx n="97" d="100"/>
          <a:sy n="97" d="100"/>
        </p:scale>
        <p:origin x="10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46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nishi, Saryu" userId="S::saryu@ou.edu::24ec4854-0e9b-4cd9-95b4-b9d15917116b" providerId="AD" clId="Web-{D68BA75F-BB6E-9F18-1648-74F52ADBFB50}"/>
    <pc:docChg chg="addSld modSld">
      <pc:chgData name="Onishi, Saryu" userId="S::saryu@ou.edu::24ec4854-0e9b-4cd9-95b4-b9d15917116b" providerId="AD" clId="Web-{D68BA75F-BB6E-9F18-1648-74F52ADBFB50}" dt="2026-09-14T21:32:21.071" v="322"/>
      <pc:docMkLst>
        <pc:docMk/>
      </pc:docMkLst>
      <pc:sldChg chg="modSp">
        <pc:chgData name="Onishi, Saryu" userId="S::saryu@ou.edu::24ec4854-0e9b-4cd9-95b4-b9d15917116b" providerId="AD" clId="Web-{D68BA75F-BB6E-9F18-1648-74F52ADBFB50}" dt="2026-09-14T21:23:01.601" v="188" actId="20577"/>
        <pc:sldMkLst>
          <pc:docMk/>
          <pc:sldMk cId="2206692154" sldId="301"/>
        </pc:sldMkLst>
        <pc:spChg chg="mod">
          <ac:chgData name="Onishi, Saryu" userId="S::saryu@ou.edu::24ec4854-0e9b-4cd9-95b4-b9d15917116b" providerId="AD" clId="Web-{D68BA75F-BB6E-9F18-1648-74F52ADBFB50}" dt="2026-09-14T21:23:01.601" v="188" actId="20577"/>
          <ac:spMkLst>
            <pc:docMk/>
            <pc:sldMk cId="2206692154" sldId="301"/>
            <ac:spMk id="3" creationId="{B7781857-C6C4-CF29-7D9F-C7FCD74ECA0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16:29.569" v="91" actId="20577"/>
        <pc:sldMkLst>
          <pc:docMk/>
          <pc:sldMk cId="404022894" sldId="309"/>
        </pc:sldMkLst>
        <pc:spChg chg="mod">
          <ac:chgData name="Onishi, Saryu" userId="S::saryu@ou.edu::24ec4854-0e9b-4cd9-95b4-b9d15917116b" providerId="AD" clId="Web-{D68BA75F-BB6E-9F18-1648-74F52ADBFB50}" dt="2026-09-14T21:16:29.569" v="91" actId="20577"/>
          <ac:spMkLst>
            <pc:docMk/>
            <pc:sldMk cId="404022894" sldId="309"/>
            <ac:spMk id="3" creationId="{51729538-923D-458B-77DC-2E172E5670ED}"/>
          </ac:spMkLst>
        </pc:spChg>
      </pc:sldChg>
      <pc:sldChg chg="modSp">
        <pc:chgData name="Onishi, Saryu" userId="S::saryu@ou.edu::24ec4854-0e9b-4cd9-95b4-b9d15917116b" providerId="AD" clId="Web-{D68BA75F-BB6E-9F18-1648-74F52ADBFB50}" dt="2026-09-14T21:07:36.208" v="9" actId="1076"/>
        <pc:sldMkLst>
          <pc:docMk/>
          <pc:sldMk cId="2375312425" sldId="341"/>
        </pc:sldMkLst>
        <pc:spChg chg="mod">
          <ac:chgData name="Onishi, Saryu" userId="S::saryu@ou.edu::24ec4854-0e9b-4cd9-95b4-b9d15917116b" providerId="AD" clId="Web-{D68BA75F-BB6E-9F18-1648-74F52ADBFB50}" dt="2026-09-14T21:07:32.817" v="8" actId="20577"/>
          <ac:spMkLst>
            <pc:docMk/>
            <pc:sldMk cId="2375312425" sldId="341"/>
            <ac:spMk id="3" creationId="{81DA9FF1-2CFE-687B-73EB-63D88B461873}"/>
          </ac:spMkLst>
        </pc:spChg>
        <pc:spChg chg="mod">
          <ac:chgData name="Onishi, Saryu" userId="S::saryu@ou.edu::24ec4854-0e9b-4cd9-95b4-b9d15917116b" providerId="AD" clId="Web-{D68BA75F-BB6E-9F18-1648-74F52ADBFB50}" dt="2026-09-14T21:07:36.208" v="9" actId="1076"/>
          <ac:spMkLst>
            <pc:docMk/>
            <pc:sldMk cId="2375312425" sldId="341"/>
            <ac:spMk id="5" creationId="{6F87B829-A4B6-1F78-9DA5-137B29194ED2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4:18.789" v="206" actId="20577"/>
        <pc:sldMkLst>
          <pc:docMk/>
          <pc:sldMk cId="2874847518" sldId="354"/>
        </pc:sldMkLst>
        <pc:spChg chg="mod">
          <ac:chgData name="Onishi, Saryu" userId="S::saryu@ou.edu::24ec4854-0e9b-4cd9-95b4-b9d15917116b" providerId="AD" clId="Web-{D68BA75F-BB6E-9F18-1648-74F52ADBFB50}" dt="2026-09-14T21:15:16.819" v="74" actId="20577"/>
          <ac:spMkLst>
            <pc:docMk/>
            <pc:sldMk cId="2874847518" sldId="354"/>
            <ac:spMk id="2" creationId="{B112D2BE-C4C4-4D20-846C-3EF3A9972AED}"/>
          </ac:spMkLst>
        </pc:spChg>
        <pc:spChg chg="mod">
          <ac:chgData name="Onishi, Saryu" userId="S::saryu@ou.edu::24ec4854-0e9b-4cd9-95b4-b9d15917116b" providerId="AD" clId="Web-{D68BA75F-BB6E-9F18-1648-74F52ADBFB50}" dt="2026-09-14T21:24:18.789" v="206" actId="20577"/>
          <ac:spMkLst>
            <pc:docMk/>
            <pc:sldMk cId="2874847518" sldId="354"/>
            <ac:spMk id="3" creationId="{D45FD767-E1AA-9C8B-849F-6E11EB3CB6C0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39.194" v="127" actId="20577"/>
        <pc:sldMkLst>
          <pc:docMk/>
          <pc:sldMk cId="809028509" sldId="355"/>
        </pc:sldMkLst>
        <pc:spChg chg="mod">
          <ac:chgData name="Onishi, Saryu" userId="S::saryu@ou.edu::24ec4854-0e9b-4cd9-95b4-b9d15917116b" providerId="AD" clId="Web-{D68BA75F-BB6E-9F18-1648-74F52ADBFB50}" dt="2026-09-14T21:17:39.194" v="127" actId="20577"/>
          <ac:spMkLst>
            <pc:docMk/>
            <pc:sldMk cId="809028509" sldId="355"/>
            <ac:spMk id="2" creationId="{9B3B2596-FD5F-03B2-820D-4B9F36FB3D0A}"/>
          </ac:spMkLst>
        </pc:spChg>
        <pc:spChg chg="mod">
          <ac:chgData name="Onishi, Saryu" userId="S::saryu@ou.edu::24ec4854-0e9b-4cd9-95b4-b9d15917116b" providerId="AD" clId="Web-{D68BA75F-BB6E-9F18-1648-74F52ADBFB50}" dt="2026-09-14T21:17:17.678" v="121" actId="20577"/>
          <ac:spMkLst>
            <pc:docMk/>
            <pc:sldMk cId="809028509" sldId="355"/>
            <ac:spMk id="3" creationId="{FAB2016C-BC61-0A1A-E451-7B3E637EF84A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17:57.460" v="132" actId="20577"/>
        <pc:sldMkLst>
          <pc:docMk/>
          <pc:sldMk cId="4290967881" sldId="356"/>
        </pc:sldMkLst>
        <pc:spChg chg="mod">
          <ac:chgData name="Onishi, Saryu" userId="S::saryu@ou.edu::24ec4854-0e9b-4cd9-95b4-b9d15917116b" providerId="AD" clId="Web-{D68BA75F-BB6E-9F18-1648-74F52ADBFB50}" dt="2026-09-14T21:17:53.944" v="130" actId="20577"/>
          <ac:spMkLst>
            <pc:docMk/>
            <pc:sldMk cId="4290967881" sldId="356"/>
            <ac:spMk id="2" creationId="{E2FA18D7-28B2-133F-662F-90CC8F55869B}"/>
          </ac:spMkLst>
        </pc:spChg>
        <pc:spChg chg="mod">
          <ac:chgData name="Onishi, Saryu" userId="S::saryu@ou.edu::24ec4854-0e9b-4cd9-95b4-b9d15917116b" providerId="AD" clId="Web-{D68BA75F-BB6E-9F18-1648-74F52ADBFB50}" dt="2026-09-14T21:17:57.460" v="132" actId="20577"/>
          <ac:spMkLst>
            <pc:docMk/>
            <pc:sldMk cId="4290967881" sldId="356"/>
            <ac:spMk id="3" creationId="{C603F302-AE7F-8CE3-9FC5-7C9203D4C4E2}"/>
          </ac:spMkLst>
        </pc:spChg>
      </pc:sldChg>
      <pc:sldChg chg="modSp add replId">
        <pc:chgData name="Onishi, Saryu" userId="S::saryu@ou.edu::24ec4854-0e9b-4cd9-95b4-b9d15917116b" providerId="AD" clId="Web-{D68BA75F-BB6E-9F18-1648-74F52ADBFB50}" dt="2026-09-14T21:18:30.835" v="139" actId="20577"/>
        <pc:sldMkLst>
          <pc:docMk/>
          <pc:sldMk cId="1767871761" sldId="357"/>
        </pc:sldMkLst>
        <pc:spChg chg="mod">
          <ac:chgData name="Onishi, Saryu" userId="S::saryu@ou.edu::24ec4854-0e9b-4cd9-95b4-b9d15917116b" providerId="AD" clId="Web-{D68BA75F-BB6E-9F18-1648-74F52ADBFB50}" dt="2026-09-14T21:18:30.835" v="139" actId="20577"/>
          <ac:spMkLst>
            <pc:docMk/>
            <pc:sldMk cId="1767871761" sldId="357"/>
            <ac:spMk id="3" creationId="{F328F1A0-F2E2-C4F6-63D0-F385C2C08D80}"/>
          </ac:spMkLst>
        </pc:spChg>
      </pc:sldChg>
      <pc:sldChg chg="add mod replId modShow">
        <pc:chgData name="Onishi, Saryu" userId="S::saryu@ou.edu::24ec4854-0e9b-4cd9-95b4-b9d15917116b" providerId="AD" clId="Web-{D68BA75F-BB6E-9F18-1648-74F52ADBFB50}" dt="2026-09-14T21:24:20.117" v="207"/>
        <pc:sldMkLst>
          <pc:docMk/>
          <pc:sldMk cId="2995389737" sldId="358"/>
        </pc:sldMkLst>
      </pc:sldChg>
      <pc:sldChg chg="modSp add replId">
        <pc:chgData name="Onishi, Saryu" userId="S::saryu@ou.edu::24ec4854-0e9b-4cd9-95b4-b9d15917116b" providerId="AD" clId="Web-{D68BA75F-BB6E-9F18-1648-74F52ADBFB50}" dt="2026-09-14T21:25:34.258" v="214" actId="20577"/>
        <pc:sldMkLst>
          <pc:docMk/>
          <pc:sldMk cId="1243830769" sldId="359"/>
        </pc:sldMkLst>
        <pc:spChg chg="mod">
          <ac:chgData name="Onishi, Saryu" userId="S::saryu@ou.edu::24ec4854-0e9b-4cd9-95b4-b9d15917116b" providerId="AD" clId="Web-{D68BA75F-BB6E-9F18-1648-74F52ADBFB50}" dt="2026-09-14T21:25:34.258" v="214" actId="20577"/>
          <ac:spMkLst>
            <pc:docMk/>
            <pc:sldMk cId="1243830769" sldId="359"/>
            <ac:spMk id="3" creationId="{451547EC-8C64-0100-020D-0D8510686817}"/>
          </ac:spMkLst>
        </pc:spChg>
      </pc:sldChg>
      <pc:sldChg chg="modSp new">
        <pc:chgData name="Onishi, Saryu" userId="S::saryu@ou.edu::24ec4854-0e9b-4cd9-95b4-b9d15917116b" providerId="AD" clId="Web-{D68BA75F-BB6E-9F18-1648-74F52ADBFB50}" dt="2026-09-14T21:26:53.070" v="229" actId="20577"/>
        <pc:sldMkLst>
          <pc:docMk/>
          <pc:sldMk cId="2381630488" sldId="360"/>
        </pc:sldMkLst>
        <pc:spChg chg="mod">
          <ac:chgData name="Onishi, Saryu" userId="S::saryu@ou.edu::24ec4854-0e9b-4cd9-95b4-b9d15917116b" providerId="AD" clId="Web-{D68BA75F-BB6E-9F18-1648-74F52ADBFB50}" dt="2026-09-14T21:26:53.070" v="229" actId="20577"/>
          <ac:spMkLst>
            <pc:docMk/>
            <pc:sldMk cId="2381630488" sldId="360"/>
            <ac:spMk id="3" creationId="{573F9774-8134-A9A4-DA1E-3A021D0E75A4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28:09.180" v="264"/>
        <pc:sldMkLst>
          <pc:docMk/>
          <pc:sldMk cId="1486169029" sldId="361"/>
        </pc:sldMkLst>
        <pc:spChg chg="mod">
          <ac:chgData name="Onishi, Saryu" userId="S::saryu@ou.edu::24ec4854-0e9b-4cd9-95b4-b9d15917116b" providerId="AD" clId="Web-{D68BA75F-BB6E-9F18-1648-74F52ADBFB50}" dt="2026-09-14T21:27:11.758" v="238" actId="20577"/>
          <ac:spMkLst>
            <pc:docMk/>
            <pc:sldMk cId="1486169029" sldId="361"/>
            <ac:spMk id="2" creationId="{519443A2-C56F-F6DF-D387-0E48376C5816}"/>
          </ac:spMkLst>
        </pc:spChg>
        <pc:spChg chg="mod">
          <ac:chgData name="Onishi, Saryu" userId="S::saryu@ou.edu::24ec4854-0e9b-4cd9-95b4-b9d15917116b" providerId="AD" clId="Web-{D68BA75F-BB6E-9F18-1648-74F52ADBFB50}" dt="2026-09-14T21:27:21.649" v="246" actId="20577"/>
          <ac:spMkLst>
            <pc:docMk/>
            <pc:sldMk cId="1486169029" sldId="361"/>
            <ac:spMk id="3" creationId="{B4660DEF-0C6D-4352-D4C1-3F9EDC657A6D}"/>
          </ac:spMkLst>
        </pc:spChg>
        <pc:spChg chg="add mod">
          <ac:chgData name="Onishi, Saryu" userId="S::saryu@ou.edu::24ec4854-0e9b-4cd9-95b4-b9d15917116b" providerId="AD" clId="Web-{D68BA75F-BB6E-9F18-1648-74F52ADBFB50}" dt="2026-09-14T21:28:09.180" v="264"/>
          <ac:spMkLst>
            <pc:docMk/>
            <pc:sldMk cId="1486169029" sldId="361"/>
            <ac:spMk id="4" creationId="{ADEF0CF4-9F0B-9BCC-D6D4-49A532E4AD93}"/>
          </ac:spMkLst>
        </pc:spChg>
      </pc:sldChg>
      <pc:sldChg chg="addSp modSp new">
        <pc:chgData name="Onishi, Saryu" userId="S::saryu@ou.edu::24ec4854-0e9b-4cd9-95b4-b9d15917116b" providerId="AD" clId="Web-{D68BA75F-BB6E-9F18-1648-74F52ADBFB50}" dt="2026-09-14T21:32:21.071" v="322"/>
        <pc:sldMkLst>
          <pc:docMk/>
          <pc:sldMk cId="2995797760" sldId="362"/>
        </pc:sldMkLst>
        <pc:spChg chg="mod">
          <ac:chgData name="Onishi, Saryu" userId="S::saryu@ou.edu::24ec4854-0e9b-4cd9-95b4-b9d15917116b" providerId="AD" clId="Web-{D68BA75F-BB6E-9F18-1648-74F52ADBFB50}" dt="2026-09-14T21:28:52.883" v="278" actId="20577"/>
          <ac:spMkLst>
            <pc:docMk/>
            <pc:sldMk cId="2995797760" sldId="362"/>
            <ac:spMk id="2" creationId="{79865F0B-0A66-FF8B-3F5C-3BDD7AF304A8}"/>
          </ac:spMkLst>
        </pc:spChg>
        <pc:spChg chg="mod">
          <ac:chgData name="Onishi, Saryu" userId="S::saryu@ou.edu::24ec4854-0e9b-4cd9-95b4-b9d15917116b" providerId="AD" clId="Web-{D68BA75F-BB6E-9F18-1648-74F52ADBFB50}" dt="2026-09-14T21:32:16.696" v="320" actId="20577"/>
          <ac:spMkLst>
            <pc:docMk/>
            <pc:sldMk cId="2995797760" sldId="362"/>
            <ac:spMk id="3" creationId="{44203125-B9A9-9921-B918-608635B0F058}"/>
          </ac:spMkLst>
        </pc:spChg>
        <pc:graphicFrameChg chg="add mod modGraphic">
          <ac:chgData name="Onishi, Saryu" userId="S::saryu@ou.edu::24ec4854-0e9b-4cd9-95b4-b9d15917116b" providerId="AD" clId="Web-{D68BA75F-BB6E-9F18-1648-74F52ADBFB50}" dt="2026-09-14T21:32:21.071" v="322"/>
          <ac:graphicFrameMkLst>
            <pc:docMk/>
            <pc:sldMk cId="2995797760" sldId="362"/>
            <ac:graphicFrameMk id="5" creationId="{0EB1E87E-8339-EF70-96ED-F6952968322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already did the first two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1158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Tz</a:t>
            </a:r>
            <a:r>
              <a:rPr lang="en-US" dirty="0"/>
              <a:t> or </a:t>
            </a:r>
            <a:r>
              <a:rPr lang="en-US" dirty="0" err="1"/>
              <a:t>utc</a:t>
            </a:r>
            <a:r>
              <a:rPr lang="en-US" dirty="0"/>
              <a:t> as solution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6499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5557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Other example : </a:t>
            </a:r>
            <a:r>
              <a:rPr lang="en-US" dirty="0" err="1"/>
              <a:t>pbp</a:t>
            </a:r>
            <a:r>
              <a:rPr lang="en-US" dirty="0"/>
              <a:t> data vs box score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336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32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9/17/26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Data Characteristics</a:t>
            </a:r>
            <a:endParaRPr lang="en-GB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23A51-81C3-C6F5-2019-D433E0EFB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the Dataset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FEBF-A76B-F940-05F8-F0375E2E0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9599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6EA68-9D76-C3ED-5211-CE52685D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With the Dataset, Not the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CDBDB-82A8-5849-D714-756FA1BB6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What is being measured? </a:t>
            </a:r>
          </a:p>
          <a:p>
            <a:pPr lvl="0"/>
            <a:r>
              <a:rPr lang="en-US" dirty="0"/>
              <a:t>When and where were the data collected? </a:t>
            </a:r>
          </a:p>
          <a:p>
            <a:pPr lvl="0"/>
            <a:r>
              <a:rPr lang="en-US" dirty="0"/>
              <a:t>What does one row represent? </a:t>
            </a:r>
          </a:p>
          <a:p>
            <a:pPr lvl="0"/>
            <a:r>
              <a:rPr lang="en-US" dirty="0"/>
              <a:t>What does each column represent?</a:t>
            </a:r>
          </a:p>
        </p:txBody>
      </p:sp>
    </p:spTree>
    <p:extLst>
      <p:ext uri="{BB962C8B-B14F-4D97-AF65-F5344CB8AC3E}">
        <p14:creationId xmlns:p14="http://schemas.microsoft.com/office/powerpoint/2010/main" val="425388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9DF8D-2166-F636-3000-735BFDCB2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88F12-BC65-6EE1-CD69-9993A4B71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With the Dataset, Not the Numbers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69C36-3C2F-21E5-2C2A-8F2F1DF6B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What is being measured? </a:t>
            </a:r>
          </a:p>
          <a:p>
            <a:pPr lvl="0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When and where were the data collected? </a:t>
            </a:r>
          </a:p>
          <a:p>
            <a:pPr lvl="0"/>
            <a:r>
              <a:rPr lang="en-US" dirty="0"/>
              <a:t>What does one row represent? </a:t>
            </a:r>
          </a:p>
          <a:p>
            <a:pPr lvl="0"/>
            <a:r>
              <a:rPr lang="en-US" dirty="0"/>
              <a:t>What does each column represent?</a:t>
            </a:r>
          </a:p>
        </p:txBody>
      </p:sp>
    </p:spTree>
    <p:extLst>
      <p:ext uri="{BB962C8B-B14F-4D97-AF65-F5344CB8AC3E}">
        <p14:creationId xmlns:p14="http://schemas.microsoft.com/office/powerpoint/2010/main" val="41641840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C985B-AEAB-D6C2-3196-4F2C5977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One Row Represent?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A1CBF-66A0-6B24-80B9-9C59857E2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One row could represent:</a:t>
            </a:r>
          </a:p>
          <a:p>
            <a:pPr lvl="0"/>
            <a:r>
              <a:rPr lang="en-US" dirty="0"/>
              <a:t>One athlete </a:t>
            </a:r>
          </a:p>
          <a:p>
            <a:pPr lvl="0"/>
            <a:r>
              <a:rPr lang="en-US" dirty="0"/>
              <a:t>One athlete during one season </a:t>
            </a:r>
          </a:p>
          <a:p>
            <a:pPr lvl="0"/>
            <a:r>
              <a:rPr lang="en-US" dirty="0"/>
              <a:t>One athlete during one game </a:t>
            </a:r>
          </a:p>
          <a:p>
            <a:pPr lvl="0"/>
            <a:r>
              <a:rPr lang="en-US" dirty="0"/>
              <a:t>One shot, pass, or possession </a:t>
            </a:r>
          </a:p>
          <a:p>
            <a:pPr lvl="0"/>
            <a:r>
              <a:rPr lang="en-US" dirty="0"/>
              <a:t>One sensor measurement </a:t>
            </a:r>
          </a:p>
          <a:p>
            <a:pPr lvl="0"/>
            <a:endParaRPr lang="en-US" dirty="0"/>
          </a:p>
          <a:p>
            <a:pPr marL="0" indent="0">
              <a:buNone/>
            </a:pPr>
            <a:r>
              <a:rPr lang="en-US" dirty="0"/>
              <a:t>The meaning of a row is the dataset’s </a:t>
            </a:r>
            <a:r>
              <a:rPr lang="en-US" b="1" dirty="0"/>
              <a:t>unit of observation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509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A21F7-B635-AEBB-0B89-0D2742814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Same Sport, Different Units of Observation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0FFC9F1-005F-76D7-D480-32EEEBE5D79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693992"/>
              </p:ext>
            </p:extLst>
          </p:nvPr>
        </p:nvGraphicFramePr>
        <p:xfrm>
          <a:off x="3117056" y="2148840"/>
          <a:ext cx="5957888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00275">
                  <a:extLst>
                    <a:ext uri="{9D8B030D-6E8A-4147-A177-3AD203B41FA5}">
                      <a16:colId xmlns:a16="http://schemas.microsoft.com/office/drawing/2014/main" val="3982280746"/>
                    </a:ext>
                  </a:extLst>
                </a:gridCol>
                <a:gridCol w="3757613">
                  <a:extLst>
                    <a:ext uri="{9D8B030D-6E8A-4147-A177-3AD203B41FA5}">
                      <a16:colId xmlns:a16="http://schemas.microsoft.com/office/drawing/2014/main" val="9891725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row represents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0341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Roster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athlete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63466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Season statistics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athlete-season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40896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Box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athlete-game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26505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Shot chart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shot attempt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96004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Training 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athlete-session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97762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10 Hz GPS 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One athlete at 1/10</a:t>
                      </a:r>
                      <a:r>
                        <a:rPr lang="en-US" baseline="30000" dirty="0"/>
                        <a:t>th</a:t>
                      </a:r>
                      <a:r>
                        <a:rPr lang="en-US" dirty="0"/>
                        <a:t> of a second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9856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7734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07CAB-1193-2284-EEA1-BF2C80FFB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Granularity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0159F-3A16-6F03-D249-93D5743E47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Granularity describes the level of detail in a dataset.</a:t>
            </a:r>
          </a:p>
          <a:p>
            <a:pPr lvl="0"/>
            <a:r>
              <a:rPr lang="en-US" dirty="0"/>
              <a:t>Season totals provide a broad summary. </a:t>
            </a:r>
          </a:p>
          <a:p>
            <a:pPr lvl="0"/>
            <a:r>
              <a:rPr lang="en-US" dirty="0"/>
              <a:t>Game-level data show changes across games. </a:t>
            </a:r>
          </a:p>
          <a:p>
            <a:pPr lvl="0"/>
            <a:r>
              <a:rPr lang="en-US" dirty="0"/>
              <a:t>Event-level data describe individual actions. </a:t>
            </a:r>
          </a:p>
          <a:p>
            <a:pPr lvl="0"/>
            <a:r>
              <a:rPr lang="en-US" dirty="0"/>
              <a:t>Sensor data may contain several measurements per second.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More detailed data provide more possibilities, but also require more storage, cleaning, and interpretation.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4631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05047-DEA9-1F80-2D2A-D547E1DA3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Identifies Each Observation?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BF060-A02F-EDC6-327A-5146B2BE3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An identifier distinguishes one observation from another.</a:t>
            </a:r>
          </a:p>
          <a:p>
            <a:r>
              <a:rPr lang="en-US" dirty="0"/>
              <a:t>Examples:</a:t>
            </a:r>
          </a:p>
          <a:p>
            <a:pPr lvl="1"/>
            <a:r>
              <a:rPr lang="en-US" dirty="0" err="1"/>
              <a:t>athlete_id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game_id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date </a:t>
            </a:r>
          </a:p>
          <a:p>
            <a:pPr lvl="1"/>
            <a:r>
              <a:rPr lang="en-US" dirty="0" err="1"/>
              <a:t>trial_number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An athlete’s name may not be a reliable identifier:</a:t>
            </a:r>
          </a:p>
          <a:p>
            <a:pPr lvl="0"/>
            <a:r>
              <a:rPr lang="en-US" dirty="0"/>
              <a:t>Names may be misspelled. </a:t>
            </a:r>
          </a:p>
          <a:p>
            <a:pPr lvl="0"/>
            <a:r>
              <a:rPr lang="en-US" dirty="0"/>
              <a:t>Two athletes may share the same name.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11D143-FFE4-B174-98E0-FC963D7D14F1}"/>
              </a:ext>
            </a:extLst>
          </p:cNvPr>
          <p:cNvSpPr txBox="1"/>
          <p:nvPr/>
        </p:nvSpPr>
        <p:spPr>
          <a:xfrm>
            <a:off x="1799035" y="5971753"/>
            <a:ext cx="95547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What combination of columns would uniquely identify an athlete’s performance in one game?</a:t>
            </a:r>
          </a:p>
        </p:txBody>
      </p:sp>
    </p:spTree>
    <p:extLst>
      <p:ext uri="{BB962C8B-B14F-4D97-AF65-F5344CB8AC3E}">
        <p14:creationId xmlns:p14="http://schemas.microsoft.com/office/powerpoint/2010/main" val="802727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79603-2866-FFA9-180D-26C559348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 and Data Formats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3C44-1E29-6A77-1BB2-9CF271A201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821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9962-5468-23F5-1B40-D8CF00289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Qualitative and Quantitative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E98F7-BBE2-6BB2-6D62-93140D693C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5257800" cy="4735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Categorical variables</a:t>
            </a:r>
          </a:p>
          <a:p>
            <a:r>
              <a:rPr lang="en-US" dirty="0"/>
              <a:t>Describe groups, labels, or states.</a:t>
            </a:r>
          </a:p>
          <a:p>
            <a:pPr lvl="1"/>
            <a:r>
              <a:rPr lang="en-US" dirty="0"/>
              <a:t>Position </a:t>
            </a:r>
          </a:p>
          <a:p>
            <a:pPr lvl="1"/>
            <a:r>
              <a:rPr lang="en-US" dirty="0"/>
              <a:t>Team </a:t>
            </a:r>
          </a:p>
          <a:p>
            <a:pPr lvl="1"/>
            <a:r>
              <a:rPr lang="en-US" dirty="0"/>
              <a:t>Play type </a:t>
            </a:r>
          </a:p>
          <a:p>
            <a:pPr lvl="1"/>
            <a:r>
              <a:rPr lang="en-US" dirty="0"/>
              <a:t>Availability status 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27B9FA-35EE-1358-DCE6-CEFFE707A8D4}"/>
              </a:ext>
            </a:extLst>
          </p:cNvPr>
          <p:cNvSpPr txBox="1">
            <a:spLocks/>
          </p:cNvSpPr>
          <p:nvPr/>
        </p:nvSpPr>
        <p:spPr>
          <a:xfrm>
            <a:off x="6096000" y="1441938"/>
            <a:ext cx="52578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Numerical variables</a:t>
            </a:r>
          </a:p>
          <a:p>
            <a:r>
              <a:rPr lang="en-US" dirty="0"/>
              <a:t>Represent counts or measurements.</a:t>
            </a:r>
          </a:p>
          <a:p>
            <a:pPr lvl="1"/>
            <a:r>
              <a:rPr lang="en-US" dirty="0"/>
              <a:t>Minutes played </a:t>
            </a:r>
          </a:p>
          <a:p>
            <a:pPr lvl="1"/>
            <a:r>
              <a:rPr lang="en-US" dirty="0"/>
              <a:t>Jump height </a:t>
            </a:r>
          </a:p>
          <a:p>
            <a:pPr lvl="1"/>
            <a:r>
              <a:rPr lang="en-US" dirty="0"/>
              <a:t>Distance traveled </a:t>
            </a:r>
          </a:p>
          <a:p>
            <a:pPr lvl="1"/>
            <a:r>
              <a:rPr lang="en-US" dirty="0"/>
              <a:t>Number of shots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270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A4C6F-91B0-A238-9545-E25377600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05BC9-E379-4341-128E-D9C541A10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1DBB8-626A-70F0-2A48-A5E37C033B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5257800" cy="4735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Nominal</a:t>
            </a:r>
          </a:p>
          <a:p>
            <a:r>
              <a:rPr lang="en-US" dirty="0"/>
              <a:t>Categories without an inherent order:</a:t>
            </a:r>
          </a:p>
          <a:p>
            <a:pPr lvl="1"/>
            <a:r>
              <a:rPr lang="en-US" dirty="0"/>
              <a:t>Position </a:t>
            </a:r>
          </a:p>
          <a:p>
            <a:pPr lvl="1"/>
            <a:r>
              <a:rPr lang="en-US" dirty="0"/>
              <a:t>Team </a:t>
            </a:r>
          </a:p>
          <a:p>
            <a:pPr lvl="1"/>
            <a:r>
              <a:rPr lang="en-US" dirty="0"/>
              <a:t>Shot outcome </a:t>
            </a:r>
          </a:p>
          <a:p>
            <a:pPr lvl="1"/>
            <a:r>
              <a:rPr lang="en-US" dirty="0"/>
              <a:t>Injury type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1DD65AC-C404-5453-D318-1E14515B25F5}"/>
              </a:ext>
            </a:extLst>
          </p:cNvPr>
          <p:cNvSpPr txBox="1">
            <a:spLocks/>
          </p:cNvSpPr>
          <p:nvPr/>
        </p:nvSpPr>
        <p:spPr>
          <a:xfrm>
            <a:off x="6096000" y="1441938"/>
            <a:ext cx="52578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Ordinal</a:t>
            </a:r>
          </a:p>
          <a:p>
            <a:r>
              <a:rPr lang="en-US" dirty="0"/>
              <a:t>Categories with a meaningful order:</a:t>
            </a:r>
          </a:p>
          <a:p>
            <a:pPr lvl="1"/>
            <a:r>
              <a:rPr lang="en-US" dirty="0"/>
              <a:t>Low, moderate, high </a:t>
            </a:r>
          </a:p>
          <a:p>
            <a:pPr lvl="1"/>
            <a:r>
              <a:rPr lang="en-US" dirty="0"/>
              <a:t>First, second, third </a:t>
            </a:r>
          </a:p>
          <a:p>
            <a:pPr lvl="1"/>
            <a:r>
              <a:rPr lang="en-US" dirty="0"/>
              <a:t>Availability classifications </a:t>
            </a:r>
          </a:p>
          <a:p>
            <a:pPr lvl="1"/>
            <a:r>
              <a:rPr lang="en-US" dirty="0"/>
              <a:t>Subjective rating scales</a:t>
            </a:r>
          </a:p>
        </p:txBody>
      </p:sp>
      <p:pic>
        <p:nvPicPr>
          <p:cNvPr id="7" name="Picture 2" descr="BBC SPORT | Football | Laws &amp; Equipment | Positions guide: who is in a team?">
            <a:extLst>
              <a:ext uri="{FF2B5EF4-FFF2-40B4-BE49-F238E27FC236}">
                <a16:creationId xmlns:a16="http://schemas.microsoft.com/office/drawing/2014/main" id="{EDC5E7B1-60FF-2502-896B-3189CDD079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8912" y="4639974"/>
            <a:ext cx="2412351" cy="17396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What is the smiley face rating scale ...">
            <a:extLst>
              <a:ext uri="{FF2B5EF4-FFF2-40B4-BE49-F238E27FC236}">
                <a16:creationId xmlns:a16="http://schemas.microsoft.com/office/drawing/2014/main" id="{A8DAC0D1-0CB4-27C7-EAE8-D94F2314E1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1366" y="5126525"/>
            <a:ext cx="3183886" cy="1050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8782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A2787-833C-0F36-14B5-CC2173F3A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2F466-26E6-95EE-6399-7619B565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Counts and Measurements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DB3D1-2787-6B5F-27F4-54B5A98421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5257800" cy="4735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Discrete data</a:t>
            </a:r>
          </a:p>
          <a:p>
            <a:r>
              <a:rPr lang="en-US" dirty="0"/>
              <a:t>Usually represent counts:</a:t>
            </a:r>
          </a:p>
          <a:p>
            <a:pPr lvl="1"/>
            <a:r>
              <a:rPr lang="en-US" dirty="0"/>
              <a:t>Rebounds </a:t>
            </a:r>
          </a:p>
          <a:p>
            <a:pPr lvl="1"/>
            <a:r>
              <a:rPr lang="en-US" dirty="0"/>
              <a:t>Goals </a:t>
            </a:r>
          </a:p>
          <a:p>
            <a:pPr lvl="1"/>
            <a:r>
              <a:rPr lang="en-US" dirty="0"/>
              <a:t>Sprint efforts </a:t>
            </a:r>
          </a:p>
          <a:p>
            <a:pPr lvl="1"/>
            <a:r>
              <a:rPr lang="en-US" dirty="0"/>
              <a:t>Shot attempts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5305780-7B86-3F92-C53A-C30BD7148551}"/>
              </a:ext>
            </a:extLst>
          </p:cNvPr>
          <p:cNvSpPr txBox="1">
            <a:spLocks/>
          </p:cNvSpPr>
          <p:nvPr/>
        </p:nvSpPr>
        <p:spPr>
          <a:xfrm>
            <a:off x="6095999" y="1441938"/>
            <a:ext cx="5915891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Continuous data</a:t>
            </a:r>
          </a:p>
          <a:p>
            <a:r>
              <a:rPr lang="en-US" dirty="0"/>
              <a:t>Usually represent measurements:</a:t>
            </a:r>
          </a:p>
          <a:p>
            <a:pPr lvl="1"/>
            <a:r>
              <a:rPr lang="en-US" dirty="0"/>
              <a:t>Speed </a:t>
            </a:r>
          </a:p>
          <a:p>
            <a:pPr lvl="1"/>
            <a:r>
              <a:rPr lang="en-US" dirty="0"/>
              <a:t>Distance </a:t>
            </a:r>
          </a:p>
          <a:p>
            <a:pPr lvl="1"/>
            <a:r>
              <a:rPr lang="en-US" dirty="0"/>
              <a:t>Time </a:t>
            </a:r>
          </a:p>
          <a:p>
            <a:pPr lvl="1"/>
            <a:r>
              <a:rPr lang="en-US" dirty="0"/>
              <a:t>Force </a:t>
            </a:r>
          </a:p>
          <a:p>
            <a:pPr lvl="1"/>
            <a:r>
              <a:rPr lang="en-US" dirty="0"/>
              <a:t>Jump height</a:t>
            </a:r>
          </a:p>
        </p:txBody>
      </p:sp>
      <p:pic>
        <p:nvPicPr>
          <p:cNvPr id="7" name="Picture 2" descr="Long jump but not as we know it! — Anything But Footy">
            <a:extLst>
              <a:ext uri="{FF2B5EF4-FFF2-40B4-BE49-F238E27FC236}">
                <a16:creationId xmlns:a16="http://schemas.microsoft.com/office/drawing/2014/main" id="{8467AE44-B2E4-8402-5690-A24F2C6DD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2522" y="4460288"/>
            <a:ext cx="2434151" cy="1880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Shot Clock Violations: Full Guide">
            <a:extLst>
              <a:ext uri="{FF2B5EF4-FFF2-40B4-BE49-F238E27FC236}">
                <a16:creationId xmlns:a16="http://schemas.microsoft.com/office/drawing/2014/main" id="{D8E55EE7-9B86-B3B3-0099-253190F49D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89" t="-70" r="31651" b="-741"/>
          <a:stretch>
            <a:fillRect/>
          </a:stretch>
        </p:blipFill>
        <p:spPr bwMode="auto">
          <a:xfrm>
            <a:off x="1500494" y="4492580"/>
            <a:ext cx="2840095" cy="1848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70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EF1FC-5599-3D35-4BAF-DD9D30F68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Dates and Times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881DD4-1929-042D-7FFB-ED44192A6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Dates and times may represent:</a:t>
            </a:r>
          </a:p>
          <a:p>
            <a:pPr lvl="0"/>
            <a:r>
              <a:rPr lang="en-US" dirty="0"/>
              <a:t>Competition date </a:t>
            </a:r>
          </a:p>
          <a:p>
            <a:pPr lvl="0"/>
            <a:r>
              <a:rPr lang="en-US" dirty="0"/>
              <a:t>Collection date </a:t>
            </a:r>
          </a:p>
          <a:p>
            <a:pPr lvl="0"/>
            <a:r>
              <a:rPr lang="en-US" dirty="0"/>
              <a:t>Session start time </a:t>
            </a:r>
          </a:p>
          <a:p>
            <a:pPr lvl="0"/>
            <a:endParaRPr lang="en-US" dirty="0"/>
          </a:p>
          <a:p>
            <a:pPr marL="0" indent="0">
              <a:buNone/>
            </a:pPr>
            <a:r>
              <a:rPr lang="en-US" dirty="0"/>
              <a:t>Common problems include:</a:t>
            </a:r>
          </a:p>
          <a:p>
            <a:pPr lvl="0"/>
            <a:r>
              <a:rPr lang="en-US" dirty="0"/>
              <a:t>09/10/26 versus 10/09/26 </a:t>
            </a:r>
          </a:p>
          <a:p>
            <a:pPr lvl="0"/>
            <a:r>
              <a:rPr lang="en-US" dirty="0"/>
              <a:t>Dates stored as text </a:t>
            </a:r>
          </a:p>
          <a:p>
            <a:pPr lvl="0"/>
            <a:r>
              <a:rPr lang="en-US" dirty="0"/>
              <a:t>Inconsistent time zones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987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21157-B5CB-EC02-0DB8-63A17D0F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Units and 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809AC-0E82-DE7E-320A-AE0DDF0A4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number has little meaning without a definition and unit.</a:t>
            </a:r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US" dirty="0"/>
              <a:t>The unit can completely change what is being measured</a:t>
            </a:r>
          </a:p>
          <a:p>
            <a:pPr lvl="1"/>
            <a:r>
              <a:rPr lang="en-US" dirty="0"/>
              <a:t>Is speed measured in mph, km/h, or m/s? </a:t>
            </a:r>
          </a:p>
          <a:p>
            <a:pPr lvl="1"/>
            <a:r>
              <a:rPr lang="en-US" dirty="0"/>
              <a:t>Is body mass recorded in pounds or kilograms? </a:t>
            </a:r>
          </a:p>
          <a:p>
            <a:pPr lvl="1"/>
            <a:r>
              <a:rPr lang="en-US" dirty="0"/>
              <a:t>Is duration recorded in seconds or minutes?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744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EE17F-B910-C655-8C5F-08F829826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2CBC-6B09-2143-5C4B-51D6CE061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data dictionary explains the variables in a dataset.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EF1E61-B61E-6F52-D915-5699DAFB6F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800623"/>
              </p:ext>
            </p:extLst>
          </p:nvPr>
        </p:nvGraphicFramePr>
        <p:xfrm>
          <a:off x="838200" y="2711926"/>
          <a:ext cx="10515600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58826433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677914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754499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Variable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Meaning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Unit or values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728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athlete_id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Unique athlete identifier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Text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0260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Time spent participating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Minutes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83415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distance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Total tracked distance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Meters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91405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session_rpe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Athlete-reported exertion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1–10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15985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player_load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Total tracked workload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AU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6519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2891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BF1-754B-85C9-4147-BC050F1EC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F8DB4-1D5A-65A2-CAC9-F2805C1FE7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59366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CFB65-BA5C-20EF-FC15-88DDE9BFC7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and Long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FEDFB-0D89-8BE3-07D2-69CC95EBD9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Wide format</a:t>
            </a:r>
          </a:p>
          <a:p>
            <a:r>
              <a:rPr lang="en-US" dirty="0"/>
              <a:t>Multiple measurements appear in separate columns.</a:t>
            </a:r>
          </a:p>
          <a:p>
            <a:pPr marL="0" indent="0" algn="ctr">
              <a:buNone/>
            </a:pPr>
            <a:r>
              <a:rPr lang="en-US" u="sng" dirty="0"/>
              <a:t>Athlete | Week_1 | Week_2 | Week_3</a:t>
            </a:r>
          </a:p>
          <a:p>
            <a:pPr marL="0" indent="0">
              <a:buNone/>
            </a:pPr>
            <a:r>
              <a:rPr lang="en-US" dirty="0"/>
              <a:t>Long format</a:t>
            </a:r>
          </a:p>
          <a:p>
            <a:r>
              <a:rPr lang="en-US" dirty="0"/>
              <a:t>Each measurement appears in a separate row.</a:t>
            </a:r>
          </a:p>
          <a:p>
            <a:pPr marL="0" indent="0" algn="ctr">
              <a:buNone/>
            </a:pPr>
            <a:r>
              <a:rPr lang="en-US" u="sng" dirty="0"/>
              <a:t>Athlete | Week | </a:t>
            </a:r>
            <a:r>
              <a:rPr lang="en-US" u="sng" dirty="0" err="1"/>
              <a:t>Jump_Height</a:t>
            </a:r>
            <a:endParaRPr lang="en-US" u="sng" dirty="0"/>
          </a:p>
          <a:p>
            <a:pPr marL="0" indent="0" algn="ctr">
              <a:buNone/>
            </a:pPr>
            <a:endParaRPr lang="en-US" dirty="0"/>
          </a:p>
          <a:p>
            <a:pPr marL="0" lvl="0" indent="0">
              <a:buNone/>
            </a:pPr>
            <a:r>
              <a:rPr lang="en-US" dirty="0"/>
              <a:t>Wide vs Long :</a:t>
            </a:r>
          </a:p>
          <a:p>
            <a:pPr lvl="0"/>
            <a:r>
              <a:rPr lang="en-US" dirty="0"/>
              <a:t>Wide data are often easier to read in a spreadsheet. </a:t>
            </a:r>
          </a:p>
          <a:p>
            <a:pPr lvl="0"/>
            <a:r>
              <a:rPr lang="en-US" dirty="0"/>
              <a:t>Long data are usually easier to group, visualize, and analyze.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9483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4C387-6D03-B5BC-4A66-343FDC57E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Wide vs Long?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0CCC7-C9CF-0C6C-A6A5-3E96D8484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Which would be better for:</a:t>
            </a:r>
          </a:p>
          <a:p>
            <a:pPr lvl="1"/>
            <a:r>
              <a:rPr lang="en-US" dirty="0"/>
              <a:t>Plotting jump height across ten weeks </a:t>
            </a:r>
          </a:p>
          <a:p>
            <a:pPr lvl="1"/>
            <a:r>
              <a:rPr lang="en-US" dirty="0"/>
              <a:t>Comparing the most recent test for every athlete </a:t>
            </a:r>
          </a:p>
          <a:p>
            <a:pPr lvl="1"/>
            <a:r>
              <a:rPr lang="en-US" dirty="0"/>
              <a:t>Entering scores for a small number of assessments </a:t>
            </a:r>
          </a:p>
          <a:p>
            <a:pPr lvl="1"/>
            <a:r>
              <a:rPr lang="en-US" dirty="0"/>
              <a:t>Adding new testing dates throughout a season</a:t>
            </a:r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ED3C796-0F69-5945-6DEC-2EBDFB5DAC89}"/>
              </a:ext>
            </a:extLst>
          </p:cNvPr>
          <p:cNvSpPr txBox="1">
            <a:spLocks/>
          </p:cNvSpPr>
          <p:nvPr/>
        </p:nvSpPr>
        <p:spPr>
          <a:xfrm>
            <a:off x="7928264" y="1641764"/>
            <a:ext cx="3958936" cy="45351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lnSpc>
                <a:spcPct val="100000"/>
              </a:lnSpc>
              <a:spcAft>
                <a:spcPts val="1200"/>
              </a:spcAft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Long</a:t>
            </a:r>
          </a:p>
          <a:p>
            <a:pPr marL="457200" lvl="1" indent="0">
              <a:lnSpc>
                <a:spcPct val="100000"/>
              </a:lnSpc>
              <a:spcAft>
                <a:spcPts val="1200"/>
              </a:spcAft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Either</a:t>
            </a:r>
          </a:p>
          <a:p>
            <a:pPr marL="457200" lvl="1" indent="0">
              <a:lnSpc>
                <a:spcPct val="100000"/>
              </a:lnSpc>
              <a:spcAft>
                <a:spcPts val="1200"/>
              </a:spcAft>
              <a:buNone/>
            </a:pPr>
            <a:r>
              <a:rPr lang="en-US" sz="2000" dirty="0">
                <a:sym typeface="Wingdings" panose="05000000000000000000" pitchFamily="2" charset="2"/>
              </a:rPr>
              <a:t> Wide may be convenient</a:t>
            </a:r>
            <a:endParaRPr lang="en-US" sz="2000" dirty="0"/>
          </a:p>
          <a:p>
            <a:pPr marL="457200" lvl="1" indent="0">
              <a:lnSpc>
                <a:spcPct val="100000"/>
              </a:lnSpc>
              <a:spcAft>
                <a:spcPts val="1200"/>
              </a:spcAft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Long </a:t>
            </a:r>
          </a:p>
        </p:txBody>
      </p:sp>
    </p:spTree>
    <p:extLst>
      <p:ext uri="{BB962C8B-B14F-4D97-AF65-F5344CB8AC3E}">
        <p14:creationId xmlns:p14="http://schemas.microsoft.com/office/powerpoint/2010/main" val="3904485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2C6939-1DDD-D543-88C1-ABD59103B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10E0-63B1-F4BE-6DE7-28DA9D2E3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Data and Summary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3612A-5EFB-7D17-C537-ECA3EA4445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5257800" cy="47350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Raw data</a:t>
            </a:r>
          </a:p>
          <a:p>
            <a:pPr lvl="0"/>
            <a:r>
              <a:rPr lang="en-US" dirty="0"/>
              <a:t>Individual events or measurements </a:t>
            </a:r>
          </a:p>
          <a:p>
            <a:pPr lvl="0"/>
            <a:r>
              <a:rPr lang="en-US" dirty="0"/>
              <a:t>Greater detail </a:t>
            </a:r>
          </a:p>
          <a:p>
            <a:pPr lvl="0"/>
            <a:r>
              <a:rPr lang="en-US" dirty="0"/>
              <a:t>More opportunities for checking and reanalysis</a:t>
            </a:r>
          </a:p>
          <a:p>
            <a:pPr lvl="0"/>
            <a:r>
              <a:rPr lang="en-US" dirty="0"/>
              <a:t>Eg: every jump trial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FF03D65-1FA6-557C-8EA3-269B9014FF19}"/>
              </a:ext>
            </a:extLst>
          </p:cNvPr>
          <p:cNvSpPr txBox="1">
            <a:spLocks/>
          </p:cNvSpPr>
          <p:nvPr/>
        </p:nvSpPr>
        <p:spPr>
          <a:xfrm>
            <a:off x="6096000" y="1441938"/>
            <a:ext cx="52578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Summary data</a:t>
            </a:r>
          </a:p>
          <a:p>
            <a:pPr lvl="0"/>
            <a:r>
              <a:rPr lang="en-US" dirty="0"/>
              <a:t>Totals, averages, or maximums </a:t>
            </a:r>
          </a:p>
          <a:p>
            <a:pPr lvl="0"/>
            <a:r>
              <a:rPr lang="en-US" dirty="0"/>
              <a:t>Easier to interpret quickly </a:t>
            </a:r>
          </a:p>
          <a:p>
            <a:pPr lvl="0"/>
            <a:r>
              <a:rPr lang="en-US" dirty="0"/>
              <a:t>May hide variation or unusual observations</a:t>
            </a:r>
          </a:p>
          <a:p>
            <a:pPr lvl="0"/>
            <a:r>
              <a:rPr lang="en-US" dirty="0"/>
              <a:t>Eg: each athlete’s average or maximum jump height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A16E577-9AC2-3848-43DC-F7DB5689A82E}"/>
              </a:ext>
            </a:extLst>
          </p:cNvPr>
          <p:cNvSpPr txBox="1"/>
          <p:nvPr/>
        </p:nvSpPr>
        <p:spPr>
          <a:xfrm>
            <a:off x="2317552" y="5558249"/>
            <a:ext cx="75568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What information disappears when three trials become one average?</a:t>
            </a:r>
          </a:p>
        </p:txBody>
      </p:sp>
    </p:spTree>
    <p:extLst>
      <p:ext uri="{BB962C8B-B14F-4D97-AF65-F5344CB8AC3E}">
        <p14:creationId xmlns:p14="http://schemas.microsoft.com/office/powerpoint/2010/main" val="326610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2958E-54AB-310F-3207-DE94B32B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Dataset, Multiple Tables?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1580C-E257-96E6-2648-2D78A91D6D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Sport data may be stored across several related tables:</a:t>
            </a:r>
          </a:p>
          <a:p>
            <a:pPr lvl="1"/>
            <a:r>
              <a:rPr lang="en-US" dirty="0"/>
              <a:t>Athlete information </a:t>
            </a:r>
          </a:p>
          <a:p>
            <a:pPr lvl="1"/>
            <a:r>
              <a:rPr lang="en-US" dirty="0"/>
              <a:t>Games or training sessions </a:t>
            </a:r>
          </a:p>
          <a:p>
            <a:pPr lvl="1"/>
            <a:r>
              <a:rPr lang="en-US" dirty="0"/>
              <a:t>Performance test results</a:t>
            </a:r>
          </a:p>
          <a:p>
            <a:pPr lvl="1"/>
            <a:endParaRPr lang="en-US" dirty="0"/>
          </a:p>
          <a:p>
            <a:r>
              <a:rPr lang="en-US" dirty="0"/>
              <a:t>Trying to place everything in one spreadsheet can produce:</a:t>
            </a:r>
          </a:p>
          <a:p>
            <a:pPr lvl="1"/>
            <a:r>
              <a:rPr lang="en-US" dirty="0"/>
              <a:t>Repeated athlete information </a:t>
            </a:r>
          </a:p>
          <a:p>
            <a:pPr lvl="1"/>
            <a:r>
              <a:rPr lang="en-US" dirty="0"/>
              <a:t>Inconsistent values </a:t>
            </a:r>
          </a:p>
          <a:p>
            <a:pPr lvl="1"/>
            <a:r>
              <a:rPr lang="en-US" dirty="0"/>
              <a:t>Excessively wide datasets </a:t>
            </a:r>
          </a:p>
          <a:p>
            <a:pPr lvl="1"/>
            <a:r>
              <a:rPr lang="en-US" dirty="0"/>
              <a:t>Confusion about what each row represents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FD6AA6-2C76-12FA-A414-721C742033C3}"/>
              </a:ext>
            </a:extLst>
          </p:cNvPr>
          <p:cNvSpPr txBox="1"/>
          <p:nvPr/>
        </p:nvSpPr>
        <p:spPr>
          <a:xfrm>
            <a:off x="3639013" y="5971753"/>
            <a:ext cx="4913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It is ok for related data to exist in different tables</a:t>
            </a:r>
          </a:p>
        </p:txBody>
      </p:sp>
    </p:spTree>
    <p:extLst>
      <p:ext uri="{BB962C8B-B14F-4D97-AF65-F5344CB8AC3E}">
        <p14:creationId xmlns:p14="http://schemas.microsoft.com/office/powerpoint/2010/main" val="3388308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4E0F9-F4C2-59CE-431E-8CD1D0342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File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C1C8D-D20F-7FED-E7BF-3DD21FE500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CSV</a:t>
            </a:r>
          </a:p>
          <a:p>
            <a:pPr lvl="1"/>
            <a:r>
              <a:rPr lang="en-US" dirty="0"/>
              <a:t>Plain-text table </a:t>
            </a:r>
          </a:p>
          <a:p>
            <a:pPr lvl="1"/>
            <a:r>
              <a:rPr lang="en-US" dirty="0"/>
              <a:t>Easy to import into most software </a:t>
            </a:r>
          </a:p>
          <a:p>
            <a:pPr lvl="1"/>
            <a:r>
              <a:rPr lang="en-US" dirty="0"/>
              <a:t>Does not preserve formatting, formulas, or multiple sheets </a:t>
            </a:r>
          </a:p>
          <a:p>
            <a:r>
              <a:rPr lang="en-US" dirty="0"/>
              <a:t>Excel</a:t>
            </a:r>
          </a:p>
          <a:p>
            <a:pPr lvl="1"/>
            <a:r>
              <a:rPr lang="en-US" dirty="0"/>
              <a:t>Supports multiple sheets, formulas, and formatting </a:t>
            </a:r>
          </a:p>
          <a:p>
            <a:pPr lvl="1"/>
            <a:r>
              <a:rPr lang="en-US" dirty="0"/>
              <a:t>Convenient for manual data entry </a:t>
            </a:r>
          </a:p>
          <a:p>
            <a:pPr lvl="1"/>
            <a:r>
              <a:rPr lang="en-US" dirty="0"/>
              <a:t>Makes it easier to create structures that look good but analyze poorly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72527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D3220-561F-9FF1-DCA8-403193252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Problems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F4B440-F45A-BCD1-6ED2-530E36471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426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634CD-A20A-C0F2-26F6-F17763658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Spreadsheet Designed for People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9D488-9E3E-F30F-3C84-B5127FFF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spreadsheet may be readable to a person but difficult to analyze.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Common examples:</a:t>
            </a:r>
          </a:p>
          <a:p>
            <a:pPr lvl="1"/>
            <a:r>
              <a:rPr lang="en-US" dirty="0"/>
              <a:t>Merged cells </a:t>
            </a:r>
          </a:p>
          <a:p>
            <a:pPr lvl="1"/>
            <a:r>
              <a:rPr lang="en-US" dirty="0"/>
              <a:t>Multiple header rows </a:t>
            </a:r>
          </a:p>
          <a:p>
            <a:pPr lvl="1"/>
            <a:r>
              <a:rPr lang="en-US" dirty="0"/>
              <a:t>Blank rows separating groups </a:t>
            </a:r>
          </a:p>
          <a:p>
            <a:pPr lvl="1"/>
            <a:r>
              <a:rPr lang="en-US" dirty="0"/>
              <a:t>Totals mixed with individual observations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Statistical software cannot interpret meaning that exists through visual formatting.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48184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DBC42-EE3E-1A23-215C-06BAC4274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 Column, One Type of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5CEA9-72E9-C871-D0B7-7C83F75F4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Problematic cells might contain:</a:t>
            </a:r>
          </a:p>
          <a:p>
            <a:pPr lvl="1"/>
            <a:r>
              <a:rPr lang="en-US" dirty="0"/>
              <a:t>185 </a:t>
            </a:r>
            <a:r>
              <a:rPr lang="en-US" dirty="0" err="1"/>
              <a:t>lb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Injured - ankle </a:t>
            </a:r>
          </a:p>
          <a:p>
            <a:pPr lvl="1"/>
            <a:r>
              <a:rPr lang="en-US" dirty="0"/>
              <a:t>DNP </a:t>
            </a:r>
          </a:p>
          <a:p>
            <a:pPr lvl="1"/>
            <a:r>
              <a:rPr lang="en-US" dirty="0"/>
              <a:t>Smith, John #24</a:t>
            </a:r>
          </a:p>
          <a:p>
            <a:r>
              <a:rPr lang="en-US" dirty="0"/>
              <a:t>These combine values, units, notes, or identifiers.</a:t>
            </a:r>
          </a:p>
          <a:p>
            <a:r>
              <a:rPr lang="en-US" dirty="0"/>
              <a:t>One column should have one consistent meaning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BC1AF7-B80A-009B-1395-0B8D83BF97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630423"/>
              </p:ext>
            </p:extLst>
          </p:nvPr>
        </p:nvGraphicFramePr>
        <p:xfrm>
          <a:off x="838200" y="5045222"/>
          <a:ext cx="105156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5471372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35764216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9401348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90357842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6939769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name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jersey_number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weight_lbs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injury_location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613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John Smith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Injured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ankle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85042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29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77FB7-C06E-606E-6846-0C6A9B75F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Inconsistent 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FFA97-5B32-D11C-FDB7-9AA70FA35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same category might appear as:</a:t>
            </a:r>
          </a:p>
          <a:p>
            <a:pPr lvl="1"/>
            <a:r>
              <a:rPr lang="en-US" dirty="0"/>
              <a:t>Guard </a:t>
            </a:r>
          </a:p>
          <a:p>
            <a:pPr lvl="1"/>
            <a:r>
              <a:rPr lang="en-US" dirty="0"/>
              <a:t>guard </a:t>
            </a:r>
          </a:p>
          <a:p>
            <a:pPr lvl="1"/>
            <a:r>
              <a:rPr lang="en-US" dirty="0"/>
              <a:t>G </a:t>
            </a:r>
          </a:p>
          <a:p>
            <a:pPr lvl="1"/>
            <a:r>
              <a:rPr lang="en-US" dirty="0"/>
              <a:t>G (with an extra space)</a:t>
            </a:r>
          </a:p>
          <a:p>
            <a:pPr lvl="1"/>
            <a:r>
              <a:rPr lang="en-US" dirty="0"/>
              <a:t>Point Guard</a:t>
            </a:r>
          </a:p>
          <a:p>
            <a:endParaRPr lang="en-US" dirty="0"/>
          </a:p>
          <a:p>
            <a:r>
              <a:rPr lang="en-US" dirty="0"/>
              <a:t>To a person, these may appear equivalent but to software, they are different categories.</a:t>
            </a:r>
          </a:p>
          <a:p>
            <a:r>
              <a:rPr lang="en-US" dirty="0"/>
              <a:t>Categories need consistent spelling, capitalization, and definitions.</a:t>
            </a:r>
          </a:p>
        </p:txBody>
      </p:sp>
    </p:spTree>
    <p:extLst>
      <p:ext uri="{BB962C8B-B14F-4D97-AF65-F5344CB8AC3E}">
        <p14:creationId xmlns:p14="http://schemas.microsoft.com/office/powerpoint/2010/main" val="24717892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706CA-33DE-77B2-0C53-DF92156BF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common data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36E33-CB20-1D4C-4E50-2DFCB60931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Duplicate observations: truly identical or represent separate events?</a:t>
            </a:r>
          </a:p>
          <a:p>
            <a:r>
              <a:rPr lang="en-US" dirty="0"/>
              <a:t>Impossible and suspicious values</a:t>
            </a:r>
          </a:p>
          <a:p>
            <a:r>
              <a:rPr lang="en-US" dirty="0"/>
              <a:t>Missing data: truly missing or something else?</a:t>
            </a:r>
          </a:p>
        </p:txBody>
      </p:sp>
    </p:spTree>
    <p:extLst>
      <p:ext uri="{BB962C8B-B14F-4D97-AF65-F5344CB8AC3E}">
        <p14:creationId xmlns:p14="http://schemas.microsoft.com/office/powerpoint/2010/main" val="2211091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71B5B-1B99-9433-BAC0-05D7065F4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Hygiene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D639CB-A3D8-3AF9-2E2B-4E818BC4C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2184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B68C-EAF5-2FA2-3D7D-34747FFD1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Data Hygiene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0034C-3EC5-A339-92D7-7BB658EC9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Data hygiene means keeping data organized, consistent, and understandable.</a:t>
            </a:r>
          </a:p>
          <a:p>
            <a:r>
              <a:rPr lang="en-US" dirty="0"/>
              <a:t>Before analysis: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Preserve the original file.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Create a separate working copy (in excel, copy sheet).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Identify the meaning of each row and column. (data dictionary)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Standardize categories, formats, and units.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Check duplicates, ranges, and missing values.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Document important changes.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38C733-2D3E-8F4C-3230-E1DA37151ED7}"/>
              </a:ext>
            </a:extLst>
          </p:cNvPr>
          <p:cNvSpPr txBox="1"/>
          <p:nvPr/>
        </p:nvSpPr>
        <p:spPr>
          <a:xfrm>
            <a:off x="3403371" y="5992297"/>
            <a:ext cx="5385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Steps 4 and 5 is probably already done in your data</a:t>
            </a:r>
          </a:p>
        </p:txBody>
      </p:sp>
    </p:spTree>
    <p:extLst>
      <p:ext uri="{BB962C8B-B14F-4D97-AF65-F5344CB8AC3E}">
        <p14:creationId xmlns:p14="http://schemas.microsoft.com/office/powerpoint/2010/main" val="3301399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AE1C6-23B6-3D51-B37E-854CEB66D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Diagnostic Activity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9BCC6C2-5107-5638-A895-F14D723F619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9753988"/>
              </p:ext>
            </p:extLst>
          </p:nvPr>
        </p:nvGraphicFramePr>
        <p:xfrm>
          <a:off x="646509" y="1437579"/>
          <a:ext cx="10898982" cy="17030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6497">
                  <a:extLst>
                    <a:ext uri="{9D8B030D-6E8A-4147-A177-3AD203B41FA5}">
                      <a16:colId xmlns:a16="http://schemas.microsoft.com/office/drawing/2014/main" val="1693577941"/>
                    </a:ext>
                  </a:extLst>
                </a:gridCol>
                <a:gridCol w="1580357">
                  <a:extLst>
                    <a:ext uri="{9D8B030D-6E8A-4147-A177-3AD203B41FA5}">
                      <a16:colId xmlns:a16="http://schemas.microsoft.com/office/drawing/2014/main" val="4116111096"/>
                    </a:ext>
                  </a:extLst>
                </a:gridCol>
                <a:gridCol w="1671637">
                  <a:extLst>
                    <a:ext uri="{9D8B030D-6E8A-4147-A177-3AD203B41FA5}">
                      <a16:colId xmlns:a16="http://schemas.microsoft.com/office/drawing/2014/main" val="106011453"/>
                    </a:ext>
                  </a:extLst>
                </a:gridCol>
                <a:gridCol w="2197497">
                  <a:extLst>
                    <a:ext uri="{9D8B030D-6E8A-4147-A177-3AD203B41FA5}">
                      <a16:colId xmlns:a16="http://schemas.microsoft.com/office/drawing/2014/main" val="2557860073"/>
                    </a:ext>
                  </a:extLst>
                </a:gridCol>
                <a:gridCol w="1816497">
                  <a:extLst>
                    <a:ext uri="{9D8B030D-6E8A-4147-A177-3AD203B41FA5}">
                      <a16:colId xmlns:a16="http://schemas.microsoft.com/office/drawing/2014/main" val="4187173938"/>
                    </a:ext>
                  </a:extLst>
                </a:gridCol>
                <a:gridCol w="1816497">
                  <a:extLst>
                    <a:ext uri="{9D8B030D-6E8A-4147-A177-3AD203B41FA5}">
                      <a16:colId xmlns:a16="http://schemas.microsoft.com/office/drawing/2014/main" val="97970513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athlete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position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date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 err="1">
                          <a:effectLst/>
                        </a:rPr>
                        <a:t>max_jump_height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 err="1">
                          <a:effectLst/>
                        </a:rPr>
                        <a:t>total_distance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session_rpe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5383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J Smith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PG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9/2/2026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18.5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4200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7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77187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J. Smith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Point Guard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9/2/2026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18.5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4.2 km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7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752709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M Davis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C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9/3/2026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NA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3850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8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718398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T Johnson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SF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3-Sep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42.1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12400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0863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A Lee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Guard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9/4/2026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DNP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0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DNP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1183497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DB99A36-A11F-46EC-66AB-0E5FFDD184F3}"/>
              </a:ext>
            </a:extLst>
          </p:cNvPr>
          <p:cNvSpPr txBox="1">
            <a:spLocks/>
          </p:cNvSpPr>
          <p:nvPr/>
        </p:nvSpPr>
        <p:spPr>
          <a:xfrm>
            <a:off x="838200" y="3300413"/>
            <a:ext cx="10515600" cy="28765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In pairs, create a data dictionary. Then, answer the following:</a:t>
            </a:r>
          </a:p>
          <a:p>
            <a:pPr lvl="0"/>
            <a:r>
              <a:rPr lang="en-US" sz="2600" dirty="0"/>
              <a:t>What does one row appear to represent? </a:t>
            </a:r>
          </a:p>
          <a:p>
            <a:pPr lvl="0"/>
            <a:r>
              <a:rPr lang="en-US" sz="2600" dirty="0"/>
              <a:t>What might uniquely identify each row? </a:t>
            </a:r>
          </a:p>
          <a:p>
            <a:pPr lvl="0"/>
            <a:r>
              <a:rPr lang="en-US" sz="2600" dirty="0"/>
              <a:t>Which columns contain inconsistent formats? </a:t>
            </a:r>
          </a:p>
          <a:p>
            <a:pPr lvl="0"/>
            <a:r>
              <a:rPr lang="en-US" sz="2600" dirty="0"/>
              <a:t>Which values are suspicious or missing? </a:t>
            </a:r>
          </a:p>
          <a:p>
            <a:pPr lvl="0"/>
            <a:r>
              <a:rPr lang="en-US" sz="2600" dirty="0"/>
              <a:t>Which problems can you fix immediately, and which require more information?</a:t>
            </a:r>
          </a:p>
        </p:txBody>
      </p:sp>
    </p:spTree>
    <p:extLst>
      <p:ext uri="{BB962C8B-B14F-4D97-AF65-F5344CB8AC3E}">
        <p14:creationId xmlns:p14="http://schemas.microsoft.com/office/powerpoint/2010/main" val="20276661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B4809-7179-CE96-292E-1FD7CF535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78ED8-8E46-5A4E-9F98-AE19D85D1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Diagnostic Activity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FF6F271-DFBF-DD18-64C7-95A2DED0911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6509" y="1437579"/>
          <a:ext cx="10898982" cy="170307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16497">
                  <a:extLst>
                    <a:ext uri="{9D8B030D-6E8A-4147-A177-3AD203B41FA5}">
                      <a16:colId xmlns:a16="http://schemas.microsoft.com/office/drawing/2014/main" val="1693577941"/>
                    </a:ext>
                  </a:extLst>
                </a:gridCol>
                <a:gridCol w="1580357">
                  <a:extLst>
                    <a:ext uri="{9D8B030D-6E8A-4147-A177-3AD203B41FA5}">
                      <a16:colId xmlns:a16="http://schemas.microsoft.com/office/drawing/2014/main" val="4116111096"/>
                    </a:ext>
                  </a:extLst>
                </a:gridCol>
                <a:gridCol w="1671637">
                  <a:extLst>
                    <a:ext uri="{9D8B030D-6E8A-4147-A177-3AD203B41FA5}">
                      <a16:colId xmlns:a16="http://schemas.microsoft.com/office/drawing/2014/main" val="106011453"/>
                    </a:ext>
                  </a:extLst>
                </a:gridCol>
                <a:gridCol w="2197497">
                  <a:extLst>
                    <a:ext uri="{9D8B030D-6E8A-4147-A177-3AD203B41FA5}">
                      <a16:colId xmlns:a16="http://schemas.microsoft.com/office/drawing/2014/main" val="2557860073"/>
                    </a:ext>
                  </a:extLst>
                </a:gridCol>
                <a:gridCol w="1816497">
                  <a:extLst>
                    <a:ext uri="{9D8B030D-6E8A-4147-A177-3AD203B41FA5}">
                      <a16:colId xmlns:a16="http://schemas.microsoft.com/office/drawing/2014/main" val="4187173938"/>
                    </a:ext>
                  </a:extLst>
                </a:gridCol>
                <a:gridCol w="1816497">
                  <a:extLst>
                    <a:ext uri="{9D8B030D-6E8A-4147-A177-3AD203B41FA5}">
                      <a16:colId xmlns:a16="http://schemas.microsoft.com/office/drawing/2014/main" val="979705138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athlete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position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date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 err="1">
                          <a:effectLst/>
                        </a:rPr>
                        <a:t>max_jump_height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 err="1">
                          <a:effectLst/>
                        </a:rPr>
                        <a:t>total_distance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session_rpe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53836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J Smith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PG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9/2/2026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18.5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4200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7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5771877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J. Smith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Point Guard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9/2/2026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18.5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4.2 km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7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752709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M Davis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C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9/3/2026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NA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3850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8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718398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T Johnson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SF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3-Sep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42.1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12400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3108635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A Lee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Guard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9/4/2026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DNP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0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DNP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1183497"/>
                  </a:ext>
                </a:extLst>
              </a:tr>
            </a:tbl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5EE41D-169C-FB33-3ECD-B2E38BA53429}"/>
              </a:ext>
            </a:extLst>
          </p:cNvPr>
          <p:cNvSpPr txBox="1">
            <a:spLocks/>
          </p:cNvSpPr>
          <p:nvPr/>
        </p:nvSpPr>
        <p:spPr>
          <a:xfrm>
            <a:off x="838200" y="3300413"/>
            <a:ext cx="10515600" cy="2876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lvl="0"/>
            <a:r>
              <a:rPr lang="en-US" dirty="0"/>
              <a:t>Clearly inconsistent: mixed date formats or units </a:t>
            </a:r>
          </a:p>
          <a:p>
            <a:pPr lvl="0"/>
            <a:r>
              <a:rPr lang="en-US" dirty="0"/>
              <a:t>Likely problematic: possible duplicates </a:t>
            </a:r>
          </a:p>
          <a:p>
            <a:pPr lvl="0"/>
            <a:r>
              <a:rPr lang="en-US" dirty="0"/>
              <a:t>Requires context: unusually high performance </a:t>
            </a:r>
          </a:p>
          <a:p>
            <a:pPr lvl="0"/>
            <a:r>
              <a:rPr lang="en-US" dirty="0"/>
              <a:t>Unknown: unexplained missing values</a:t>
            </a:r>
          </a:p>
        </p:txBody>
      </p:sp>
    </p:spTree>
    <p:extLst>
      <p:ext uri="{BB962C8B-B14F-4D97-AF65-F5344CB8AC3E}">
        <p14:creationId xmlns:p14="http://schemas.microsoft.com/office/powerpoint/2010/main" val="6087030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 dirty="0"/>
              <a:t>Understand the dataset before calculating anything. </a:t>
            </a:r>
          </a:p>
          <a:p>
            <a:pPr lvl="0"/>
            <a:r>
              <a:rPr lang="en-US" dirty="0"/>
              <a:t>Structure determines what questions the data can answer. </a:t>
            </a:r>
          </a:p>
          <a:p>
            <a:pPr lvl="0"/>
            <a:r>
              <a:rPr lang="en-US" dirty="0"/>
              <a:t>Values require definitions, units, and context. </a:t>
            </a:r>
          </a:p>
          <a:p>
            <a:pPr lvl="0"/>
            <a:r>
              <a:rPr lang="en-US" dirty="0"/>
              <a:t>Missing values can represent different situations. </a:t>
            </a:r>
          </a:p>
          <a:p>
            <a:pPr lvl="0"/>
            <a:r>
              <a:rPr lang="en-US" dirty="0"/>
              <a:t>Data inspection should occur before analysis.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Next: data visualization</a:t>
            </a:r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</TotalTime>
  <Words>1334</Words>
  <Application>Microsoft Macintosh PowerPoint</Application>
  <PresentationFormat>Widescreen</PresentationFormat>
  <Paragraphs>344</Paragraphs>
  <Slides>31</Slides>
  <Notes>6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Aptos Narrow</vt:lpstr>
      <vt:lpstr>Arial</vt:lpstr>
      <vt:lpstr>Wingdings</vt:lpstr>
      <vt:lpstr>Office Theme</vt:lpstr>
      <vt:lpstr>Data Characteristics</vt:lpstr>
      <vt:lpstr>Understanding the Dataset</vt:lpstr>
      <vt:lpstr>Start With the Dataset, Not the Numbers</vt:lpstr>
      <vt:lpstr>Start With the Dataset, Not the Numbers</vt:lpstr>
      <vt:lpstr>What Does One Row Represent?</vt:lpstr>
      <vt:lpstr>The Same Sport, Different Units of Observation</vt:lpstr>
      <vt:lpstr>Data Granularity</vt:lpstr>
      <vt:lpstr>What Identifies Each Observation?</vt:lpstr>
      <vt:lpstr>Variables and Data Formats</vt:lpstr>
      <vt:lpstr>Qualitative and Quantitative Data</vt:lpstr>
      <vt:lpstr>Categories</vt:lpstr>
      <vt:lpstr>Counts and Measurements</vt:lpstr>
      <vt:lpstr>Dates and Times</vt:lpstr>
      <vt:lpstr>Units and Definitions</vt:lpstr>
      <vt:lpstr>Data Dictionary</vt:lpstr>
      <vt:lpstr>Data Structure</vt:lpstr>
      <vt:lpstr>Wide and Long Data</vt:lpstr>
      <vt:lpstr>Wide vs Long?</vt:lpstr>
      <vt:lpstr>Raw Data and Summary Data</vt:lpstr>
      <vt:lpstr>One Dataset, Multiple Tables?</vt:lpstr>
      <vt:lpstr>Common File Formats</vt:lpstr>
      <vt:lpstr>Common Problems</vt:lpstr>
      <vt:lpstr>Spreadsheet Designed for People</vt:lpstr>
      <vt:lpstr>One Column, One Type of Information</vt:lpstr>
      <vt:lpstr>Inconsistent Categories</vt:lpstr>
      <vt:lpstr>Other common data problems</vt:lpstr>
      <vt:lpstr>Data Hygiene</vt:lpstr>
      <vt:lpstr>Basic Data Hygiene</vt:lpstr>
      <vt:lpstr>Diagnostic Activity</vt:lpstr>
      <vt:lpstr>Diagnostic Activity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Onishi, Saryu</cp:lastModifiedBy>
  <cp:revision>19</cp:revision>
  <dcterms:created xsi:type="dcterms:W3CDTF">2026-08-17T13:48:23Z</dcterms:created>
  <dcterms:modified xsi:type="dcterms:W3CDTF">2026-09-17T21:02:26Z</dcterms:modified>
</cp:coreProperties>
</file>