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423" r:id="rId3"/>
    <p:sldId id="424" r:id="rId4"/>
    <p:sldId id="421" r:id="rId5"/>
    <p:sldId id="397" r:id="rId6"/>
    <p:sldId id="425" r:id="rId7"/>
    <p:sldId id="433" r:id="rId8"/>
    <p:sldId id="426" r:id="rId9"/>
    <p:sldId id="427" r:id="rId10"/>
    <p:sldId id="434" r:id="rId11"/>
    <p:sldId id="428" r:id="rId12"/>
    <p:sldId id="435" r:id="rId13"/>
    <p:sldId id="438" r:id="rId14"/>
    <p:sldId id="436" r:id="rId15"/>
    <p:sldId id="429" r:id="rId16"/>
    <p:sldId id="398" r:id="rId17"/>
    <p:sldId id="430" r:id="rId18"/>
    <p:sldId id="439" r:id="rId19"/>
    <p:sldId id="431" r:id="rId20"/>
    <p:sldId id="432" r:id="rId21"/>
    <p:sldId id="43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8493" autoAdjust="0"/>
  </p:normalViewPr>
  <p:slideViewPr>
    <p:cSldViewPr snapToGrid="0">
      <p:cViewPr varScale="1">
        <p:scale>
          <a:sx n="96" d="100"/>
          <a:sy n="96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40" d="100"/>
        <a:sy n="140" d="100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fundamental piece in scouting. </a:t>
            </a:r>
          </a:p>
          <a:p>
            <a:r>
              <a:rPr lang="en-US" dirty="0"/>
              <a:t>In OBP example, success was defined as getting on base!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dirty="0"/>
              <a:t>“Is a 38-inch vertical good?” Let them realize they need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52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org&amp;utm_campaign=index&amp;utm_content=thumbnai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Scouting and Talent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4C25-2916-E91E-1FD2-817E0A90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14B54-E229-B786-8DD8-08F63725E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60 prospects. 20 metrics each. A week to decide. What do you do?</a:t>
            </a:r>
          </a:p>
          <a:p>
            <a:pPr lvl="1"/>
            <a:r>
              <a:rPr lang="en-GB" dirty="0"/>
              <a:t>write down your first 3 steps</a:t>
            </a:r>
          </a:p>
          <a:p>
            <a:pPr lvl="1"/>
            <a:r>
              <a:rPr lang="en-GB" dirty="0"/>
              <a:t>Get in groups of 3, share with each other</a:t>
            </a:r>
          </a:p>
          <a:p>
            <a:pPr lvl="1"/>
            <a:endParaRPr lang="en-GB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A020FE-41A0-DC37-796D-5AE8A724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14766"/>
              </p:ext>
            </p:extLst>
          </p:nvPr>
        </p:nvGraphicFramePr>
        <p:xfrm>
          <a:off x="1242648" y="3241841"/>
          <a:ext cx="9706704" cy="27644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202626699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43053993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7620321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77028583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09952490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63227303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2105569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464842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0914568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5304355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2824692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594667352"/>
                    </a:ext>
                  </a:extLst>
                </a:gridCol>
              </a:tblGrid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prospect_id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draft_class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position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conference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age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height_in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wingspan_in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vertical_in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sprint_s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ppg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reb_pg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three_pt_pct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2737955782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Power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80.2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84.9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38.3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15.5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4.2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0.429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1260083115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Mid-major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77.4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81.7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36.5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3.08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22.3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0.361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1078160685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Guard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Power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74.1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10.3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5.4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0.396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4294176489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Guard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Power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72.7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75.9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33.9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12.7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0.382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3623574768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Mid-major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81.4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85.5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27.6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3.31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6.4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0.386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133642452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Guard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Power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76.9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81.7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38.3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14.6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0.327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2259633686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Power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78.6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83.8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32.9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14.2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4.7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1542899853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Big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Mid-major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83.5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87.6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27.6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14.6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7.7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0.313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2306995079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P009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Guard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Low-major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72.2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76.1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36.4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0.351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3453978904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Mid-major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82.9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31.3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3.32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6.3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0.306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2946464562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P011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Guard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Power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75.2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79.3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33.6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3.14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8.3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0.378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996943517"/>
                  </a:ext>
                </a:extLst>
              </a:tr>
              <a:tr h="199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P012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2021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Wing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Mid-major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23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77.5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81.6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36.1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3.24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17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3.1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0.319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3" marR="9333" marT="9333" marB="0" anchor="b"/>
                </a:tc>
                <a:extLst>
                  <a:ext uri="{0D108BD9-81ED-4DB2-BD59-A6C34878D82A}">
                    <a16:rowId xmlns:a16="http://schemas.microsoft.com/office/drawing/2014/main" val="1525246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3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5791-2C23-F7EB-588F-9BE0716E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specific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168D-4AB3-B411-EC0C-CCEFB66C1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“Sort by the best stat” → </a:t>
            </a:r>
            <a:r>
              <a:rPr lang="en-GB" i="1" dirty="0"/>
              <a:t>which</a:t>
            </a:r>
            <a:r>
              <a:rPr lang="en-GB" dirty="0"/>
              <a:t> stat?</a:t>
            </a:r>
          </a:p>
          <a:p>
            <a:pPr lvl="0"/>
            <a:r>
              <a:rPr lang="en-GB" dirty="0"/>
              <a:t>“Best” → compared to </a:t>
            </a:r>
            <a:r>
              <a:rPr lang="en-GB" i="1" dirty="0"/>
              <a:t>whom</a:t>
            </a:r>
            <a:r>
              <a:rPr lang="en-GB" dirty="0"/>
              <a:t>?</a:t>
            </a:r>
          </a:p>
          <a:p>
            <a:pPr lvl="0"/>
            <a:r>
              <a:rPr lang="en-GB" dirty="0"/>
              <a:t>“Good enough” → good enough for </a:t>
            </a:r>
            <a:r>
              <a:rPr lang="en-GB" i="1" dirty="0"/>
              <a:t>what</a:t>
            </a:r>
            <a:r>
              <a:rPr lang="en-GB" dirty="0"/>
              <a:t>?</a:t>
            </a:r>
          </a:p>
          <a:p>
            <a:pPr lvl="0"/>
            <a:r>
              <a:rPr lang="en-GB" dirty="0"/>
              <a:t>“Look at everything” → how do I </a:t>
            </a:r>
            <a:r>
              <a:rPr lang="en-GB" i="1" dirty="0"/>
              <a:t>combine</a:t>
            </a:r>
            <a:r>
              <a:rPr lang="en-GB" dirty="0"/>
              <a:t> it?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Outline:</a:t>
            </a:r>
          </a:p>
          <a:p>
            <a:r>
              <a:rPr lang="en-GB" dirty="0"/>
              <a:t>KPI → Group → Method → Composite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2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BC048A-DA30-4D96-41B7-23129E45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944926"/>
            <a:ext cx="10515600" cy="968148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1. </a:t>
            </a:r>
            <a:r>
              <a:rPr lang="en-GB" sz="4800" dirty="0"/>
              <a:t>Which KPIs matter?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BB646-7E69-2AF9-87D0-BB1D34772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7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680B6A-3608-2200-4F8C-1502C97B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KPIs matter?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82863-BEC1-3831-4C46-FAB7645F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Not every number is useful</a:t>
            </a:r>
          </a:p>
          <a:p>
            <a:pPr lvl="0"/>
            <a:r>
              <a:rPr lang="en-GB" dirty="0"/>
              <a:t>Some are </a:t>
            </a:r>
            <a:r>
              <a:rPr lang="en-GB" b="1" dirty="0"/>
              <a:t>signal</a:t>
            </a:r>
            <a:r>
              <a:rPr lang="en-GB" dirty="0"/>
              <a:t> (tell us something real about future success)</a:t>
            </a:r>
          </a:p>
          <a:p>
            <a:pPr lvl="0"/>
            <a:r>
              <a:rPr lang="en-GB" dirty="0"/>
              <a:t>Some are </a:t>
            </a:r>
            <a:r>
              <a:rPr lang="en-GB" b="1" dirty="0"/>
              <a:t>noise</a:t>
            </a:r>
            <a:r>
              <a:rPr lang="en-GB" dirty="0"/>
              <a:t> (random, redundant, or irrelevant)</a:t>
            </a:r>
          </a:p>
          <a:p>
            <a:pPr lvl="0"/>
            <a:r>
              <a:rPr lang="en-GB" dirty="0"/>
              <a:t>KPI filters: Relevant? Distinct?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8C478-508F-F700-5584-621BA3795A33}"/>
              </a:ext>
            </a:extLst>
          </p:cNvPr>
          <p:cNvSpPr txBox="1"/>
          <p:nvPr/>
        </p:nvSpPr>
        <p:spPr>
          <a:xfrm>
            <a:off x="838200" y="6110252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*KPI = Key Performance Indicator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68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2681-CBCF-F3EC-FE83-5F51EA2A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with the 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6DAA-9F11-414F-CFFB-772394572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You can’t pick predictors until you define “success”</a:t>
            </a:r>
          </a:p>
          <a:p>
            <a:pPr lvl="1"/>
            <a:r>
              <a:rPr lang="en-GB" dirty="0"/>
              <a:t>Eg: minutes played in years 1-3, win shares, still in the league after 4 years, role (starter or bench)</a:t>
            </a:r>
          </a:p>
          <a:p>
            <a:pPr lvl="1"/>
            <a:endParaRPr lang="en-GB" dirty="0"/>
          </a:p>
          <a:p>
            <a:r>
              <a:rPr lang="en-GB" dirty="0"/>
              <a:t>Different outcomes → different “best” KPI</a:t>
            </a:r>
          </a:p>
          <a:p>
            <a:pPr lvl="1"/>
            <a:endParaRPr lang="en-GB" dirty="0"/>
          </a:p>
          <a:p>
            <a:r>
              <a:rPr lang="en-GB" dirty="0"/>
              <a:t>How would you define success for …</a:t>
            </a:r>
          </a:p>
          <a:p>
            <a:pPr lvl="1"/>
            <a:r>
              <a:rPr lang="en-GB" dirty="0"/>
              <a:t>NFL Player</a:t>
            </a:r>
          </a:p>
          <a:p>
            <a:pPr lvl="1"/>
            <a:r>
              <a:rPr lang="en-GB" dirty="0"/>
              <a:t>NHL Player</a:t>
            </a:r>
          </a:p>
          <a:p>
            <a:pPr lvl="1"/>
            <a:r>
              <a:rPr lang="en-GB" dirty="0"/>
              <a:t>WNBA Player</a:t>
            </a:r>
          </a:p>
          <a:p>
            <a:endParaRPr lang="en-GB" dirty="0"/>
          </a:p>
          <a:p>
            <a:endParaRPr lang="en-US" dirty="0"/>
          </a:p>
        </p:txBody>
      </p:sp>
      <p:pic>
        <p:nvPicPr>
          <p:cNvPr id="4" name="Picture 3" descr="National Football League - Wikipedia">
            <a:extLst>
              <a:ext uri="{FF2B5EF4-FFF2-40B4-BE49-F238E27FC236}">
                <a16:creationId xmlns:a16="http://schemas.microsoft.com/office/drawing/2014/main" id="{2A80CE11-B77C-138C-DAEC-FFF5E34A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86" y="4413738"/>
            <a:ext cx="1157845" cy="1592036"/>
          </a:xfrm>
          <a:prstGeom prst="rect">
            <a:avLst/>
          </a:prstGeom>
        </p:spPr>
      </p:pic>
      <p:pic>
        <p:nvPicPr>
          <p:cNvPr id="5" name="Graphic 4" descr="National Hockey League - Wikipedia">
            <a:extLst>
              <a:ext uri="{FF2B5EF4-FFF2-40B4-BE49-F238E27FC236}">
                <a16:creationId xmlns:a16="http://schemas.microsoft.com/office/drawing/2014/main" id="{D5D5CF99-0CE5-EBAE-61B4-762717958B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8505" y="4451911"/>
            <a:ext cx="1368880" cy="1553864"/>
          </a:xfrm>
          <a:prstGeom prst="rect">
            <a:avLst/>
          </a:prstGeom>
        </p:spPr>
      </p:pic>
      <p:pic>
        <p:nvPicPr>
          <p:cNvPr id="6" name="Picture 5" descr="Women's National Basketball Association - Wikipedia">
            <a:extLst>
              <a:ext uri="{FF2B5EF4-FFF2-40B4-BE49-F238E27FC236}">
                <a16:creationId xmlns:a16="http://schemas.microsoft.com/office/drawing/2014/main" id="{46C8E88E-DB69-B59B-C179-46F3E1B87A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9960"/>
          <a:stretch>
            <a:fillRect/>
          </a:stretch>
        </p:blipFill>
        <p:spPr>
          <a:xfrm>
            <a:off x="10471559" y="4413738"/>
            <a:ext cx="660793" cy="15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44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9901-6171-023A-3F64-EEE54AA4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337B7-085D-32E1-7971-B61355D56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Would these qualities change if the question was</a:t>
            </a:r>
          </a:p>
          <a:p>
            <a:pPr lvl="1"/>
            <a:r>
              <a:rPr lang="en-GB" dirty="0"/>
              <a:t>NFL QB vs WR vs DB?</a:t>
            </a:r>
          </a:p>
          <a:p>
            <a:pPr lvl="1"/>
            <a:r>
              <a:rPr lang="en-GB" dirty="0"/>
              <a:t>NHL Goalie vs </a:t>
            </a:r>
            <a:r>
              <a:rPr lang="en-GB" dirty="0" err="1"/>
              <a:t>Center</a:t>
            </a:r>
            <a:r>
              <a:rPr lang="en-GB" dirty="0"/>
              <a:t> vs Wing?</a:t>
            </a:r>
          </a:p>
          <a:p>
            <a:pPr lvl="1"/>
            <a:r>
              <a:rPr lang="en-GB" dirty="0"/>
              <a:t>WBNA PG vs F vs C?</a:t>
            </a:r>
          </a:p>
          <a:p>
            <a:pPr lvl="1"/>
            <a:endParaRPr lang="en-GB" dirty="0"/>
          </a:p>
          <a:p>
            <a:r>
              <a:rPr lang="en-GB" dirty="0"/>
              <a:t>Would these qualities change if the question was</a:t>
            </a:r>
          </a:p>
          <a:p>
            <a:pPr lvl="1"/>
            <a:r>
              <a:rPr lang="en-GB" dirty="0"/>
              <a:t>NFL QB for the Bears vs the Broncos?</a:t>
            </a:r>
          </a:p>
          <a:p>
            <a:pPr lvl="1"/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What Are the Positions in American Football?. Nike IL">
            <a:extLst>
              <a:ext uri="{FF2B5EF4-FFF2-40B4-BE49-F238E27FC236}">
                <a16:creationId xmlns:a16="http://schemas.microsoft.com/office/drawing/2014/main" id="{E0CB27AD-659F-C06A-EDDA-FB89D1493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436" y="1441938"/>
            <a:ext cx="2707373" cy="180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EDD8-0364-0FC6-2EF9-0FCC1D36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 1: Is it relevant?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206A8-C287-BEF7-ABC9-46357757F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How to you find relevant KPIs? </a:t>
            </a:r>
          </a:p>
          <a:p>
            <a:pPr lvl="1"/>
            <a:r>
              <a:rPr lang="en-GB" dirty="0"/>
              <a:t>Correlate the combine KPIs with the success indicators</a:t>
            </a:r>
          </a:p>
          <a:p>
            <a:pPr lvl="1"/>
            <a:r>
              <a:rPr lang="en-GB" dirty="0"/>
              <a:t>A weak correlation can mean the metric is unrelated </a:t>
            </a:r>
            <a:r>
              <a:rPr lang="en-GB" i="1" dirty="0"/>
              <a:t>or</a:t>
            </a:r>
            <a:r>
              <a:rPr lang="en-GB" dirty="0"/>
              <a:t> just noisy.</a:t>
            </a:r>
          </a:p>
          <a:p>
            <a:pPr lvl="0"/>
            <a:endParaRPr lang="en-GB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3BC11-7A4A-8173-962E-E0916ED6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393" y="2965564"/>
            <a:ext cx="4599214" cy="352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9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8FB3-D580-0D0B-5113-EF25D8E2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 2: Is it distinct?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76140-EA24-1DA5-0EB5-935D1AA97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Correlate KPIs with each other</a:t>
            </a:r>
          </a:p>
          <a:p>
            <a:pPr lvl="1"/>
            <a:r>
              <a:rPr lang="en-GB" dirty="0"/>
              <a:t>If two metrics at r ≈ 0.9 are telling us roughly the same thing</a:t>
            </a:r>
          </a:p>
          <a:p>
            <a:pPr lvl="1"/>
            <a:r>
              <a:rPr lang="en-GB" dirty="0"/>
              <a:t>Redundant metrics double-count one quality</a:t>
            </a:r>
          </a:p>
          <a:p>
            <a:pPr lvl="0"/>
            <a:endParaRPr lang="en-GB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AA4E6-4256-E332-31F2-A12A454A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442" y="2842930"/>
            <a:ext cx="4759115" cy="36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5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3934-3725-CED2-8577-D1826AE3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Putting the filters together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D6A11-BAED-7CA8-A392-7FC6F20CF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Table: 6-8 example metrics × (Relevant? Distinct? Plot looks linear?)</a:t>
            </a:r>
          </a:p>
          <a:p>
            <a:pPr lvl="0"/>
            <a:r>
              <a:rPr lang="en-GB" dirty="0"/>
              <a:t>Keep / Drop / Investigate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98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B09D-1B47-7E33-54D7-8ED397BC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traps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BB5DB-366C-95C3-C725-006AE5630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Chance: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The more metrics you screen, the greater the chance that some appear relevant by luck.</a:t>
            </a:r>
          </a:p>
          <a:p>
            <a:r>
              <a:rPr lang="en-GB" b="1" dirty="0"/>
              <a:t>Survivors: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Looking only at drafted players can distort relationships and limits what we can conclude about all prospects.</a:t>
            </a:r>
          </a:p>
          <a:p>
            <a:r>
              <a:rPr lang="en-GB" b="1" dirty="0"/>
              <a:t>Correlation ≠ causation, and circularity: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Outcome can reflect team decisions, not only individual performance</a:t>
            </a:r>
          </a:p>
          <a:p>
            <a:r>
              <a:rPr lang="en-GB" b="1" dirty="0"/>
              <a:t>Look before you correlate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linear correlation analysis will only test linear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506866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0BB4-F3CD-2B9F-CD26-D3BA093C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AE151-32D5-420C-A542-D500D74B5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 metric has r ≈ 0 with minutes, but the quartile plot shows a clear rise then plateau. What do you conclude?</a:t>
            </a:r>
          </a:p>
          <a:p>
            <a:pPr lvl="0"/>
            <a:r>
              <a:rPr lang="en-GB" dirty="0"/>
              <a:t>Two metrics correlate at r = 0.95. What should you do?</a:t>
            </a:r>
          </a:p>
          <a:p>
            <a:pPr lvl="0"/>
            <a:r>
              <a:rPr lang="en-GB" dirty="0"/>
              <a:t>Why might rookie minutes be an imperfect measure of success?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591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B095-1FFA-60C3-072E-E50335ED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KPIs – use or drop?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33BD-2B8C-C0BA-07FA-F278D15B0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Many metrics are already known to be important:</a:t>
            </a:r>
          </a:p>
          <a:p>
            <a:pPr lvl="1"/>
            <a:r>
              <a:rPr lang="en-GB" dirty="0"/>
              <a:t>tradition, past research, what other teams share</a:t>
            </a:r>
          </a:p>
          <a:p>
            <a:r>
              <a:rPr lang="en-GB" dirty="0"/>
              <a:t>These are a sensible starting point</a:t>
            </a:r>
          </a:p>
          <a:p>
            <a:pPr lvl="1"/>
            <a:r>
              <a:rPr lang="en-GB" dirty="0"/>
              <a:t>if every team uses the same KPIs, it is not a competitive advantage</a:t>
            </a:r>
          </a:p>
          <a:p>
            <a:pPr lvl="0"/>
            <a:r>
              <a:rPr lang="en-GB" dirty="0"/>
              <a:t>Edge can come from: </a:t>
            </a:r>
          </a:p>
          <a:p>
            <a:pPr lvl="1"/>
            <a:r>
              <a:rPr lang="en-GB" dirty="0"/>
              <a:t>Checking whether a known KPI holds up in </a:t>
            </a:r>
            <a:r>
              <a:rPr lang="en-GB" i="1" dirty="0"/>
              <a:t>your</a:t>
            </a:r>
            <a:r>
              <a:rPr lang="en-GB" dirty="0"/>
              <a:t> data</a:t>
            </a:r>
          </a:p>
          <a:p>
            <a:pPr lvl="1"/>
            <a:r>
              <a:rPr lang="en-GB" dirty="0"/>
              <a:t>Finding what the standard KPI list misses</a:t>
            </a:r>
          </a:p>
          <a:p>
            <a:pPr lvl="1"/>
            <a:r>
              <a:rPr lang="en-GB" dirty="0"/>
              <a:t>Matching metrics to </a:t>
            </a:r>
            <a:r>
              <a:rPr lang="en-GB" b="1" dirty="0"/>
              <a:t>your team’s needs </a:t>
            </a:r>
            <a:r>
              <a:rPr lang="en-GB" dirty="0"/>
              <a:t>(needs aren’t the same across teams)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2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386B-8ACE-5003-899F-E91D8E57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Analytics is Collaborative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CB19-B2CB-21EE-D41C-8B5FF8ACF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Analysts rarely make decisions start to finish. Coaching staff may:</a:t>
            </a:r>
          </a:p>
          <a:p>
            <a:r>
              <a:rPr lang="en-GB" dirty="0"/>
              <a:t>Describe outcome</a:t>
            </a:r>
          </a:p>
          <a:p>
            <a:pPr lvl="1"/>
            <a:r>
              <a:rPr lang="en-GB" dirty="0"/>
              <a:t>“I need someone who can defend multiple positions and play heavy minutes early.”</a:t>
            </a:r>
          </a:p>
          <a:p>
            <a:pPr lvl="1"/>
            <a:r>
              <a:rPr lang="en-GB" dirty="0"/>
              <a:t>Use analytics to find metrics who fits this</a:t>
            </a:r>
          </a:p>
          <a:p>
            <a:r>
              <a:rPr lang="en-GB" dirty="0"/>
              <a:t>Prescribe KPI</a:t>
            </a:r>
          </a:p>
          <a:p>
            <a:pPr lvl="1"/>
            <a:r>
              <a:rPr lang="en-GB" dirty="0"/>
              <a:t>“I want ppg, vertical, and three-point %.”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02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ACB7-D33F-D08B-B838-B6D666F1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8D0CC8-FB23-798A-F27E-1FCAC0DE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944926"/>
            <a:ext cx="10515600" cy="968148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2. </a:t>
            </a:r>
            <a:r>
              <a:rPr lang="en-GB" sz="4800" dirty="0"/>
              <a:t>Compared to whom?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44158-BBDF-6D4C-9ACD-003E38D95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77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A8E9-419D-9A7A-304E-AA631EFA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Compared with whom?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D3B31-5E29-F9B3-1C28-3CAD7A21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 number means nothing alone: </a:t>
            </a:r>
          </a:p>
          <a:p>
            <a:pPr lvl="1"/>
            <a:r>
              <a:rPr lang="en-GB" dirty="0"/>
              <a:t>Is a 58 mL/kg/min VO2max good?</a:t>
            </a:r>
          </a:p>
          <a:p>
            <a:pPr lvl="0"/>
            <a:r>
              <a:rPr lang="en-GB" dirty="0"/>
              <a:t>Compared to... </a:t>
            </a:r>
          </a:p>
          <a:p>
            <a:pPr lvl="1"/>
            <a:r>
              <a:rPr lang="en-GB" dirty="0"/>
              <a:t>the whole draft class? </a:t>
            </a:r>
          </a:p>
          <a:p>
            <a:pPr lvl="1"/>
            <a:r>
              <a:rPr lang="en-GB" dirty="0"/>
              <a:t>Position group? </a:t>
            </a:r>
          </a:p>
          <a:p>
            <a:pPr lvl="1"/>
            <a:r>
              <a:rPr lang="en-GB" dirty="0"/>
              <a:t>Conference? </a:t>
            </a:r>
          </a:p>
          <a:p>
            <a:pPr lvl="1"/>
            <a:r>
              <a:rPr lang="en-GB" dirty="0"/>
              <a:t>Current pros?</a:t>
            </a:r>
          </a:p>
          <a:p>
            <a:pPr lvl="0"/>
            <a:r>
              <a:rPr lang="en-GB" dirty="0"/>
              <a:t>The group you pick changes the answer</a:t>
            </a:r>
          </a:p>
        </p:txBody>
      </p:sp>
    </p:spTree>
    <p:extLst>
      <p:ext uri="{BB962C8B-B14F-4D97-AF65-F5344CB8AC3E}">
        <p14:creationId xmlns:p14="http://schemas.microsoft.com/office/powerpoint/2010/main" val="231314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D0A4-4E33-1FE9-5341-827A08E5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GB" dirty="0" err="1"/>
              <a:t>hoosing</a:t>
            </a:r>
            <a:r>
              <a:rPr lang="en-GB" dirty="0"/>
              <a:t> a comparison group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084E-FE3C-648C-6457-56EF3E6B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Whole draft class:</a:t>
            </a:r>
            <a:r>
              <a:rPr lang="en-GB" dirty="0"/>
              <a:t> simple, but mixes roles</a:t>
            </a:r>
          </a:p>
          <a:p>
            <a:pPr lvl="0"/>
            <a:r>
              <a:rPr lang="en-GB" b="1" dirty="0"/>
              <a:t>Same position:</a:t>
            </a:r>
            <a:r>
              <a:rPr lang="en-GB" dirty="0"/>
              <a:t> fairer for position-specific traits</a:t>
            </a:r>
          </a:p>
          <a:p>
            <a:pPr lvl="0"/>
            <a:r>
              <a:rPr lang="en-GB" b="1" dirty="0"/>
              <a:t>Same conference or level of competition:</a:t>
            </a:r>
            <a:r>
              <a:rPr lang="en-GB" dirty="0"/>
              <a:t> provide a more similar competition context</a:t>
            </a:r>
          </a:p>
          <a:p>
            <a:pPr lvl="0"/>
            <a:r>
              <a:rPr lang="en-GB" b="1" dirty="0"/>
              <a:t>Same age or class year:</a:t>
            </a:r>
            <a:r>
              <a:rPr lang="en-GB" dirty="0"/>
              <a:t> accounts for development</a:t>
            </a:r>
          </a:p>
          <a:p>
            <a:pPr lvl="0"/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98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410E-7B34-9EBB-99C1-AFD165BD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AB9D-6718-9BE4-66C8-B6B30F7F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GB" dirty="0" err="1"/>
              <a:t>hoosing</a:t>
            </a:r>
            <a:r>
              <a:rPr lang="en-GB" dirty="0"/>
              <a:t> a comparison group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8365-7B02-F704-0822-5626B5762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Trade-off: more specific = more relevant, but smaller sample</a:t>
            </a:r>
          </a:p>
          <a:p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DE7FE51-B8C3-8CF7-E9AF-0C98690351F1}"/>
              </a:ext>
            </a:extLst>
          </p:cNvPr>
          <p:cNvSpPr/>
          <p:nvPr/>
        </p:nvSpPr>
        <p:spPr>
          <a:xfrm flipV="1">
            <a:off x="1249680" y="2840502"/>
            <a:ext cx="3322320" cy="2773680"/>
          </a:xfrm>
          <a:prstGeom prst="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EFAEB-538D-7802-ED4E-0737F4088EB9}"/>
              </a:ext>
            </a:extLst>
          </p:cNvPr>
          <p:cNvSpPr txBox="1"/>
          <p:nvPr/>
        </p:nvSpPr>
        <p:spPr>
          <a:xfrm>
            <a:off x="2325968" y="2889302"/>
            <a:ext cx="116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Broad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9C4C7-BCCF-EB42-557E-897802E08BD2}"/>
              </a:ext>
            </a:extLst>
          </p:cNvPr>
          <p:cNvSpPr txBox="1"/>
          <p:nvPr/>
        </p:nvSpPr>
        <p:spPr>
          <a:xfrm>
            <a:off x="2426941" y="4853186"/>
            <a:ext cx="96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Too Narrow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D58243-1E3F-E617-EB9C-10A1CC19F161}"/>
              </a:ext>
            </a:extLst>
          </p:cNvPr>
          <p:cNvSpPr txBox="1"/>
          <p:nvPr/>
        </p:nvSpPr>
        <p:spPr>
          <a:xfrm>
            <a:off x="2194560" y="3962400"/>
            <a:ext cx="1434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Focused</a:t>
            </a:r>
          </a:p>
        </p:txBody>
      </p:sp>
      <p:sp>
        <p:nvSpPr>
          <p:cNvPr id="8" name="Isosceles Triangle 3">
            <a:extLst>
              <a:ext uri="{FF2B5EF4-FFF2-40B4-BE49-F238E27FC236}">
                <a16:creationId xmlns:a16="http://schemas.microsoft.com/office/drawing/2014/main" id="{D83DCAD4-5DA6-310A-F91C-65D1813A9544}"/>
              </a:ext>
            </a:extLst>
          </p:cNvPr>
          <p:cNvSpPr/>
          <p:nvPr/>
        </p:nvSpPr>
        <p:spPr>
          <a:xfrm flipV="1">
            <a:off x="6841797" y="2840502"/>
            <a:ext cx="3322320" cy="2773680"/>
          </a:xfrm>
          <a:prstGeom prst="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4BFBE-1C5F-146F-4EFB-1A37EF90221A}"/>
              </a:ext>
            </a:extLst>
          </p:cNvPr>
          <p:cNvSpPr txBox="1"/>
          <p:nvPr/>
        </p:nvSpPr>
        <p:spPr>
          <a:xfrm>
            <a:off x="7545355" y="2840502"/>
            <a:ext cx="1915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Whole draft class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0E9DA-FF58-B7B3-D91A-632D9C74A277}"/>
              </a:ext>
            </a:extLst>
          </p:cNvPr>
          <p:cNvSpPr txBox="1"/>
          <p:nvPr/>
        </p:nvSpPr>
        <p:spPr>
          <a:xfrm>
            <a:off x="8019058" y="4853186"/>
            <a:ext cx="967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Same College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18878-E6FE-B37C-08D0-46FBB261135F}"/>
              </a:ext>
            </a:extLst>
          </p:cNvPr>
          <p:cNvSpPr txBox="1"/>
          <p:nvPr/>
        </p:nvSpPr>
        <p:spPr>
          <a:xfrm>
            <a:off x="7785714" y="3738406"/>
            <a:ext cx="1434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Position Group*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A2DD3-65DC-350D-7796-B8BB7904A608}"/>
              </a:ext>
            </a:extLst>
          </p:cNvPr>
          <p:cNvSpPr txBox="1"/>
          <p:nvPr/>
        </p:nvSpPr>
        <p:spPr>
          <a:xfrm>
            <a:off x="6248400" y="5818797"/>
            <a:ext cx="4983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 Most appropriate comparison depends on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63A2F-143D-64F6-40C3-6CEBA26CB8BE}"/>
              </a:ext>
            </a:extLst>
          </p:cNvPr>
          <p:cNvSpPr txBox="1"/>
          <p:nvPr/>
        </p:nvSpPr>
        <p:spPr>
          <a:xfrm>
            <a:off x="502360" y="2312978"/>
            <a:ext cx="481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Lecture 3: </a:t>
            </a:r>
            <a:r>
              <a:rPr lang="en-GB" dirty="0"/>
              <a:t>Asking Testable Analytical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705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B74E-5B73-771A-6BAF-F0F31DA7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comparison group changes the interpretation.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741-6EDC-F05A-72D6-C98E99B83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Selecting the appropriate comparison group is important</a:t>
            </a:r>
          </a:p>
          <a:p>
            <a:r>
              <a:rPr lang="en-US" dirty="0"/>
              <a:t>One athlete can look average in one group, and elite in a sub-group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F5DE2-7F03-1FBD-A3EB-034D2DB0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312" y="2704681"/>
            <a:ext cx="4939376" cy="378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80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464B-86EC-B7DD-77BB-3AF3DE0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about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555F-97CE-341D-AACE-7582B602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Relative question:</a:t>
            </a:r>
            <a:r>
              <a:rPr lang="en-GB" dirty="0"/>
              <a:t> how good is athlete A </a:t>
            </a:r>
            <a:r>
              <a:rPr lang="en-GB" i="1" dirty="0"/>
              <a:t>compared to their draft class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Relative group: Players in their draft class</a:t>
            </a:r>
          </a:p>
          <a:p>
            <a:pPr lvl="0"/>
            <a:r>
              <a:rPr lang="en-GB" b="1" dirty="0"/>
              <a:t>Benchmark question:</a:t>
            </a:r>
            <a:r>
              <a:rPr lang="en-GB" dirty="0"/>
              <a:t> how good is athlete A </a:t>
            </a:r>
            <a:r>
              <a:rPr lang="en-GB" i="1" dirty="0"/>
              <a:t>compared to what our league requires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Benchmark group: current or past players at that position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A prospect can be the best in their class and still below the bar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F658B5-EEE2-0571-AA31-627FD07DE99A}"/>
              </a:ext>
            </a:extLst>
          </p:cNvPr>
          <p:cNvSpPr/>
          <p:nvPr/>
        </p:nvSpPr>
        <p:spPr>
          <a:xfrm>
            <a:off x="3604591" y="2279374"/>
            <a:ext cx="3419061" cy="371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814608-11ED-E4E9-89F5-17286D680113}"/>
              </a:ext>
            </a:extLst>
          </p:cNvPr>
          <p:cNvSpPr/>
          <p:nvPr/>
        </p:nvSpPr>
        <p:spPr>
          <a:xfrm>
            <a:off x="4061791" y="3623919"/>
            <a:ext cx="5068957" cy="3710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8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4269-1240-5205-FDB9-8882C4A0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8F48-DA6A-1CD9-4072-A0EDE393A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Define success</a:t>
            </a:r>
          </a:p>
          <a:p>
            <a:pPr lvl="0"/>
            <a:r>
              <a:rPr lang="en-GB" dirty="0"/>
              <a:t>Choose relevant, distinct KPIs</a:t>
            </a:r>
          </a:p>
          <a:p>
            <a:pPr lvl="0"/>
            <a:r>
              <a:rPr lang="en-GB" dirty="0"/>
              <a:t>Choose the comparison group</a:t>
            </a:r>
          </a:p>
          <a:p>
            <a:pPr lvl="0"/>
            <a:r>
              <a:rPr lang="en-GB" dirty="0"/>
              <a:t>Relative comparisons vs benchmark comparison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Return to answers for opening activity</a:t>
            </a:r>
          </a:p>
          <a:p>
            <a:pPr lvl="1"/>
            <a:r>
              <a:rPr lang="en-GB" dirty="0"/>
              <a:t>Which step would you add or change?</a:t>
            </a:r>
          </a:p>
          <a:p>
            <a:pPr lvl="1"/>
            <a:endParaRPr lang="en-GB" dirty="0"/>
          </a:p>
          <a:p>
            <a:r>
              <a:rPr lang="en-GB" dirty="0"/>
              <a:t>Up Next: How do we </a:t>
            </a:r>
            <a:r>
              <a:rPr lang="en-GB" i="1" dirty="0"/>
              <a:t>express</a:t>
            </a:r>
            <a:r>
              <a:rPr lang="en-GB" dirty="0"/>
              <a:t> the comparison, and how do we </a:t>
            </a:r>
            <a:r>
              <a:rPr lang="en-GB" i="1" dirty="0"/>
              <a:t>combine</a:t>
            </a:r>
            <a:r>
              <a:rPr lang="en-GB" dirty="0"/>
              <a:t> metrics?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73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3934</TotalTime>
  <Words>1091</Words>
  <Application>Microsoft Macintosh PowerPoint</Application>
  <PresentationFormat>Widescreen</PresentationFormat>
  <Paragraphs>289</Paragraphs>
  <Slides>21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Office Theme</vt:lpstr>
      <vt:lpstr>Scouting and Talent Evaluation</vt:lpstr>
      <vt:lpstr>Draft season</vt:lpstr>
      <vt:lpstr>Getting specific</vt:lpstr>
      <vt:lpstr>1. Which KPIs matter?</vt:lpstr>
      <vt:lpstr>Which KPIs matter? </vt:lpstr>
      <vt:lpstr>Start with the outcome</vt:lpstr>
      <vt:lpstr>Define success</vt:lpstr>
      <vt:lpstr>Filter 1: Is it relevant? </vt:lpstr>
      <vt:lpstr>Filter 2: Is it distinct?</vt:lpstr>
      <vt:lpstr>Putting the filters together</vt:lpstr>
      <vt:lpstr>Common traps</vt:lpstr>
      <vt:lpstr>Quick check</vt:lpstr>
      <vt:lpstr>Known KPIs – use or drop?</vt:lpstr>
      <vt:lpstr>Real Analytics is Collaborative</vt:lpstr>
      <vt:lpstr>2. Compared to whom?</vt:lpstr>
      <vt:lpstr>Compared with whom?</vt:lpstr>
      <vt:lpstr>Choosing a comparison group</vt:lpstr>
      <vt:lpstr>Choosing a comparison group</vt:lpstr>
      <vt:lpstr>The comparison group changes the interpretation.</vt:lpstr>
      <vt:lpstr>Questions about Comparisons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66</cp:revision>
  <dcterms:created xsi:type="dcterms:W3CDTF">2026-08-17T13:48:23Z</dcterms:created>
  <dcterms:modified xsi:type="dcterms:W3CDTF">2026-10-22T16:43:49Z</dcterms:modified>
</cp:coreProperties>
</file>