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423" r:id="rId3"/>
    <p:sldId id="424" r:id="rId4"/>
    <p:sldId id="421" r:id="rId5"/>
    <p:sldId id="442" r:id="rId6"/>
    <p:sldId id="443" r:id="rId7"/>
    <p:sldId id="441" r:id="rId8"/>
    <p:sldId id="436" r:id="rId9"/>
    <p:sldId id="438" r:id="rId10"/>
    <p:sldId id="397" r:id="rId11"/>
    <p:sldId id="425" r:id="rId12"/>
    <p:sldId id="433" r:id="rId13"/>
    <p:sldId id="426" r:id="rId14"/>
    <p:sldId id="427" r:id="rId15"/>
    <p:sldId id="428" r:id="rId16"/>
    <p:sldId id="435" r:id="rId17"/>
    <p:sldId id="429" r:id="rId18"/>
    <p:sldId id="398" r:id="rId19"/>
    <p:sldId id="431" r:id="rId20"/>
    <p:sldId id="430" r:id="rId21"/>
    <p:sldId id="439" r:id="rId22"/>
    <p:sldId id="437" r:id="rId23"/>
    <p:sldId id="43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78493" autoAdjust="0"/>
  </p:normalViewPr>
  <p:slideViewPr>
    <p:cSldViewPr snapToGrid="0">
      <p:cViewPr varScale="1">
        <p:scale>
          <a:sx n="100" d="100"/>
          <a:sy n="100" d="100"/>
        </p:scale>
        <p:origin x="19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98C95-A8A7-5258-F601-D1498E08B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533C3-4E53-BD0A-D9F8-09BBD8CEF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49CCA-BBAF-1EDF-8D28-82E7EE4B1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68230-A7F5-18AC-CFBF-2BDA90915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40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02962-CD69-D111-F4BC-86BD0BDF1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B9E1B5-6610-051F-8BCF-E762E1A991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FFED8-E8EE-AF06-F6EC-5722D702E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D27481-CFBF-0AAD-55C3-B505C0200D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709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786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fundamental piece in scouting. </a:t>
            </a:r>
          </a:p>
          <a:p>
            <a:r>
              <a:rPr lang="en-US" dirty="0"/>
              <a:t>In OBP example, success was defined as getting on base!</a:t>
            </a:r>
          </a:p>
          <a:p>
            <a:r>
              <a:rPr lang="en-US" dirty="0"/>
              <a:t>Moden analytics look at contact quality or launch angle for </a:t>
            </a:r>
            <a:r>
              <a:rPr lang="en-US"/>
              <a:t>expected damage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81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= rookie minutes</a:t>
            </a:r>
          </a:p>
          <a:p>
            <a:r>
              <a:rPr lang="en-US" dirty="0"/>
              <a:t>KPIs = sprint, ppg, reb, 3pct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583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Bc</a:t>
            </a:r>
            <a:r>
              <a:rPr lang="en-US" dirty="0"/>
              <a:t> its partially a </a:t>
            </a:r>
            <a:r>
              <a:rPr lang="en-US"/>
              <a:t>team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493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GB" dirty="0"/>
              <a:t>“Is a 38-inch vertical good?” Let them realize they need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15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org&amp;utm_campaign=index&amp;utm_content=thumbnai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org&amp;utm_campaign=index&amp;utm_content=thumbnail"/><Relationship Id="rId4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/>
              <a:t>Scouting and Talent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4C25-2916-E91E-1FD2-817E0A90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Analytics Department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14B54-E229-B786-8DD8-08F63725E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are on an analytics team during draft season. There are 60 prospects, 20 metrics each. A week to decide. What do you do?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Put a plan together: Write down your first 3 steps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Get in groups of 3, share with each other</a:t>
            </a:r>
          </a:p>
          <a:p>
            <a:pPr lvl="1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325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5791-2C23-F7EB-588F-9BE0716E8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specific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36168D-4AB3-B411-EC0C-CCEFB66C1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“Sort by the best stat” → </a:t>
            </a:r>
            <a:r>
              <a:rPr lang="en-GB" i="1" dirty="0"/>
              <a:t>which</a:t>
            </a:r>
            <a:r>
              <a:rPr lang="en-GB" dirty="0"/>
              <a:t> stat?</a:t>
            </a:r>
          </a:p>
          <a:p>
            <a:pPr lvl="0"/>
            <a:r>
              <a:rPr lang="en-GB" dirty="0"/>
              <a:t>“Best” → compared to </a:t>
            </a:r>
            <a:r>
              <a:rPr lang="en-GB" i="1" dirty="0"/>
              <a:t>whom</a:t>
            </a:r>
            <a:r>
              <a:rPr lang="en-GB" dirty="0"/>
              <a:t>?</a:t>
            </a:r>
          </a:p>
          <a:p>
            <a:pPr lvl="0"/>
            <a:r>
              <a:rPr lang="en-GB" dirty="0"/>
              <a:t>“Good enough” → good enough for </a:t>
            </a:r>
            <a:r>
              <a:rPr lang="en-GB" i="1" dirty="0"/>
              <a:t>what</a:t>
            </a:r>
            <a:r>
              <a:rPr lang="en-GB" dirty="0"/>
              <a:t>?</a:t>
            </a:r>
          </a:p>
          <a:p>
            <a:pPr lvl="0"/>
            <a:r>
              <a:rPr lang="en-GB" dirty="0"/>
              <a:t>“Look at everything” → how do I </a:t>
            </a:r>
            <a:r>
              <a:rPr lang="en-GB" i="1" dirty="0"/>
              <a:t>combine</a:t>
            </a:r>
            <a:r>
              <a:rPr lang="en-GB" dirty="0"/>
              <a:t> it?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Outline:</a:t>
            </a:r>
          </a:p>
          <a:p>
            <a:r>
              <a:rPr lang="en-GB" dirty="0"/>
              <a:t>KPI → Group → Method → Composite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824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BC048A-DA30-4D96-41B7-23129E457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44926"/>
            <a:ext cx="10515600" cy="968148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1. </a:t>
            </a:r>
            <a:r>
              <a:rPr lang="en-GB" sz="4800" dirty="0"/>
              <a:t>Which KPIs matter?</a:t>
            </a:r>
            <a:endParaRPr lang="en-US" sz="48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FBB646-7E69-2AF9-87D0-BB1D34772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570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6B39B-CFDD-D291-AA57-3E284449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E68E133-9177-97EF-17C3-7FF495EBA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a KPI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C46EE9F-9630-1B65-BA3B-0CB392E21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what each measure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FC50C7-25D3-6352-3748-766DA735DB24}"/>
              </a:ext>
            </a:extLst>
          </p:cNvPr>
          <p:cNvSpPr txBox="1"/>
          <p:nvPr/>
        </p:nvSpPr>
        <p:spPr>
          <a:xfrm>
            <a:off x="838200" y="6110252"/>
            <a:ext cx="6098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*KPI = Key Performance Indicator</a:t>
            </a:r>
            <a:endParaRPr lang="en-US" sz="1050" dirty="0">
              <a:solidFill>
                <a:srgbClr val="FF0000"/>
              </a:solidFill>
            </a:endParaRPr>
          </a:p>
        </p:txBody>
      </p:sp>
      <p:pic>
        <p:nvPicPr>
          <p:cNvPr id="8" name="Picture 7" descr="NHL Combine 2025 Full Results, Measurements, Highlights and Top Prospects">
            <a:extLst>
              <a:ext uri="{FF2B5EF4-FFF2-40B4-BE49-F238E27FC236}">
                <a16:creationId xmlns:a16="http://schemas.microsoft.com/office/drawing/2014/main" id="{472969DB-FF04-A941-2CA1-CC8A706A2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87" y="3443444"/>
            <a:ext cx="2704184" cy="1803218"/>
          </a:xfrm>
          <a:prstGeom prst="rect">
            <a:avLst/>
          </a:prstGeom>
        </p:spPr>
      </p:pic>
      <p:pic>
        <p:nvPicPr>
          <p:cNvPr id="9" name="Picture 8" descr="2025 Scouting Combine discussed on 'NHL Draft Class' podcast | NHL.com">
            <a:extLst>
              <a:ext uri="{FF2B5EF4-FFF2-40B4-BE49-F238E27FC236}">
                <a16:creationId xmlns:a16="http://schemas.microsoft.com/office/drawing/2014/main" id="{D078109E-6788-36F7-CB13-5110328EB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0240" y="2163972"/>
            <a:ext cx="3086101" cy="1735932"/>
          </a:xfrm>
          <a:prstGeom prst="rect">
            <a:avLst/>
          </a:prstGeom>
        </p:spPr>
      </p:pic>
      <p:pic>
        <p:nvPicPr>
          <p:cNvPr id="10" name="Picture 9" descr="NHL Combine Fitness Tests: What They Measure">
            <a:extLst>
              <a:ext uri="{FF2B5EF4-FFF2-40B4-BE49-F238E27FC236}">
                <a16:creationId xmlns:a16="http://schemas.microsoft.com/office/drawing/2014/main" id="{2FC27DF2-1FC6-F1E5-2A7F-2DB8AAFD3F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7560" y="2073518"/>
            <a:ext cx="3086101" cy="17359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27DB5A-6A47-2B39-F551-57EC11BB40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0280" y="4345053"/>
            <a:ext cx="5015640" cy="140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15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C5067-C601-AE0B-E39D-1D816EB7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6EE2F3-366A-56D3-BA10-57E44D603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a KPI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82978D-CF78-7D3C-8CAC-E7117F0B4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what each measure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45E3D96-D888-8E1A-BAD6-66C71507D8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471474"/>
              </p:ext>
            </p:extLst>
          </p:nvPr>
        </p:nvGraphicFramePr>
        <p:xfrm>
          <a:off x="1752600" y="2209006"/>
          <a:ext cx="8083549" cy="381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30682">
                  <a:extLst>
                    <a:ext uri="{9D8B030D-6E8A-4147-A177-3AD203B41FA5}">
                      <a16:colId xmlns:a16="http://schemas.microsoft.com/office/drawing/2014/main" val="2005082290"/>
                    </a:ext>
                  </a:extLst>
                </a:gridCol>
                <a:gridCol w="2318405">
                  <a:extLst>
                    <a:ext uri="{9D8B030D-6E8A-4147-A177-3AD203B41FA5}">
                      <a16:colId xmlns:a16="http://schemas.microsoft.com/office/drawing/2014/main" val="1388118570"/>
                    </a:ext>
                  </a:extLst>
                </a:gridCol>
                <a:gridCol w="1718226">
                  <a:extLst>
                    <a:ext uri="{9D8B030D-6E8A-4147-A177-3AD203B41FA5}">
                      <a16:colId xmlns:a16="http://schemas.microsoft.com/office/drawing/2014/main" val="2562304298"/>
                    </a:ext>
                  </a:extLst>
                </a:gridCol>
                <a:gridCol w="905412">
                  <a:extLst>
                    <a:ext uri="{9D8B030D-6E8A-4147-A177-3AD203B41FA5}">
                      <a16:colId xmlns:a16="http://schemas.microsoft.com/office/drawing/2014/main" val="357023488"/>
                    </a:ext>
                  </a:extLst>
                </a:gridCol>
                <a:gridCol w="905412">
                  <a:extLst>
                    <a:ext uri="{9D8B030D-6E8A-4147-A177-3AD203B41FA5}">
                      <a16:colId xmlns:a16="http://schemas.microsoft.com/office/drawing/2014/main" val="3290640736"/>
                    </a:ext>
                  </a:extLst>
                </a:gridCol>
                <a:gridCol w="905412">
                  <a:extLst>
                    <a:ext uri="{9D8B030D-6E8A-4147-A177-3AD203B41FA5}">
                      <a16:colId xmlns:a16="http://schemas.microsoft.com/office/drawing/2014/main" val="3804901712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category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metric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defined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max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min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380430286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aerobic fitness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vo2max_ml_kg_min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7025271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agility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pro_agility_left_sec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417934555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agility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pro_agility_right_sec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36816726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anaerobic fitness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anaerobic_peak_power_watts_kg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99048945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anaerobic fitness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anaerobic_fatigue_index_pct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1027831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anthropometric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wingspan_in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62608899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body power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horizontal_jump_in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381489892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body power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isokinetic_squat_lb_per_lb_bw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14065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body power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force_plate_no_arm_jump_in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36097695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body power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force_plate_vertical_jump_in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63897461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speed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sprint_10m_sec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7291952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upper body power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bench_press_power_watts_kg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83670007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upper body power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right_hand_grip_lb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6400088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upper body power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left_hand_grip_lb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37897325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upper body power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pull_ups_reps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2391834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4249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F95C76-AE04-22EA-4B3C-47F77DAD1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a KPI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0EE684F-8E2B-53ED-7D4D-A76BF3181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what each measures</a:t>
            </a:r>
          </a:p>
          <a:p>
            <a:r>
              <a:rPr lang="en-US" dirty="0"/>
              <a:t>Identify KPIs that are important to your team</a:t>
            </a:r>
          </a:p>
          <a:p>
            <a:pPr lvl="1"/>
            <a:r>
              <a:rPr lang="en-US" dirty="0"/>
              <a:t>Coach’s directive</a:t>
            </a:r>
          </a:p>
          <a:p>
            <a:pPr lvl="1"/>
            <a:r>
              <a:rPr lang="en-US" dirty="0"/>
              <a:t>Status quo</a:t>
            </a:r>
          </a:p>
          <a:p>
            <a:pPr lvl="1"/>
            <a:r>
              <a:rPr lang="en-US" dirty="0"/>
              <a:t>Analytical methods</a:t>
            </a:r>
          </a:p>
          <a:p>
            <a:pPr lvl="1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D84991-6949-D7F3-B77B-0D2F13BAD834}"/>
              </a:ext>
            </a:extLst>
          </p:cNvPr>
          <p:cNvSpPr txBox="1"/>
          <p:nvPr/>
        </p:nvSpPr>
        <p:spPr>
          <a:xfrm>
            <a:off x="838200" y="6110252"/>
            <a:ext cx="6098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*KPI = Key Performance Indicator</a:t>
            </a:r>
            <a:endParaRPr lang="en-US" sz="105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559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386B-8ACE-5003-899F-E91D8E57C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Analytics is Collaborative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6CB19-B2CB-21EE-D41C-8B5FF8ACF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Analysts rarely make decisions start to finish. </a:t>
            </a:r>
          </a:p>
          <a:p>
            <a:r>
              <a:rPr lang="en-GB" dirty="0"/>
              <a:t>Coaching staff may:</a:t>
            </a:r>
          </a:p>
          <a:p>
            <a:pPr lvl="1"/>
            <a:r>
              <a:rPr lang="en-GB" dirty="0"/>
              <a:t>Describe outcome</a:t>
            </a:r>
          </a:p>
          <a:p>
            <a:pPr lvl="2"/>
            <a:r>
              <a:rPr lang="en-GB" dirty="0"/>
              <a:t>“I want a </a:t>
            </a:r>
            <a:r>
              <a:rPr lang="en-US" dirty="0"/>
              <a:t>winger who plays with pace, doesn't cough up the puck at the blue line, and can kill penalties.”</a:t>
            </a:r>
          </a:p>
          <a:p>
            <a:pPr lvl="2"/>
            <a:r>
              <a:rPr lang="en-GB" dirty="0"/>
              <a:t>Use analytics to find metrics who fits this</a:t>
            </a:r>
          </a:p>
          <a:p>
            <a:pPr lvl="2"/>
            <a:endParaRPr lang="en-GB" dirty="0"/>
          </a:p>
          <a:p>
            <a:pPr lvl="1"/>
            <a:r>
              <a:rPr lang="en-GB" dirty="0"/>
              <a:t>Prescribe KPI</a:t>
            </a:r>
          </a:p>
          <a:p>
            <a:pPr lvl="2"/>
            <a:r>
              <a:rPr lang="en-GB" dirty="0"/>
              <a:t>“I want to see players with good </a:t>
            </a:r>
            <a:r>
              <a:rPr lang="en-GB" dirty="0" err="1"/>
              <a:t>xGF</a:t>
            </a:r>
            <a:r>
              <a:rPr lang="en-GB" dirty="0"/>
              <a:t>%, speed and agility.”</a:t>
            </a:r>
          </a:p>
          <a:p>
            <a:pPr lvl="2"/>
            <a:r>
              <a:rPr lang="en-GB" dirty="0"/>
              <a:t>Use analytics to find prospects who excel in this.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8402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B095-1FFA-60C3-072E-E50335ED8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KPI Status Quo – use or drop?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E33BD-2B8C-C0BA-07FA-F278D15B0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Many metrics are already known to be important:</a:t>
            </a:r>
          </a:p>
          <a:p>
            <a:pPr lvl="1"/>
            <a:r>
              <a:rPr lang="en-GB" dirty="0"/>
              <a:t>tradition, past research, what other teams share</a:t>
            </a:r>
          </a:p>
          <a:p>
            <a:r>
              <a:rPr lang="en-GB" dirty="0"/>
              <a:t>These are a sensible starting point</a:t>
            </a:r>
          </a:p>
          <a:p>
            <a:pPr lvl="1"/>
            <a:r>
              <a:rPr lang="en-GB" dirty="0"/>
              <a:t>if every team uses the same KPIs, it is not a competitive advantage</a:t>
            </a:r>
          </a:p>
          <a:p>
            <a:pPr lvl="0"/>
            <a:r>
              <a:rPr lang="en-GB" dirty="0"/>
              <a:t>Edge can come from: </a:t>
            </a:r>
          </a:p>
          <a:p>
            <a:pPr lvl="1"/>
            <a:r>
              <a:rPr lang="en-GB" dirty="0"/>
              <a:t>Checking whether a known KPI holds up in </a:t>
            </a:r>
            <a:r>
              <a:rPr lang="en-GB" b="1" i="1" dirty="0"/>
              <a:t>your</a:t>
            </a:r>
            <a:r>
              <a:rPr lang="en-GB" b="1" dirty="0"/>
              <a:t> data</a:t>
            </a:r>
          </a:p>
          <a:p>
            <a:pPr lvl="1"/>
            <a:r>
              <a:rPr lang="en-GB" dirty="0"/>
              <a:t>Matching metrics to </a:t>
            </a:r>
            <a:r>
              <a:rPr lang="en-GB" b="1" dirty="0"/>
              <a:t>your team’s needs </a:t>
            </a:r>
            <a:r>
              <a:rPr lang="en-GB" dirty="0"/>
              <a:t>(needs aren’t the same across teams)</a:t>
            </a:r>
            <a:endParaRPr lang="en-US" dirty="0"/>
          </a:p>
          <a:p>
            <a:pPr lvl="1"/>
            <a:r>
              <a:rPr lang="en-GB" b="1" dirty="0"/>
              <a:t>Finding what the standard KPI list misses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826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680B6A-3608-2200-4F8C-1502C97B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Analytics to find KPIs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82863-BEC1-3831-4C46-FAB7645F0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Not every number is useful</a:t>
            </a:r>
          </a:p>
          <a:p>
            <a:pPr lvl="1"/>
            <a:r>
              <a:rPr lang="en-GB" dirty="0"/>
              <a:t>Some are </a:t>
            </a:r>
            <a:r>
              <a:rPr lang="en-GB" b="1" dirty="0"/>
              <a:t>signals: </a:t>
            </a:r>
            <a:r>
              <a:rPr lang="en-GB" dirty="0"/>
              <a:t>tell us something real about future success</a:t>
            </a:r>
          </a:p>
          <a:p>
            <a:pPr lvl="1"/>
            <a:r>
              <a:rPr lang="en-GB" dirty="0"/>
              <a:t>Some are </a:t>
            </a:r>
            <a:r>
              <a:rPr lang="en-GB" b="1" dirty="0"/>
              <a:t>noise: </a:t>
            </a:r>
            <a:r>
              <a:rPr lang="en-GB" dirty="0"/>
              <a:t>random, redundant, or irrelevant metrics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KPI filters: Relevant? Distinct?</a:t>
            </a:r>
          </a:p>
        </p:txBody>
      </p:sp>
    </p:spTree>
    <p:extLst>
      <p:ext uri="{BB962C8B-B14F-4D97-AF65-F5344CB8AC3E}">
        <p14:creationId xmlns:p14="http://schemas.microsoft.com/office/powerpoint/2010/main" val="403168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92681-CBCF-F3EC-FE83-5F51EA2AE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 with the outcome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16DAA-9F11-414F-CFFB-772394572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You can’t pick predictors until you define “success”</a:t>
            </a:r>
          </a:p>
          <a:p>
            <a:pPr lvl="1"/>
            <a:r>
              <a:rPr lang="en-GB" dirty="0"/>
              <a:t>Eg: minutes played in years 1-3, win shares, still in the league after 4 years, role (starter or bench)</a:t>
            </a:r>
          </a:p>
          <a:p>
            <a:pPr lvl="1"/>
            <a:endParaRPr lang="en-GB" dirty="0"/>
          </a:p>
          <a:p>
            <a:r>
              <a:rPr lang="en-GB" dirty="0"/>
              <a:t>Different outcomes → different “best” KPI</a:t>
            </a:r>
          </a:p>
          <a:p>
            <a:pPr lvl="1"/>
            <a:endParaRPr lang="en-GB" dirty="0"/>
          </a:p>
          <a:p>
            <a:r>
              <a:rPr lang="en-GB" dirty="0"/>
              <a:t>How would you define success for …</a:t>
            </a:r>
          </a:p>
          <a:p>
            <a:pPr lvl="1"/>
            <a:r>
              <a:rPr lang="en-GB" dirty="0"/>
              <a:t>NFL Player</a:t>
            </a:r>
          </a:p>
          <a:p>
            <a:pPr lvl="1"/>
            <a:r>
              <a:rPr lang="en-GB" dirty="0"/>
              <a:t>NHL Player</a:t>
            </a:r>
          </a:p>
          <a:p>
            <a:pPr lvl="1"/>
            <a:r>
              <a:rPr lang="en-GB" dirty="0"/>
              <a:t>WNBA Player</a:t>
            </a:r>
          </a:p>
          <a:p>
            <a:endParaRPr lang="en-GB" dirty="0"/>
          </a:p>
          <a:p>
            <a:endParaRPr lang="en-US" dirty="0"/>
          </a:p>
        </p:txBody>
      </p:sp>
      <p:pic>
        <p:nvPicPr>
          <p:cNvPr id="4" name="Picture 3" descr="National Football League - Wikipedia">
            <a:extLst>
              <a:ext uri="{FF2B5EF4-FFF2-40B4-BE49-F238E27FC236}">
                <a16:creationId xmlns:a16="http://schemas.microsoft.com/office/drawing/2014/main" id="{2A80CE11-B77C-138C-DAEC-FFF5E34AF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486" y="4413738"/>
            <a:ext cx="1157845" cy="1592036"/>
          </a:xfrm>
          <a:prstGeom prst="rect">
            <a:avLst/>
          </a:prstGeom>
        </p:spPr>
      </p:pic>
      <p:pic>
        <p:nvPicPr>
          <p:cNvPr id="5" name="Graphic 4" descr="National Hockey League - Wikipedia">
            <a:extLst>
              <a:ext uri="{FF2B5EF4-FFF2-40B4-BE49-F238E27FC236}">
                <a16:creationId xmlns:a16="http://schemas.microsoft.com/office/drawing/2014/main" id="{D5D5CF99-0CE5-EBAE-61B4-762717958B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8505" y="4451911"/>
            <a:ext cx="1368880" cy="1553864"/>
          </a:xfrm>
          <a:prstGeom prst="rect">
            <a:avLst/>
          </a:prstGeom>
        </p:spPr>
      </p:pic>
      <p:pic>
        <p:nvPicPr>
          <p:cNvPr id="6" name="Picture 5" descr="Women's National Basketball Association - Wikipedia">
            <a:extLst>
              <a:ext uri="{FF2B5EF4-FFF2-40B4-BE49-F238E27FC236}">
                <a16:creationId xmlns:a16="http://schemas.microsoft.com/office/drawing/2014/main" id="{46C8E88E-DB69-B59B-C179-46F3E1B87A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9960"/>
          <a:stretch>
            <a:fillRect/>
          </a:stretch>
        </p:blipFill>
        <p:spPr>
          <a:xfrm>
            <a:off x="10471559" y="4413738"/>
            <a:ext cx="660793" cy="159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64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9901-6171-023A-3F64-EEE54AA44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success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337B7-085D-32E1-7971-B61355D56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Would these qualities change if the question was</a:t>
            </a:r>
          </a:p>
          <a:p>
            <a:pPr lvl="1"/>
            <a:r>
              <a:rPr lang="en-GB" dirty="0"/>
              <a:t>NFL QB vs WR vs DB?</a:t>
            </a:r>
          </a:p>
          <a:p>
            <a:pPr lvl="1"/>
            <a:r>
              <a:rPr lang="en-GB" dirty="0"/>
              <a:t>NHL Goalie vs </a:t>
            </a:r>
            <a:r>
              <a:rPr lang="en-GB" dirty="0" err="1"/>
              <a:t>Center</a:t>
            </a:r>
            <a:r>
              <a:rPr lang="en-GB" dirty="0"/>
              <a:t> vs Wing?</a:t>
            </a:r>
          </a:p>
          <a:p>
            <a:pPr lvl="1"/>
            <a:r>
              <a:rPr lang="en-GB" dirty="0"/>
              <a:t>WBNA PG vs F vs C?</a:t>
            </a:r>
          </a:p>
          <a:p>
            <a:pPr lvl="1"/>
            <a:endParaRPr lang="en-GB" dirty="0"/>
          </a:p>
          <a:p>
            <a:r>
              <a:rPr lang="en-GB" dirty="0"/>
              <a:t>Would these qualities change if the question was</a:t>
            </a:r>
          </a:p>
          <a:p>
            <a:pPr lvl="1"/>
            <a:r>
              <a:rPr lang="en-GB" dirty="0"/>
              <a:t>NFL QB for the Bears vs the Broncos?</a:t>
            </a:r>
          </a:p>
          <a:p>
            <a:pPr lvl="1"/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What Are the Positions in American Football?. Nike IL">
            <a:extLst>
              <a:ext uri="{FF2B5EF4-FFF2-40B4-BE49-F238E27FC236}">
                <a16:creationId xmlns:a16="http://schemas.microsoft.com/office/drawing/2014/main" id="{E0CB27AD-659F-C06A-EDDA-FB89D1493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0436" y="1441938"/>
            <a:ext cx="2707373" cy="180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51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0EDD8-0364-0FC6-2EF9-0FCC1D36B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Filter 1: Is it relevant?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206A8-C287-BEF7-ABC9-46357757F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Correlate KPIs from historical datasets with success indicators</a:t>
            </a:r>
          </a:p>
          <a:p>
            <a:r>
              <a:rPr lang="en-GB" dirty="0"/>
              <a:t>A weak correlation can mean the metric is unrelated </a:t>
            </a:r>
            <a:r>
              <a:rPr lang="en-GB" i="1" dirty="0"/>
              <a:t>or</a:t>
            </a:r>
            <a:r>
              <a:rPr lang="en-GB" dirty="0"/>
              <a:t> just noisy.</a:t>
            </a:r>
          </a:p>
          <a:p>
            <a:pPr lvl="0"/>
            <a:endParaRPr lang="en-GB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13BC11-7A4A-8173-962E-E0916ED69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393" y="2965564"/>
            <a:ext cx="4599214" cy="352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690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78FB3-D580-0D0B-5113-EF25D8E2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Filter 2: Is it distinct?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76140-EA24-1DA5-0EB5-935D1AA97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Correlate KPIs with each other</a:t>
            </a:r>
          </a:p>
          <a:p>
            <a:pPr lvl="1"/>
            <a:r>
              <a:rPr lang="en-GB" dirty="0"/>
              <a:t>If two metrics at r ≈ 0.9 are telling us roughly the same thing</a:t>
            </a:r>
          </a:p>
          <a:p>
            <a:pPr lvl="1"/>
            <a:r>
              <a:rPr lang="en-GB" dirty="0"/>
              <a:t>Redundant metrics double-count one quality</a:t>
            </a:r>
          </a:p>
          <a:p>
            <a:pPr lvl="0"/>
            <a:endParaRPr lang="en-GB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AA4E6-4256-E332-31F2-A12A454AF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442" y="2842930"/>
            <a:ext cx="4759115" cy="36499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B77151-167F-B1CC-5611-6F73748DEC67}"/>
              </a:ext>
            </a:extLst>
          </p:cNvPr>
          <p:cNvSpPr txBox="1"/>
          <p:nvPr/>
        </p:nvSpPr>
        <p:spPr>
          <a:xfrm>
            <a:off x="8475557" y="4206237"/>
            <a:ext cx="26544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Which metrics may be redundant in this dataset?</a:t>
            </a:r>
          </a:p>
        </p:txBody>
      </p:sp>
    </p:spTree>
    <p:extLst>
      <p:ext uri="{BB962C8B-B14F-4D97-AF65-F5344CB8AC3E}">
        <p14:creationId xmlns:p14="http://schemas.microsoft.com/office/powerpoint/2010/main" val="1179359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AB09D-1B47-7E33-54D7-8ED397BC7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traps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BB5DB-366C-95C3-C725-006AE5630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Chance: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The more metrics you screen, the greater the chance that some appear relevant by luck.</a:t>
            </a:r>
          </a:p>
          <a:p>
            <a:r>
              <a:rPr lang="en-GB" b="1" dirty="0"/>
              <a:t>Survivors: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Looking only at drafted players can distort relationships and limits what we can conclude about all prospects.</a:t>
            </a:r>
          </a:p>
          <a:p>
            <a:r>
              <a:rPr lang="en-GB" b="1" dirty="0"/>
              <a:t>Correlation ≠ causation, and circularity: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Outcome can reflect team decisions, not only individual performance</a:t>
            </a:r>
          </a:p>
          <a:p>
            <a:r>
              <a:rPr lang="en-GB" b="1" dirty="0"/>
              <a:t>Look before you correlate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linear correlation analysis will only test linear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506866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C0BB4-F3CD-2B9F-CD26-D3BA093C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AE151-32D5-420C-A542-D500D74B5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metric has r = 0.9 with minutes played. What do you conclude?</a:t>
            </a:r>
          </a:p>
          <a:p>
            <a:pPr marL="0" lvl="0" indent="0">
              <a:buNone/>
            </a:pPr>
            <a:endParaRPr lang="en-GB" dirty="0"/>
          </a:p>
          <a:p>
            <a:pPr lvl="0"/>
            <a:r>
              <a:rPr lang="en-GB" dirty="0"/>
              <a:t>A metric has r ≈ 0 with minutes, but the plot shows a clear rise then plateau. What do you conclude?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Two metrics correlate at r = 0.95. What should you do?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Is minutes played a good measure of success?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591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FACB7-D33F-D08B-B838-B6D666F15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8D0CC8-FB23-798A-F27E-1FCAC0DE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44926"/>
            <a:ext cx="10515600" cy="968148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2. </a:t>
            </a:r>
            <a:r>
              <a:rPr lang="en-GB" sz="4800" dirty="0"/>
              <a:t>Compared to whom?</a:t>
            </a:r>
            <a:endParaRPr lang="en-US" sz="48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B44158-BBDF-6D4C-9ACD-003E38D95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776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FA8E9-419D-9A7A-304E-AA631EFA5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Compared with whom?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D3B31-5E29-F9B3-1C28-3CAD7A212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A number means nothing alone: </a:t>
            </a:r>
          </a:p>
          <a:p>
            <a:pPr lvl="1"/>
            <a:r>
              <a:rPr lang="en-GB" dirty="0"/>
              <a:t>Is a 58 mL/kg/min VO2max good?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Compared to... </a:t>
            </a:r>
          </a:p>
          <a:p>
            <a:pPr lvl="1"/>
            <a:r>
              <a:rPr lang="en-GB" dirty="0"/>
              <a:t>the whole draft class? </a:t>
            </a:r>
          </a:p>
          <a:p>
            <a:pPr lvl="1"/>
            <a:r>
              <a:rPr lang="en-GB" dirty="0"/>
              <a:t>Position group? </a:t>
            </a:r>
          </a:p>
          <a:p>
            <a:pPr lvl="1"/>
            <a:r>
              <a:rPr lang="en-GB" dirty="0"/>
              <a:t>Conference? </a:t>
            </a:r>
          </a:p>
          <a:p>
            <a:pPr lvl="1"/>
            <a:r>
              <a:rPr lang="en-GB" dirty="0"/>
              <a:t>Current pros?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The group you pick changes the answer</a:t>
            </a:r>
          </a:p>
        </p:txBody>
      </p:sp>
      <p:pic>
        <p:nvPicPr>
          <p:cNvPr id="4" name="Picture 3" descr="VO2 Max: How To Measure and Improve It">
            <a:extLst>
              <a:ext uri="{FF2B5EF4-FFF2-40B4-BE49-F238E27FC236}">
                <a16:creationId xmlns:a16="http://schemas.microsoft.com/office/drawing/2014/main" id="{07587125-942D-0C3B-62E5-5721881D4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1294" y="821471"/>
            <a:ext cx="226461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14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6B74E-5B73-771A-6BAF-F0F31DA7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The comparison group changes the interpretation.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C741-6EDC-F05A-72D6-C98E99B8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Selecting the appropriate comparison group is important</a:t>
            </a:r>
          </a:p>
          <a:p>
            <a:r>
              <a:rPr lang="en-US" dirty="0"/>
              <a:t>One athlete can look average in one group, and elite in a sub-group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F5DE2-7F03-1FBD-A3EB-034D2DB01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312" y="2704681"/>
            <a:ext cx="4939376" cy="378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58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7D0A4-4E33-1FE9-5341-827A08E57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GB" dirty="0" err="1"/>
              <a:t>hoosing</a:t>
            </a:r>
            <a:r>
              <a:rPr lang="en-GB" dirty="0"/>
              <a:t> a comparison group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9084E-FE3C-648C-6457-56EF3E6BA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General population: …</a:t>
            </a:r>
          </a:p>
          <a:p>
            <a:pPr lvl="0"/>
            <a:r>
              <a:rPr lang="en-GB" dirty="0"/>
              <a:t>Whole draft class: simple, but mixes roles</a:t>
            </a:r>
          </a:p>
          <a:p>
            <a:pPr lvl="0"/>
            <a:r>
              <a:rPr lang="en-GB" dirty="0"/>
              <a:t>Same position: fairer for position-specific traits</a:t>
            </a:r>
          </a:p>
          <a:p>
            <a:pPr lvl="0"/>
            <a:r>
              <a:rPr lang="en-GB" dirty="0"/>
              <a:t>Same conference / level of competition: provide a more similar competition context</a:t>
            </a:r>
          </a:p>
          <a:p>
            <a:pPr lvl="0"/>
            <a:r>
              <a:rPr lang="en-GB" dirty="0"/>
              <a:t>Same age or class year: accounts for development</a:t>
            </a:r>
          </a:p>
          <a:p>
            <a:pPr lvl="0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089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0410E-7B34-9EBB-99C1-AFD165BDF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FAB9D-6718-9BE4-66C8-B6B30F7FE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</a:t>
            </a:r>
            <a:r>
              <a:rPr lang="en-GB" dirty="0" err="1"/>
              <a:t>hoosing</a:t>
            </a:r>
            <a:r>
              <a:rPr lang="en-GB" dirty="0"/>
              <a:t> a comparison group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28365-7B02-F704-0822-5626B5762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Trade-off: more specific = more relevant, but smaller sample</a:t>
            </a:r>
          </a:p>
          <a:p>
            <a:endParaRPr lang="en-US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DE7FE51-B8C3-8CF7-E9AF-0C98690351F1}"/>
              </a:ext>
            </a:extLst>
          </p:cNvPr>
          <p:cNvSpPr/>
          <p:nvPr/>
        </p:nvSpPr>
        <p:spPr>
          <a:xfrm flipV="1">
            <a:off x="1249680" y="28405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4EFAEB-538D-7802-ED4E-0737F4088EB9}"/>
              </a:ext>
            </a:extLst>
          </p:cNvPr>
          <p:cNvSpPr txBox="1"/>
          <p:nvPr/>
        </p:nvSpPr>
        <p:spPr>
          <a:xfrm>
            <a:off x="2325968" y="2889302"/>
            <a:ext cx="116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Broad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69C4C7-BCCF-EB42-557E-897802E08BD2}"/>
              </a:ext>
            </a:extLst>
          </p:cNvPr>
          <p:cNvSpPr txBox="1"/>
          <p:nvPr/>
        </p:nvSpPr>
        <p:spPr>
          <a:xfrm>
            <a:off x="2426941" y="48531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Too Narrow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D58243-1E3F-E617-EB9C-10A1CC19F161}"/>
              </a:ext>
            </a:extLst>
          </p:cNvPr>
          <p:cNvSpPr txBox="1"/>
          <p:nvPr/>
        </p:nvSpPr>
        <p:spPr>
          <a:xfrm>
            <a:off x="2194560" y="3962400"/>
            <a:ext cx="1434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Focused</a:t>
            </a:r>
          </a:p>
        </p:txBody>
      </p:sp>
      <p:sp>
        <p:nvSpPr>
          <p:cNvPr id="8" name="Isosceles Triangle 3">
            <a:extLst>
              <a:ext uri="{FF2B5EF4-FFF2-40B4-BE49-F238E27FC236}">
                <a16:creationId xmlns:a16="http://schemas.microsoft.com/office/drawing/2014/main" id="{D83DCAD4-5DA6-310A-F91C-65D1813A9544}"/>
              </a:ext>
            </a:extLst>
          </p:cNvPr>
          <p:cNvSpPr/>
          <p:nvPr/>
        </p:nvSpPr>
        <p:spPr>
          <a:xfrm flipV="1">
            <a:off x="6841797" y="28405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4BFBE-1C5F-146F-4EFB-1A37EF90221A}"/>
              </a:ext>
            </a:extLst>
          </p:cNvPr>
          <p:cNvSpPr txBox="1"/>
          <p:nvPr/>
        </p:nvSpPr>
        <p:spPr>
          <a:xfrm>
            <a:off x="7545355" y="2840502"/>
            <a:ext cx="1915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Whole draft class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0E9DA-FF58-B7B3-D91A-632D9C74A277}"/>
              </a:ext>
            </a:extLst>
          </p:cNvPr>
          <p:cNvSpPr txBox="1"/>
          <p:nvPr/>
        </p:nvSpPr>
        <p:spPr>
          <a:xfrm>
            <a:off x="8019058" y="48531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Same College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D18878-E6FE-B37C-08D0-46FBB261135F}"/>
              </a:ext>
            </a:extLst>
          </p:cNvPr>
          <p:cNvSpPr txBox="1"/>
          <p:nvPr/>
        </p:nvSpPr>
        <p:spPr>
          <a:xfrm>
            <a:off x="7785714" y="3738406"/>
            <a:ext cx="1434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Position Group*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8A2DD3-65DC-350D-7796-B8BB7904A608}"/>
              </a:ext>
            </a:extLst>
          </p:cNvPr>
          <p:cNvSpPr txBox="1"/>
          <p:nvPr/>
        </p:nvSpPr>
        <p:spPr>
          <a:xfrm>
            <a:off x="6248400" y="5818797"/>
            <a:ext cx="4983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* Most appropriate comparison depends on context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F63A2F-143D-64F6-40C3-6CEBA26CB8BE}"/>
              </a:ext>
            </a:extLst>
          </p:cNvPr>
          <p:cNvSpPr txBox="1"/>
          <p:nvPr/>
        </p:nvSpPr>
        <p:spPr>
          <a:xfrm>
            <a:off x="502360" y="2312978"/>
            <a:ext cx="481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Lecture 3: </a:t>
            </a:r>
            <a:r>
              <a:rPr lang="en-GB" dirty="0"/>
              <a:t>Asking Testable Analytical Questions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70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84269-1240-5205-FDB9-8882C4A00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958F48-DA6A-1CD9-4072-A0EDE393A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Define success</a:t>
            </a:r>
          </a:p>
          <a:p>
            <a:pPr lvl="0"/>
            <a:r>
              <a:rPr lang="en-GB" dirty="0"/>
              <a:t>Choose relevant, distinct KPIs</a:t>
            </a:r>
          </a:p>
          <a:p>
            <a:pPr lvl="0"/>
            <a:r>
              <a:rPr lang="en-GB" dirty="0"/>
              <a:t>Choose the comparison group</a:t>
            </a:r>
          </a:p>
          <a:p>
            <a:pPr lvl="0"/>
            <a:r>
              <a:rPr lang="en-GB" dirty="0"/>
              <a:t>Relative comparisons vs benchmark comparison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Return to answers for opening activity</a:t>
            </a:r>
          </a:p>
          <a:p>
            <a:pPr lvl="1"/>
            <a:r>
              <a:rPr lang="en-GB" dirty="0"/>
              <a:t>Which step would you add or change?</a:t>
            </a:r>
          </a:p>
          <a:p>
            <a:pPr lvl="1"/>
            <a:endParaRPr lang="en-GB" dirty="0"/>
          </a:p>
          <a:p>
            <a:r>
              <a:rPr lang="en-GB" dirty="0"/>
              <a:t>Up Next: How do we </a:t>
            </a:r>
            <a:r>
              <a:rPr lang="en-GB" i="1" dirty="0"/>
              <a:t>express</a:t>
            </a:r>
            <a:r>
              <a:rPr lang="en-GB" dirty="0"/>
              <a:t> the comparison, and how do we </a:t>
            </a:r>
            <a:r>
              <a:rPr lang="en-GB" i="1" dirty="0"/>
              <a:t>combine</a:t>
            </a:r>
            <a:r>
              <a:rPr lang="en-GB" dirty="0"/>
              <a:t> metrics?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730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5464B-86EC-B7DD-77BB-3AF3DE08B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about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8555F-97CE-341D-AACE-7582B602B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Relative question:</a:t>
            </a:r>
            <a:r>
              <a:rPr lang="en-GB" dirty="0"/>
              <a:t> how good is athlete A </a:t>
            </a:r>
            <a:r>
              <a:rPr lang="en-GB" i="1" dirty="0"/>
              <a:t>compared to their draft class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Relative group: Players in their draft class</a:t>
            </a:r>
          </a:p>
          <a:p>
            <a:pPr lvl="0"/>
            <a:r>
              <a:rPr lang="en-GB" b="1" dirty="0"/>
              <a:t>Benchmark question:</a:t>
            </a:r>
            <a:r>
              <a:rPr lang="en-GB" dirty="0"/>
              <a:t> how good is athlete A </a:t>
            </a:r>
            <a:r>
              <a:rPr lang="en-GB" i="1" dirty="0"/>
              <a:t>compared to what our league requires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Benchmark group: current or past players at that position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A prospect can be the best in their class and still below the bar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F658B5-EEE2-0571-AA31-627FD07DE99A}"/>
              </a:ext>
            </a:extLst>
          </p:cNvPr>
          <p:cNvSpPr/>
          <p:nvPr/>
        </p:nvSpPr>
        <p:spPr>
          <a:xfrm>
            <a:off x="3604591" y="2279374"/>
            <a:ext cx="3419061" cy="37106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814608-11ED-E4E9-89F5-17286D680113}"/>
              </a:ext>
            </a:extLst>
          </p:cNvPr>
          <p:cNvSpPr/>
          <p:nvPr/>
        </p:nvSpPr>
        <p:spPr>
          <a:xfrm>
            <a:off x="4061791" y="3623919"/>
            <a:ext cx="5068957" cy="37106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587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4000</TotalTime>
  <Words>1185</Words>
  <Application>Microsoft Office PowerPoint</Application>
  <PresentationFormat>Widescreen</PresentationFormat>
  <Paragraphs>199</Paragraphs>
  <Slides>23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Aptos Narrow</vt:lpstr>
      <vt:lpstr>Arial</vt:lpstr>
      <vt:lpstr>Office Theme</vt:lpstr>
      <vt:lpstr>Scouting and Talent Evaluation</vt:lpstr>
      <vt:lpstr>Analytics Department Project</vt:lpstr>
      <vt:lpstr>Getting specific</vt:lpstr>
      <vt:lpstr>1. Which KPIs matter?</vt:lpstr>
      <vt:lpstr>How to choose a KPI</vt:lpstr>
      <vt:lpstr>How to choose a KPI</vt:lpstr>
      <vt:lpstr>How to choose a KPI</vt:lpstr>
      <vt:lpstr>Real Analytics is Collaborative</vt:lpstr>
      <vt:lpstr>KPI Status Quo – use or drop?</vt:lpstr>
      <vt:lpstr>Analytics to find KPIs</vt:lpstr>
      <vt:lpstr>Start with the outcome</vt:lpstr>
      <vt:lpstr>Define success</vt:lpstr>
      <vt:lpstr>Filter 1: Is it relevant? </vt:lpstr>
      <vt:lpstr>Filter 2: Is it distinct?</vt:lpstr>
      <vt:lpstr>Common traps</vt:lpstr>
      <vt:lpstr>Quick check</vt:lpstr>
      <vt:lpstr>2. Compared to whom?</vt:lpstr>
      <vt:lpstr>Compared with whom?</vt:lpstr>
      <vt:lpstr>The comparison group changes the interpretation.</vt:lpstr>
      <vt:lpstr>Choosing a comparison group</vt:lpstr>
      <vt:lpstr>Choosing a comparison group</vt:lpstr>
      <vt:lpstr>Summary</vt:lpstr>
      <vt:lpstr>Questions about Comparisons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72</cp:revision>
  <dcterms:created xsi:type="dcterms:W3CDTF">2026-08-17T13:48:23Z</dcterms:created>
  <dcterms:modified xsi:type="dcterms:W3CDTF">2026-10-22T19:49:10Z</dcterms:modified>
</cp:coreProperties>
</file>