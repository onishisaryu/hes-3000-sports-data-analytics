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Default Extension="xx&amp;_nc_gid=9GuZj7hwfHTZlsui53KxfA&amp;_nc_ss=7b289&amp;oh=00_AQFyVFYTflJj_zqB6zurcn6HLGLQGE2CET90MU16H3N5MA&amp;oe=6A8D28F5"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68" r:id="rId3"/>
    <p:sldId id="293" r:id="rId4"/>
    <p:sldId id="280" r:id="rId5"/>
    <p:sldId id="294" r:id="rId6"/>
    <p:sldId id="295" r:id="rId7"/>
    <p:sldId id="272" r:id="rId8"/>
    <p:sldId id="258" r:id="rId9"/>
    <p:sldId id="286" r:id="rId10"/>
    <p:sldId id="285" r:id="rId11"/>
    <p:sldId id="291" r:id="rId12"/>
    <p:sldId id="296" r:id="rId13"/>
    <p:sldId id="282" r:id="rId14"/>
    <p:sldId id="263" r:id="rId15"/>
    <p:sldId id="279" r:id="rId16"/>
    <p:sldId id="267" r:id="rId17"/>
    <p:sldId id="292" r:id="rId18"/>
    <p:sldId id="283" r:id="rId19"/>
    <p:sldId id="28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EECD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1702"/>
    <p:restoredTop sz="82260"/>
  </p:normalViewPr>
  <p:slideViewPr>
    <p:cSldViewPr snapToGrid="0">
      <p:cViewPr varScale="1">
        <p:scale>
          <a:sx n="70" d="100"/>
          <a:sy n="70" d="100"/>
        </p:scale>
        <p:origin x="132" y="72"/>
      </p:cViewPr>
      <p:guideLst/>
    </p:cSldViewPr>
  </p:slideViewPr>
  <p:notesTextViewPr>
    <p:cViewPr>
      <p:scale>
        <a:sx n="1" d="1"/>
        <a:sy n="1" d="1"/>
      </p:scale>
      <p:origin x="0" y="0"/>
    </p:cViewPr>
  </p:notesTextViewPr>
  <p:sorterViewPr>
    <p:cViewPr>
      <p:scale>
        <a:sx n="140" d="100"/>
        <a:sy n="14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7EEDEE-9F25-1248-8553-BC05D4D1E003}" type="datetimeFigureOut">
              <a:rPr lang="en-US" smtClean="0"/>
              <a:t>8/25/2026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6F32F1C-470B-324F-8158-FBD837D2FC84}" type="slidenum">
              <a:rPr lang="en-US" smtClean="0"/>
              <a:t>‹#›</a:t>
            </a:fld>
            <a:endParaRPr lang="en-US"/>
          </a:p>
        </p:txBody>
      </p:sp>
    </p:spTree>
    <p:extLst>
      <p:ext uri="{BB962C8B-B14F-4D97-AF65-F5344CB8AC3E}">
        <p14:creationId xmlns:p14="http://schemas.microsoft.com/office/powerpoint/2010/main" val="3756213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6F32F1C-470B-324F-8158-FBD837D2FC84}" type="slidenum">
              <a:rPr lang="en-US" smtClean="0"/>
              <a:t>1</a:t>
            </a:fld>
            <a:endParaRPr lang="en-US"/>
          </a:p>
        </p:txBody>
      </p:sp>
    </p:spTree>
    <p:extLst>
      <p:ext uri="{BB962C8B-B14F-4D97-AF65-F5344CB8AC3E}">
        <p14:creationId xmlns:p14="http://schemas.microsoft.com/office/powerpoint/2010/main" val="2165245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dirty="0"/>
              <a:t>What do you love about teaching the course? How long have you been teaching? What is your </a:t>
            </a:r>
            <a:r>
              <a:rPr lang="en-GB" dirty="0" err="1"/>
              <a:t>favorite</a:t>
            </a:r>
            <a:r>
              <a:rPr lang="en-GB" dirty="0"/>
              <a:t> thing about teaching?</a:t>
            </a:r>
          </a:p>
          <a:p>
            <a:pPr lvl="0"/>
            <a:r>
              <a:rPr lang="en-GB" dirty="0"/>
              <a:t>Why did you choose to study and work in your discipline? What do you love about the discipline? How you see the discipline affecting the world and vice versa?</a:t>
            </a:r>
          </a:p>
          <a:p>
            <a:pPr lvl="0"/>
            <a:r>
              <a:rPr lang="en-GB" dirty="0"/>
              <a:t>What is your research agenda and how does it relate to the course? (if applicable)</a:t>
            </a:r>
          </a:p>
          <a:p>
            <a:pPr lvl="0"/>
            <a:r>
              <a:rPr lang="en-GB" dirty="0"/>
              <a:t>Personal details that you feel comfortable sharing, such as place of birth, family details, hobbies and interests, future plans.</a:t>
            </a:r>
          </a:p>
          <a:p>
            <a:endParaRPr lang="en-US" dirty="0"/>
          </a:p>
        </p:txBody>
      </p:sp>
      <p:sp>
        <p:nvSpPr>
          <p:cNvPr id="4" name="Slide Number Placeholder 3"/>
          <p:cNvSpPr>
            <a:spLocks noGrp="1"/>
          </p:cNvSpPr>
          <p:nvPr>
            <p:ph type="sldNum" sz="quarter" idx="5"/>
          </p:nvPr>
        </p:nvSpPr>
        <p:spPr/>
        <p:txBody>
          <a:bodyPr/>
          <a:lstStyle/>
          <a:p>
            <a:fld id="{76F32F1C-470B-324F-8158-FBD837D2FC84}" type="slidenum">
              <a:rPr lang="en-US" smtClean="0"/>
              <a:t>2</a:t>
            </a:fld>
            <a:endParaRPr lang="en-US"/>
          </a:p>
        </p:txBody>
      </p:sp>
    </p:spTree>
    <p:extLst>
      <p:ext uri="{BB962C8B-B14F-4D97-AF65-F5344CB8AC3E}">
        <p14:creationId xmlns:p14="http://schemas.microsoft.com/office/powerpoint/2010/main" val="25448833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8DBC5F-C7E1-3F74-3FCF-585F96070A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103F47-E2AC-9C59-27A9-B2A3630477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E7129F-BB14-40FB-3030-93C1C86DD255}"/>
              </a:ext>
            </a:extLst>
          </p:cNvPr>
          <p:cNvSpPr>
            <a:spLocks noGrp="1"/>
          </p:cNvSpPr>
          <p:nvPr>
            <p:ph type="body" idx="1"/>
          </p:nvPr>
        </p:nvSpPr>
        <p:spPr/>
        <p:txBody>
          <a:bodyPr/>
          <a:lstStyle/>
          <a:p>
            <a:pPr lvl="0"/>
            <a:r>
              <a:rPr lang="en-GB" dirty="0"/>
              <a:t>What do you love about teaching the course? How long have you been teaching? What is your </a:t>
            </a:r>
            <a:r>
              <a:rPr lang="en-GB" dirty="0" err="1"/>
              <a:t>favorite</a:t>
            </a:r>
            <a:r>
              <a:rPr lang="en-GB" dirty="0"/>
              <a:t> thing about teaching?</a:t>
            </a:r>
          </a:p>
          <a:p>
            <a:pPr lvl="0"/>
            <a:r>
              <a:rPr lang="en-GB" dirty="0"/>
              <a:t>Why did you choose to study and work in your discipline? What do you love about the discipline? How you see the discipline affecting the world and vice versa?</a:t>
            </a:r>
          </a:p>
          <a:p>
            <a:pPr lvl="0"/>
            <a:r>
              <a:rPr lang="en-GB" dirty="0"/>
              <a:t>What is your research agenda and how does it relate to the course? (if applicable)</a:t>
            </a:r>
          </a:p>
          <a:p>
            <a:pPr lvl="0"/>
            <a:r>
              <a:rPr lang="en-GB" dirty="0"/>
              <a:t>Personal details that you feel comfortable sharing, such as place of birth, family details, hobbies and interests, future plans.</a:t>
            </a:r>
          </a:p>
          <a:p>
            <a:endParaRPr lang="en-US" dirty="0"/>
          </a:p>
        </p:txBody>
      </p:sp>
      <p:sp>
        <p:nvSpPr>
          <p:cNvPr id="4" name="Slide Number Placeholder 3">
            <a:extLst>
              <a:ext uri="{FF2B5EF4-FFF2-40B4-BE49-F238E27FC236}">
                <a16:creationId xmlns:a16="http://schemas.microsoft.com/office/drawing/2014/main" id="{074172CE-E4A9-A187-4C83-808BA216180F}"/>
              </a:ext>
            </a:extLst>
          </p:cNvPr>
          <p:cNvSpPr>
            <a:spLocks noGrp="1"/>
          </p:cNvSpPr>
          <p:nvPr>
            <p:ph type="sldNum" sz="quarter" idx="5"/>
          </p:nvPr>
        </p:nvSpPr>
        <p:spPr/>
        <p:txBody>
          <a:bodyPr/>
          <a:lstStyle/>
          <a:p>
            <a:fld id="{76F32F1C-470B-324F-8158-FBD837D2FC84}" type="slidenum">
              <a:rPr lang="en-US" smtClean="0"/>
              <a:t>3</a:t>
            </a:fld>
            <a:endParaRPr lang="en-US"/>
          </a:p>
        </p:txBody>
      </p:sp>
    </p:spTree>
    <p:extLst>
      <p:ext uri="{BB962C8B-B14F-4D97-AF65-F5344CB8AC3E}">
        <p14:creationId xmlns:p14="http://schemas.microsoft.com/office/powerpoint/2010/main" val="845571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help me remember you</a:t>
            </a:r>
          </a:p>
          <a:p>
            <a:endParaRPr lang="en-US" dirty="0"/>
          </a:p>
        </p:txBody>
      </p:sp>
      <p:sp>
        <p:nvSpPr>
          <p:cNvPr id="4" name="Slide Number Placeholder 3"/>
          <p:cNvSpPr>
            <a:spLocks noGrp="1"/>
          </p:cNvSpPr>
          <p:nvPr>
            <p:ph type="sldNum" sz="quarter" idx="5"/>
          </p:nvPr>
        </p:nvSpPr>
        <p:spPr/>
        <p:txBody>
          <a:bodyPr/>
          <a:lstStyle/>
          <a:p>
            <a:fld id="{1560C251-82B7-4253-A774-38D73C276BCE}" type="slidenum">
              <a:rPr lang="en-US" smtClean="0"/>
              <a:t>4</a:t>
            </a:fld>
            <a:endParaRPr lang="en-US" dirty="0"/>
          </a:p>
        </p:txBody>
      </p:sp>
    </p:spTree>
    <p:extLst>
      <p:ext uri="{BB962C8B-B14F-4D97-AF65-F5344CB8AC3E}">
        <p14:creationId xmlns:p14="http://schemas.microsoft.com/office/powerpoint/2010/main" val="41861338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A11F57-3BBA-E813-BAD9-21810BA7E0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7B3713-F41D-53C3-7070-CC33275BF1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6E4B29-EFEC-3A82-C95E-376DC6F6F99E}"/>
              </a:ext>
            </a:extLst>
          </p:cNvPr>
          <p:cNvSpPr>
            <a:spLocks noGrp="1"/>
          </p:cNvSpPr>
          <p:nvPr>
            <p:ph type="body" idx="1"/>
          </p:nvPr>
        </p:nvSpPr>
        <p:spPr/>
        <p:txBody>
          <a:bodyPr/>
          <a:lstStyle/>
          <a:p>
            <a:pPr lvl="0"/>
            <a:r>
              <a:rPr lang="en-GB" dirty="0"/>
              <a:t>What do you love about teaching the course? How long have you been teaching? What is your </a:t>
            </a:r>
            <a:r>
              <a:rPr lang="en-GB" dirty="0" err="1"/>
              <a:t>favorite</a:t>
            </a:r>
            <a:r>
              <a:rPr lang="en-GB" dirty="0"/>
              <a:t> thing about teaching?</a:t>
            </a:r>
          </a:p>
          <a:p>
            <a:pPr lvl="0"/>
            <a:r>
              <a:rPr lang="en-GB" dirty="0"/>
              <a:t>Why did you choose to study and work in your discipline? What do you love about the discipline? How you see the discipline affecting the world and vice versa?</a:t>
            </a:r>
          </a:p>
          <a:p>
            <a:pPr lvl="0"/>
            <a:r>
              <a:rPr lang="en-GB" dirty="0"/>
              <a:t>What is your research agenda and how does it relate to the course? (if applicable)</a:t>
            </a:r>
          </a:p>
          <a:p>
            <a:pPr lvl="0"/>
            <a:r>
              <a:rPr lang="en-GB" dirty="0"/>
              <a:t>Personal details that you feel comfortable sharing, such as place of birth, family details, hobbies and interests, future plans.</a:t>
            </a:r>
          </a:p>
          <a:p>
            <a:endParaRPr lang="en-US" dirty="0"/>
          </a:p>
        </p:txBody>
      </p:sp>
      <p:sp>
        <p:nvSpPr>
          <p:cNvPr id="4" name="Slide Number Placeholder 3">
            <a:extLst>
              <a:ext uri="{FF2B5EF4-FFF2-40B4-BE49-F238E27FC236}">
                <a16:creationId xmlns:a16="http://schemas.microsoft.com/office/drawing/2014/main" id="{5E961357-A55B-D9EC-8C87-1487DC03B80D}"/>
              </a:ext>
            </a:extLst>
          </p:cNvPr>
          <p:cNvSpPr>
            <a:spLocks noGrp="1"/>
          </p:cNvSpPr>
          <p:nvPr>
            <p:ph type="sldNum" sz="quarter" idx="5"/>
          </p:nvPr>
        </p:nvSpPr>
        <p:spPr/>
        <p:txBody>
          <a:bodyPr/>
          <a:lstStyle/>
          <a:p>
            <a:fld id="{76F32F1C-470B-324F-8158-FBD837D2FC84}" type="slidenum">
              <a:rPr lang="en-US" smtClean="0"/>
              <a:t>5</a:t>
            </a:fld>
            <a:endParaRPr lang="en-US"/>
          </a:p>
        </p:txBody>
      </p:sp>
    </p:spTree>
    <p:extLst>
      <p:ext uri="{BB962C8B-B14F-4D97-AF65-F5344CB8AC3E}">
        <p14:creationId xmlns:p14="http://schemas.microsoft.com/office/powerpoint/2010/main" val="14420132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8A1D97-DD45-D598-F753-E80DC69CEC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7E189B-98FF-B625-1960-AB08AE7CF5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F95225-99B4-5EAC-F9CD-652BB8ACD873}"/>
              </a:ext>
            </a:extLst>
          </p:cNvPr>
          <p:cNvSpPr>
            <a:spLocks noGrp="1"/>
          </p:cNvSpPr>
          <p:nvPr>
            <p:ph type="body" idx="1"/>
          </p:nvPr>
        </p:nvSpPr>
        <p:spPr/>
        <p:txBody>
          <a:bodyPr/>
          <a:lstStyle/>
          <a:p>
            <a:pPr lvl="0"/>
            <a:r>
              <a:rPr lang="en-GB" dirty="0"/>
              <a:t>Its not about the stats</a:t>
            </a:r>
            <a:endParaRPr lang="en-US" dirty="0"/>
          </a:p>
        </p:txBody>
      </p:sp>
      <p:sp>
        <p:nvSpPr>
          <p:cNvPr id="4" name="Slide Number Placeholder 3">
            <a:extLst>
              <a:ext uri="{FF2B5EF4-FFF2-40B4-BE49-F238E27FC236}">
                <a16:creationId xmlns:a16="http://schemas.microsoft.com/office/drawing/2014/main" id="{2F8E959F-B2A7-4347-4806-8EEDAAEDB03C}"/>
              </a:ext>
            </a:extLst>
          </p:cNvPr>
          <p:cNvSpPr>
            <a:spLocks noGrp="1"/>
          </p:cNvSpPr>
          <p:nvPr>
            <p:ph type="sldNum" sz="quarter" idx="5"/>
          </p:nvPr>
        </p:nvSpPr>
        <p:spPr/>
        <p:txBody>
          <a:bodyPr/>
          <a:lstStyle/>
          <a:p>
            <a:fld id="{76F32F1C-470B-324F-8158-FBD837D2FC84}" type="slidenum">
              <a:rPr lang="en-US" smtClean="0"/>
              <a:t>6</a:t>
            </a:fld>
            <a:endParaRPr lang="en-US"/>
          </a:p>
        </p:txBody>
      </p:sp>
    </p:spTree>
    <p:extLst>
      <p:ext uri="{BB962C8B-B14F-4D97-AF65-F5344CB8AC3E}">
        <p14:creationId xmlns:p14="http://schemas.microsoft.com/office/powerpoint/2010/main" val="39915016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Ultimately: statistics to identify trends in athletic performance.</a:t>
            </a:r>
          </a:p>
        </p:txBody>
      </p:sp>
      <p:sp>
        <p:nvSpPr>
          <p:cNvPr id="4" name="Slide Number Placeholder 3"/>
          <p:cNvSpPr>
            <a:spLocks noGrp="1"/>
          </p:cNvSpPr>
          <p:nvPr>
            <p:ph type="sldNum" sz="quarter" idx="5"/>
          </p:nvPr>
        </p:nvSpPr>
        <p:spPr/>
        <p:txBody>
          <a:bodyPr/>
          <a:lstStyle/>
          <a:p>
            <a:fld id="{1560C251-82B7-4253-A774-38D73C276BCE}" type="slidenum">
              <a:rPr lang="en-US" smtClean="0"/>
              <a:t>7</a:t>
            </a:fld>
            <a:endParaRPr lang="en-US" dirty="0"/>
          </a:p>
        </p:txBody>
      </p:sp>
    </p:spTree>
    <p:extLst>
      <p:ext uri="{BB962C8B-B14F-4D97-AF65-F5344CB8AC3E}">
        <p14:creationId xmlns:p14="http://schemas.microsoft.com/office/powerpoint/2010/main" val="3289826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general structure</a:t>
            </a:r>
          </a:p>
          <a:p>
            <a:r>
              <a:rPr lang="en-US" dirty="0"/>
              <a:t>Personal story: Similar class immediately started with case studies</a:t>
            </a:r>
          </a:p>
          <a:p>
            <a:r>
              <a:rPr lang="en-US" dirty="0"/>
              <a:t>Interesting but did not </a:t>
            </a:r>
            <a:r>
              <a:rPr lang="en-US" dirty="0" err="1"/>
              <a:t>equipt</a:t>
            </a:r>
            <a:r>
              <a:rPr lang="en-US" dirty="0"/>
              <a:t> me with the knowledge of how its done</a:t>
            </a:r>
          </a:p>
          <a:p>
            <a:r>
              <a:rPr lang="en-US" dirty="0"/>
              <a:t>My aim is to go over the steps and then later discuss how this is applied </a:t>
            </a:r>
            <a:r>
              <a:rPr lang="en-US" dirty="0" err="1"/>
              <a:t>irl</a:t>
            </a:r>
            <a:endParaRPr lang="en-US" dirty="0"/>
          </a:p>
          <a:p>
            <a:endParaRPr lang="en-US" dirty="0"/>
          </a:p>
        </p:txBody>
      </p:sp>
      <p:sp>
        <p:nvSpPr>
          <p:cNvPr id="4" name="Slide Number Placeholder 3"/>
          <p:cNvSpPr>
            <a:spLocks noGrp="1"/>
          </p:cNvSpPr>
          <p:nvPr>
            <p:ph type="sldNum" sz="quarter" idx="5"/>
          </p:nvPr>
        </p:nvSpPr>
        <p:spPr/>
        <p:txBody>
          <a:bodyPr/>
          <a:lstStyle/>
          <a:p>
            <a:fld id="{1560C251-82B7-4253-A774-38D73C276BCE}" type="slidenum">
              <a:rPr lang="en-US" smtClean="0"/>
              <a:t>8</a:t>
            </a:fld>
            <a:endParaRPr lang="en-US" dirty="0"/>
          </a:p>
        </p:txBody>
      </p:sp>
    </p:spTree>
    <p:extLst>
      <p:ext uri="{BB962C8B-B14F-4D97-AF65-F5344CB8AC3E}">
        <p14:creationId xmlns:p14="http://schemas.microsoft.com/office/powerpoint/2010/main" val="12678988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D1F75-B8DF-96D5-5EE1-9F39B7042B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2B3694-E59E-4056-5249-514C4B0AAE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64B469-4FFF-CE9C-4D07-8C78F1C4F458}"/>
              </a:ext>
            </a:extLst>
          </p:cNvPr>
          <p:cNvSpPr>
            <a:spLocks noGrp="1"/>
          </p:cNvSpPr>
          <p:nvPr>
            <p:ph type="body" idx="1"/>
          </p:nvPr>
        </p:nvSpPr>
        <p:spPr/>
        <p:txBody>
          <a:bodyPr/>
          <a:lstStyle/>
          <a:p>
            <a:r>
              <a:rPr lang="en-US" b="1" dirty="0"/>
              <a:t>Quizzes: due </a:t>
            </a:r>
            <a:r>
              <a:rPr lang="en-US" dirty="0"/>
              <a:t>each Sunday </a:t>
            </a:r>
          </a:p>
          <a:p>
            <a:r>
              <a:rPr lang="en-US" b="1" dirty="0"/>
              <a:t>In-class activities:</a:t>
            </a:r>
            <a:r>
              <a:rPr lang="en-US" dirty="0"/>
              <a:t> </a:t>
            </a:r>
          </a:p>
          <a:p>
            <a:r>
              <a:rPr lang="en-US" b="1" dirty="0"/>
              <a:t>Case studies:</a:t>
            </a:r>
            <a:r>
              <a:rPr lang="en-US" dirty="0"/>
              <a:t> </a:t>
            </a:r>
          </a:p>
          <a:p>
            <a:r>
              <a:rPr lang="en-US" b="1" dirty="0"/>
              <a:t>Journal article presentation</a:t>
            </a:r>
          </a:p>
          <a:p>
            <a:r>
              <a:rPr lang="en-US" b="1" dirty="0"/>
              <a:t>Analytics project:</a:t>
            </a:r>
            <a:r>
              <a:rPr lang="en-US" dirty="0"/>
              <a:t> think about a topic as we go through content</a:t>
            </a:r>
          </a:p>
          <a:p>
            <a:r>
              <a:rPr lang="en-US" b="1" dirty="0"/>
              <a:t>Exams:</a:t>
            </a:r>
            <a:r>
              <a:rPr lang="en-US" dirty="0"/>
              <a:t> requires lockdown browser</a:t>
            </a:r>
          </a:p>
          <a:p>
            <a:endParaRPr lang="en-US" dirty="0"/>
          </a:p>
        </p:txBody>
      </p:sp>
      <p:sp>
        <p:nvSpPr>
          <p:cNvPr id="4" name="Slide Number Placeholder 3">
            <a:extLst>
              <a:ext uri="{FF2B5EF4-FFF2-40B4-BE49-F238E27FC236}">
                <a16:creationId xmlns:a16="http://schemas.microsoft.com/office/drawing/2014/main" id="{AE0AF4CF-4F18-C887-828B-68FA74F20C30}"/>
              </a:ext>
            </a:extLst>
          </p:cNvPr>
          <p:cNvSpPr>
            <a:spLocks noGrp="1"/>
          </p:cNvSpPr>
          <p:nvPr>
            <p:ph type="sldNum" sz="quarter" idx="5"/>
          </p:nvPr>
        </p:nvSpPr>
        <p:spPr/>
        <p:txBody>
          <a:bodyPr/>
          <a:lstStyle/>
          <a:p>
            <a:fld id="{1560C251-82B7-4253-A774-38D73C276BCE}" type="slidenum">
              <a:rPr lang="en-US" smtClean="0"/>
              <a:t>13</a:t>
            </a:fld>
            <a:endParaRPr lang="en-US" dirty="0"/>
          </a:p>
        </p:txBody>
      </p:sp>
    </p:spTree>
    <p:extLst>
      <p:ext uri="{BB962C8B-B14F-4D97-AF65-F5344CB8AC3E}">
        <p14:creationId xmlns:p14="http://schemas.microsoft.com/office/powerpoint/2010/main" val="30380819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a:r>
            <a:r>
              <a:rPr lang="en-US" dirty="0" err="1"/>
              <a:t>disctibution</a:t>
            </a:r>
            <a:endParaRPr lang="en-US" dirty="0"/>
          </a:p>
          <a:p>
            <a:r>
              <a:rPr lang="en-US" dirty="0"/>
              <a:t>Available in syllabus</a:t>
            </a:r>
          </a:p>
        </p:txBody>
      </p:sp>
      <p:sp>
        <p:nvSpPr>
          <p:cNvPr id="4" name="Slide Number Placeholder 3"/>
          <p:cNvSpPr>
            <a:spLocks noGrp="1"/>
          </p:cNvSpPr>
          <p:nvPr>
            <p:ph type="sldNum" sz="quarter" idx="5"/>
          </p:nvPr>
        </p:nvSpPr>
        <p:spPr/>
        <p:txBody>
          <a:bodyPr/>
          <a:lstStyle/>
          <a:p>
            <a:fld id="{1560C251-82B7-4253-A774-38D73C276BCE}" type="slidenum">
              <a:rPr lang="en-US" smtClean="0"/>
              <a:t>14</a:t>
            </a:fld>
            <a:endParaRPr lang="en-US" dirty="0"/>
          </a:p>
        </p:txBody>
      </p:sp>
    </p:spTree>
    <p:extLst>
      <p:ext uri="{BB962C8B-B14F-4D97-AF65-F5344CB8AC3E}">
        <p14:creationId xmlns:p14="http://schemas.microsoft.com/office/powerpoint/2010/main" val="28706965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Groups: If there are issues, please speak to me asap</a:t>
            </a:r>
          </a:p>
          <a:p>
            <a:endParaRPr lang="en-US" dirty="0"/>
          </a:p>
        </p:txBody>
      </p:sp>
      <p:sp>
        <p:nvSpPr>
          <p:cNvPr id="4" name="Slide Number Placeholder 3"/>
          <p:cNvSpPr>
            <a:spLocks noGrp="1"/>
          </p:cNvSpPr>
          <p:nvPr>
            <p:ph type="sldNum" sz="quarter" idx="5"/>
          </p:nvPr>
        </p:nvSpPr>
        <p:spPr/>
        <p:txBody>
          <a:bodyPr/>
          <a:lstStyle/>
          <a:p>
            <a:fld id="{1560C251-82B7-4253-A774-38D73C276BCE}" type="slidenum">
              <a:rPr lang="en-US" smtClean="0"/>
              <a:t>15</a:t>
            </a:fld>
            <a:endParaRPr lang="en-US" dirty="0"/>
          </a:p>
        </p:txBody>
      </p:sp>
    </p:spTree>
    <p:extLst>
      <p:ext uri="{BB962C8B-B14F-4D97-AF65-F5344CB8AC3E}">
        <p14:creationId xmlns:p14="http://schemas.microsoft.com/office/powerpoint/2010/main" val="6349668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not get a sense of your understanding until the exams. Hence it is critical for you to reach out if you need help. If the slides look wrong or need clarification on anything, PLEASE email me or let me know in class. This is the only way I can help you</a:t>
            </a:r>
          </a:p>
        </p:txBody>
      </p:sp>
      <p:sp>
        <p:nvSpPr>
          <p:cNvPr id="4" name="Slide Number Placeholder 3"/>
          <p:cNvSpPr>
            <a:spLocks noGrp="1"/>
          </p:cNvSpPr>
          <p:nvPr>
            <p:ph type="sldNum" sz="quarter" idx="5"/>
          </p:nvPr>
        </p:nvSpPr>
        <p:spPr/>
        <p:txBody>
          <a:bodyPr/>
          <a:lstStyle/>
          <a:p>
            <a:fld id="{1560C251-82B7-4253-A774-38D73C276BCE}" type="slidenum">
              <a:rPr lang="en-US" smtClean="0"/>
              <a:t>16</a:t>
            </a:fld>
            <a:endParaRPr lang="en-US" dirty="0"/>
          </a:p>
        </p:txBody>
      </p:sp>
    </p:spTree>
    <p:extLst>
      <p:ext uri="{BB962C8B-B14F-4D97-AF65-F5344CB8AC3E}">
        <p14:creationId xmlns:p14="http://schemas.microsoft.com/office/powerpoint/2010/main" val="9837927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EEECDD"/>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78C46-97B5-06A6-FCEF-1A1F72D6F7BD}"/>
              </a:ext>
            </a:extLst>
          </p:cNvPr>
          <p:cNvSpPr>
            <a:spLocks noGrp="1"/>
          </p:cNvSpPr>
          <p:nvPr>
            <p:ph type="ctrTitle"/>
          </p:nvPr>
        </p:nvSpPr>
        <p:spPr>
          <a:xfrm>
            <a:off x="838200" y="1122363"/>
            <a:ext cx="10515600" cy="2387600"/>
          </a:xfrm>
        </p:spPr>
        <p:txBody>
          <a:bodyPr anchor="b"/>
          <a:lstStyle>
            <a:lvl1pPr algn="l">
              <a:defRPr sz="6000"/>
            </a:lvl1pPr>
          </a:lstStyle>
          <a:p>
            <a:r>
              <a:rPr lang="en-GB" dirty="0"/>
              <a:t>Click to edit Master title style</a:t>
            </a:r>
            <a:endParaRPr lang="en-US" dirty="0"/>
          </a:p>
        </p:txBody>
      </p:sp>
      <p:sp>
        <p:nvSpPr>
          <p:cNvPr id="3" name="Subtitle 2">
            <a:extLst>
              <a:ext uri="{FF2B5EF4-FFF2-40B4-BE49-F238E27FC236}">
                <a16:creationId xmlns:a16="http://schemas.microsoft.com/office/drawing/2014/main" id="{DED3A6AC-3ACF-3E00-27EA-CDC21E0D0CE2}"/>
              </a:ext>
            </a:extLst>
          </p:cNvPr>
          <p:cNvSpPr>
            <a:spLocks noGrp="1"/>
          </p:cNvSpPr>
          <p:nvPr>
            <p:ph type="subTitle" idx="1"/>
          </p:nvPr>
        </p:nvSpPr>
        <p:spPr>
          <a:xfrm>
            <a:off x="838199" y="3602038"/>
            <a:ext cx="10515599" cy="1655762"/>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sp>
        <p:nvSpPr>
          <p:cNvPr id="4" name="Date Placeholder 3">
            <a:extLst>
              <a:ext uri="{FF2B5EF4-FFF2-40B4-BE49-F238E27FC236}">
                <a16:creationId xmlns:a16="http://schemas.microsoft.com/office/drawing/2014/main" id="{E82D74E7-FB50-6453-FBC4-4FF2059E7DD6}"/>
              </a:ext>
            </a:extLst>
          </p:cNvPr>
          <p:cNvSpPr>
            <a:spLocks noGrp="1"/>
          </p:cNvSpPr>
          <p:nvPr>
            <p:ph type="dt" sz="half" idx="10"/>
          </p:nvPr>
        </p:nvSpPr>
        <p:spPr/>
        <p:txBody>
          <a:bodyPr/>
          <a:lstStyle/>
          <a:p>
            <a:fld id="{1BF61C71-767E-B84C-BFB3-7B18856D27F4}" type="datetimeFigureOut">
              <a:rPr lang="en-US" smtClean="0"/>
              <a:t>8/25/2026</a:t>
            </a:fld>
            <a:endParaRPr lang="en-US"/>
          </a:p>
        </p:txBody>
      </p:sp>
      <p:sp>
        <p:nvSpPr>
          <p:cNvPr id="5" name="Footer Placeholder 4">
            <a:extLst>
              <a:ext uri="{FF2B5EF4-FFF2-40B4-BE49-F238E27FC236}">
                <a16:creationId xmlns:a16="http://schemas.microsoft.com/office/drawing/2014/main" id="{D3DEC381-9EAC-65CA-E2D4-E9753C63FC8E}"/>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08E85E49-459E-7153-8DCA-00BFA12DD9A8}"/>
              </a:ext>
            </a:extLst>
          </p:cNvPr>
          <p:cNvSpPr>
            <a:spLocks noGrp="1"/>
          </p:cNvSpPr>
          <p:nvPr>
            <p:ph type="sldNum" sz="quarter" idx="12"/>
          </p:nvPr>
        </p:nvSpPr>
        <p:spPr/>
        <p:txBody>
          <a:bodyPr/>
          <a:lstStyle/>
          <a:p>
            <a:fld id="{BBCCEFD2-39D4-B845-AAFB-DDCB27801685}" type="slidenum">
              <a:rPr lang="en-US" smtClean="0"/>
              <a:t>‹#›</a:t>
            </a:fld>
            <a:endParaRPr lang="en-US"/>
          </a:p>
        </p:txBody>
      </p:sp>
    </p:spTree>
    <p:extLst>
      <p:ext uri="{BB962C8B-B14F-4D97-AF65-F5344CB8AC3E}">
        <p14:creationId xmlns:p14="http://schemas.microsoft.com/office/powerpoint/2010/main" val="25335308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44AAB-14A7-7BCA-3837-4F570792F39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933DB745-E89B-BA25-707B-D3F4B483C33B}"/>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1A29DF3-7131-344B-BE29-3470A6E4AD53}"/>
              </a:ext>
            </a:extLst>
          </p:cNvPr>
          <p:cNvSpPr>
            <a:spLocks noGrp="1"/>
          </p:cNvSpPr>
          <p:nvPr>
            <p:ph type="dt" sz="half" idx="10"/>
          </p:nvPr>
        </p:nvSpPr>
        <p:spPr/>
        <p:txBody>
          <a:bodyPr/>
          <a:lstStyle/>
          <a:p>
            <a:fld id="{1BF61C71-767E-B84C-BFB3-7B18856D27F4}" type="datetimeFigureOut">
              <a:rPr lang="en-US" smtClean="0"/>
              <a:t>8/25/2026</a:t>
            </a:fld>
            <a:endParaRPr lang="en-US"/>
          </a:p>
        </p:txBody>
      </p:sp>
      <p:sp>
        <p:nvSpPr>
          <p:cNvPr id="5" name="Footer Placeholder 4">
            <a:extLst>
              <a:ext uri="{FF2B5EF4-FFF2-40B4-BE49-F238E27FC236}">
                <a16:creationId xmlns:a16="http://schemas.microsoft.com/office/drawing/2014/main" id="{2E19C8A0-82E3-D43A-B433-03BD0E8A131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49EC3461-EED3-DA55-3A67-403D2D4F6038}"/>
              </a:ext>
            </a:extLst>
          </p:cNvPr>
          <p:cNvSpPr>
            <a:spLocks noGrp="1"/>
          </p:cNvSpPr>
          <p:nvPr>
            <p:ph type="sldNum" sz="quarter" idx="12"/>
          </p:nvPr>
        </p:nvSpPr>
        <p:spPr/>
        <p:txBody>
          <a:bodyPr/>
          <a:lstStyle/>
          <a:p>
            <a:fld id="{BBCCEFD2-39D4-B845-AAFB-DDCB27801685}" type="slidenum">
              <a:rPr lang="en-US" smtClean="0"/>
              <a:t>‹#›</a:t>
            </a:fld>
            <a:endParaRPr lang="en-US"/>
          </a:p>
        </p:txBody>
      </p:sp>
    </p:spTree>
    <p:extLst>
      <p:ext uri="{BB962C8B-B14F-4D97-AF65-F5344CB8AC3E}">
        <p14:creationId xmlns:p14="http://schemas.microsoft.com/office/powerpoint/2010/main" val="15908945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9DEF06-5D11-579D-7B22-EDF525B072C0}"/>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6C3F87EE-121E-981D-94B0-7DD81A76080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EA509C7F-68AA-F83B-0CC2-643C7451C3BF}"/>
              </a:ext>
            </a:extLst>
          </p:cNvPr>
          <p:cNvSpPr>
            <a:spLocks noGrp="1"/>
          </p:cNvSpPr>
          <p:nvPr>
            <p:ph type="dt" sz="half" idx="10"/>
          </p:nvPr>
        </p:nvSpPr>
        <p:spPr/>
        <p:txBody>
          <a:bodyPr/>
          <a:lstStyle/>
          <a:p>
            <a:fld id="{1BF61C71-767E-B84C-BFB3-7B18856D27F4}" type="datetimeFigureOut">
              <a:rPr lang="en-US" smtClean="0"/>
              <a:t>8/25/2026</a:t>
            </a:fld>
            <a:endParaRPr lang="en-US"/>
          </a:p>
        </p:txBody>
      </p:sp>
      <p:sp>
        <p:nvSpPr>
          <p:cNvPr id="5" name="Footer Placeholder 4">
            <a:extLst>
              <a:ext uri="{FF2B5EF4-FFF2-40B4-BE49-F238E27FC236}">
                <a16:creationId xmlns:a16="http://schemas.microsoft.com/office/drawing/2014/main" id="{5ABFDF23-F262-A143-3D94-2E03C5E8059D}"/>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A01BCC86-AF79-D336-B20B-1E34423D79D2}"/>
              </a:ext>
            </a:extLst>
          </p:cNvPr>
          <p:cNvSpPr>
            <a:spLocks noGrp="1"/>
          </p:cNvSpPr>
          <p:nvPr>
            <p:ph type="sldNum" sz="quarter" idx="12"/>
          </p:nvPr>
        </p:nvSpPr>
        <p:spPr/>
        <p:txBody>
          <a:bodyPr/>
          <a:lstStyle/>
          <a:p>
            <a:fld id="{BBCCEFD2-39D4-B845-AAFB-DDCB27801685}" type="slidenum">
              <a:rPr lang="en-US" smtClean="0"/>
              <a:t>‹#›</a:t>
            </a:fld>
            <a:endParaRPr lang="en-US"/>
          </a:p>
        </p:txBody>
      </p:sp>
    </p:spTree>
    <p:extLst>
      <p:ext uri="{BB962C8B-B14F-4D97-AF65-F5344CB8AC3E}">
        <p14:creationId xmlns:p14="http://schemas.microsoft.com/office/powerpoint/2010/main" val="6466718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FE23E6-4994-ADDB-53EF-33DAC6204821}"/>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5511385E-3FBA-00D8-820B-01457DE095D5}"/>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5C400107-976D-189B-D5B8-F3309A029F37}"/>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C8421288-007A-64D1-177C-EC493AB351E6}"/>
              </a:ext>
            </a:extLst>
          </p:cNvPr>
          <p:cNvSpPr>
            <a:spLocks noGrp="1"/>
          </p:cNvSpPr>
          <p:nvPr>
            <p:ph type="dt" sz="half" idx="10"/>
          </p:nvPr>
        </p:nvSpPr>
        <p:spPr/>
        <p:txBody>
          <a:bodyPr/>
          <a:lstStyle/>
          <a:p>
            <a:fld id="{1BF61C71-767E-B84C-BFB3-7B18856D27F4}" type="datetimeFigureOut">
              <a:rPr lang="en-US" smtClean="0"/>
              <a:t>8/25/2026</a:t>
            </a:fld>
            <a:endParaRPr lang="en-US"/>
          </a:p>
        </p:txBody>
      </p:sp>
      <p:sp>
        <p:nvSpPr>
          <p:cNvPr id="6" name="Footer Placeholder 5">
            <a:extLst>
              <a:ext uri="{FF2B5EF4-FFF2-40B4-BE49-F238E27FC236}">
                <a16:creationId xmlns:a16="http://schemas.microsoft.com/office/drawing/2014/main" id="{D18BDC7E-1ED0-A64E-B741-2BD6DCC161E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97110B18-79B2-CA9A-54E7-8E270EA6CAF9}"/>
              </a:ext>
            </a:extLst>
          </p:cNvPr>
          <p:cNvSpPr>
            <a:spLocks noGrp="1"/>
          </p:cNvSpPr>
          <p:nvPr>
            <p:ph type="sldNum" sz="quarter" idx="12"/>
          </p:nvPr>
        </p:nvSpPr>
        <p:spPr/>
        <p:txBody>
          <a:bodyPr/>
          <a:lstStyle/>
          <a:p>
            <a:fld id="{BBCCEFD2-39D4-B845-AAFB-DDCB27801685}" type="slidenum">
              <a:rPr lang="en-US" smtClean="0"/>
              <a:t>‹#›</a:t>
            </a:fld>
            <a:endParaRPr lang="en-US"/>
          </a:p>
        </p:txBody>
      </p:sp>
    </p:spTree>
    <p:extLst>
      <p:ext uri="{BB962C8B-B14F-4D97-AF65-F5344CB8AC3E}">
        <p14:creationId xmlns:p14="http://schemas.microsoft.com/office/powerpoint/2010/main" val="11561133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DBA0C-D408-C89D-A5A4-EE49BFEFE6E9}"/>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5C15059-44C0-5CAB-DD62-331CAEACC2C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2E8210DA-60F4-E204-139F-488557C3AC4F}"/>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99C6D382-4432-4F54-9B2C-18EA1D35025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D00DFF74-3B74-1F87-68E5-7C634623838A}"/>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963D8442-0A79-241F-AD71-72BAE08747AF}"/>
              </a:ext>
            </a:extLst>
          </p:cNvPr>
          <p:cNvSpPr>
            <a:spLocks noGrp="1"/>
          </p:cNvSpPr>
          <p:nvPr>
            <p:ph type="dt" sz="half" idx="10"/>
          </p:nvPr>
        </p:nvSpPr>
        <p:spPr/>
        <p:txBody>
          <a:bodyPr/>
          <a:lstStyle/>
          <a:p>
            <a:fld id="{1BF61C71-767E-B84C-BFB3-7B18856D27F4}" type="datetimeFigureOut">
              <a:rPr lang="en-US" smtClean="0"/>
              <a:t>8/25/2026</a:t>
            </a:fld>
            <a:endParaRPr lang="en-US"/>
          </a:p>
        </p:txBody>
      </p:sp>
      <p:sp>
        <p:nvSpPr>
          <p:cNvPr id="8" name="Footer Placeholder 7">
            <a:extLst>
              <a:ext uri="{FF2B5EF4-FFF2-40B4-BE49-F238E27FC236}">
                <a16:creationId xmlns:a16="http://schemas.microsoft.com/office/drawing/2014/main" id="{81BD044B-09B6-F478-2B54-1F15413514F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E5518B98-54E9-0248-CDC2-25F053D11E93}"/>
              </a:ext>
            </a:extLst>
          </p:cNvPr>
          <p:cNvSpPr>
            <a:spLocks noGrp="1"/>
          </p:cNvSpPr>
          <p:nvPr>
            <p:ph type="sldNum" sz="quarter" idx="12"/>
          </p:nvPr>
        </p:nvSpPr>
        <p:spPr/>
        <p:txBody>
          <a:bodyPr/>
          <a:lstStyle/>
          <a:p>
            <a:fld id="{BBCCEFD2-39D4-B845-AAFB-DDCB27801685}" type="slidenum">
              <a:rPr lang="en-US" smtClean="0"/>
              <a:t>‹#›</a:t>
            </a:fld>
            <a:endParaRPr lang="en-US"/>
          </a:p>
        </p:txBody>
      </p:sp>
    </p:spTree>
    <p:extLst>
      <p:ext uri="{BB962C8B-B14F-4D97-AF65-F5344CB8AC3E}">
        <p14:creationId xmlns:p14="http://schemas.microsoft.com/office/powerpoint/2010/main" val="4772984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98611-FF70-0739-AB12-3A0D4D68852C}"/>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1D6340F8-BFC2-15DC-7097-138E7417B933}"/>
              </a:ext>
            </a:extLst>
          </p:cNvPr>
          <p:cNvSpPr>
            <a:spLocks noGrp="1"/>
          </p:cNvSpPr>
          <p:nvPr>
            <p:ph type="dt" sz="half" idx="10"/>
          </p:nvPr>
        </p:nvSpPr>
        <p:spPr/>
        <p:txBody>
          <a:bodyPr/>
          <a:lstStyle/>
          <a:p>
            <a:fld id="{1BF61C71-767E-B84C-BFB3-7B18856D27F4}" type="datetimeFigureOut">
              <a:rPr lang="en-US" smtClean="0"/>
              <a:t>8/25/2026</a:t>
            </a:fld>
            <a:endParaRPr lang="en-US"/>
          </a:p>
        </p:txBody>
      </p:sp>
      <p:sp>
        <p:nvSpPr>
          <p:cNvPr id="4" name="Footer Placeholder 3">
            <a:extLst>
              <a:ext uri="{FF2B5EF4-FFF2-40B4-BE49-F238E27FC236}">
                <a16:creationId xmlns:a16="http://schemas.microsoft.com/office/drawing/2014/main" id="{0987FFF2-E8C5-FBDB-D95A-12987FF75CB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4B02AAC0-7C6B-411F-8B27-54187B087820}"/>
              </a:ext>
            </a:extLst>
          </p:cNvPr>
          <p:cNvSpPr>
            <a:spLocks noGrp="1"/>
          </p:cNvSpPr>
          <p:nvPr>
            <p:ph type="sldNum" sz="quarter" idx="12"/>
          </p:nvPr>
        </p:nvSpPr>
        <p:spPr/>
        <p:txBody>
          <a:bodyPr/>
          <a:lstStyle/>
          <a:p>
            <a:fld id="{BBCCEFD2-39D4-B845-AAFB-DDCB27801685}" type="slidenum">
              <a:rPr lang="en-US" smtClean="0"/>
              <a:t>‹#›</a:t>
            </a:fld>
            <a:endParaRPr lang="en-US"/>
          </a:p>
        </p:txBody>
      </p:sp>
    </p:spTree>
    <p:extLst>
      <p:ext uri="{BB962C8B-B14F-4D97-AF65-F5344CB8AC3E}">
        <p14:creationId xmlns:p14="http://schemas.microsoft.com/office/powerpoint/2010/main" val="17188407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3C24E59-43B1-B0E4-7BB5-449B4E620269}"/>
              </a:ext>
            </a:extLst>
          </p:cNvPr>
          <p:cNvSpPr>
            <a:spLocks noGrp="1"/>
          </p:cNvSpPr>
          <p:nvPr>
            <p:ph type="dt" sz="half" idx="10"/>
          </p:nvPr>
        </p:nvSpPr>
        <p:spPr/>
        <p:txBody>
          <a:bodyPr/>
          <a:lstStyle/>
          <a:p>
            <a:fld id="{1BF61C71-767E-B84C-BFB3-7B18856D27F4}" type="datetimeFigureOut">
              <a:rPr lang="en-US" smtClean="0"/>
              <a:t>8/25/2026</a:t>
            </a:fld>
            <a:endParaRPr lang="en-US"/>
          </a:p>
        </p:txBody>
      </p:sp>
      <p:sp>
        <p:nvSpPr>
          <p:cNvPr id="3" name="Footer Placeholder 2">
            <a:extLst>
              <a:ext uri="{FF2B5EF4-FFF2-40B4-BE49-F238E27FC236}">
                <a16:creationId xmlns:a16="http://schemas.microsoft.com/office/drawing/2014/main" id="{209DB2FC-A612-3F77-71B9-89F90F23EC7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BE7EA5C7-5EFB-A99C-8686-6EB2C8FCFA5F}"/>
              </a:ext>
            </a:extLst>
          </p:cNvPr>
          <p:cNvSpPr>
            <a:spLocks noGrp="1"/>
          </p:cNvSpPr>
          <p:nvPr>
            <p:ph type="sldNum" sz="quarter" idx="12"/>
          </p:nvPr>
        </p:nvSpPr>
        <p:spPr/>
        <p:txBody>
          <a:bodyPr/>
          <a:lstStyle/>
          <a:p>
            <a:fld id="{BBCCEFD2-39D4-B845-AAFB-DDCB27801685}" type="slidenum">
              <a:rPr lang="en-US" smtClean="0"/>
              <a:t>‹#›</a:t>
            </a:fld>
            <a:endParaRPr lang="en-US"/>
          </a:p>
        </p:txBody>
      </p:sp>
    </p:spTree>
    <p:extLst>
      <p:ext uri="{BB962C8B-B14F-4D97-AF65-F5344CB8AC3E}">
        <p14:creationId xmlns:p14="http://schemas.microsoft.com/office/powerpoint/2010/main" val="27151730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96815E-33A2-36BD-141A-20E6987BFB9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E64EB718-3207-923E-BB2A-3A6A8B97CF8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B6D8BF2C-0530-D542-CEA1-66680DF2CF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91246F5-476E-F02E-8D52-52095AD76408}"/>
              </a:ext>
            </a:extLst>
          </p:cNvPr>
          <p:cNvSpPr>
            <a:spLocks noGrp="1"/>
          </p:cNvSpPr>
          <p:nvPr>
            <p:ph type="dt" sz="half" idx="10"/>
          </p:nvPr>
        </p:nvSpPr>
        <p:spPr/>
        <p:txBody>
          <a:bodyPr/>
          <a:lstStyle/>
          <a:p>
            <a:fld id="{1BF61C71-767E-B84C-BFB3-7B18856D27F4}" type="datetimeFigureOut">
              <a:rPr lang="en-US" smtClean="0"/>
              <a:t>8/25/2026</a:t>
            </a:fld>
            <a:endParaRPr lang="en-US"/>
          </a:p>
        </p:txBody>
      </p:sp>
      <p:sp>
        <p:nvSpPr>
          <p:cNvPr id="6" name="Footer Placeholder 5">
            <a:extLst>
              <a:ext uri="{FF2B5EF4-FFF2-40B4-BE49-F238E27FC236}">
                <a16:creationId xmlns:a16="http://schemas.microsoft.com/office/drawing/2014/main" id="{4ACCBF9F-FEBA-A17C-67EF-779BF698253E}"/>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C33091D5-A6B8-C1A9-58A4-732980B56A18}"/>
              </a:ext>
            </a:extLst>
          </p:cNvPr>
          <p:cNvSpPr>
            <a:spLocks noGrp="1"/>
          </p:cNvSpPr>
          <p:nvPr>
            <p:ph type="sldNum" sz="quarter" idx="12"/>
          </p:nvPr>
        </p:nvSpPr>
        <p:spPr/>
        <p:txBody>
          <a:bodyPr/>
          <a:lstStyle/>
          <a:p>
            <a:fld id="{BBCCEFD2-39D4-B845-AAFB-DDCB27801685}" type="slidenum">
              <a:rPr lang="en-US" smtClean="0"/>
              <a:t>‹#›</a:t>
            </a:fld>
            <a:endParaRPr lang="en-US"/>
          </a:p>
        </p:txBody>
      </p:sp>
    </p:spTree>
    <p:extLst>
      <p:ext uri="{BB962C8B-B14F-4D97-AF65-F5344CB8AC3E}">
        <p14:creationId xmlns:p14="http://schemas.microsoft.com/office/powerpoint/2010/main" val="26873461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BF53C8-34AC-4EC3-9EF2-7646130C5F5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CD95296B-D06F-EC13-3B4B-D0804D56AD1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AC15AD4-D0C4-4B3F-01A9-C4EB16F15D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B85DC77-4EA3-68F2-C1B1-3B61F9D48ACD}"/>
              </a:ext>
            </a:extLst>
          </p:cNvPr>
          <p:cNvSpPr>
            <a:spLocks noGrp="1"/>
          </p:cNvSpPr>
          <p:nvPr>
            <p:ph type="dt" sz="half" idx="10"/>
          </p:nvPr>
        </p:nvSpPr>
        <p:spPr/>
        <p:txBody>
          <a:bodyPr/>
          <a:lstStyle/>
          <a:p>
            <a:fld id="{1BF61C71-767E-B84C-BFB3-7B18856D27F4}" type="datetimeFigureOut">
              <a:rPr lang="en-US" smtClean="0"/>
              <a:t>8/25/2026</a:t>
            </a:fld>
            <a:endParaRPr lang="en-US"/>
          </a:p>
        </p:txBody>
      </p:sp>
      <p:sp>
        <p:nvSpPr>
          <p:cNvPr id="6" name="Footer Placeholder 5">
            <a:extLst>
              <a:ext uri="{FF2B5EF4-FFF2-40B4-BE49-F238E27FC236}">
                <a16:creationId xmlns:a16="http://schemas.microsoft.com/office/drawing/2014/main" id="{5028E95B-5416-3489-B8F3-9294F9EAD56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E7231B0D-A406-6B24-1768-98B5238CCD11}"/>
              </a:ext>
            </a:extLst>
          </p:cNvPr>
          <p:cNvSpPr>
            <a:spLocks noGrp="1"/>
          </p:cNvSpPr>
          <p:nvPr>
            <p:ph type="sldNum" sz="quarter" idx="12"/>
          </p:nvPr>
        </p:nvSpPr>
        <p:spPr/>
        <p:txBody>
          <a:bodyPr/>
          <a:lstStyle/>
          <a:p>
            <a:fld id="{BBCCEFD2-39D4-B845-AAFB-DDCB27801685}" type="slidenum">
              <a:rPr lang="en-US" smtClean="0"/>
              <a:t>‹#›</a:t>
            </a:fld>
            <a:endParaRPr lang="en-US"/>
          </a:p>
        </p:txBody>
      </p:sp>
    </p:spTree>
    <p:extLst>
      <p:ext uri="{BB962C8B-B14F-4D97-AF65-F5344CB8AC3E}">
        <p14:creationId xmlns:p14="http://schemas.microsoft.com/office/powerpoint/2010/main" val="17744629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7492E-5097-4D4A-B212-B9541B6D396F}"/>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7D2B2462-C37E-9A16-D9B2-03FE3550DC70}"/>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765E3E0-2253-2E4B-C45D-9DD87541ECCF}"/>
              </a:ext>
            </a:extLst>
          </p:cNvPr>
          <p:cNvSpPr>
            <a:spLocks noGrp="1"/>
          </p:cNvSpPr>
          <p:nvPr>
            <p:ph type="dt" sz="half" idx="10"/>
          </p:nvPr>
        </p:nvSpPr>
        <p:spPr/>
        <p:txBody>
          <a:bodyPr/>
          <a:lstStyle/>
          <a:p>
            <a:fld id="{1BF61C71-767E-B84C-BFB3-7B18856D27F4}" type="datetimeFigureOut">
              <a:rPr lang="en-US" smtClean="0"/>
              <a:t>8/25/2026</a:t>
            </a:fld>
            <a:endParaRPr lang="en-US"/>
          </a:p>
        </p:txBody>
      </p:sp>
      <p:sp>
        <p:nvSpPr>
          <p:cNvPr id="5" name="Footer Placeholder 4">
            <a:extLst>
              <a:ext uri="{FF2B5EF4-FFF2-40B4-BE49-F238E27FC236}">
                <a16:creationId xmlns:a16="http://schemas.microsoft.com/office/drawing/2014/main" id="{A3E8D6ED-F324-5EA4-EBC1-32D8A8A8046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78926162-D880-6B17-AFBB-2555E585E2D8}"/>
              </a:ext>
            </a:extLst>
          </p:cNvPr>
          <p:cNvSpPr>
            <a:spLocks noGrp="1"/>
          </p:cNvSpPr>
          <p:nvPr>
            <p:ph type="sldNum" sz="quarter" idx="12"/>
          </p:nvPr>
        </p:nvSpPr>
        <p:spPr/>
        <p:txBody>
          <a:bodyPr/>
          <a:lstStyle/>
          <a:p>
            <a:fld id="{BBCCEFD2-39D4-B845-AAFB-DDCB27801685}" type="slidenum">
              <a:rPr lang="en-US" smtClean="0"/>
              <a:t>‹#›</a:t>
            </a:fld>
            <a:endParaRPr lang="en-US"/>
          </a:p>
        </p:txBody>
      </p:sp>
    </p:spTree>
    <p:extLst>
      <p:ext uri="{BB962C8B-B14F-4D97-AF65-F5344CB8AC3E}">
        <p14:creationId xmlns:p14="http://schemas.microsoft.com/office/powerpoint/2010/main" val="23558128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27EF97A-4C14-3B96-B570-63221FE42632}"/>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061FCF3E-3E21-12E5-F093-CD2EBC62CD81}"/>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6EEB50E-0940-C414-1C80-43A1C4CBF31A}"/>
              </a:ext>
            </a:extLst>
          </p:cNvPr>
          <p:cNvSpPr>
            <a:spLocks noGrp="1"/>
          </p:cNvSpPr>
          <p:nvPr>
            <p:ph type="dt" sz="half" idx="10"/>
          </p:nvPr>
        </p:nvSpPr>
        <p:spPr/>
        <p:txBody>
          <a:bodyPr/>
          <a:lstStyle/>
          <a:p>
            <a:fld id="{1BF61C71-767E-B84C-BFB3-7B18856D27F4}" type="datetimeFigureOut">
              <a:rPr lang="en-US" smtClean="0"/>
              <a:t>8/25/2026</a:t>
            </a:fld>
            <a:endParaRPr lang="en-US"/>
          </a:p>
        </p:txBody>
      </p:sp>
      <p:sp>
        <p:nvSpPr>
          <p:cNvPr id="5" name="Footer Placeholder 4">
            <a:extLst>
              <a:ext uri="{FF2B5EF4-FFF2-40B4-BE49-F238E27FC236}">
                <a16:creationId xmlns:a16="http://schemas.microsoft.com/office/drawing/2014/main" id="{01434562-A92B-8D3C-4A79-2489A997521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1247ADD3-AF08-2898-D3BF-4768616B38DE}"/>
              </a:ext>
            </a:extLst>
          </p:cNvPr>
          <p:cNvSpPr>
            <a:spLocks noGrp="1"/>
          </p:cNvSpPr>
          <p:nvPr>
            <p:ph type="sldNum" sz="quarter" idx="12"/>
          </p:nvPr>
        </p:nvSpPr>
        <p:spPr/>
        <p:txBody>
          <a:bodyPr/>
          <a:lstStyle/>
          <a:p>
            <a:fld id="{BBCCEFD2-39D4-B845-AAFB-DDCB27801685}" type="slidenum">
              <a:rPr lang="en-US" smtClean="0"/>
              <a:t>‹#›</a:t>
            </a:fld>
            <a:endParaRPr lang="en-US"/>
          </a:p>
        </p:txBody>
      </p:sp>
    </p:spTree>
    <p:extLst>
      <p:ext uri="{BB962C8B-B14F-4D97-AF65-F5344CB8AC3E}">
        <p14:creationId xmlns:p14="http://schemas.microsoft.com/office/powerpoint/2010/main" val="28915101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EECDD"/>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5C7E355-A6C3-ABB7-5FB3-07B7718D6981}"/>
              </a:ext>
            </a:extLst>
          </p:cNvPr>
          <p:cNvSpPr>
            <a:spLocks noGrp="1"/>
          </p:cNvSpPr>
          <p:nvPr>
            <p:ph type="title"/>
          </p:nvPr>
        </p:nvSpPr>
        <p:spPr>
          <a:xfrm>
            <a:off x="838200" y="365126"/>
            <a:ext cx="10515600" cy="912690"/>
          </a:xfrm>
          <a:prstGeom prst="rect">
            <a:avLst/>
          </a:prstGeom>
        </p:spPr>
        <p:txBody>
          <a:bodyPr vert="horz" lIns="91440" tIns="45720" rIns="91440" bIns="45720" rtlCol="0" anchor="ctr">
            <a:normAutofit/>
          </a:bodyPr>
          <a:lstStyle/>
          <a:p>
            <a:r>
              <a:rPr lang="en-GB" dirty="0"/>
              <a:t>Click to edit Master title style</a:t>
            </a:r>
            <a:endParaRPr lang="en-US" dirty="0"/>
          </a:p>
        </p:txBody>
      </p:sp>
      <p:sp>
        <p:nvSpPr>
          <p:cNvPr id="3" name="Text Placeholder 2">
            <a:extLst>
              <a:ext uri="{FF2B5EF4-FFF2-40B4-BE49-F238E27FC236}">
                <a16:creationId xmlns:a16="http://schemas.microsoft.com/office/drawing/2014/main" id="{73BE3536-C253-FE9A-75A8-6625508B8089}"/>
              </a:ext>
            </a:extLst>
          </p:cNvPr>
          <p:cNvSpPr>
            <a:spLocks noGrp="1"/>
          </p:cNvSpPr>
          <p:nvPr>
            <p:ph type="body" idx="1"/>
          </p:nvPr>
        </p:nvSpPr>
        <p:spPr>
          <a:xfrm>
            <a:off x="838200" y="1441938"/>
            <a:ext cx="10515600" cy="4735025"/>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727838E-35A9-F96A-354A-AE0FF3F8534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BF61C71-767E-B84C-BFB3-7B18856D27F4}" type="datetimeFigureOut">
              <a:rPr lang="en-US" smtClean="0"/>
              <a:t>8/25/2026</a:t>
            </a:fld>
            <a:endParaRPr lang="en-US"/>
          </a:p>
        </p:txBody>
      </p:sp>
      <p:sp>
        <p:nvSpPr>
          <p:cNvPr id="6" name="Slide Number Placeholder 5">
            <a:extLst>
              <a:ext uri="{FF2B5EF4-FFF2-40B4-BE49-F238E27FC236}">
                <a16:creationId xmlns:a16="http://schemas.microsoft.com/office/drawing/2014/main" id="{8E6CBC5A-10F1-AA57-C7EC-9CDC8A53A5A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BCCEFD2-39D4-B845-AAFB-DDCB27801685}" type="slidenum">
              <a:rPr lang="en-US" smtClean="0"/>
              <a:t>‹#›</a:t>
            </a:fld>
            <a:endParaRPr lang="en-US"/>
          </a:p>
        </p:txBody>
      </p:sp>
      <p:sp>
        <p:nvSpPr>
          <p:cNvPr id="7" name="Footer Placeholder 6">
            <a:extLst>
              <a:ext uri="{FF2B5EF4-FFF2-40B4-BE49-F238E27FC236}">
                <a16:creationId xmlns:a16="http://schemas.microsoft.com/office/drawing/2014/main" id="{2EEC1130-6658-3CAB-3F94-0FA0AAB8447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Tree>
    <p:extLst>
      <p:ext uri="{BB962C8B-B14F-4D97-AF65-F5344CB8AC3E}">
        <p14:creationId xmlns:p14="http://schemas.microsoft.com/office/powerpoint/2010/main" val="41232072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3.jpg"/><Relationship Id="rId4" Type="http://schemas.openxmlformats.org/officeDocument/2006/relationships/image" Target="../media/image2.xx&amp;_nc_gid=9GuZj7hwfHTZlsui53KxfA&amp;_nc_ss=7b289&amp;oh=00_AQFyVFYTflJj_zqB6zurcn6HLGLQGE2CET90MU16H3N5MA&amp;oe=6A8D28F5"/></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mailto:saryu@ou.edu"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hyperlink" Target="mailto:adrc@ou.edu"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EECDD"/>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9270D-14C3-FED3-E83A-AD4E36EC7A85}"/>
              </a:ext>
            </a:extLst>
          </p:cNvPr>
          <p:cNvSpPr>
            <a:spLocks noGrp="1"/>
          </p:cNvSpPr>
          <p:nvPr>
            <p:ph type="ctrTitle"/>
          </p:nvPr>
        </p:nvSpPr>
        <p:spPr/>
        <p:txBody>
          <a:bodyPr>
            <a:normAutofit/>
          </a:bodyPr>
          <a:lstStyle/>
          <a:p>
            <a:r>
              <a:rPr lang="en-US" sz="4800" dirty="0"/>
              <a:t>Special Topics in Health and Exercise Science: Sports Performance Analytics</a:t>
            </a:r>
            <a:endParaRPr lang="en-GB" sz="4800" dirty="0"/>
          </a:p>
        </p:txBody>
      </p:sp>
      <p:sp>
        <p:nvSpPr>
          <p:cNvPr id="3" name="Subtitle 2">
            <a:extLst>
              <a:ext uri="{FF2B5EF4-FFF2-40B4-BE49-F238E27FC236}">
                <a16:creationId xmlns:a16="http://schemas.microsoft.com/office/drawing/2014/main" id="{FE03FB66-255C-9B0B-8F15-F85AACB34CEA}"/>
              </a:ext>
            </a:extLst>
          </p:cNvPr>
          <p:cNvSpPr>
            <a:spLocks noGrp="1"/>
          </p:cNvSpPr>
          <p:nvPr>
            <p:ph type="subTitle" idx="1"/>
          </p:nvPr>
        </p:nvSpPr>
        <p:spPr/>
        <p:txBody>
          <a:bodyPr/>
          <a:lstStyle/>
          <a:p>
            <a:r>
              <a:rPr lang="en-GB" dirty="0"/>
              <a:t>HES 3000-002</a:t>
            </a:r>
          </a:p>
          <a:p>
            <a:r>
              <a:rPr lang="en-GB" dirty="0"/>
              <a:t>Saryu Onishi</a:t>
            </a:r>
          </a:p>
        </p:txBody>
      </p:sp>
    </p:spTree>
    <p:extLst>
      <p:ext uri="{BB962C8B-B14F-4D97-AF65-F5344CB8AC3E}">
        <p14:creationId xmlns:p14="http://schemas.microsoft.com/office/powerpoint/2010/main" val="32942738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D8245-CA1F-C927-B33D-5C3CD3E521B9}"/>
              </a:ext>
            </a:extLst>
          </p:cNvPr>
          <p:cNvSpPr>
            <a:spLocks noGrp="1"/>
          </p:cNvSpPr>
          <p:nvPr>
            <p:ph type="title"/>
          </p:nvPr>
        </p:nvSpPr>
        <p:spPr/>
        <p:txBody>
          <a:bodyPr/>
          <a:lstStyle/>
          <a:p>
            <a:r>
              <a:rPr lang="en-US" dirty="0"/>
              <a:t>About me</a:t>
            </a:r>
          </a:p>
        </p:txBody>
      </p:sp>
      <p:sp>
        <p:nvSpPr>
          <p:cNvPr id="3" name="Content Placeholder 2">
            <a:extLst>
              <a:ext uri="{FF2B5EF4-FFF2-40B4-BE49-F238E27FC236}">
                <a16:creationId xmlns:a16="http://schemas.microsoft.com/office/drawing/2014/main" id="{2ACEF787-4746-2764-9D5B-D88B3D24D11F}"/>
              </a:ext>
            </a:extLst>
          </p:cNvPr>
          <p:cNvSpPr>
            <a:spLocks noGrp="1"/>
          </p:cNvSpPr>
          <p:nvPr>
            <p:ph idx="1"/>
          </p:nvPr>
        </p:nvSpPr>
        <p:spPr/>
        <p:txBody>
          <a:bodyPr>
            <a:normAutofit/>
          </a:bodyPr>
          <a:lstStyle/>
          <a:p>
            <a:r>
              <a:rPr lang="en-US" sz="2400" dirty="0"/>
              <a:t>Graduate Instructor</a:t>
            </a:r>
          </a:p>
          <a:p>
            <a:pPr lvl="1"/>
            <a:r>
              <a:rPr lang="en-US" sz="2000" dirty="0"/>
              <a:t>HES 3000-002: Sports Performance Analytics</a:t>
            </a:r>
          </a:p>
          <a:p>
            <a:pPr lvl="1"/>
            <a:r>
              <a:rPr lang="en-US" sz="2000" dirty="0"/>
              <a:t>HES 3883: Principals of Endurance Training</a:t>
            </a:r>
          </a:p>
          <a:p>
            <a:pPr lvl="1"/>
            <a:r>
              <a:rPr lang="en-US" sz="2000" dirty="0"/>
              <a:t>HES </a:t>
            </a:r>
            <a:r>
              <a:rPr lang="en-GB" sz="2000" dirty="0"/>
              <a:t>2131, </a:t>
            </a:r>
            <a:r>
              <a:rPr lang="en-US" sz="2000" dirty="0"/>
              <a:t>2913, </a:t>
            </a:r>
            <a:r>
              <a:rPr lang="en-GB" sz="2000" dirty="0"/>
              <a:t>2823</a:t>
            </a:r>
            <a:endParaRPr lang="en-US" sz="2000" dirty="0"/>
          </a:p>
          <a:p>
            <a:r>
              <a:rPr lang="en-US" sz="2400" dirty="0"/>
              <a:t>Background &amp; Research</a:t>
            </a:r>
          </a:p>
          <a:p>
            <a:pPr lvl="1"/>
            <a:r>
              <a:rPr lang="en-US" sz="2000" dirty="0"/>
              <a:t>Endurance sports and physiology</a:t>
            </a:r>
          </a:p>
          <a:p>
            <a:pPr lvl="1"/>
            <a:r>
              <a:rPr lang="en-US" sz="2000" dirty="0"/>
              <a:t>Performance Analytics</a:t>
            </a:r>
          </a:p>
          <a:p>
            <a:pPr lvl="1"/>
            <a:r>
              <a:rPr lang="en-US" sz="2000" dirty="0"/>
              <a:t>Athlete monitoring and training load management</a:t>
            </a:r>
          </a:p>
          <a:p>
            <a:endParaRPr lang="en-US" sz="2400" dirty="0"/>
          </a:p>
        </p:txBody>
      </p:sp>
      <p:sp>
        <p:nvSpPr>
          <p:cNvPr id="4" name="Slide Number Placeholder 3">
            <a:extLst>
              <a:ext uri="{FF2B5EF4-FFF2-40B4-BE49-F238E27FC236}">
                <a16:creationId xmlns:a16="http://schemas.microsoft.com/office/drawing/2014/main" id="{94F605A1-2F80-DE56-3042-69F40CFBA8F3}"/>
              </a:ext>
            </a:extLst>
          </p:cNvPr>
          <p:cNvSpPr>
            <a:spLocks noGrp="1"/>
          </p:cNvSpPr>
          <p:nvPr>
            <p:ph type="sldNum" sz="quarter" idx="12"/>
          </p:nvPr>
        </p:nvSpPr>
        <p:spPr/>
        <p:txBody>
          <a:bodyPr/>
          <a:lstStyle/>
          <a:p>
            <a:fld id="{45C00377-489B-40EC-B059-26BDDD2E89B9}" type="slidenum">
              <a:rPr lang="en-US" smtClean="0"/>
              <a:pPr/>
              <a:t>2</a:t>
            </a:fld>
            <a:endParaRPr lang="en-US" dirty="0"/>
          </a:p>
        </p:txBody>
      </p:sp>
      <p:pic>
        <p:nvPicPr>
          <p:cNvPr id="4101" name="Picture 5" descr="Tokyo 2020, Catapult festeggia 24 medaglie e l'11° posto nel medagliere ...">
            <a:extLst>
              <a:ext uri="{FF2B5EF4-FFF2-40B4-BE49-F238E27FC236}">
                <a16:creationId xmlns:a16="http://schemas.microsoft.com/office/drawing/2014/main" id="{5C309B9E-A3B9-44C0-FF55-89CE6B733C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55228" y="1067187"/>
            <a:ext cx="3785476" cy="2522483"/>
          </a:xfrm>
          <a:prstGeom prst="rect">
            <a:avLst/>
          </a:prstGeom>
          <a:noFill/>
          <a:extLst>
            <a:ext uri="{909E8E84-426E-40DD-AFC4-6F175D3DCCD1}">
              <a14:hiddenFill xmlns:a14="http://schemas.microsoft.com/office/drawing/2010/main">
                <a:solidFill>
                  <a:srgbClr val="FFFFFF"/>
                </a:solidFill>
              </a14:hiddenFill>
            </a:ext>
          </a:extLst>
        </p:spPr>
      </p:pic>
      <p:sp>
        <p:nvSpPr>
          <p:cNvPr id="5" name="Content Placeholder 2">
            <a:extLst>
              <a:ext uri="{FF2B5EF4-FFF2-40B4-BE49-F238E27FC236}">
                <a16:creationId xmlns:a16="http://schemas.microsoft.com/office/drawing/2014/main" id="{84644E02-2380-22C4-E935-A4C600C622A9}"/>
              </a:ext>
            </a:extLst>
          </p:cNvPr>
          <p:cNvSpPr txBox="1">
            <a:spLocks/>
          </p:cNvSpPr>
          <p:nvPr/>
        </p:nvSpPr>
        <p:spPr>
          <a:xfrm>
            <a:off x="838200" y="4331975"/>
            <a:ext cx="6304005" cy="15395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000" dirty="0"/>
          </a:p>
        </p:txBody>
      </p:sp>
      <p:pic>
        <p:nvPicPr>
          <p:cNvPr id="6" name="Picture 5" descr="No photo description available.">
            <a:extLst>
              <a:ext uri="{FF2B5EF4-FFF2-40B4-BE49-F238E27FC236}">
                <a16:creationId xmlns:a16="http://schemas.microsoft.com/office/drawing/2014/main" id="{EABC1EEA-7BAE-018F-6002-3E9647678D04}"/>
              </a:ext>
            </a:extLst>
          </p:cNvPr>
          <p:cNvPicPr>
            <a:picLocks noChangeAspect="1"/>
          </p:cNvPicPr>
          <p:nvPr/>
        </p:nvPicPr>
        <p:blipFill>
          <a:blip r:embed="rId4"/>
          <a:srcRect t="26461" b="29447"/>
          <a:stretch>
            <a:fillRect/>
          </a:stretch>
        </p:blipFill>
        <p:spPr>
          <a:xfrm>
            <a:off x="4033363" y="5169684"/>
            <a:ext cx="4232190" cy="1049637"/>
          </a:xfrm>
          <a:prstGeom prst="rect">
            <a:avLst/>
          </a:prstGeom>
        </p:spPr>
      </p:pic>
      <p:pic>
        <p:nvPicPr>
          <p:cNvPr id="7" name="Picture 6" descr="Oklahoma men's basketball gets biggest win of season at perfect time">
            <a:extLst>
              <a:ext uri="{FF2B5EF4-FFF2-40B4-BE49-F238E27FC236}">
                <a16:creationId xmlns:a16="http://schemas.microsoft.com/office/drawing/2014/main" id="{E674796D-C9BF-A177-4523-6EFE20095B65}"/>
              </a:ext>
            </a:extLst>
          </p:cNvPr>
          <p:cNvPicPr>
            <a:picLocks noChangeAspect="1"/>
          </p:cNvPicPr>
          <p:nvPr/>
        </p:nvPicPr>
        <p:blipFill>
          <a:blip r:embed="rId5"/>
          <a:stretch>
            <a:fillRect/>
          </a:stretch>
        </p:blipFill>
        <p:spPr>
          <a:xfrm>
            <a:off x="951296" y="4816776"/>
            <a:ext cx="2737021" cy="1539574"/>
          </a:xfrm>
          <a:prstGeom prst="rect">
            <a:avLst/>
          </a:prstGeom>
        </p:spPr>
      </p:pic>
      <p:pic>
        <p:nvPicPr>
          <p:cNvPr id="8" name="Picture 7" descr="The Vegas Golden Knights unveil their new centre ice logo for the teams  tenth season👀🎰">
            <a:extLst>
              <a:ext uri="{FF2B5EF4-FFF2-40B4-BE49-F238E27FC236}">
                <a16:creationId xmlns:a16="http://schemas.microsoft.com/office/drawing/2014/main" id="{E13F793F-1275-E0D5-E891-7A17E4237B89}"/>
              </a:ext>
            </a:extLst>
          </p:cNvPr>
          <p:cNvPicPr>
            <a:picLocks noChangeAspect="1"/>
          </p:cNvPicPr>
          <p:nvPr/>
        </p:nvPicPr>
        <p:blipFill>
          <a:blip r:embed="rId6"/>
          <a:stretch>
            <a:fillRect/>
          </a:stretch>
        </p:blipFill>
        <p:spPr>
          <a:xfrm>
            <a:off x="8551488" y="4835178"/>
            <a:ext cx="2689216" cy="1521172"/>
          </a:xfrm>
          <a:prstGeom prst="rect">
            <a:avLst/>
          </a:prstGeom>
        </p:spPr>
      </p:pic>
    </p:spTree>
    <p:extLst>
      <p:ext uri="{BB962C8B-B14F-4D97-AF65-F5344CB8AC3E}">
        <p14:creationId xmlns:p14="http://schemas.microsoft.com/office/powerpoint/2010/main" val="1061952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1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AC6CEF-DC87-42AD-88D5-B88B29111B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061A3A-DBF4-AAE3-4183-A3D67BE26DDA}"/>
              </a:ext>
            </a:extLst>
          </p:cNvPr>
          <p:cNvSpPr>
            <a:spLocks noGrp="1"/>
          </p:cNvSpPr>
          <p:nvPr>
            <p:ph type="title"/>
          </p:nvPr>
        </p:nvSpPr>
        <p:spPr/>
        <p:txBody>
          <a:bodyPr/>
          <a:lstStyle/>
          <a:p>
            <a:r>
              <a:rPr lang="en-US" dirty="0"/>
              <a:t>Why Performance Analytics?</a:t>
            </a:r>
          </a:p>
        </p:txBody>
      </p:sp>
      <p:sp>
        <p:nvSpPr>
          <p:cNvPr id="3" name="Content Placeholder 2">
            <a:extLst>
              <a:ext uri="{FF2B5EF4-FFF2-40B4-BE49-F238E27FC236}">
                <a16:creationId xmlns:a16="http://schemas.microsoft.com/office/drawing/2014/main" id="{6F87BC87-22FD-730C-21A4-0D6ECB9AABA1}"/>
              </a:ext>
            </a:extLst>
          </p:cNvPr>
          <p:cNvSpPr>
            <a:spLocks noGrp="1"/>
          </p:cNvSpPr>
          <p:nvPr>
            <p:ph idx="1"/>
          </p:nvPr>
        </p:nvSpPr>
        <p:spPr/>
        <p:txBody>
          <a:bodyPr>
            <a:normAutofit/>
          </a:bodyPr>
          <a:lstStyle/>
          <a:p>
            <a:pPr marL="0" indent="0">
              <a:buNone/>
            </a:pPr>
            <a:r>
              <a:rPr lang="en-GB" sz="2400" dirty="0"/>
              <a:t>Bring together physiology, data and real decisions</a:t>
            </a:r>
          </a:p>
          <a:p>
            <a:r>
              <a:rPr lang="en-GB" sz="2400" dirty="0"/>
              <a:t>Improve performance by:</a:t>
            </a:r>
          </a:p>
          <a:p>
            <a:pPr lvl="1"/>
            <a:r>
              <a:rPr lang="en-GB" sz="2000" dirty="0"/>
              <a:t>understanding how athletes respond to training.</a:t>
            </a:r>
          </a:p>
          <a:p>
            <a:pPr lvl="1"/>
            <a:r>
              <a:rPr lang="en-GB" sz="2000" dirty="0"/>
              <a:t>flag concerning patterns before they become larger performance or health problems.</a:t>
            </a:r>
          </a:p>
          <a:p>
            <a:pPr lvl="1"/>
            <a:r>
              <a:rPr lang="en-GB" sz="2000" dirty="0"/>
              <a:t>guide better decisions with information.</a:t>
            </a:r>
          </a:p>
        </p:txBody>
      </p:sp>
      <p:sp>
        <p:nvSpPr>
          <p:cNvPr id="4" name="Slide Number Placeholder 3">
            <a:extLst>
              <a:ext uri="{FF2B5EF4-FFF2-40B4-BE49-F238E27FC236}">
                <a16:creationId xmlns:a16="http://schemas.microsoft.com/office/drawing/2014/main" id="{1516E01D-5BCA-8CD6-0F02-8D59454915DF}"/>
              </a:ext>
            </a:extLst>
          </p:cNvPr>
          <p:cNvSpPr>
            <a:spLocks noGrp="1"/>
          </p:cNvSpPr>
          <p:nvPr>
            <p:ph type="sldNum" sz="quarter" idx="12"/>
          </p:nvPr>
        </p:nvSpPr>
        <p:spPr/>
        <p:txBody>
          <a:bodyPr/>
          <a:lstStyle/>
          <a:p>
            <a:fld id="{45C00377-489B-40EC-B059-26BDDD2E89B9}" type="slidenum">
              <a:rPr lang="en-US" smtClean="0"/>
              <a:pPr/>
              <a:t>3</a:t>
            </a:fld>
            <a:endParaRPr lang="en-US" dirty="0"/>
          </a:p>
        </p:txBody>
      </p:sp>
    </p:spTree>
    <p:extLst>
      <p:ext uri="{BB962C8B-B14F-4D97-AF65-F5344CB8AC3E}">
        <p14:creationId xmlns:p14="http://schemas.microsoft.com/office/powerpoint/2010/main" val="1811922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FB025-3E1A-9CDA-C083-1C971AF701FB}"/>
              </a:ext>
            </a:extLst>
          </p:cNvPr>
          <p:cNvSpPr>
            <a:spLocks noGrp="1"/>
          </p:cNvSpPr>
          <p:nvPr>
            <p:ph type="title"/>
          </p:nvPr>
        </p:nvSpPr>
        <p:spPr/>
        <p:txBody>
          <a:bodyPr/>
          <a:lstStyle/>
          <a:p>
            <a:r>
              <a:rPr lang="en-US" dirty="0"/>
              <a:t>Tell me about yourself!</a:t>
            </a:r>
          </a:p>
        </p:txBody>
      </p:sp>
      <p:sp>
        <p:nvSpPr>
          <p:cNvPr id="3" name="Content Placeholder 2">
            <a:extLst>
              <a:ext uri="{FF2B5EF4-FFF2-40B4-BE49-F238E27FC236}">
                <a16:creationId xmlns:a16="http://schemas.microsoft.com/office/drawing/2014/main" id="{4E71609D-83B2-28F8-F9F7-8A7B5F735096}"/>
              </a:ext>
            </a:extLst>
          </p:cNvPr>
          <p:cNvSpPr>
            <a:spLocks noGrp="1"/>
          </p:cNvSpPr>
          <p:nvPr>
            <p:ph idx="1"/>
          </p:nvPr>
        </p:nvSpPr>
        <p:spPr/>
        <p:txBody>
          <a:bodyPr/>
          <a:lstStyle/>
          <a:p>
            <a:pPr marL="0" indent="0">
              <a:buNone/>
            </a:pPr>
            <a:r>
              <a:rPr lang="en-US" dirty="0"/>
              <a:t>In your index cards:</a:t>
            </a:r>
          </a:p>
          <a:p>
            <a:pPr lvl="1"/>
            <a:r>
              <a:rPr lang="en-US" dirty="0"/>
              <a:t>Name</a:t>
            </a:r>
          </a:p>
          <a:p>
            <a:pPr lvl="1"/>
            <a:r>
              <a:rPr lang="en-US" dirty="0"/>
              <a:t>Year + Major </a:t>
            </a:r>
          </a:p>
          <a:p>
            <a:pPr lvl="1"/>
            <a:r>
              <a:rPr lang="en-US" dirty="0"/>
              <a:t>Favorite sport / team</a:t>
            </a:r>
          </a:p>
          <a:p>
            <a:pPr lvl="1"/>
            <a:r>
              <a:rPr lang="en-US" dirty="0"/>
              <a:t>One thing you’re hoping to learning in this class</a:t>
            </a:r>
          </a:p>
        </p:txBody>
      </p:sp>
      <p:sp>
        <p:nvSpPr>
          <p:cNvPr id="4" name="Slide Number Placeholder 3">
            <a:extLst>
              <a:ext uri="{FF2B5EF4-FFF2-40B4-BE49-F238E27FC236}">
                <a16:creationId xmlns:a16="http://schemas.microsoft.com/office/drawing/2014/main" id="{AF082B2D-DB76-A161-D92D-655EDCC741A4}"/>
              </a:ext>
            </a:extLst>
          </p:cNvPr>
          <p:cNvSpPr>
            <a:spLocks noGrp="1"/>
          </p:cNvSpPr>
          <p:nvPr>
            <p:ph type="sldNum" sz="quarter" idx="12"/>
          </p:nvPr>
        </p:nvSpPr>
        <p:spPr/>
        <p:txBody>
          <a:bodyPr/>
          <a:lstStyle/>
          <a:p>
            <a:fld id="{45C00377-489B-40EC-B059-26BDDD2E89B9}" type="slidenum">
              <a:rPr lang="en-US" smtClean="0"/>
              <a:pPr/>
              <a:t>4</a:t>
            </a:fld>
            <a:endParaRPr lang="en-US" dirty="0"/>
          </a:p>
        </p:txBody>
      </p:sp>
    </p:spTree>
    <p:extLst>
      <p:ext uri="{BB962C8B-B14F-4D97-AF65-F5344CB8AC3E}">
        <p14:creationId xmlns:p14="http://schemas.microsoft.com/office/powerpoint/2010/main" val="19290882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1FAB8-1447-A9CC-AA6A-B6AA1D106F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2ABB1E-5B1A-C5E8-40FF-DD69A08210CC}"/>
              </a:ext>
            </a:extLst>
          </p:cNvPr>
          <p:cNvSpPr>
            <a:spLocks noGrp="1"/>
          </p:cNvSpPr>
          <p:nvPr>
            <p:ph type="title"/>
          </p:nvPr>
        </p:nvSpPr>
        <p:spPr/>
        <p:txBody>
          <a:bodyPr/>
          <a:lstStyle/>
          <a:p>
            <a:r>
              <a:rPr lang="en-US" dirty="0"/>
              <a:t>Components of Performance Analytics</a:t>
            </a:r>
          </a:p>
        </p:txBody>
      </p:sp>
      <p:sp>
        <p:nvSpPr>
          <p:cNvPr id="3" name="Content Placeholder 2">
            <a:extLst>
              <a:ext uri="{FF2B5EF4-FFF2-40B4-BE49-F238E27FC236}">
                <a16:creationId xmlns:a16="http://schemas.microsoft.com/office/drawing/2014/main" id="{285E5190-4BBA-A9D5-37DF-E16DBCFE7556}"/>
              </a:ext>
            </a:extLst>
          </p:cNvPr>
          <p:cNvSpPr>
            <a:spLocks noGrp="1"/>
          </p:cNvSpPr>
          <p:nvPr>
            <p:ph idx="1"/>
          </p:nvPr>
        </p:nvSpPr>
        <p:spPr/>
        <p:txBody>
          <a:bodyPr>
            <a:normAutofit/>
          </a:bodyPr>
          <a:lstStyle/>
          <a:p>
            <a:pPr marL="0" indent="0">
              <a:buNone/>
            </a:pPr>
            <a:r>
              <a:rPr lang="en-GB" sz="2400" dirty="0"/>
              <a:t>Performance analytics is not a single skillet</a:t>
            </a:r>
            <a:endParaRPr lang="en-GB" sz="2000" dirty="0"/>
          </a:p>
        </p:txBody>
      </p:sp>
      <p:sp>
        <p:nvSpPr>
          <p:cNvPr id="4" name="Slide Number Placeholder 3">
            <a:extLst>
              <a:ext uri="{FF2B5EF4-FFF2-40B4-BE49-F238E27FC236}">
                <a16:creationId xmlns:a16="http://schemas.microsoft.com/office/drawing/2014/main" id="{64F8EAC5-A765-E323-782B-BFD8031607AA}"/>
              </a:ext>
            </a:extLst>
          </p:cNvPr>
          <p:cNvSpPr>
            <a:spLocks noGrp="1"/>
          </p:cNvSpPr>
          <p:nvPr>
            <p:ph type="sldNum" sz="quarter" idx="12"/>
          </p:nvPr>
        </p:nvSpPr>
        <p:spPr/>
        <p:txBody>
          <a:bodyPr/>
          <a:lstStyle/>
          <a:p>
            <a:fld id="{45C00377-489B-40EC-B059-26BDDD2E89B9}" type="slidenum">
              <a:rPr lang="en-US" smtClean="0"/>
              <a:pPr/>
              <a:t>5</a:t>
            </a:fld>
            <a:endParaRPr lang="en-US" dirty="0"/>
          </a:p>
        </p:txBody>
      </p:sp>
      <p:sp>
        <p:nvSpPr>
          <p:cNvPr id="6" name="TextBox 5">
            <a:extLst>
              <a:ext uri="{FF2B5EF4-FFF2-40B4-BE49-F238E27FC236}">
                <a16:creationId xmlns:a16="http://schemas.microsoft.com/office/drawing/2014/main" id="{1DC8A293-94E2-4997-4152-E34469BA2363}"/>
              </a:ext>
            </a:extLst>
          </p:cNvPr>
          <p:cNvSpPr txBox="1"/>
          <p:nvPr/>
        </p:nvSpPr>
        <p:spPr>
          <a:xfrm>
            <a:off x="4941376" y="4769731"/>
            <a:ext cx="2309247" cy="1384995"/>
          </a:xfrm>
          <a:prstGeom prst="rect">
            <a:avLst/>
          </a:prstGeom>
          <a:noFill/>
        </p:spPr>
        <p:txBody>
          <a:bodyPr wrap="square" rtlCol="0">
            <a:spAutoFit/>
          </a:bodyPr>
          <a:lstStyle/>
          <a:p>
            <a:pPr algn="ctr"/>
            <a:r>
              <a:rPr lang="en-US" sz="2800" dirty="0"/>
              <a:t>Sports Performance Analytics</a:t>
            </a:r>
          </a:p>
        </p:txBody>
      </p:sp>
      <p:cxnSp>
        <p:nvCxnSpPr>
          <p:cNvPr id="8" name="Straight Arrow Connector 7">
            <a:extLst>
              <a:ext uri="{FF2B5EF4-FFF2-40B4-BE49-F238E27FC236}">
                <a16:creationId xmlns:a16="http://schemas.microsoft.com/office/drawing/2014/main" id="{086120AC-92EF-3CA1-FFBC-1B0730067104}"/>
              </a:ext>
            </a:extLst>
          </p:cNvPr>
          <p:cNvCxnSpPr>
            <a:cxnSpLocks/>
          </p:cNvCxnSpPr>
          <p:nvPr/>
        </p:nvCxnSpPr>
        <p:spPr>
          <a:xfrm flipV="1">
            <a:off x="2743200" y="5415701"/>
            <a:ext cx="1751308"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389ADDCA-1A65-9E17-7CF6-EE8C537E7457}"/>
              </a:ext>
            </a:extLst>
          </p:cNvPr>
          <p:cNvCxnSpPr>
            <a:cxnSpLocks/>
          </p:cNvCxnSpPr>
          <p:nvPr/>
        </p:nvCxnSpPr>
        <p:spPr>
          <a:xfrm>
            <a:off x="3409627" y="4264116"/>
            <a:ext cx="1270860" cy="64884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EDA15C96-C49C-95D1-A6A4-722958992CE4}"/>
              </a:ext>
            </a:extLst>
          </p:cNvPr>
          <p:cNvCxnSpPr>
            <a:cxnSpLocks/>
          </p:cNvCxnSpPr>
          <p:nvPr/>
        </p:nvCxnSpPr>
        <p:spPr>
          <a:xfrm>
            <a:off x="5040501" y="3276654"/>
            <a:ext cx="322554" cy="120059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0C850866-A58C-BFE6-91CB-21F093D87BFC}"/>
              </a:ext>
            </a:extLst>
          </p:cNvPr>
          <p:cNvCxnSpPr>
            <a:cxnSpLocks/>
          </p:cNvCxnSpPr>
          <p:nvPr/>
        </p:nvCxnSpPr>
        <p:spPr>
          <a:xfrm flipH="1">
            <a:off x="6635849" y="3415153"/>
            <a:ext cx="428798" cy="117338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EA81B3E3-9C26-7BFE-17E7-132B8704B6F7}"/>
              </a:ext>
            </a:extLst>
          </p:cNvPr>
          <p:cNvCxnSpPr>
            <a:cxnSpLocks/>
          </p:cNvCxnSpPr>
          <p:nvPr/>
        </p:nvCxnSpPr>
        <p:spPr>
          <a:xfrm flipH="1">
            <a:off x="7250623" y="4127304"/>
            <a:ext cx="1128794" cy="78092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9DC3CB3F-B45D-F1B1-CB0A-5A06D8647045}"/>
              </a:ext>
            </a:extLst>
          </p:cNvPr>
          <p:cNvCxnSpPr>
            <a:cxnSpLocks/>
          </p:cNvCxnSpPr>
          <p:nvPr/>
        </p:nvCxnSpPr>
        <p:spPr>
          <a:xfrm flipH="1">
            <a:off x="7429835" y="5462228"/>
            <a:ext cx="151526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3" name="TextBox 32">
            <a:extLst>
              <a:ext uri="{FF2B5EF4-FFF2-40B4-BE49-F238E27FC236}">
                <a16:creationId xmlns:a16="http://schemas.microsoft.com/office/drawing/2014/main" id="{EA7BB90C-BB06-5036-5929-EC56DBF11153}"/>
              </a:ext>
            </a:extLst>
          </p:cNvPr>
          <p:cNvSpPr txBox="1"/>
          <p:nvPr/>
        </p:nvSpPr>
        <p:spPr>
          <a:xfrm>
            <a:off x="4744763" y="2146420"/>
            <a:ext cx="2702471" cy="369332"/>
          </a:xfrm>
          <a:prstGeom prst="rect">
            <a:avLst/>
          </a:prstGeom>
          <a:noFill/>
        </p:spPr>
        <p:txBody>
          <a:bodyPr wrap="none" rtlCol="0">
            <a:spAutoFit/>
          </a:bodyPr>
          <a:lstStyle/>
          <a:p>
            <a:r>
              <a:rPr lang="en-US" b="1" dirty="0">
                <a:solidFill>
                  <a:srgbClr val="FF0000"/>
                </a:solidFill>
              </a:rPr>
              <a:t>What skills do we need?</a:t>
            </a:r>
          </a:p>
        </p:txBody>
      </p:sp>
    </p:spTree>
    <p:extLst>
      <p:ext uri="{BB962C8B-B14F-4D97-AF65-F5344CB8AC3E}">
        <p14:creationId xmlns:p14="http://schemas.microsoft.com/office/powerpoint/2010/main" val="39357382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67AC3C-C955-A448-084F-BA2FCF6C9F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11C577-A89A-CEBD-347E-96BB8E665E37}"/>
              </a:ext>
            </a:extLst>
          </p:cNvPr>
          <p:cNvSpPr>
            <a:spLocks noGrp="1"/>
          </p:cNvSpPr>
          <p:nvPr>
            <p:ph type="title"/>
          </p:nvPr>
        </p:nvSpPr>
        <p:spPr/>
        <p:txBody>
          <a:bodyPr/>
          <a:lstStyle/>
          <a:p>
            <a:r>
              <a:rPr lang="en-US" dirty="0"/>
              <a:t>Components of Performance Analytics</a:t>
            </a:r>
          </a:p>
        </p:txBody>
      </p:sp>
      <p:sp>
        <p:nvSpPr>
          <p:cNvPr id="3" name="Content Placeholder 2">
            <a:extLst>
              <a:ext uri="{FF2B5EF4-FFF2-40B4-BE49-F238E27FC236}">
                <a16:creationId xmlns:a16="http://schemas.microsoft.com/office/drawing/2014/main" id="{1E8B420C-6946-CC4C-342A-E1BB2C2FE928}"/>
              </a:ext>
            </a:extLst>
          </p:cNvPr>
          <p:cNvSpPr>
            <a:spLocks noGrp="1"/>
          </p:cNvSpPr>
          <p:nvPr>
            <p:ph idx="1"/>
          </p:nvPr>
        </p:nvSpPr>
        <p:spPr/>
        <p:txBody>
          <a:bodyPr>
            <a:normAutofit/>
          </a:bodyPr>
          <a:lstStyle/>
          <a:p>
            <a:pPr marL="0" indent="0">
              <a:buNone/>
            </a:pPr>
            <a:r>
              <a:rPr lang="en-GB" sz="2400" dirty="0"/>
              <a:t>Performance analytics is not a single skillet</a:t>
            </a:r>
            <a:endParaRPr lang="en-GB" sz="2000" dirty="0"/>
          </a:p>
        </p:txBody>
      </p:sp>
      <p:sp>
        <p:nvSpPr>
          <p:cNvPr id="4" name="Slide Number Placeholder 3">
            <a:extLst>
              <a:ext uri="{FF2B5EF4-FFF2-40B4-BE49-F238E27FC236}">
                <a16:creationId xmlns:a16="http://schemas.microsoft.com/office/drawing/2014/main" id="{8F942906-B945-FA19-513B-8543E5629E65}"/>
              </a:ext>
            </a:extLst>
          </p:cNvPr>
          <p:cNvSpPr>
            <a:spLocks noGrp="1"/>
          </p:cNvSpPr>
          <p:nvPr>
            <p:ph type="sldNum" sz="quarter" idx="12"/>
          </p:nvPr>
        </p:nvSpPr>
        <p:spPr/>
        <p:txBody>
          <a:bodyPr/>
          <a:lstStyle/>
          <a:p>
            <a:fld id="{45C00377-489B-40EC-B059-26BDDD2E89B9}" type="slidenum">
              <a:rPr lang="en-US" smtClean="0"/>
              <a:pPr/>
              <a:t>6</a:t>
            </a:fld>
            <a:endParaRPr lang="en-US" dirty="0"/>
          </a:p>
        </p:txBody>
      </p:sp>
      <p:sp>
        <p:nvSpPr>
          <p:cNvPr id="9" name="TextBox 8">
            <a:extLst>
              <a:ext uri="{FF2B5EF4-FFF2-40B4-BE49-F238E27FC236}">
                <a16:creationId xmlns:a16="http://schemas.microsoft.com/office/drawing/2014/main" id="{84DFCF49-E2E7-3AC5-3EA4-3B665ACDE306}"/>
              </a:ext>
            </a:extLst>
          </p:cNvPr>
          <p:cNvSpPr txBox="1"/>
          <p:nvPr/>
        </p:nvSpPr>
        <p:spPr>
          <a:xfrm>
            <a:off x="433954" y="5092536"/>
            <a:ext cx="2309246" cy="646331"/>
          </a:xfrm>
          <a:prstGeom prst="rect">
            <a:avLst/>
          </a:prstGeom>
          <a:noFill/>
        </p:spPr>
        <p:txBody>
          <a:bodyPr wrap="square" rtlCol="0">
            <a:spAutoFit/>
          </a:bodyPr>
          <a:lstStyle/>
          <a:p>
            <a:r>
              <a:rPr lang="en-US" dirty="0"/>
              <a:t>Sport/performance knowledge</a:t>
            </a:r>
          </a:p>
        </p:txBody>
      </p:sp>
      <p:sp>
        <p:nvSpPr>
          <p:cNvPr id="10" name="TextBox 9">
            <a:extLst>
              <a:ext uri="{FF2B5EF4-FFF2-40B4-BE49-F238E27FC236}">
                <a16:creationId xmlns:a16="http://schemas.microsoft.com/office/drawing/2014/main" id="{A774D96D-B46E-4C61-C793-6FBA78971425}"/>
              </a:ext>
            </a:extLst>
          </p:cNvPr>
          <p:cNvSpPr txBox="1"/>
          <p:nvPr/>
        </p:nvSpPr>
        <p:spPr>
          <a:xfrm>
            <a:off x="1288300" y="3830921"/>
            <a:ext cx="2309246" cy="646331"/>
          </a:xfrm>
          <a:prstGeom prst="rect">
            <a:avLst/>
          </a:prstGeom>
          <a:noFill/>
        </p:spPr>
        <p:txBody>
          <a:bodyPr wrap="square" rtlCol="0">
            <a:spAutoFit/>
          </a:bodyPr>
          <a:lstStyle/>
          <a:p>
            <a:r>
              <a:rPr lang="en-US" dirty="0"/>
              <a:t>Measurement and collection of data</a:t>
            </a:r>
          </a:p>
        </p:txBody>
      </p:sp>
      <p:sp>
        <p:nvSpPr>
          <p:cNvPr id="11" name="TextBox 10">
            <a:extLst>
              <a:ext uri="{FF2B5EF4-FFF2-40B4-BE49-F238E27FC236}">
                <a16:creationId xmlns:a16="http://schemas.microsoft.com/office/drawing/2014/main" id="{C6AFBE1E-C5F3-9AF5-1C8B-F3980AB21952}"/>
              </a:ext>
            </a:extLst>
          </p:cNvPr>
          <p:cNvSpPr txBox="1"/>
          <p:nvPr/>
        </p:nvSpPr>
        <p:spPr>
          <a:xfrm>
            <a:off x="3525864" y="2743200"/>
            <a:ext cx="2309246" cy="369332"/>
          </a:xfrm>
          <a:prstGeom prst="rect">
            <a:avLst/>
          </a:prstGeom>
          <a:noFill/>
        </p:spPr>
        <p:txBody>
          <a:bodyPr wrap="square" rtlCol="0">
            <a:spAutoFit/>
          </a:bodyPr>
          <a:lstStyle/>
          <a:p>
            <a:r>
              <a:rPr lang="en-US" dirty="0"/>
              <a:t>Data management</a:t>
            </a:r>
          </a:p>
        </p:txBody>
      </p:sp>
      <p:sp>
        <p:nvSpPr>
          <p:cNvPr id="12" name="TextBox 11">
            <a:extLst>
              <a:ext uri="{FF2B5EF4-FFF2-40B4-BE49-F238E27FC236}">
                <a16:creationId xmlns:a16="http://schemas.microsoft.com/office/drawing/2014/main" id="{1C2D5184-1664-7044-F772-DDAD8C604B7C}"/>
              </a:ext>
            </a:extLst>
          </p:cNvPr>
          <p:cNvSpPr txBox="1"/>
          <p:nvPr/>
        </p:nvSpPr>
        <p:spPr>
          <a:xfrm>
            <a:off x="6635849" y="2604700"/>
            <a:ext cx="2309246" cy="646331"/>
          </a:xfrm>
          <a:prstGeom prst="rect">
            <a:avLst/>
          </a:prstGeom>
          <a:noFill/>
        </p:spPr>
        <p:txBody>
          <a:bodyPr wrap="square" rtlCol="0">
            <a:spAutoFit/>
          </a:bodyPr>
          <a:lstStyle/>
          <a:p>
            <a:r>
              <a:rPr lang="en-US" dirty="0"/>
              <a:t>Statistics and modelling</a:t>
            </a:r>
          </a:p>
        </p:txBody>
      </p:sp>
      <p:sp>
        <p:nvSpPr>
          <p:cNvPr id="13" name="TextBox 12">
            <a:extLst>
              <a:ext uri="{FF2B5EF4-FFF2-40B4-BE49-F238E27FC236}">
                <a16:creationId xmlns:a16="http://schemas.microsoft.com/office/drawing/2014/main" id="{79BA9B72-5350-3AB5-EDFE-446466F95265}"/>
              </a:ext>
            </a:extLst>
          </p:cNvPr>
          <p:cNvSpPr txBox="1"/>
          <p:nvPr/>
        </p:nvSpPr>
        <p:spPr>
          <a:xfrm>
            <a:off x="8610600" y="3830921"/>
            <a:ext cx="2309246" cy="646331"/>
          </a:xfrm>
          <a:prstGeom prst="rect">
            <a:avLst/>
          </a:prstGeom>
          <a:noFill/>
        </p:spPr>
        <p:txBody>
          <a:bodyPr wrap="square" rtlCol="0">
            <a:spAutoFit/>
          </a:bodyPr>
          <a:lstStyle/>
          <a:p>
            <a:r>
              <a:rPr lang="en-US" dirty="0"/>
              <a:t>Visualization and communication</a:t>
            </a:r>
          </a:p>
        </p:txBody>
      </p:sp>
      <p:sp>
        <p:nvSpPr>
          <p:cNvPr id="5" name="TextBox 4">
            <a:extLst>
              <a:ext uri="{FF2B5EF4-FFF2-40B4-BE49-F238E27FC236}">
                <a16:creationId xmlns:a16="http://schemas.microsoft.com/office/drawing/2014/main" id="{852381D4-7307-7EBD-C6B4-2494AEAFC291}"/>
              </a:ext>
            </a:extLst>
          </p:cNvPr>
          <p:cNvSpPr txBox="1"/>
          <p:nvPr/>
        </p:nvSpPr>
        <p:spPr>
          <a:xfrm>
            <a:off x="9151120" y="5206449"/>
            <a:ext cx="2606926" cy="646331"/>
          </a:xfrm>
          <a:prstGeom prst="rect">
            <a:avLst/>
          </a:prstGeom>
          <a:noFill/>
        </p:spPr>
        <p:txBody>
          <a:bodyPr wrap="square" rtlCol="0">
            <a:spAutoFit/>
          </a:bodyPr>
          <a:lstStyle/>
          <a:p>
            <a:r>
              <a:rPr lang="en-US" dirty="0"/>
              <a:t>Decision-making and evaluating success</a:t>
            </a:r>
          </a:p>
        </p:txBody>
      </p:sp>
      <p:sp>
        <p:nvSpPr>
          <p:cNvPr id="6" name="TextBox 5">
            <a:extLst>
              <a:ext uri="{FF2B5EF4-FFF2-40B4-BE49-F238E27FC236}">
                <a16:creationId xmlns:a16="http://schemas.microsoft.com/office/drawing/2014/main" id="{F9C4346E-48A2-6091-B4F7-446F9618B953}"/>
              </a:ext>
            </a:extLst>
          </p:cNvPr>
          <p:cNvSpPr txBox="1"/>
          <p:nvPr/>
        </p:nvSpPr>
        <p:spPr>
          <a:xfrm>
            <a:off x="4941376" y="4769731"/>
            <a:ext cx="2309247" cy="1384995"/>
          </a:xfrm>
          <a:prstGeom prst="rect">
            <a:avLst/>
          </a:prstGeom>
          <a:noFill/>
        </p:spPr>
        <p:txBody>
          <a:bodyPr wrap="square" rtlCol="0">
            <a:spAutoFit/>
          </a:bodyPr>
          <a:lstStyle/>
          <a:p>
            <a:pPr algn="ctr"/>
            <a:r>
              <a:rPr lang="en-US" sz="2800" dirty="0"/>
              <a:t>Sports Performance Analytics</a:t>
            </a:r>
          </a:p>
        </p:txBody>
      </p:sp>
      <p:cxnSp>
        <p:nvCxnSpPr>
          <p:cNvPr id="8" name="Straight Arrow Connector 7">
            <a:extLst>
              <a:ext uri="{FF2B5EF4-FFF2-40B4-BE49-F238E27FC236}">
                <a16:creationId xmlns:a16="http://schemas.microsoft.com/office/drawing/2014/main" id="{9727921C-C1F0-57FA-6808-19CAC8F5D394}"/>
              </a:ext>
            </a:extLst>
          </p:cNvPr>
          <p:cNvCxnSpPr>
            <a:stCxn id="9" idx="3"/>
          </p:cNvCxnSpPr>
          <p:nvPr/>
        </p:nvCxnSpPr>
        <p:spPr>
          <a:xfrm flipV="1">
            <a:off x="2743200" y="5415701"/>
            <a:ext cx="1751308"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B26D5943-50EE-CDCA-1AEF-9E10AC762FCF}"/>
              </a:ext>
            </a:extLst>
          </p:cNvPr>
          <p:cNvCxnSpPr>
            <a:cxnSpLocks/>
          </p:cNvCxnSpPr>
          <p:nvPr/>
        </p:nvCxnSpPr>
        <p:spPr>
          <a:xfrm>
            <a:off x="3409627" y="4264116"/>
            <a:ext cx="1270860" cy="64884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AA4AE189-E46A-0156-773A-9807FB47C0C5}"/>
              </a:ext>
            </a:extLst>
          </p:cNvPr>
          <p:cNvCxnSpPr>
            <a:cxnSpLocks/>
          </p:cNvCxnSpPr>
          <p:nvPr/>
        </p:nvCxnSpPr>
        <p:spPr>
          <a:xfrm>
            <a:off x="5040501" y="3276654"/>
            <a:ext cx="322554" cy="120059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8D72CF50-7D90-5463-979B-5FD99C6B4290}"/>
              </a:ext>
            </a:extLst>
          </p:cNvPr>
          <p:cNvCxnSpPr>
            <a:cxnSpLocks/>
          </p:cNvCxnSpPr>
          <p:nvPr/>
        </p:nvCxnSpPr>
        <p:spPr>
          <a:xfrm flipH="1">
            <a:off x="6635849" y="3415153"/>
            <a:ext cx="428798" cy="117338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B9275E68-F9AE-1238-9E1B-F149485B87DA}"/>
              </a:ext>
            </a:extLst>
          </p:cNvPr>
          <p:cNvCxnSpPr>
            <a:cxnSpLocks/>
          </p:cNvCxnSpPr>
          <p:nvPr/>
        </p:nvCxnSpPr>
        <p:spPr>
          <a:xfrm flipH="1">
            <a:off x="7250623" y="4127304"/>
            <a:ext cx="1128794" cy="78092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569F38EE-F7A2-6442-4855-4BC66194A81A}"/>
              </a:ext>
            </a:extLst>
          </p:cNvPr>
          <p:cNvCxnSpPr>
            <a:cxnSpLocks/>
          </p:cNvCxnSpPr>
          <p:nvPr/>
        </p:nvCxnSpPr>
        <p:spPr>
          <a:xfrm flipH="1">
            <a:off x="7429835" y="5462228"/>
            <a:ext cx="151526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72105D21-9A79-93CB-47DC-C738D25F9C08}"/>
              </a:ext>
            </a:extLst>
          </p:cNvPr>
          <p:cNvSpPr txBox="1"/>
          <p:nvPr/>
        </p:nvSpPr>
        <p:spPr>
          <a:xfrm>
            <a:off x="4216574" y="6269296"/>
            <a:ext cx="3758850" cy="369332"/>
          </a:xfrm>
          <a:prstGeom prst="rect">
            <a:avLst/>
          </a:prstGeom>
          <a:noFill/>
        </p:spPr>
        <p:txBody>
          <a:bodyPr wrap="none" rtlCol="0">
            <a:spAutoFit/>
          </a:bodyPr>
          <a:lstStyle/>
          <a:p>
            <a:r>
              <a:rPr lang="en-US" b="1" dirty="0">
                <a:solidFill>
                  <a:srgbClr val="FF0000"/>
                </a:solidFill>
              </a:rPr>
              <a:t>What skill is the most important?</a:t>
            </a:r>
          </a:p>
        </p:txBody>
      </p:sp>
    </p:spTree>
    <p:extLst>
      <p:ext uri="{BB962C8B-B14F-4D97-AF65-F5344CB8AC3E}">
        <p14:creationId xmlns:p14="http://schemas.microsoft.com/office/powerpoint/2010/main" val="22906966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14D088-3050-867F-B3E5-9E16612D0D3A}"/>
              </a:ext>
            </a:extLst>
          </p:cNvPr>
          <p:cNvSpPr>
            <a:spLocks noGrp="1"/>
          </p:cNvSpPr>
          <p:nvPr>
            <p:ph type="title"/>
          </p:nvPr>
        </p:nvSpPr>
        <p:spPr/>
        <p:txBody>
          <a:bodyPr/>
          <a:lstStyle/>
          <a:p>
            <a:r>
              <a:rPr lang="en-US" dirty="0"/>
              <a:t>Working Definition for This Course</a:t>
            </a:r>
          </a:p>
        </p:txBody>
      </p:sp>
      <p:sp>
        <p:nvSpPr>
          <p:cNvPr id="3" name="Content Placeholder 2">
            <a:extLst>
              <a:ext uri="{FF2B5EF4-FFF2-40B4-BE49-F238E27FC236}">
                <a16:creationId xmlns:a16="http://schemas.microsoft.com/office/drawing/2014/main" id="{381EBCA9-1C5D-5F91-D1E8-E1CB478395B7}"/>
              </a:ext>
            </a:extLst>
          </p:cNvPr>
          <p:cNvSpPr>
            <a:spLocks noGrp="1"/>
          </p:cNvSpPr>
          <p:nvPr>
            <p:ph idx="1"/>
          </p:nvPr>
        </p:nvSpPr>
        <p:spPr/>
        <p:txBody>
          <a:bodyPr/>
          <a:lstStyle/>
          <a:p>
            <a:r>
              <a:rPr lang="en-US" b="1" dirty="0"/>
              <a:t>Sports Performance Analytics:</a:t>
            </a:r>
            <a:endParaRPr lang="en-US" dirty="0"/>
          </a:p>
          <a:p>
            <a:pPr lvl="1"/>
            <a:r>
              <a:rPr lang="en-US" dirty="0"/>
              <a:t>Management of structured</a:t>
            </a:r>
            <a:r>
              <a:rPr lang="en-US" b="1" dirty="0"/>
              <a:t> performance data</a:t>
            </a:r>
            <a:endParaRPr lang="en-US" dirty="0"/>
          </a:p>
          <a:p>
            <a:pPr lvl="1"/>
            <a:r>
              <a:rPr lang="en-US" b="1" dirty="0"/>
              <a:t>Application</a:t>
            </a:r>
            <a:r>
              <a:rPr lang="en-US" dirty="0"/>
              <a:t> of analytic models</a:t>
            </a:r>
          </a:p>
          <a:p>
            <a:pPr lvl="1"/>
            <a:r>
              <a:rPr lang="en-US" dirty="0"/>
              <a:t>Inform </a:t>
            </a:r>
            <a:r>
              <a:rPr lang="en-US" b="1" dirty="0"/>
              <a:t>decision makers </a:t>
            </a:r>
          </a:p>
          <a:p>
            <a:pPr lvl="1"/>
            <a:r>
              <a:rPr lang="en-US" dirty="0"/>
              <a:t>Gaining a </a:t>
            </a:r>
            <a:r>
              <a:rPr lang="en-US" b="1" dirty="0"/>
              <a:t>competitive advantage</a:t>
            </a:r>
            <a:endParaRPr lang="en-US" dirty="0"/>
          </a:p>
        </p:txBody>
      </p:sp>
      <p:sp>
        <p:nvSpPr>
          <p:cNvPr id="4" name="Slide Number Placeholder 3">
            <a:extLst>
              <a:ext uri="{FF2B5EF4-FFF2-40B4-BE49-F238E27FC236}">
                <a16:creationId xmlns:a16="http://schemas.microsoft.com/office/drawing/2014/main" id="{6640E4C6-546A-788D-ECA4-04ECCF397FDD}"/>
              </a:ext>
            </a:extLst>
          </p:cNvPr>
          <p:cNvSpPr>
            <a:spLocks noGrp="1"/>
          </p:cNvSpPr>
          <p:nvPr>
            <p:ph type="sldNum" sz="quarter" idx="12"/>
          </p:nvPr>
        </p:nvSpPr>
        <p:spPr/>
        <p:txBody>
          <a:bodyPr/>
          <a:lstStyle/>
          <a:p>
            <a:fld id="{45C00377-489B-40EC-B059-26BDDD2E89B9}" type="slidenum">
              <a:rPr lang="en-US" smtClean="0"/>
              <a:pPr/>
              <a:t>7</a:t>
            </a:fld>
            <a:endParaRPr lang="en-US" dirty="0"/>
          </a:p>
        </p:txBody>
      </p:sp>
    </p:spTree>
    <p:extLst>
      <p:ext uri="{BB962C8B-B14F-4D97-AF65-F5344CB8AC3E}">
        <p14:creationId xmlns:p14="http://schemas.microsoft.com/office/powerpoint/2010/main" val="19305848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9BBDF3-3F2B-46C8-EBB9-E76680C30537}"/>
              </a:ext>
            </a:extLst>
          </p:cNvPr>
          <p:cNvSpPr>
            <a:spLocks noGrp="1"/>
          </p:cNvSpPr>
          <p:nvPr>
            <p:ph type="title"/>
          </p:nvPr>
        </p:nvSpPr>
        <p:spPr/>
        <p:txBody>
          <a:bodyPr/>
          <a:lstStyle/>
          <a:p>
            <a:r>
              <a:rPr lang="en-GB" dirty="0"/>
              <a:t>Skills to Build during this semester</a:t>
            </a:r>
          </a:p>
        </p:txBody>
      </p:sp>
      <p:sp>
        <p:nvSpPr>
          <p:cNvPr id="3" name="Content Placeholder 2">
            <a:extLst>
              <a:ext uri="{FF2B5EF4-FFF2-40B4-BE49-F238E27FC236}">
                <a16:creationId xmlns:a16="http://schemas.microsoft.com/office/drawing/2014/main" id="{F47673A8-7F5B-DC3C-10BB-FE0C6EAFCA30}"/>
              </a:ext>
            </a:extLst>
          </p:cNvPr>
          <p:cNvSpPr>
            <a:spLocks noGrp="1"/>
          </p:cNvSpPr>
          <p:nvPr>
            <p:ph idx="1"/>
          </p:nvPr>
        </p:nvSpPr>
        <p:spPr/>
        <p:txBody>
          <a:bodyPr>
            <a:normAutofit fontScale="85000" lnSpcReduction="20000"/>
          </a:bodyPr>
          <a:lstStyle/>
          <a:p>
            <a:pPr lvl="0"/>
            <a:r>
              <a:rPr lang="en-GB" b="1" dirty="0"/>
              <a:t>Analytics foundations:</a:t>
            </a:r>
            <a:r>
              <a:rPr lang="en-GB" dirty="0"/>
              <a:t> </a:t>
            </a:r>
          </a:p>
          <a:p>
            <a:pPr lvl="1"/>
            <a:r>
              <a:rPr lang="en-GB" dirty="0"/>
              <a:t>What sport analytics is and formulating good questions we can answer</a:t>
            </a:r>
          </a:p>
          <a:p>
            <a:pPr lvl="0"/>
            <a:r>
              <a:rPr lang="en-GB" b="1" dirty="0"/>
              <a:t>Data:</a:t>
            </a:r>
            <a:r>
              <a:rPr lang="en-GB" dirty="0"/>
              <a:t> </a:t>
            </a:r>
          </a:p>
          <a:p>
            <a:pPr lvl="1"/>
            <a:r>
              <a:rPr lang="en-GB" dirty="0"/>
              <a:t>Sources, structure, quality, validity, reliability, and ethics</a:t>
            </a:r>
          </a:p>
          <a:p>
            <a:pPr lvl="0"/>
            <a:r>
              <a:rPr lang="en-GB" b="1" dirty="0"/>
              <a:t>Describe data:</a:t>
            </a:r>
            <a:r>
              <a:rPr lang="en-GB" dirty="0"/>
              <a:t> </a:t>
            </a:r>
          </a:p>
          <a:p>
            <a:pPr lvl="1"/>
            <a:r>
              <a:rPr lang="en-GB" dirty="0" err="1"/>
              <a:t>Center</a:t>
            </a:r>
            <a:r>
              <a:rPr lang="en-GB" dirty="0"/>
              <a:t>, spread, distributions, and athlete profiling</a:t>
            </a:r>
          </a:p>
          <a:p>
            <a:pPr lvl="0"/>
            <a:r>
              <a:rPr lang="en-GB" b="1" dirty="0"/>
              <a:t>Visualize data:</a:t>
            </a:r>
            <a:r>
              <a:rPr lang="en-GB" dirty="0"/>
              <a:t> </a:t>
            </a:r>
          </a:p>
          <a:p>
            <a:pPr lvl="1"/>
            <a:r>
              <a:rPr lang="en-GB" dirty="0"/>
              <a:t>Showing patterns clearly and honestly</a:t>
            </a:r>
          </a:p>
          <a:p>
            <a:pPr lvl="0"/>
            <a:r>
              <a:rPr lang="en-GB" b="1" dirty="0"/>
              <a:t>Explore relationships:</a:t>
            </a:r>
            <a:r>
              <a:rPr lang="en-GB" dirty="0"/>
              <a:t> </a:t>
            </a:r>
          </a:p>
          <a:p>
            <a:pPr lvl="1"/>
            <a:r>
              <a:rPr lang="en-GB" dirty="0"/>
              <a:t>Association, regression, and interpretation</a:t>
            </a:r>
          </a:p>
          <a:p>
            <a:pPr lvl="0"/>
            <a:r>
              <a:rPr lang="en-GB" b="1" dirty="0"/>
              <a:t>Making decisions:</a:t>
            </a:r>
            <a:r>
              <a:rPr lang="en-GB" dirty="0"/>
              <a:t> </a:t>
            </a:r>
          </a:p>
          <a:p>
            <a:pPr lvl="1"/>
            <a:r>
              <a:rPr lang="en-GB" dirty="0"/>
              <a:t>Thresholds, probabilities, models, and communication</a:t>
            </a:r>
          </a:p>
          <a:p>
            <a:pPr lvl="0"/>
            <a:r>
              <a:rPr lang="en-GB" b="1" dirty="0"/>
              <a:t>Application:</a:t>
            </a:r>
            <a:r>
              <a:rPr lang="en-GB" dirty="0"/>
              <a:t> </a:t>
            </a:r>
          </a:p>
          <a:p>
            <a:pPr lvl="1"/>
            <a:r>
              <a:rPr lang="en-GB" dirty="0"/>
              <a:t>Example applications + semester-long group project</a:t>
            </a:r>
          </a:p>
        </p:txBody>
      </p:sp>
      <p:sp>
        <p:nvSpPr>
          <p:cNvPr id="4" name="Slide Number Placeholder 3">
            <a:extLst>
              <a:ext uri="{FF2B5EF4-FFF2-40B4-BE49-F238E27FC236}">
                <a16:creationId xmlns:a16="http://schemas.microsoft.com/office/drawing/2014/main" id="{33898ED9-935E-620F-FAF1-607D0AF58D5D}"/>
              </a:ext>
            </a:extLst>
          </p:cNvPr>
          <p:cNvSpPr>
            <a:spLocks noGrp="1"/>
          </p:cNvSpPr>
          <p:nvPr>
            <p:ph type="sldNum" sz="quarter" idx="12"/>
          </p:nvPr>
        </p:nvSpPr>
        <p:spPr/>
        <p:txBody>
          <a:bodyPr/>
          <a:lstStyle/>
          <a:p>
            <a:fld id="{45C00377-489B-40EC-B059-26BDDD2E89B9}" type="slidenum">
              <a:rPr lang="en-US" smtClean="0"/>
              <a:pPr/>
              <a:t>8</a:t>
            </a:fld>
            <a:endParaRPr lang="en-US" dirty="0"/>
          </a:p>
        </p:txBody>
      </p:sp>
    </p:spTree>
    <p:extLst>
      <p:ext uri="{BB962C8B-B14F-4D97-AF65-F5344CB8AC3E}">
        <p14:creationId xmlns:p14="http://schemas.microsoft.com/office/powerpoint/2010/main" val="2273123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10" end="10"/>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12" end="12"/>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06033-5535-BCB7-6889-68AB47D34138}"/>
              </a:ext>
            </a:extLst>
          </p:cNvPr>
          <p:cNvSpPr>
            <a:spLocks noGrp="1"/>
          </p:cNvSpPr>
          <p:nvPr>
            <p:ph type="title"/>
          </p:nvPr>
        </p:nvSpPr>
        <p:spPr/>
        <p:txBody>
          <a:bodyPr/>
          <a:lstStyle/>
          <a:p>
            <a:r>
              <a:rPr lang="en-US" dirty="0"/>
              <a:t>The Scope of this Course</a:t>
            </a:r>
          </a:p>
        </p:txBody>
      </p:sp>
      <p:sp>
        <p:nvSpPr>
          <p:cNvPr id="3" name="Content Placeholder 2">
            <a:extLst>
              <a:ext uri="{FF2B5EF4-FFF2-40B4-BE49-F238E27FC236}">
                <a16:creationId xmlns:a16="http://schemas.microsoft.com/office/drawing/2014/main" id="{CFCA93A6-47EF-5149-03D3-C2C40A8DCCB0}"/>
              </a:ext>
            </a:extLst>
          </p:cNvPr>
          <p:cNvSpPr>
            <a:spLocks noGrp="1"/>
          </p:cNvSpPr>
          <p:nvPr>
            <p:ph idx="1"/>
          </p:nvPr>
        </p:nvSpPr>
        <p:spPr/>
        <p:txBody>
          <a:bodyPr/>
          <a:lstStyle/>
          <a:p>
            <a:r>
              <a:rPr lang="en-GB" dirty="0"/>
              <a:t>We are interested in questions related to:</a:t>
            </a:r>
          </a:p>
          <a:p>
            <a:pPr lvl="1"/>
            <a:r>
              <a:rPr lang="en-GB" dirty="0"/>
              <a:t>Scouting, recruiting, and roster decisions</a:t>
            </a:r>
          </a:p>
          <a:p>
            <a:pPr lvl="1"/>
            <a:r>
              <a:rPr lang="en-GB" dirty="0"/>
              <a:t>Athlete performance and training</a:t>
            </a:r>
          </a:p>
          <a:p>
            <a:pPr lvl="1"/>
            <a:r>
              <a:rPr lang="en-GB" dirty="0"/>
              <a:t>Strategy and competition</a:t>
            </a:r>
          </a:p>
          <a:p>
            <a:pPr lvl="1"/>
            <a:endParaRPr lang="en-GB" dirty="0"/>
          </a:p>
          <a:p>
            <a:r>
              <a:rPr lang="en-GB" dirty="0"/>
              <a:t>We are </a:t>
            </a:r>
            <a:r>
              <a:rPr lang="en-GB" b="1" dirty="0"/>
              <a:t>not</a:t>
            </a:r>
            <a:r>
              <a:rPr lang="en-GB" dirty="0"/>
              <a:t> working on sports business problems</a:t>
            </a:r>
          </a:p>
          <a:p>
            <a:pPr lvl="1"/>
            <a:r>
              <a:rPr lang="en-GB" dirty="0"/>
              <a:t>Ticketing </a:t>
            </a:r>
          </a:p>
          <a:p>
            <a:pPr lvl="1"/>
            <a:r>
              <a:rPr lang="en-GB" dirty="0"/>
              <a:t>Marketing and sponsorship</a:t>
            </a:r>
          </a:p>
          <a:p>
            <a:pPr lvl="1"/>
            <a:r>
              <a:rPr lang="en-GB" dirty="0"/>
              <a:t>Operations </a:t>
            </a:r>
            <a:endParaRPr lang="en-US" dirty="0"/>
          </a:p>
        </p:txBody>
      </p:sp>
    </p:spTree>
    <p:extLst>
      <p:ext uri="{BB962C8B-B14F-4D97-AF65-F5344CB8AC3E}">
        <p14:creationId xmlns:p14="http://schemas.microsoft.com/office/powerpoint/2010/main" val="115337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0CA267-07EE-A8C6-7CAD-A0096AFA34D4}"/>
              </a:ext>
            </a:extLst>
          </p:cNvPr>
          <p:cNvSpPr>
            <a:spLocks noGrp="1"/>
          </p:cNvSpPr>
          <p:nvPr>
            <p:ph type="title"/>
          </p:nvPr>
        </p:nvSpPr>
        <p:spPr/>
        <p:txBody>
          <a:bodyPr>
            <a:normAutofit/>
          </a:bodyPr>
          <a:lstStyle/>
          <a:p>
            <a:r>
              <a:rPr lang="en-GB" dirty="0"/>
              <a:t>Brainstorming Activity</a:t>
            </a:r>
            <a:endParaRPr lang="en-US" dirty="0"/>
          </a:p>
        </p:txBody>
      </p:sp>
      <p:sp>
        <p:nvSpPr>
          <p:cNvPr id="3" name="Content Placeholder 2">
            <a:extLst>
              <a:ext uri="{FF2B5EF4-FFF2-40B4-BE49-F238E27FC236}">
                <a16:creationId xmlns:a16="http://schemas.microsoft.com/office/drawing/2014/main" id="{403D231D-5BDE-94C3-09E5-7361D0985BEB}"/>
              </a:ext>
            </a:extLst>
          </p:cNvPr>
          <p:cNvSpPr>
            <a:spLocks noGrp="1"/>
          </p:cNvSpPr>
          <p:nvPr>
            <p:ph idx="1"/>
          </p:nvPr>
        </p:nvSpPr>
        <p:spPr/>
        <p:txBody>
          <a:bodyPr>
            <a:normAutofit/>
          </a:bodyPr>
          <a:lstStyle/>
          <a:p>
            <a:pPr marL="0" indent="0">
              <a:buNone/>
            </a:pPr>
            <a:r>
              <a:rPr lang="en-GB" dirty="0"/>
              <a:t>List a few example of data or analytics being used in sports.</a:t>
            </a:r>
          </a:p>
          <a:p>
            <a:pPr marL="0" indent="0">
              <a:buNone/>
            </a:pPr>
            <a:endParaRPr lang="en-GB" dirty="0"/>
          </a:p>
          <a:p>
            <a:pPr marL="0" indent="0">
              <a:buNone/>
            </a:pPr>
            <a:r>
              <a:rPr lang="en-GB" dirty="0"/>
              <a:t>In pairs</a:t>
            </a:r>
          </a:p>
          <a:p>
            <a:pPr marL="514350" lvl="0" indent="-514350">
              <a:buFont typeface="+mj-lt"/>
              <a:buAutoNum type="arabicPeriod"/>
            </a:pPr>
            <a:r>
              <a:rPr lang="en-GB" dirty="0"/>
              <a:t>Give each person an opportunity to share.</a:t>
            </a:r>
          </a:p>
          <a:p>
            <a:pPr marL="514350" lvl="0" indent="-514350">
              <a:buFont typeface="+mj-lt"/>
              <a:buAutoNum type="arabicPeriod"/>
            </a:pPr>
            <a:r>
              <a:rPr lang="en-GB" dirty="0"/>
              <a:t>Select one or two ideas to discuss further.</a:t>
            </a:r>
          </a:p>
          <a:p>
            <a:pPr marL="514350" indent="-514350">
              <a:buFont typeface="+mj-lt"/>
              <a:buAutoNum type="arabicPeriod"/>
            </a:pPr>
            <a:r>
              <a:rPr lang="en-GB" dirty="0"/>
              <a:t>For each selected idea, consider:</a:t>
            </a:r>
          </a:p>
          <a:p>
            <a:pPr lvl="1"/>
            <a:r>
              <a:rPr lang="en-GB" dirty="0"/>
              <a:t>What information was being collected or presented? </a:t>
            </a:r>
          </a:p>
          <a:p>
            <a:pPr lvl="1"/>
            <a:r>
              <a:rPr lang="en-GB" dirty="0"/>
              <a:t>What was it being used for? To understand? To decide? </a:t>
            </a:r>
          </a:p>
          <a:p>
            <a:pPr lvl="1"/>
            <a:r>
              <a:rPr lang="en-GB" dirty="0"/>
              <a:t>Did you find it useful, convincing, or questionable?</a:t>
            </a:r>
          </a:p>
        </p:txBody>
      </p:sp>
    </p:spTree>
    <p:extLst>
      <p:ext uri="{BB962C8B-B14F-4D97-AF65-F5344CB8AC3E}">
        <p14:creationId xmlns:p14="http://schemas.microsoft.com/office/powerpoint/2010/main" val="256497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A3450-844C-8DC4-E986-2ACD49B2FB8D}"/>
              </a:ext>
            </a:extLst>
          </p:cNvPr>
          <p:cNvSpPr>
            <a:spLocks noGrp="1"/>
          </p:cNvSpPr>
          <p:nvPr>
            <p:ph type="title"/>
          </p:nvPr>
        </p:nvSpPr>
        <p:spPr/>
        <p:txBody>
          <a:bodyPr>
            <a:normAutofit/>
          </a:bodyPr>
          <a:lstStyle/>
          <a:p>
            <a:r>
              <a:rPr lang="en-GB" dirty="0"/>
              <a:t>Brainstorming Activity</a:t>
            </a:r>
            <a:endParaRPr lang="en-US" dirty="0"/>
          </a:p>
        </p:txBody>
      </p:sp>
      <p:sp>
        <p:nvSpPr>
          <p:cNvPr id="3" name="Content Placeholder 2">
            <a:extLst>
              <a:ext uri="{FF2B5EF4-FFF2-40B4-BE49-F238E27FC236}">
                <a16:creationId xmlns:a16="http://schemas.microsoft.com/office/drawing/2014/main" id="{18F2E0BC-8861-0C61-45D0-33D8202F65DE}"/>
              </a:ext>
            </a:extLst>
          </p:cNvPr>
          <p:cNvSpPr>
            <a:spLocks noGrp="1"/>
          </p:cNvSpPr>
          <p:nvPr>
            <p:ph idx="1"/>
          </p:nvPr>
        </p:nvSpPr>
        <p:spPr/>
        <p:txBody>
          <a:bodyPr/>
          <a:lstStyle/>
          <a:p>
            <a:r>
              <a:rPr lang="en-GB" dirty="0"/>
              <a:t>The examples generated today involve different:</a:t>
            </a:r>
          </a:p>
          <a:p>
            <a:pPr lvl="1"/>
            <a:r>
              <a:rPr lang="en-GB" dirty="0"/>
              <a:t>Sports and competitive settings </a:t>
            </a:r>
          </a:p>
          <a:p>
            <a:pPr lvl="1"/>
            <a:r>
              <a:rPr lang="en-GB" dirty="0"/>
              <a:t>Types of data </a:t>
            </a:r>
          </a:p>
          <a:p>
            <a:pPr lvl="1"/>
            <a:r>
              <a:rPr lang="en-GB" dirty="0"/>
              <a:t>Analytical approaches </a:t>
            </a:r>
          </a:p>
          <a:p>
            <a:pPr lvl="1"/>
            <a:r>
              <a:rPr lang="en-GB" dirty="0"/>
              <a:t>Audiences and decisions </a:t>
            </a:r>
          </a:p>
          <a:p>
            <a:r>
              <a:rPr lang="en-GB" dirty="0"/>
              <a:t>Throughout the semester, we will develop a </a:t>
            </a:r>
            <a:r>
              <a:rPr lang="en-GB" b="1" dirty="0"/>
              <a:t>systematic </a:t>
            </a:r>
            <a:r>
              <a:rPr lang="en-GB" dirty="0"/>
              <a:t>method to understand and/or investigate.</a:t>
            </a:r>
          </a:p>
        </p:txBody>
      </p:sp>
    </p:spTree>
    <p:extLst>
      <p:ext uri="{BB962C8B-B14F-4D97-AF65-F5344CB8AC3E}">
        <p14:creationId xmlns:p14="http://schemas.microsoft.com/office/powerpoint/2010/main" val="326400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7C0FC3-5B4D-EFA6-B3D9-598E0AC4D90F}"/>
              </a:ext>
            </a:extLst>
          </p:cNvPr>
          <p:cNvSpPr>
            <a:spLocks noGrp="1"/>
          </p:cNvSpPr>
          <p:nvPr>
            <p:ph type="title"/>
          </p:nvPr>
        </p:nvSpPr>
        <p:spPr/>
        <p:txBody>
          <a:bodyPr/>
          <a:lstStyle/>
          <a:p>
            <a:r>
              <a:rPr lang="en-US" dirty="0"/>
              <a:t>Syllabus</a:t>
            </a:r>
          </a:p>
        </p:txBody>
      </p:sp>
      <p:sp>
        <p:nvSpPr>
          <p:cNvPr id="3" name="Text Placeholder 2">
            <a:extLst>
              <a:ext uri="{FF2B5EF4-FFF2-40B4-BE49-F238E27FC236}">
                <a16:creationId xmlns:a16="http://schemas.microsoft.com/office/drawing/2014/main" id="{E6C6351E-A498-67BD-5015-2962D6B8911C}"/>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438852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9BC00C-9A93-01EE-A48E-89BE0BAD4E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5C8C00-C411-85D8-9F2C-080682282586}"/>
              </a:ext>
            </a:extLst>
          </p:cNvPr>
          <p:cNvSpPr>
            <a:spLocks noGrp="1"/>
          </p:cNvSpPr>
          <p:nvPr>
            <p:ph type="title"/>
          </p:nvPr>
        </p:nvSpPr>
        <p:spPr/>
        <p:txBody>
          <a:bodyPr/>
          <a:lstStyle/>
          <a:p>
            <a:r>
              <a:rPr lang="en-US" dirty="0"/>
              <a:t>Assessments</a:t>
            </a:r>
          </a:p>
        </p:txBody>
      </p:sp>
      <p:sp>
        <p:nvSpPr>
          <p:cNvPr id="3" name="Content Placeholder 2">
            <a:extLst>
              <a:ext uri="{FF2B5EF4-FFF2-40B4-BE49-F238E27FC236}">
                <a16:creationId xmlns:a16="http://schemas.microsoft.com/office/drawing/2014/main" id="{FC6A888D-DC63-B929-3676-DC5359C91211}"/>
              </a:ext>
            </a:extLst>
          </p:cNvPr>
          <p:cNvSpPr>
            <a:spLocks noGrp="1"/>
          </p:cNvSpPr>
          <p:nvPr>
            <p:ph idx="1"/>
          </p:nvPr>
        </p:nvSpPr>
        <p:spPr/>
        <p:txBody>
          <a:bodyPr>
            <a:normAutofit/>
          </a:bodyPr>
          <a:lstStyle/>
          <a:p>
            <a:pPr lvl="0"/>
            <a:r>
              <a:rPr lang="en-GB" dirty="0"/>
              <a:t>12 quizzes: </a:t>
            </a:r>
          </a:p>
          <a:p>
            <a:pPr lvl="1"/>
            <a:r>
              <a:rPr lang="en-GB" dirty="0"/>
              <a:t>Review the previous week's material; the two lowest scores are dropped.</a:t>
            </a:r>
          </a:p>
          <a:p>
            <a:pPr lvl="0"/>
            <a:r>
              <a:rPr lang="en-GB" dirty="0"/>
              <a:t>In-class activities: </a:t>
            </a:r>
          </a:p>
          <a:p>
            <a:pPr lvl="1"/>
            <a:r>
              <a:rPr lang="en-GB" dirty="0"/>
              <a:t>Apply concepts to sports problems and earn participation credit.</a:t>
            </a:r>
          </a:p>
          <a:p>
            <a:pPr lvl="1"/>
            <a:r>
              <a:rPr lang="en-US" sz="2000" dirty="0"/>
              <a:t>&gt; 80% completion = 10 pts, 60-79% completion = 5 pts, &lt; 60% completion = 0.</a:t>
            </a:r>
            <a:endParaRPr lang="en-GB" sz="2000" dirty="0"/>
          </a:p>
          <a:p>
            <a:pPr lvl="0"/>
            <a:r>
              <a:rPr lang="en-GB" dirty="0"/>
              <a:t>4 case studies: </a:t>
            </a:r>
          </a:p>
          <a:p>
            <a:pPr lvl="1"/>
            <a:r>
              <a:rPr lang="en-GB" dirty="0"/>
              <a:t>Interpret data, evaluate methods, visualize findings, and reflect on analytical choices.</a:t>
            </a:r>
          </a:p>
          <a:p>
            <a:pPr lvl="0"/>
            <a:r>
              <a:rPr lang="en-GB" dirty="0"/>
              <a:t>2 exam: </a:t>
            </a:r>
          </a:p>
          <a:p>
            <a:pPr lvl="1"/>
            <a:r>
              <a:rPr lang="en-GB" dirty="0"/>
              <a:t>Demonstrate your understanding of concepts, applications, and the final project.</a:t>
            </a:r>
          </a:p>
        </p:txBody>
      </p:sp>
      <p:sp>
        <p:nvSpPr>
          <p:cNvPr id="4" name="Slide Number Placeholder 3">
            <a:extLst>
              <a:ext uri="{FF2B5EF4-FFF2-40B4-BE49-F238E27FC236}">
                <a16:creationId xmlns:a16="http://schemas.microsoft.com/office/drawing/2014/main" id="{BD5A3C2B-BA88-A218-44BF-B87E87109163}"/>
              </a:ext>
            </a:extLst>
          </p:cNvPr>
          <p:cNvSpPr>
            <a:spLocks noGrp="1"/>
          </p:cNvSpPr>
          <p:nvPr>
            <p:ph type="sldNum" sz="quarter" idx="12"/>
          </p:nvPr>
        </p:nvSpPr>
        <p:spPr/>
        <p:txBody>
          <a:bodyPr/>
          <a:lstStyle/>
          <a:p>
            <a:fld id="{45C00377-489B-40EC-B059-26BDDD2E89B9}" type="slidenum">
              <a:rPr lang="en-US" smtClean="0"/>
              <a:pPr/>
              <a:t>13</a:t>
            </a:fld>
            <a:endParaRPr lang="en-US" dirty="0"/>
          </a:p>
        </p:txBody>
      </p:sp>
    </p:spTree>
    <p:extLst>
      <p:ext uri="{BB962C8B-B14F-4D97-AF65-F5344CB8AC3E}">
        <p14:creationId xmlns:p14="http://schemas.microsoft.com/office/powerpoint/2010/main" val="2234405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455E1-9E94-F39C-2022-4F4718F86CD8}"/>
              </a:ext>
            </a:extLst>
          </p:cNvPr>
          <p:cNvSpPr>
            <a:spLocks noGrp="1"/>
          </p:cNvSpPr>
          <p:nvPr>
            <p:ph type="title"/>
          </p:nvPr>
        </p:nvSpPr>
        <p:spPr/>
        <p:txBody>
          <a:bodyPr/>
          <a:lstStyle/>
          <a:p>
            <a:r>
              <a:rPr lang="en-US" dirty="0"/>
              <a:t>Assessments</a:t>
            </a:r>
          </a:p>
        </p:txBody>
      </p:sp>
      <p:sp>
        <p:nvSpPr>
          <p:cNvPr id="4" name="Slide Number Placeholder 3">
            <a:extLst>
              <a:ext uri="{FF2B5EF4-FFF2-40B4-BE49-F238E27FC236}">
                <a16:creationId xmlns:a16="http://schemas.microsoft.com/office/drawing/2014/main" id="{2ABD99BD-A8DD-9B07-2238-F064A2889A91}"/>
              </a:ext>
            </a:extLst>
          </p:cNvPr>
          <p:cNvSpPr>
            <a:spLocks noGrp="1"/>
          </p:cNvSpPr>
          <p:nvPr>
            <p:ph type="sldNum" sz="quarter" idx="12"/>
          </p:nvPr>
        </p:nvSpPr>
        <p:spPr/>
        <p:txBody>
          <a:bodyPr/>
          <a:lstStyle/>
          <a:p>
            <a:fld id="{45C00377-489B-40EC-B059-26BDDD2E89B9}" type="slidenum">
              <a:rPr lang="en-US" smtClean="0"/>
              <a:pPr/>
              <a:t>14</a:t>
            </a:fld>
            <a:endParaRPr lang="en-US" dirty="0"/>
          </a:p>
        </p:txBody>
      </p:sp>
      <p:graphicFrame>
        <p:nvGraphicFramePr>
          <p:cNvPr id="7" name="Content Placeholder 6">
            <a:extLst>
              <a:ext uri="{FF2B5EF4-FFF2-40B4-BE49-F238E27FC236}">
                <a16:creationId xmlns:a16="http://schemas.microsoft.com/office/drawing/2014/main" id="{B2739E84-65FD-5F89-E2AB-1CF4F2F24362}"/>
              </a:ext>
            </a:extLst>
          </p:cNvPr>
          <p:cNvGraphicFramePr>
            <a:graphicFrameLocks noGrp="1"/>
          </p:cNvGraphicFramePr>
          <p:nvPr>
            <p:ph idx="1"/>
            <p:extLst>
              <p:ext uri="{D42A27DB-BD31-4B8C-83A1-F6EECF244321}">
                <p14:modId xmlns:p14="http://schemas.microsoft.com/office/powerpoint/2010/main" val="558006189"/>
              </p:ext>
            </p:extLst>
          </p:nvPr>
        </p:nvGraphicFramePr>
        <p:xfrm>
          <a:off x="2624447" y="1650669"/>
          <a:ext cx="5438608" cy="3096492"/>
        </p:xfrm>
        <a:graphic>
          <a:graphicData uri="http://schemas.openxmlformats.org/drawingml/2006/table">
            <a:tbl>
              <a:tblPr firstRow="1" lastRow="1">
                <a:tableStyleId>{5C22544A-7EE6-4342-B048-85BDC9FD1C3A}</a:tableStyleId>
              </a:tblPr>
              <a:tblGrid>
                <a:gridCol w="4120157">
                  <a:extLst>
                    <a:ext uri="{9D8B030D-6E8A-4147-A177-3AD203B41FA5}">
                      <a16:colId xmlns:a16="http://schemas.microsoft.com/office/drawing/2014/main" val="3630878524"/>
                    </a:ext>
                  </a:extLst>
                </a:gridCol>
                <a:gridCol w="1318451">
                  <a:extLst>
                    <a:ext uri="{9D8B030D-6E8A-4147-A177-3AD203B41FA5}">
                      <a16:colId xmlns:a16="http://schemas.microsoft.com/office/drawing/2014/main" val="2661739713"/>
                    </a:ext>
                  </a:extLst>
                </a:gridCol>
              </a:tblGrid>
              <a:tr h="442356">
                <a:tc>
                  <a:txBody>
                    <a:bodyPr/>
                    <a:lstStyle/>
                    <a:p>
                      <a:pPr algn="ctr">
                        <a:lnSpc>
                          <a:spcPct val="115000"/>
                        </a:lnSpc>
                        <a:buNone/>
                      </a:pPr>
                      <a:r>
                        <a:rPr lang="en-US" sz="1800" kern="100" dirty="0">
                          <a:effectLst/>
                        </a:rPr>
                        <a:t>Evaluation</a:t>
                      </a:r>
                      <a:endParaRPr lang="en-GB" sz="1800" kern="1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15000"/>
                        </a:lnSpc>
                        <a:buNone/>
                      </a:pPr>
                      <a:r>
                        <a:rPr lang="en-US" sz="1800" kern="100">
                          <a:effectLst/>
                        </a:rPr>
                        <a:t>Points</a:t>
                      </a:r>
                      <a:endParaRPr lang="en-GB" sz="1800" kern="1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1731221789"/>
                  </a:ext>
                </a:extLst>
              </a:tr>
              <a:tr h="442356">
                <a:tc>
                  <a:txBody>
                    <a:bodyPr/>
                    <a:lstStyle/>
                    <a:p>
                      <a:pPr algn="ctr">
                        <a:lnSpc>
                          <a:spcPct val="115000"/>
                        </a:lnSpc>
                        <a:buNone/>
                      </a:pPr>
                      <a:r>
                        <a:rPr lang="en-US" sz="1800" kern="100">
                          <a:effectLst/>
                        </a:rPr>
                        <a:t>Quizzes (10)</a:t>
                      </a:r>
                      <a:endParaRPr lang="en-GB" sz="1800" kern="1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15000"/>
                        </a:lnSpc>
                        <a:buNone/>
                      </a:pPr>
                      <a:r>
                        <a:rPr lang="en-US" sz="1800" kern="100">
                          <a:effectLst/>
                        </a:rPr>
                        <a:t>100</a:t>
                      </a:r>
                      <a:endParaRPr lang="en-GB" sz="1800" kern="1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2122959447"/>
                  </a:ext>
                </a:extLst>
              </a:tr>
              <a:tr h="442356">
                <a:tc>
                  <a:txBody>
                    <a:bodyPr/>
                    <a:lstStyle/>
                    <a:p>
                      <a:pPr algn="ctr">
                        <a:lnSpc>
                          <a:spcPct val="115000"/>
                        </a:lnSpc>
                        <a:buNone/>
                      </a:pPr>
                      <a:r>
                        <a:rPr lang="en-US" sz="1800" kern="100">
                          <a:effectLst/>
                        </a:rPr>
                        <a:t>Attendance</a:t>
                      </a:r>
                      <a:endParaRPr lang="en-GB" sz="1800" kern="1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15000"/>
                        </a:lnSpc>
                        <a:buNone/>
                      </a:pPr>
                      <a:r>
                        <a:rPr lang="en-US" sz="1800" kern="100">
                          <a:effectLst/>
                        </a:rPr>
                        <a:t>10</a:t>
                      </a:r>
                      <a:endParaRPr lang="en-GB" sz="1800" kern="1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839403633"/>
                  </a:ext>
                </a:extLst>
              </a:tr>
              <a:tr h="442356">
                <a:tc>
                  <a:txBody>
                    <a:bodyPr/>
                    <a:lstStyle/>
                    <a:p>
                      <a:pPr algn="ctr">
                        <a:lnSpc>
                          <a:spcPct val="115000"/>
                        </a:lnSpc>
                        <a:buNone/>
                      </a:pPr>
                      <a:r>
                        <a:rPr lang="en-US" sz="1800" kern="100" dirty="0">
                          <a:effectLst/>
                        </a:rPr>
                        <a:t>Case study (4)</a:t>
                      </a:r>
                      <a:endParaRPr lang="en-GB" sz="1800" kern="1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15000"/>
                        </a:lnSpc>
                        <a:buNone/>
                      </a:pPr>
                      <a:r>
                        <a:rPr lang="en-US" sz="1800" kern="100" dirty="0">
                          <a:effectLst/>
                        </a:rPr>
                        <a:t>100</a:t>
                      </a:r>
                      <a:endParaRPr lang="en-GB" sz="1800" kern="100"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3793675591"/>
                  </a:ext>
                </a:extLst>
              </a:tr>
              <a:tr h="442356">
                <a:tc>
                  <a:txBody>
                    <a:bodyPr/>
                    <a:lstStyle/>
                    <a:p>
                      <a:pPr algn="ctr">
                        <a:lnSpc>
                          <a:spcPct val="115000"/>
                        </a:lnSpc>
                        <a:buNone/>
                      </a:pPr>
                      <a:r>
                        <a:rPr lang="en-US" sz="1800" kern="100">
                          <a:effectLst/>
                        </a:rPr>
                        <a:t> Final project</a:t>
                      </a:r>
                      <a:endParaRPr lang="en-GB" sz="1800" kern="1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15000"/>
                        </a:lnSpc>
                        <a:buNone/>
                      </a:pPr>
                      <a:r>
                        <a:rPr lang="en-US" sz="1800" kern="100" dirty="0">
                          <a:effectLst/>
                        </a:rPr>
                        <a:t>100</a:t>
                      </a:r>
                      <a:endParaRPr lang="en-GB" sz="1800" kern="100"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1372832561"/>
                  </a:ext>
                </a:extLst>
              </a:tr>
              <a:tr h="442356">
                <a:tc>
                  <a:txBody>
                    <a:bodyPr/>
                    <a:lstStyle/>
                    <a:p>
                      <a:pPr algn="ctr">
                        <a:lnSpc>
                          <a:spcPct val="115000"/>
                        </a:lnSpc>
                        <a:buNone/>
                      </a:pPr>
                      <a:r>
                        <a:rPr lang="en-US" sz="1800" kern="100">
                          <a:effectLst/>
                        </a:rPr>
                        <a:t>Exams (2)</a:t>
                      </a:r>
                      <a:endParaRPr lang="en-GB" sz="1800" kern="1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15000"/>
                        </a:lnSpc>
                        <a:buNone/>
                      </a:pPr>
                      <a:r>
                        <a:rPr lang="en-US" sz="1800" kern="100" dirty="0">
                          <a:effectLst/>
                        </a:rPr>
                        <a:t>200</a:t>
                      </a:r>
                      <a:endParaRPr lang="en-GB" sz="1800" kern="100"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2818803125"/>
                  </a:ext>
                </a:extLst>
              </a:tr>
              <a:tr h="442356">
                <a:tc>
                  <a:txBody>
                    <a:bodyPr/>
                    <a:lstStyle/>
                    <a:p>
                      <a:pPr algn="ctr">
                        <a:lnSpc>
                          <a:spcPct val="115000"/>
                        </a:lnSpc>
                        <a:buNone/>
                      </a:pPr>
                      <a:r>
                        <a:rPr lang="en-US" sz="1800" kern="100" dirty="0">
                          <a:effectLst/>
                        </a:rPr>
                        <a:t>Total </a:t>
                      </a:r>
                      <a:endParaRPr lang="en-GB" sz="1800" kern="1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15000"/>
                        </a:lnSpc>
                        <a:buNone/>
                      </a:pPr>
                      <a:r>
                        <a:rPr lang="en-US" sz="1800" kern="100" dirty="0">
                          <a:effectLst/>
                        </a:rPr>
                        <a:t>510</a:t>
                      </a:r>
                      <a:endParaRPr lang="en-GB" sz="1800" kern="100"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3002130040"/>
                  </a:ext>
                </a:extLst>
              </a:tr>
            </a:tbl>
          </a:graphicData>
        </a:graphic>
      </p:graphicFrame>
    </p:spTree>
    <p:extLst>
      <p:ext uri="{BB962C8B-B14F-4D97-AF65-F5344CB8AC3E}">
        <p14:creationId xmlns:p14="http://schemas.microsoft.com/office/powerpoint/2010/main" val="2166066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C3B321-296D-72C2-C3F9-48ED96B4BA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FAA7BA-0A93-634C-8566-7C39CD37A5FD}"/>
              </a:ext>
            </a:extLst>
          </p:cNvPr>
          <p:cNvSpPr>
            <a:spLocks noGrp="1"/>
          </p:cNvSpPr>
          <p:nvPr>
            <p:ph type="title"/>
          </p:nvPr>
        </p:nvSpPr>
        <p:spPr/>
        <p:txBody>
          <a:bodyPr/>
          <a:lstStyle/>
          <a:p>
            <a:r>
              <a:rPr lang="en-US" dirty="0"/>
              <a:t>Course policies</a:t>
            </a:r>
          </a:p>
        </p:txBody>
      </p:sp>
      <p:sp>
        <p:nvSpPr>
          <p:cNvPr id="3" name="Content Placeholder 2">
            <a:extLst>
              <a:ext uri="{FF2B5EF4-FFF2-40B4-BE49-F238E27FC236}">
                <a16:creationId xmlns:a16="http://schemas.microsoft.com/office/drawing/2014/main" id="{778D1AB3-CFA6-4444-D7B2-C531D0B433DC}"/>
              </a:ext>
            </a:extLst>
          </p:cNvPr>
          <p:cNvSpPr>
            <a:spLocks noGrp="1"/>
          </p:cNvSpPr>
          <p:nvPr>
            <p:ph idx="1"/>
          </p:nvPr>
        </p:nvSpPr>
        <p:spPr/>
        <p:txBody>
          <a:bodyPr>
            <a:normAutofit/>
          </a:bodyPr>
          <a:lstStyle/>
          <a:p>
            <a:r>
              <a:rPr lang="en-US" dirty="0"/>
              <a:t>Attendance</a:t>
            </a:r>
          </a:p>
          <a:p>
            <a:pPr lvl="1"/>
            <a:r>
              <a:rPr lang="en-GB" dirty="0"/>
              <a:t>In-class activities count toward attendance and cannot be made up.</a:t>
            </a:r>
          </a:p>
          <a:p>
            <a:pPr lvl="1"/>
            <a:r>
              <a:rPr lang="en-US" dirty="0"/>
              <a:t>Grade rounding at the end of the semester is only applied if full attendance points is earned.*</a:t>
            </a:r>
          </a:p>
          <a:p>
            <a:r>
              <a:rPr lang="en-GB" dirty="0"/>
              <a:t>Deadlines: </a:t>
            </a:r>
          </a:p>
          <a:p>
            <a:pPr lvl="1"/>
            <a:r>
              <a:rPr lang="en-GB" dirty="0"/>
              <a:t>Late quizzes and exams are not accepted. </a:t>
            </a:r>
          </a:p>
          <a:p>
            <a:pPr lvl="1"/>
            <a:r>
              <a:rPr lang="en-GB" dirty="0"/>
              <a:t>Other late work loses 10% per day unless arranged in advance.</a:t>
            </a:r>
          </a:p>
          <a:p>
            <a:r>
              <a:rPr lang="en-GB" dirty="0"/>
              <a:t>AI:</a:t>
            </a:r>
          </a:p>
          <a:p>
            <a:pPr lvl="1"/>
            <a:endParaRPr lang="en-US" dirty="0"/>
          </a:p>
        </p:txBody>
      </p:sp>
      <p:sp>
        <p:nvSpPr>
          <p:cNvPr id="4" name="Slide Number Placeholder 3">
            <a:extLst>
              <a:ext uri="{FF2B5EF4-FFF2-40B4-BE49-F238E27FC236}">
                <a16:creationId xmlns:a16="http://schemas.microsoft.com/office/drawing/2014/main" id="{7000C46F-9422-E582-3C1B-E868C57F97FE}"/>
              </a:ext>
            </a:extLst>
          </p:cNvPr>
          <p:cNvSpPr>
            <a:spLocks noGrp="1"/>
          </p:cNvSpPr>
          <p:nvPr>
            <p:ph type="sldNum" sz="quarter" idx="12"/>
          </p:nvPr>
        </p:nvSpPr>
        <p:spPr/>
        <p:txBody>
          <a:bodyPr/>
          <a:lstStyle/>
          <a:p>
            <a:fld id="{45C00377-489B-40EC-B059-26BDDD2E89B9}" type="slidenum">
              <a:rPr lang="en-US" smtClean="0"/>
              <a:pPr/>
              <a:t>15</a:t>
            </a:fld>
            <a:endParaRPr lang="en-US" dirty="0"/>
          </a:p>
        </p:txBody>
      </p:sp>
      <p:sp>
        <p:nvSpPr>
          <p:cNvPr id="6" name="TextBox 5">
            <a:extLst>
              <a:ext uri="{FF2B5EF4-FFF2-40B4-BE49-F238E27FC236}">
                <a16:creationId xmlns:a16="http://schemas.microsoft.com/office/drawing/2014/main" id="{E53DBA07-6E28-BE08-3D2E-E56341BA4232}"/>
              </a:ext>
            </a:extLst>
          </p:cNvPr>
          <p:cNvSpPr txBox="1"/>
          <p:nvPr/>
        </p:nvSpPr>
        <p:spPr>
          <a:xfrm>
            <a:off x="4012857" y="6277430"/>
            <a:ext cx="6098058" cy="430887"/>
          </a:xfrm>
          <a:prstGeom prst="rect">
            <a:avLst/>
          </a:prstGeom>
          <a:noFill/>
        </p:spPr>
        <p:txBody>
          <a:bodyPr wrap="square">
            <a:spAutoFit/>
          </a:bodyPr>
          <a:lstStyle/>
          <a:p>
            <a:pPr marL="0" indent="0">
              <a:buNone/>
            </a:pPr>
            <a:r>
              <a:rPr lang="en-US" sz="2200" dirty="0"/>
              <a:t>*Check syllabus for full details</a:t>
            </a:r>
          </a:p>
        </p:txBody>
      </p:sp>
    </p:spTree>
    <p:extLst>
      <p:ext uri="{BB962C8B-B14F-4D97-AF65-F5344CB8AC3E}">
        <p14:creationId xmlns:p14="http://schemas.microsoft.com/office/powerpoint/2010/main" val="43911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0F533F-DA30-600A-40A9-E6D7BBD4AA09}"/>
              </a:ext>
            </a:extLst>
          </p:cNvPr>
          <p:cNvSpPr>
            <a:spLocks noGrp="1"/>
          </p:cNvSpPr>
          <p:nvPr>
            <p:ph type="title"/>
          </p:nvPr>
        </p:nvSpPr>
        <p:spPr/>
        <p:txBody>
          <a:bodyPr/>
          <a:lstStyle/>
          <a:p>
            <a:r>
              <a:rPr lang="en-US" dirty="0"/>
              <a:t>Resources</a:t>
            </a:r>
          </a:p>
        </p:txBody>
      </p:sp>
      <p:sp>
        <p:nvSpPr>
          <p:cNvPr id="3" name="Content Placeholder 2">
            <a:extLst>
              <a:ext uri="{FF2B5EF4-FFF2-40B4-BE49-F238E27FC236}">
                <a16:creationId xmlns:a16="http://schemas.microsoft.com/office/drawing/2014/main" id="{02BFF243-A7FE-CED8-611B-3CA162F2C1CE}"/>
              </a:ext>
            </a:extLst>
          </p:cNvPr>
          <p:cNvSpPr>
            <a:spLocks noGrp="1"/>
          </p:cNvSpPr>
          <p:nvPr>
            <p:ph idx="1"/>
          </p:nvPr>
        </p:nvSpPr>
        <p:spPr/>
        <p:txBody>
          <a:bodyPr>
            <a:normAutofit lnSpcReduction="10000"/>
          </a:bodyPr>
          <a:lstStyle/>
          <a:p>
            <a:r>
              <a:rPr lang="en-US" dirty="0"/>
              <a:t>Canvas</a:t>
            </a:r>
          </a:p>
          <a:p>
            <a:pPr lvl="1"/>
            <a:r>
              <a:rPr lang="en-US" dirty="0"/>
              <a:t>All materials used in this course will be available on Canvas</a:t>
            </a:r>
          </a:p>
          <a:p>
            <a:pPr lvl="1"/>
            <a:r>
              <a:rPr lang="en-US" dirty="0"/>
              <a:t>Class-wide communications will be done via Canvas Announcements</a:t>
            </a:r>
          </a:p>
          <a:p>
            <a:r>
              <a:rPr lang="en-US" dirty="0"/>
              <a:t>Communication </a:t>
            </a:r>
          </a:p>
          <a:p>
            <a:pPr lvl="1"/>
            <a:r>
              <a:rPr lang="en-US" dirty="0"/>
              <a:t>Email: </a:t>
            </a:r>
            <a:r>
              <a:rPr lang="en-US" dirty="0">
                <a:hlinkClick r:id="rId3"/>
              </a:rPr>
              <a:t>saryu@ou.edu</a:t>
            </a:r>
            <a:r>
              <a:rPr lang="en-US" dirty="0"/>
              <a:t> (</a:t>
            </a:r>
            <a:r>
              <a:rPr lang="en-US" b="1" dirty="0">
                <a:solidFill>
                  <a:srgbClr val="FF0000"/>
                </a:solidFill>
              </a:rPr>
              <a:t>DO NOT </a:t>
            </a:r>
            <a:r>
              <a:rPr lang="en-US" dirty="0"/>
              <a:t>message me on Canvas)</a:t>
            </a:r>
          </a:p>
          <a:p>
            <a:pPr lvl="1"/>
            <a:r>
              <a:rPr lang="en-US" dirty="0"/>
              <a:t>Office: SJSC 103 on Tuesdays at 1:30-2:30 or by appointment</a:t>
            </a:r>
          </a:p>
          <a:p>
            <a:pPr lvl="1"/>
            <a:r>
              <a:rPr lang="en-US" i="1" dirty="0"/>
              <a:t>Help me help you</a:t>
            </a:r>
            <a:r>
              <a:rPr lang="en-US" dirty="0"/>
              <a:t> - </a:t>
            </a:r>
            <a:r>
              <a:rPr lang="en-US" b="1" dirty="0">
                <a:solidFill>
                  <a:srgbClr val="FF0000"/>
                </a:solidFill>
              </a:rPr>
              <a:t>please</a:t>
            </a:r>
            <a:r>
              <a:rPr lang="en-US" dirty="0"/>
              <a:t> reach out if you need something from me!</a:t>
            </a:r>
          </a:p>
          <a:p>
            <a:r>
              <a:rPr lang="en-US" dirty="0"/>
              <a:t>Reasonable accommodation policy</a:t>
            </a:r>
          </a:p>
          <a:p>
            <a:pPr lvl="1"/>
            <a:r>
              <a:rPr lang="en-US" dirty="0"/>
              <a:t>All accommodations are facilitated through the Accessibility and Disability Resource Center.</a:t>
            </a:r>
          </a:p>
          <a:p>
            <a:pPr lvl="1"/>
            <a:r>
              <a:rPr lang="en-US" dirty="0"/>
              <a:t>If you require accommodations, contact </a:t>
            </a:r>
            <a:r>
              <a:rPr lang="en-US" dirty="0">
                <a:hlinkClick r:id="rId4"/>
              </a:rPr>
              <a:t>adrc@ou.edu</a:t>
            </a:r>
            <a:r>
              <a:rPr lang="en-US" dirty="0"/>
              <a:t> or (405)2325-3852.</a:t>
            </a:r>
          </a:p>
          <a:p>
            <a:endParaRPr lang="en-US" dirty="0"/>
          </a:p>
        </p:txBody>
      </p:sp>
      <p:sp>
        <p:nvSpPr>
          <p:cNvPr id="4" name="Slide Number Placeholder 3">
            <a:extLst>
              <a:ext uri="{FF2B5EF4-FFF2-40B4-BE49-F238E27FC236}">
                <a16:creationId xmlns:a16="http://schemas.microsoft.com/office/drawing/2014/main" id="{28922991-C37A-72C0-039F-DDF7088C4301}"/>
              </a:ext>
            </a:extLst>
          </p:cNvPr>
          <p:cNvSpPr>
            <a:spLocks noGrp="1"/>
          </p:cNvSpPr>
          <p:nvPr>
            <p:ph type="sldNum" sz="quarter" idx="12"/>
          </p:nvPr>
        </p:nvSpPr>
        <p:spPr/>
        <p:txBody>
          <a:bodyPr/>
          <a:lstStyle/>
          <a:p>
            <a:fld id="{45C00377-489B-40EC-B059-26BDDD2E89B9}" type="slidenum">
              <a:rPr lang="en-US" smtClean="0"/>
              <a:pPr/>
              <a:t>16</a:t>
            </a:fld>
            <a:endParaRPr lang="en-US" dirty="0"/>
          </a:p>
        </p:txBody>
      </p:sp>
    </p:spTree>
    <p:extLst>
      <p:ext uri="{BB962C8B-B14F-4D97-AF65-F5344CB8AC3E}">
        <p14:creationId xmlns:p14="http://schemas.microsoft.com/office/powerpoint/2010/main" val="1424567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230CB-54CC-E7AD-C9A9-5C5EDD664949}"/>
              </a:ext>
            </a:extLst>
          </p:cNvPr>
          <p:cNvSpPr>
            <a:spLocks noGrp="1"/>
          </p:cNvSpPr>
          <p:nvPr>
            <p:ph type="title"/>
          </p:nvPr>
        </p:nvSpPr>
        <p:spPr/>
        <p:txBody>
          <a:bodyPr>
            <a:normAutofit/>
          </a:bodyPr>
          <a:lstStyle/>
          <a:p>
            <a:r>
              <a:rPr lang="en-GB" dirty="0"/>
              <a:t>Looking Ahead</a:t>
            </a:r>
            <a:endParaRPr lang="en-US" dirty="0"/>
          </a:p>
        </p:txBody>
      </p:sp>
      <p:sp>
        <p:nvSpPr>
          <p:cNvPr id="3" name="Content Placeholder 2">
            <a:extLst>
              <a:ext uri="{FF2B5EF4-FFF2-40B4-BE49-F238E27FC236}">
                <a16:creationId xmlns:a16="http://schemas.microsoft.com/office/drawing/2014/main" id="{469926CA-61F9-6CE3-6A2E-EBA6DE431EA1}"/>
              </a:ext>
            </a:extLst>
          </p:cNvPr>
          <p:cNvSpPr>
            <a:spLocks noGrp="1"/>
          </p:cNvSpPr>
          <p:nvPr>
            <p:ph idx="1"/>
          </p:nvPr>
        </p:nvSpPr>
        <p:spPr/>
        <p:txBody>
          <a:bodyPr/>
          <a:lstStyle/>
          <a:p>
            <a:pPr lvl="0"/>
            <a:r>
              <a:rPr lang="en-GB" b="1" dirty="0"/>
              <a:t>Next Class:</a:t>
            </a:r>
            <a:r>
              <a:rPr lang="en-GB" dirty="0"/>
              <a:t> Evolution of sports analytics</a:t>
            </a:r>
          </a:p>
          <a:p>
            <a:pPr lvl="0"/>
            <a:r>
              <a:rPr lang="en-GB" b="1" dirty="0"/>
              <a:t>Before Next Class:</a:t>
            </a:r>
            <a:endParaRPr lang="en-GB" dirty="0"/>
          </a:p>
          <a:p>
            <a:pPr lvl="1"/>
            <a:r>
              <a:rPr lang="en-GB" dirty="0"/>
              <a:t>Read the syllabus</a:t>
            </a:r>
          </a:p>
          <a:p>
            <a:pPr lvl="1"/>
            <a:r>
              <a:rPr lang="en-GB" dirty="0"/>
              <a:t>Get familiar with Moneyball, by Michael Lewis</a:t>
            </a:r>
          </a:p>
          <a:p>
            <a:endParaRPr lang="en-US" dirty="0"/>
          </a:p>
        </p:txBody>
      </p:sp>
    </p:spTree>
    <p:extLst>
      <p:ext uri="{BB962C8B-B14F-4D97-AF65-F5344CB8AC3E}">
        <p14:creationId xmlns:p14="http://schemas.microsoft.com/office/powerpoint/2010/main" val="28024330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BE2FAA-0AEB-A3B4-8F23-4370C2717662}"/>
              </a:ext>
            </a:extLst>
          </p:cNvPr>
          <p:cNvSpPr>
            <a:spLocks noGrp="1"/>
          </p:cNvSpPr>
          <p:nvPr>
            <p:ph type="title"/>
          </p:nvPr>
        </p:nvSpPr>
        <p:spPr/>
        <p:txBody>
          <a:bodyPr/>
          <a:lstStyle/>
          <a:p>
            <a:r>
              <a:rPr lang="en-US" dirty="0"/>
              <a:t>Welcome!</a:t>
            </a:r>
          </a:p>
        </p:txBody>
      </p:sp>
      <p:sp>
        <p:nvSpPr>
          <p:cNvPr id="3" name="Content Placeholder 2">
            <a:extLst>
              <a:ext uri="{FF2B5EF4-FFF2-40B4-BE49-F238E27FC236}">
                <a16:creationId xmlns:a16="http://schemas.microsoft.com/office/drawing/2014/main" id="{35803029-7703-D415-8652-8E95181446F2}"/>
              </a:ext>
            </a:extLst>
          </p:cNvPr>
          <p:cNvSpPr>
            <a:spLocks noGrp="1"/>
          </p:cNvSpPr>
          <p:nvPr>
            <p:ph idx="1"/>
          </p:nvPr>
        </p:nvSpPr>
        <p:spPr/>
        <p:txBody>
          <a:bodyPr/>
          <a:lstStyle/>
          <a:p>
            <a:pPr lvl="0"/>
            <a:r>
              <a:rPr lang="en-GB" dirty="0"/>
              <a:t>Modern sports generate enormous amounts of data.</a:t>
            </a:r>
          </a:p>
          <a:p>
            <a:pPr lvl="0"/>
            <a:r>
              <a:rPr lang="en-GB" dirty="0"/>
              <a:t>Having data is not the same as knowing:</a:t>
            </a:r>
          </a:p>
          <a:p>
            <a:pPr lvl="1"/>
            <a:r>
              <a:rPr lang="en-GB" dirty="0"/>
              <a:t>What it means</a:t>
            </a:r>
          </a:p>
          <a:p>
            <a:pPr lvl="1"/>
            <a:r>
              <a:rPr lang="en-GB" dirty="0"/>
              <a:t>What matters</a:t>
            </a:r>
          </a:p>
          <a:p>
            <a:pPr lvl="1"/>
            <a:r>
              <a:rPr lang="en-GB" dirty="0"/>
              <a:t>What to do next</a:t>
            </a:r>
          </a:p>
          <a:p>
            <a:pPr lvl="1"/>
            <a:endParaRPr lang="en-GB" dirty="0"/>
          </a:p>
          <a:p>
            <a:r>
              <a:rPr lang="en-GB" dirty="0"/>
              <a:t>This course is about turning </a:t>
            </a:r>
            <a:r>
              <a:rPr lang="en-GB" b="1" dirty="0"/>
              <a:t>sports data </a:t>
            </a:r>
            <a:r>
              <a:rPr lang="en-GB" dirty="0"/>
              <a:t>into </a:t>
            </a:r>
            <a:r>
              <a:rPr lang="en-GB" b="1" dirty="0"/>
              <a:t>knowledge and insights </a:t>
            </a:r>
            <a:r>
              <a:rPr lang="en-GB" dirty="0"/>
              <a:t>that can </a:t>
            </a:r>
            <a:r>
              <a:rPr lang="en-GB" b="1" dirty="0"/>
              <a:t>guide</a:t>
            </a:r>
            <a:r>
              <a:rPr lang="en-GB" dirty="0"/>
              <a:t> </a:t>
            </a:r>
            <a:r>
              <a:rPr lang="en-GB" b="1" dirty="0"/>
              <a:t>decisions</a:t>
            </a:r>
            <a:r>
              <a:rPr lang="en-GB" dirty="0"/>
              <a:t>.</a:t>
            </a:r>
          </a:p>
          <a:p>
            <a:endParaRPr lang="en-US" dirty="0"/>
          </a:p>
        </p:txBody>
      </p:sp>
    </p:spTree>
    <p:extLst>
      <p:ext uri="{BB962C8B-B14F-4D97-AF65-F5344CB8AC3E}">
        <p14:creationId xmlns:p14="http://schemas.microsoft.com/office/powerpoint/2010/main" val="2535954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43ADAB-CD64-E680-44CE-20B1203CB0FB}"/>
              </a:ext>
            </a:extLst>
          </p:cNvPr>
          <p:cNvSpPr>
            <a:spLocks noGrp="1"/>
          </p:cNvSpPr>
          <p:nvPr>
            <p:ph type="title"/>
          </p:nvPr>
        </p:nvSpPr>
        <p:spPr/>
        <p:txBody>
          <a:bodyPr>
            <a:normAutofit/>
          </a:bodyPr>
          <a:lstStyle/>
          <a:p>
            <a:r>
              <a:rPr lang="en-GB" dirty="0"/>
              <a:t>What Will We Do in This Course?</a:t>
            </a:r>
            <a:endParaRPr lang="en-US" dirty="0"/>
          </a:p>
        </p:txBody>
      </p:sp>
      <p:sp>
        <p:nvSpPr>
          <p:cNvPr id="3" name="Content Placeholder 2">
            <a:extLst>
              <a:ext uri="{FF2B5EF4-FFF2-40B4-BE49-F238E27FC236}">
                <a16:creationId xmlns:a16="http://schemas.microsoft.com/office/drawing/2014/main" id="{73FDFAF8-CA9F-4904-667C-4E160B28F8D1}"/>
              </a:ext>
            </a:extLst>
          </p:cNvPr>
          <p:cNvSpPr>
            <a:spLocks noGrp="1"/>
          </p:cNvSpPr>
          <p:nvPr>
            <p:ph idx="1"/>
          </p:nvPr>
        </p:nvSpPr>
        <p:spPr/>
        <p:txBody>
          <a:bodyPr/>
          <a:lstStyle/>
          <a:p>
            <a:pPr lvl="0"/>
            <a:r>
              <a:rPr lang="en-GB" dirty="0"/>
              <a:t>Translate sports intuition into answerable analytical problems.</a:t>
            </a:r>
          </a:p>
          <a:p>
            <a:r>
              <a:rPr lang="en-GB" dirty="0"/>
              <a:t>Extract and summarize information from performance data.</a:t>
            </a:r>
          </a:p>
          <a:p>
            <a:r>
              <a:rPr lang="en-GB" dirty="0"/>
              <a:t>Make comparisons, </a:t>
            </a:r>
            <a:r>
              <a:rPr lang="en-GB" dirty="0" err="1"/>
              <a:t>analyze</a:t>
            </a:r>
            <a:r>
              <a:rPr lang="en-GB" dirty="0"/>
              <a:t> patterns / trends and build basic statistical models.</a:t>
            </a:r>
          </a:p>
          <a:p>
            <a:r>
              <a:rPr lang="en-GB" dirty="0"/>
              <a:t>Visualize and communicate findings for sport performance audiences.</a:t>
            </a:r>
          </a:p>
          <a:p>
            <a:r>
              <a:rPr lang="en-GB" dirty="0"/>
              <a:t>Evaluate assumptions, limitations, bias, and uncertainty in analytical claims.</a:t>
            </a:r>
          </a:p>
          <a:p>
            <a:endParaRPr lang="en-US" dirty="0"/>
          </a:p>
        </p:txBody>
      </p:sp>
    </p:spTree>
    <p:extLst>
      <p:ext uri="{BB962C8B-B14F-4D97-AF65-F5344CB8AC3E}">
        <p14:creationId xmlns:p14="http://schemas.microsoft.com/office/powerpoint/2010/main" val="553394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493</TotalTime>
  <Words>1325</Words>
  <Application>Microsoft Office PowerPoint</Application>
  <PresentationFormat>Widescreen</PresentationFormat>
  <Paragraphs>203</Paragraphs>
  <Slides>19</Slides>
  <Notes>12</Notes>
  <HiddenSlides>2</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Aptos</vt:lpstr>
      <vt:lpstr>Aptos Display</vt:lpstr>
      <vt:lpstr>Arial</vt:lpstr>
      <vt:lpstr>Times New Roman</vt:lpstr>
      <vt:lpstr>Office Theme</vt:lpstr>
      <vt:lpstr>Special Topics in Health and Exercise Science: Sports Performance Analytics</vt:lpstr>
      <vt:lpstr>About me</vt:lpstr>
      <vt:lpstr>Why Performance Analytics?</vt:lpstr>
      <vt:lpstr>Tell me about yourself!</vt:lpstr>
      <vt:lpstr>Components of Performance Analytics</vt:lpstr>
      <vt:lpstr>Components of Performance Analytics</vt:lpstr>
      <vt:lpstr>Working Definition for This Course</vt:lpstr>
      <vt:lpstr>Skills to Build during this semester</vt:lpstr>
      <vt:lpstr>The Scope of this Course</vt:lpstr>
      <vt:lpstr>Brainstorming Activity</vt:lpstr>
      <vt:lpstr>Brainstorming Activity</vt:lpstr>
      <vt:lpstr>Syllabus</vt:lpstr>
      <vt:lpstr>Assessments</vt:lpstr>
      <vt:lpstr>Assessments</vt:lpstr>
      <vt:lpstr>Course policies</vt:lpstr>
      <vt:lpstr>Resources</vt:lpstr>
      <vt:lpstr>Looking Ahead</vt:lpstr>
      <vt:lpstr>Welcome!</vt:lpstr>
      <vt:lpstr>What Will We Do in This Course?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Onishi, Saryu</dc:creator>
  <cp:lastModifiedBy>Author</cp:lastModifiedBy>
  <cp:revision>11</cp:revision>
  <dcterms:created xsi:type="dcterms:W3CDTF">2026-08-17T13:48:23Z</dcterms:created>
  <dcterms:modified xsi:type="dcterms:W3CDTF">2026-08-25T19:02:14Z</dcterms:modified>
</cp:coreProperties>
</file>