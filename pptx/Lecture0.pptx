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90" r:id="rId3"/>
    <p:sldId id="283" r:id="rId4"/>
    <p:sldId id="284" r:id="rId5"/>
    <p:sldId id="286" r:id="rId6"/>
    <p:sldId id="287" r:id="rId7"/>
    <p:sldId id="268" r:id="rId8"/>
    <p:sldId id="280" r:id="rId9"/>
    <p:sldId id="285" r:id="rId10"/>
    <p:sldId id="289" r:id="rId11"/>
    <p:sldId id="291" r:id="rId12"/>
    <p:sldId id="258" r:id="rId13"/>
    <p:sldId id="282" r:id="rId14"/>
    <p:sldId id="263" r:id="rId15"/>
    <p:sldId id="279" r:id="rId16"/>
    <p:sldId id="267" r:id="rId17"/>
    <p:sldId id="292"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EECD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107"/>
    <p:restoredTop sz="82260"/>
  </p:normalViewPr>
  <p:slideViewPr>
    <p:cSldViewPr snapToGrid="0">
      <p:cViewPr varScale="1">
        <p:scale>
          <a:sx n="103" d="100"/>
          <a:sy n="103" d="100"/>
        </p:scale>
        <p:origin x="37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7EEDEE-9F25-1248-8553-BC05D4D1E003}" type="datetimeFigureOut">
              <a:rPr lang="en-US" smtClean="0"/>
              <a:t>8/19/26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6F32F1C-470B-324F-8158-FBD837D2FC84}" type="slidenum">
              <a:rPr lang="en-US" smtClean="0"/>
              <a:t>‹#›</a:t>
            </a:fld>
            <a:endParaRPr lang="en-US"/>
          </a:p>
        </p:txBody>
      </p:sp>
    </p:spTree>
    <p:extLst>
      <p:ext uri="{BB962C8B-B14F-4D97-AF65-F5344CB8AC3E}">
        <p14:creationId xmlns:p14="http://schemas.microsoft.com/office/powerpoint/2010/main" val="37562132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6F32F1C-470B-324F-8158-FBD837D2FC84}" type="slidenum">
              <a:rPr lang="en-US" smtClean="0"/>
              <a:t>1</a:t>
            </a:fld>
            <a:endParaRPr lang="en-US"/>
          </a:p>
        </p:txBody>
      </p:sp>
    </p:spTree>
    <p:extLst>
      <p:ext uri="{BB962C8B-B14F-4D97-AF65-F5344CB8AC3E}">
        <p14:creationId xmlns:p14="http://schemas.microsoft.com/office/powerpoint/2010/main" val="21652451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help me remember you</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8</a:t>
            </a:fld>
            <a:endParaRPr lang="en-US" dirty="0"/>
          </a:p>
        </p:txBody>
      </p:sp>
    </p:spTree>
    <p:extLst>
      <p:ext uri="{BB962C8B-B14F-4D97-AF65-F5344CB8AC3E}">
        <p14:creationId xmlns:p14="http://schemas.microsoft.com/office/powerpoint/2010/main" val="41861338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general structure</a:t>
            </a:r>
          </a:p>
          <a:p>
            <a:r>
              <a:rPr lang="en-US" dirty="0"/>
              <a:t>Personal story: Similar class immediately started with case studies</a:t>
            </a:r>
          </a:p>
          <a:p>
            <a:r>
              <a:rPr lang="en-US" dirty="0"/>
              <a:t>Interesting but did not </a:t>
            </a:r>
            <a:r>
              <a:rPr lang="en-US" dirty="0" err="1"/>
              <a:t>equipt</a:t>
            </a:r>
            <a:r>
              <a:rPr lang="en-US" dirty="0"/>
              <a:t> me with the knowledge of how its done</a:t>
            </a:r>
          </a:p>
          <a:p>
            <a:r>
              <a:rPr lang="en-US" dirty="0"/>
              <a:t>My aim is to go over the steps and then later discuss how this is applied </a:t>
            </a:r>
            <a:r>
              <a:rPr lang="en-US" dirty="0" err="1"/>
              <a:t>irl</a:t>
            </a:r>
            <a:endParaRPr lang="en-US" dirty="0"/>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12</a:t>
            </a:fld>
            <a:endParaRPr lang="en-US" dirty="0"/>
          </a:p>
        </p:txBody>
      </p:sp>
    </p:spTree>
    <p:extLst>
      <p:ext uri="{BB962C8B-B14F-4D97-AF65-F5344CB8AC3E}">
        <p14:creationId xmlns:p14="http://schemas.microsoft.com/office/powerpoint/2010/main" val="12678988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D1F75-B8DF-96D5-5EE1-9F39B7042B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2B3694-E59E-4056-5249-514C4B0A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64B469-4FFF-CE9C-4D07-8C78F1C4F458}"/>
              </a:ext>
            </a:extLst>
          </p:cNvPr>
          <p:cNvSpPr>
            <a:spLocks noGrp="1"/>
          </p:cNvSpPr>
          <p:nvPr>
            <p:ph type="body" idx="1"/>
          </p:nvPr>
        </p:nvSpPr>
        <p:spPr/>
        <p:txBody>
          <a:bodyPr/>
          <a:lstStyle/>
          <a:p>
            <a:r>
              <a:rPr lang="en-US" b="1" dirty="0"/>
              <a:t>Quizzes: due </a:t>
            </a:r>
            <a:r>
              <a:rPr lang="en-US" dirty="0"/>
              <a:t>each Sunday </a:t>
            </a:r>
          </a:p>
          <a:p>
            <a:r>
              <a:rPr lang="en-US" b="1" dirty="0"/>
              <a:t>In-class activities:</a:t>
            </a:r>
            <a:r>
              <a:rPr lang="en-US" dirty="0"/>
              <a:t> </a:t>
            </a:r>
          </a:p>
          <a:p>
            <a:r>
              <a:rPr lang="en-US" b="1" dirty="0"/>
              <a:t>Case studies:</a:t>
            </a:r>
            <a:r>
              <a:rPr lang="en-US" dirty="0"/>
              <a:t> </a:t>
            </a:r>
          </a:p>
          <a:p>
            <a:r>
              <a:rPr lang="en-US" b="1" dirty="0"/>
              <a:t>Journal article presentation</a:t>
            </a:r>
          </a:p>
          <a:p>
            <a:r>
              <a:rPr lang="en-US" b="1" dirty="0"/>
              <a:t>Analytics project:</a:t>
            </a:r>
            <a:r>
              <a:rPr lang="en-US" dirty="0"/>
              <a:t> think about a topic as we go through content</a:t>
            </a:r>
          </a:p>
          <a:p>
            <a:r>
              <a:rPr lang="en-US" b="1" dirty="0"/>
              <a:t>Exams:</a:t>
            </a:r>
            <a:r>
              <a:rPr lang="en-US" dirty="0"/>
              <a:t> requires lockdown browser</a:t>
            </a:r>
          </a:p>
          <a:p>
            <a:endParaRPr lang="en-US" dirty="0"/>
          </a:p>
        </p:txBody>
      </p:sp>
      <p:sp>
        <p:nvSpPr>
          <p:cNvPr id="4" name="Slide Number Placeholder 3">
            <a:extLst>
              <a:ext uri="{FF2B5EF4-FFF2-40B4-BE49-F238E27FC236}">
                <a16:creationId xmlns:a16="http://schemas.microsoft.com/office/drawing/2014/main" id="{AE0AF4CF-4F18-C887-828B-68FA74F20C30}"/>
              </a:ext>
            </a:extLst>
          </p:cNvPr>
          <p:cNvSpPr>
            <a:spLocks noGrp="1"/>
          </p:cNvSpPr>
          <p:nvPr>
            <p:ph type="sldNum" sz="quarter" idx="5"/>
          </p:nvPr>
        </p:nvSpPr>
        <p:spPr/>
        <p:txBody>
          <a:bodyPr/>
          <a:lstStyle/>
          <a:p>
            <a:fld id="{1560C251-82B7-4253-A774-38D73C276BCE}" type="slidenum">
              <a:rPr lang="en-US" smtClean="0"/>
              <a:t>13</a:t>
            </a:fld>
            <a:endParaRPr lang="en-US" dirty="0"/>
          </a:p>
        </p:txBody>
      </p:sp>
    </p:spTree>
    <p:extLst>
      <p:ext uri="{BB962C8B-B14F-4D97-AF65-F5344CB8AC3E}">
        <p14:creationId xmlns:p14="http://schemas.microsoft.com/office/powerpoint/2010/main" val="30380819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a:r>
            <a:r>
              <a:rPr lang="en-US" dirty="0" err="1"/>
              <a:t>disctibution</a:t>
            </a:r>
            <a:endParaRPr lang="en-US" dirty="0"/>
          </a:p>
          <a:p>
            <a:r>
              <a:rPr lang="en-US" dirty="0"/>
              <a:t>Available in syllabus</a:t>
            </a:r>
          </a:p>
        </p:txBody>
      </p:sp>
      <p:sp>
        <p:nvSpPr>
          <p:cNvPr id="4" name="Slide Number Placeholder 3"/>
          <p:cNvSpPr>
            <a:spLocks noGrp="1"/>
          </p:cNvSpPr>
          <p:nvPr>
            <p:ph type="sldNum" sz="quarter" idx="5"/>
          </p:nvPr>
        </p:nvSpPr>
        <p:spPr/>
        <p:txBody>
          <a:bodyPr/>
          <a:lstStyle/>
          <a:p>
            <a:fld id="{1560C251-82B7-4253-A774-38D73C276BCE}" type="slidenum">
              <a:rPr lang="en-US" smtClean="0"/>
              <a:t>14</a:t>
            </a:fld>
            <a:endParaRPr lang="en-US" dirty="0"/>
          </a:p>
        </p:txBody>
      </p:sp>
    </p:spTree>
    <p:extLst>
      <p:ext uri="{BB962C8B-B14F-4D97-AF65-F5344CB8AC3E}">
        <p14:creationId xmlns:p14="http://schemas.microsoft.com/office/powerpoint/2010/main" val="28706965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Groups: If there are issues, please speak to me asap</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15</a:t>
            </a:fld>
            <a:endParaRPr lang="en-US" dirty="0"/>
          </a:p>
        </p:txBody>
      </p:sp>
    </p:spTree>
    <p:extLst>
      <p:ext uri="{BB962C8B-B14F-4D97-AF65-F5344CB8AC3E}">
        <p14:creationId xmlns:p14="http://schemas.microsoft.com/office/powerpoint/2010/main" val="6349668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not get a sense of your understanding until the exams. Hence it is critical for you to reach out if you need help. If the slides look wrong or need clarification on anything, PLEASE email me or let me know in class. This is the only way I can help you</a:t>
            </a:r>
          </a:p>
        </p:txBody>
      </p:sp>
      <p:sp>
        <p:nvSpPr>
          <p:cNvPr id="4" name="Slide Number Placeholder 3"/>
          <p:cNvSpPr>
            <a:spLocks noGrp="1"/>
          </p:cNvSpPr>
          <p:nvPr>
            <p:ph type="sldNum" sz="quarter" idx="5"/>
          </p:nvPr>
        </p:nvSpPr>
        <p:spPr/>
        <p:txBody>
          <a:bodyPr/>
          <a:lstStyle/>
          <a:p>
            <a:fld id="{1560C251-82B7-4253-A774-38D73C276BCE}" type="slidenum">
              <a:rPr lang="en-US" smtClean="0"/>
              <a:t>16</a:t>
            </a:fld>
            <a:endParaRPr lang="en-US" dirty="0"/>
          </a:p>
        </p:txBody>
      </p:sp>
    </p:spTree>
    <p:extLst>
      <p:ext uri="{BB962C8B-B14F-4D97-AF65-F5344CB8AC3E}">
        <p14:creationId xmlns:p14="http://schemas.microsoft.com/office/powerpoint/2010/main" val="9837927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78C46-97B5-06A6-FCEF-1A1F72D6F7BD}"/>
              </a:ext>
            </a:extLst>
          </p:cNvPr>
          <p:cNvSpPr>
            <a:spLocks noGrp="1"/>
          </p:cNvSpPr>
          <p:nvPr>
            <p:ph type="ctrTitle"/>
          </p:nvPr>
        </p:nvSpPr>
        <p:spPr>
          <a:xfrm>
            <a:off x="838200" y="1122363"/>
            <a:ext cx="10515600" cy="2387600"/>
          </a:xfrm>
        </p:spPr>
        <p:txBody>
          <a:bodyPr anchor="b"/>
          <a:lstStyle>
            <a:lvl1pPr algn="l">
              <a:defRPr sz="6000"/>
            </a:lvl1pPr>
          </a:lstStyle>
          <a:p>
            <a:r>
              <a:rPr lang="en-GB" dirty="0"/>
              <a:t>Click to edit Master title style</a:t>
            </a:r>
            <a:endParaRPr lang="en-US" dirty="0"/>
          </a:p>
        </p:txBody>
      </p:sp>
      <p:sp>
        <p:nvSpPr>
          <p:cNvPr id="3" name="Subtitle 2">
            <a:extLst>
              <a:ext uri="{FF2B5EF4-FFF2-40B4-BE49-F238E27FC236}">
                <a16:creationId xmlns:a16="http://schemas.microsoft.com/office/drawing/2014/main" id="{DED3A6AC-3ACF-3E00-27EA-CDC21E0D0CE2}"/>
              </a:ext>
            </a:extLst>
          </p:cNvPr>
          <p:cNvSpPr>
            <a:spLocks noGrp="1"/>
          </p:cNvSpPr>
          <p:nvPr>
            <p:ph type="subTitle" idx="1"/>
          </p:nvPr>
        </p:nvSpPr>
        <p:spPr>
          <a:xfrm>
            <a:off x="838199" y="3602038"/>
            <a:ext cx="10515599" cy="1655762"/>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4" name="Date Placeholder 3">
            <a:extLst>
              <a:ext uri="{FF2B5EF4-FFF2-40B4-BE49-F238E27FC236}">
                <a16:creationId xmlns:a16="http://schemas.microsoft.com/office/drawing/2014/main" id="{E82D74E7-FB50-6453-FBC4-4FF2059E7DD6}"/>
              </a:ext>
            </a:extLst>
          </p:cNvPr>
          <p:cNvSpPr>
            <a:spLocks noGrp="1"/>
          </p:cNvSpPr>
          <p:nvPr>
            <p:ph type="dt" sz="half" idx="10"/>
          </p:nvPr>
        </p:nvSpPr>
        <p:spPr/>
        <p:txBody>
          <a:bodyPr/>
          <a:lstStyle/>
          <a:p>
            <a:fld id="{1BF61C71-767E-B84C-BFB3-7B18856D27F4}" type="datetimeFigureOut">
              <a:rPr lang="en-US" smtClean="0"/>
              <a:t>8/19/26</a:t>
            </a:fld>
            <a:endParaRPr lang="en-US"/>
          </a:p>
        </p:txBody>
      </p:sp>
      <p:sp>
        <p:nvSpPr>
          <p:cNvPr id="5" name="Footer Placeholder 4">
            <a:extLst>
              <a:ext uri="{FF2B5EF4-FFF2-40B4-BE49-F238E27FC236}">
                <a16:creationId xmlns:a16="http://schemas.microsoft.com/office/drawing/2014/main" id="{D3DEC381-9EAC-65CA-E2D4-E9753C63FC8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08E85E49-459E-7153-8DCA-00BFA12DD9A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5335308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44AAB-14A7-7BCA-3837-4F570792F39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933DB745-E89B-BA25-707B-D3F4B483C33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1A29DF3-7131-344B-BE29-3470A6E4AD53}"/>
              </a:ext>
            </a:extLst>
          </p:cNvPr>
          <p:cNvSpPr>
            <a:spLocks noGrp="1"/>
          </p:cNvSpPr>
          <p:nvPr>
            <p:ph type="dt" sz="half" idx="10"/>
          </p:nvPr>
        </p:nvSpPr>
        <p:spPr/>
        <p:txBody>
          <a:bodyPr/>
          <a:lstStyle/>
          <a:p>
            <a:fld id="{1BF61C71-767E-B84C-BFB3-7B18856D27F4}" type="datetimeFigureOut">
              <a:rPr lang="en-US" smtClean="0"/>
              <a:t>8/19/26</a:t>
            </a:fld>
            <a:endParaRPr lang="en-US"/>
          </a:p>
        </p:txBody>
      </p:sp>
      <p:sp>
        <p:nvSpPr>
          <p:cNvPr id="5" name="Footer Placeholder 4">
            <a:extLst>
              <a:ext uri="{FF2B5EF4-FFF2-40B4-BE49-F238E27FC236}">
                <a16:creationId xmlns:a16="http://schemas.microsoft.com/office/drawing/2014/main" id="{2E19C8A0-82E3-D43A-B433-03BD0E8A131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9EC3461-EED3-DA55-3A67-403D2D4F603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590894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DEF06-5D11-579D-7B22-EDF525B072C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6C3F87EE-121E-981D-94B0-7DD81A7608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A509C7F-68AA-F83B-0CC2-643C7451C3BF}"/>
              </a:ext>
            </a:extLst>
          </p:cNvPr>
          <p:cNvSpPr>
            <a:spLocks noGrp="1"/>
          </p:cNvSpPr>
          <p:nvPr>
            <p:ph type="dt" sz="half" idx="10"/>
          </p:nvPr>
        </p:nvSpPr>
        <p:spPr/>
        <p:txBody>
          <a:bodyPr/>
          <a:lstStyle/>
          <a:p>
            <a:fld id="{1BF61C71-767E-B84C-BFB3-7B18856D27F4}" type="datetimeFigureOut">
              <a:rPr lang="en-US" smtClean="0"/>
              <a:t>8/19/26</a:t>
            </a:fld>
            <a:endParaRPr lang="en-US"/>
          </a:p>
        </p:txBody>
      </p:sp>
      <p:sp>
        <p:nvSpPr>
          <p:cNvPr id="5" name="Footer Placeholder 4">
            <a:extLst>
              <a:ext uri="{FF2B5EF4-FFF2-40B4-BE49-F238E27FC236}">
                <a16:creationId xmlns:a16="http://schemas.microsoft.com/office/drawing/2014/main" id="{5ABFDF23-F262-A143-3D94-2E03C5E8059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A01BCC86-AF79-D336-B20B-1E34423D79D2}"/>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6466718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FE23E6-4994-ADDB-53EF-33DAC620482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511385E-3FBA-00D8-820B-01457DE095D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5C400107-976D-189B-D5B8-F3309A029F37}"/>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C8421288-007A-64D1-177C-EC493AB351E6}"/>
              </a:ext>
            </a:extLst>
          </p:cNvPr>
          <p:cNvSpPr>
            <a:spLocks noGrp="1"/>
          </p:cNvSpPr>
          <p:nvPr>
            <p:ph type="dt" sz="half" idx="10"/>
          </p:nvPr>
        </p:nvSpPr>
        <p:spPr/>
        <p:txBody>
          <a:bodyPr/>
          <a:lstStyle/>
          <a:p>
            <a:fld id="{1BF61C71-767E-B84C-BFB3-7B18856D27F4}" type="datetimeFigureOut">
              <a:rPr lang="en-US" smtClean="0"/>
              <a:t>8/19/26</a:t>
            </a:fld>
            <a:endParaRPr lang="en-US"/>
          </a:p>
        </p:txBody>
      </p:sp>
      <p:sp>
        <p:nvSpPr>
          <p:cNvPr id="6" name="Footer Placeholder 5">
            <a:extLst>
              <a:ext uri="{FF2B5EF4-FFF2-40B4-BE49-F238E27FC236}">
                <a16:creationId xmlns:a16="http://schemas.microsoft.com/office/drawing/2014/main" id="{D18BDC7E-1ED0-A64E-B741-2BD6DCC161E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97110B18-79B2-CA9A-54E7-8E270EA6CAF9}"/>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1561133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DBA0C-D408-C89D-A5A4-EE49BFEFE6E9}"/>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5C15059-44C0-5CAB-DD62-331CAEACC2C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E8210DA-60F4-E204-139F-488557C3AC4F}"/>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99C6D382-4432-4F54-9B2C-18EA1D3502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00DFF74-3B74-1F87-68E5-7C634623838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963D8442-0A79-241F-AD71-72BAE08747AF}"/>
              </a:ext>
            </a:extLst>
          </p:cNvPr>
          <p:cNvSpPr>
            <a:spLocks noGrp="1"/>
          </p:cNvSpPr>
          <p:nvPr>
            <p:ph type="dt" sz="half" idx="10"/>
          </p:nvPr>
        </p:nvSpPr>
        <p:spPr/>
        <p:txBody>
          <a:bodyPr/>
          <a:lstStyle/>
          <a:p>
            <a:fld id="{1BF61C71-767E-B84C-BFB3-7B18856D27F4}" type="datetimeFigureOut">
              <a:rPr lang="en-US" smtClean="0"/>
              <a:t>8/19/26</a:t>
            </a:fld>
            <a:endParaRPr lang="en-US"/>
          </a:p>
        </p:txBody>
      </p:sp>
      <p:sp>
        <p:nvSpPr>
          <p:cNvPr id="8" name="Footer Placeholder 7">
            <a:extLst>
              <a:ext uri="{FF2B5EF4-FFF2-40B4-BE49-F238E27FC236}">
                <a16:creationId xmlns:a16="http://schemas.microsoft.com/office/drawing/2014/main" id="{81BD044B-09B6-F478-2B54-1F15413514F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E5518B98-54E9-0248-CDC2-25F053D11E93}"/>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477298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98611-FF70-0739-AB12-3A0D4D68852C}"/>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1D6340F8-BFC2-15DC-7097-138E7417B933}"/>
              </a:ext>
            </a:extLst>
          </p:cNvPr>
          <p:cNvSpPr>
            <a:spLocks noGrp="1"/>
          </p:cNvSpPr>
          <p:nvPr>
            <p:ph type="dt" sz="half" idx="10"/>
          </p:nvPr>
        </p:nvSpPr>
        <p:spPr/>
        <p:txBody>
          <a:bodyPr/>
          <a:lstStyle/>
          <a:p>
            <a:fld id="{1BF61C71-767E-B84C-BFB3-7B18856D27F4}" type="datetimeFigureOut">
              <a:rPr lang="en-US" smtClean="0"/>
              <a:t>8/19/26</a:t>
            </a:fld>
            <a:endParaRPr lang="en-US"/>
          </a:p>
        </p:txBody>
      </p:sp>
      <p:sp>
        <p:nvSpPr>
          <p:cNvPr id="4" name="Footer Placeholder 3">
            <a:extLst>
              <a:ext uri="{FF2B5EF4-FFF2-40B4-BE49-F238E27FC236}">
                <a16:creationId xmlns:a16="http://schemas.microsoft.com/office/drawing/2014/main" id="{0987FFF2-E8C5-FBDB-D95A-12987FF75CB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B02AAC0-7C6B-411F-8B27-54187B087820}"/>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18840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C24E59-43B1-B0E4-7BB5-449B4E620269}"/>
              </a:ext>
            </a:extLst>
          </p:cNvPr>
          <p:cNvSpPr>
            <a:spLocks noGrp="1"/>
          </p:cNvSpPr>
          <p:nvPr>
            <p:ph type="dt" sz="half" idx="10"/>
          </p:nvPr>
        </p:nvSpPr>
        <p:spPr/>
        <p:txBody>
          <a:bodyPr/>
          <a:lstStyle/>
          <a:p>
            <a:fld id="{1BF61C71-767E-B84C-BFB3-7B18856D27F4}" type="datetimeFigureOut">
              <a:rPr lang="en-US" smtClean="0"/>
              <a:t>8/19/26</a:t>
            </a:fld>
            <a:endParaRPr lang="en-US"/>
          </a:p>
        </p:txBody>
      </p:sp>
      <p:sp>
        <p:nvSpPr>
          <p:cNvPr id="3" name="Footer Placeholder 2">
            <a:extLst>
              <a:ext uri="{FF2B5EF4-FFF2-40B4-BE49-F238E27FC236}">
                <a16:creationId xmlns:a16="http://schemas.microsoft.com/office/drawing/2014/main" id="{209DB2FC-A612-3F77-71B9-89F90F23EC7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BE7EA5C7-5EFB-A99C-8686-6EB2C8FCFA5F}"/>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7151730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96815E-33A2-36BD-141A-20E6987BFB9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E64EB718-3207-923E-BB2A-3A6A8B97CF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B6D8BF2C-0530-D542-CEA1-66680DF2CF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91246F5-476E-F02E-8D52-52095AD76408}"/>
              </a:ext>
            </a:extLst>
          </p:cNvPr>
          <p:cNvSpPr>
            <a:spLocks noGrp="1"/>
          </p:cNvSpPr>
          <p:nvPr>
            <p:ph type="dt" sz="half" idx="10"/>
          </p:nvPr>
        </p:nvSpPr>
        <p:spPr/>
        <p:txBody>
          <a:bodyPr/>
          <a:lstStyle/>
          <a:p>
            <a:fld id="{1BF61C71-767E-B84C-BFB3-7B18856D27F4}" type="datetimeFigureOut">
              <a:rPr lang="en-US" smtClean="0"/>
              <a:t>8/19/26</a:t>
            </a:fld>
            <a:endParaRPr lang="en-US"/>
          </a:p>
        </p:txBody>
      </p:sp>
      <p:sp>
        <p:nvSpPr>
          <p:cNvPr id="6" name="Footer Placeholder 5">
            <a:extLst>
              <a:ext uri="{FF2B5EF4-FFF2-40B4-BE49-F238E27FC236}">
                <a16:creationId xmlns:a16="http://schemas.microsoft.com/office/drawing/2014/main" id="{4ACCBF9F-FEBA-A17C-67EF-779BF698253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C33091D5-A6B8-C1A9-58A4-732980B56A1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6873461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F53C8-34AC-4EC3-9EF2-7646130C5F5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CD95296B-D06F-EC13-3B4B-D0804D56AD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AC15AD4-D0C4-4B3F-01A9-C4EB16F15D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B85DC77-4EA3-68F2-C1B1-3B61F9D48ACD}"/>
              </a:ext>
            </a:extLst>
          </p:cNvPr>
          <p:cNvSpPr>
            <a:spLocks noGrp="1"/>
          </p:cNvSpPr>
          <p:nvPr>
            <p:ph type="dt" sz="half" idx="10"/>
          </p:nvPr>
        </p:nvSpPr>
        <p:spPr/>
        <p:txBody>
          <a:bodyPr/>
          <a:lstStyle/>
          <a:p>
            <a:fld id="{1BF61C71-767E-B84C-BFB3-7B18856D27F4}" type="datetimeFigureOut">
              <a:rPr lang="en-US" smtClean="0"/>
              <a:t>8/19/26</a:t>
            </a:fld>
            <a:endParaRPr lang="en-US"/>
          </a:p>
        </p:txBody>
      </p:sp>
      <p:sp>
        <p:nvSpPr>
          <p:cNvPr id="6" name="Footer Placeholder 5">
            <a:extLst>
              <a:ext uri="{FF2B5EF4-FFF2-40B4-BE49-F238E27FC236}">
                <a16:creationId xmlns:a16="http://schemas.microsoft.com/office/drawing/2014/main" id="{5028E95B-5416-3489-B8F3-9294F9EAD56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E7231B0D-A406-6B24-1768-98B5238CCD11}"/>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744629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E7492E-5097-4D4A-B212-B9541B6D396F}"/>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D2B2462-C37E-9A16-D9B2-03FE3550DC7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765E3E0-2253-2E4B-C45D-9DD87541ECCF}"/>
              </a:ext>
            </a:extLst>
          </p:cNvPr>
          <p:cNvSpPr>
            <a:spLocks noGrp="1"/>
          </p:cNvSpPr>
          <p:nvPr>
            <p:ph type="dt" sz="half" idx="10"/>
          </p:nvPr>
        </p:nvSpPr>
        <p:spPr/>
        <p:txBody>
          <a:bodyPr/>
          <a:lstStyle/>
          <a:p>
            <a:fld id="{1BF61C71-767E-B84C-BFB3-7B18856D27F4}" type="datetimeFigureOut">
              <a:rPr lang="en-US" smtClean="0"/>
              <a:t>8/19/26</a:t>
            </a:fld>
            <a:endParaRPr lang="en-US"/>
          </a:p>
        </p:txBody>
      </p:sp>
      <p:sp>
        <p:nvSpPr>
          <p:cNvPr id="5" name="Footer Placeholder 4">
            <a:extLst>
              <a:ext uri="{FF2B5EF4-FFF2-40B4-BE49-F238E27FC236}">
                <a16:creationId xmlns:a16="http://schemas.microsoft.com/office/drawing/2014/main" id="{A3E8D6ED-F324-5EA4-EBC1-32D8A8A8046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78926162-D880-6B17-AFBB-2555E585E2D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3558128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27EF97A-4C14-3B96-B570-63221FE4263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61FCF3E-3E21-12E5-F093-CD2EBC62CD8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6EEB50E-0940-C414-1C80-43A1C4CBF31A}"/>
              </a:ext>
            </a:extLst>
          </p:cNvPr>
          <p:cNvSpPr>
            <a:spLocks noGrp="1"/>
          </p:cNvSpPr>
          <p:nvPr>
            <p:ph type="dt" sz="half" idx="10"/>
          </p:nvPr>
        </p:nvSpPr>
        <p:spPr/>
        <p:txBody>
          <a:bodyPr/>
          <a:lstStyle/>
          <a:p>
            <a:fld id="{1BF61C71-767E-B84C-BFB3-7B18856D27F4}" type="datetimeFigureOut">
              <a:rPr lang="en-US" smtClean="0"/>
              <a:t>8/19/26</a:t>
            </a:fld>
            <a:endParaRPr lang="en-US"/>
          </a:p>
        </p:txBody>
      </p:sp>
      <p:sp>
        <p:nvSpPr>
          <p:cNvPr id="5" name="Footer Placeholder 4">
            <a:extLst>
              <a:ext uri="{FF2B5EF4-FFF2-40B4-BE49-F238E27FC236}">
                <a16:creationId xmlns:a16="http://schemas.microsoft.com/office/drawing/2014/main" id="{01434562-A92B-8D3C-4A79-2489A997521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247ADD3-AF08-2898-D3BF-4768616B38DE}"/>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8915101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5C7E355-A6C3-ABB7-5FB3-07B7718D6981}"/>
              </a:ext>
            </a:extLst>
          </p:cNvPr>
          <p:cNvSpPr>
            <a:spLocks noGrp="1"/>
          </p:cNvSpPr>
          <p:nvPr>
            <p:ph type="title"/>
          </p:nvPr>
        </p:nvSpPr>
        <p:spPr>
          <a:xfrm>
            <a:off x="838200" y="365126"/>
            <a:ext cx="10515600" cy="912690"/>
          </a:xfrm>
          <a:prstGeom prst="rect">
            <a:avLst/>
          </a:prstGeom>
        </p:spPr>
        <p:txBody>
          <a:bodyPr vert="horz" lIns="91440" tIns="45720" rIns="91440" bIns="45720" rtlCol="0" anchor="ctr">
            <a:normAutofit/>
          </a:body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73BE3536-C253-FE9A-75A8-6625508B8089}"/>
              </a:ext>
            </a:extLst>
          </p:cNvPr>
          <p:cNvSpPr>
            <a:spLocks noGrp="1"/>
          </p:cNvSpPr>
          <p:nvPr>
            <p:ph type="body" idx="1"/>
          </p:nvPr>
        </p:nvSpPr>
        <p:spPr>
          <a:xfrm>
            <a:off x="838200" y="1441938"/>
            <a:ext cx="10515600" cy="4735025"/>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727838E-35A9-F96A-354A-AE0FF3F853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F61C71-767E-B84C-BFB3-7B18856D27F4}" type="datetimeFigureOut">
              <a:rPr lang="en-US" smtClean="0"/>
              <a:t>8/19/26</a:t>
            </a:fld>
            <a:endParaRPr lang="en-US"/>
          </a:p>
        </p:txBody>
      </p:sp>
      <p:sp>
        <p:nvSpPr>
          <p:cNvPr id="6" name="Slide Number Placeholder 5">
            <a:extLst>
              <a:ext uri="{FF2B5EF4-FFF2-40B4-BE49-F238E27FC236}">
                <a16:creationId xmlns:a16="http://schemas.microsoft.com/office/drawing/2014/main" id="{8E6CBC5A-10F1-AA57-C7EC-9CDC8A53A5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CCEFD2-39D4-B845-AAFB-DDCB27801685}" type="slidenum">
              <a:rPr lang="en-US" smtClean="0"/>
              <a:t>‹#›</a:t>
            </a:fld>
            <a:endParaRPr lang="en-US"/>
          </a:p>
        </p:txBody>
      </p:sp>
      <p:sp>
        <p:nvSpPr>
          <p:cNvPr id="7" name="Footer Placeholder 6">
            <a:extLst>
              <a:ext uri="{FF2B5EF4-FFF2-40B4-BE49-F238E27FC236}">
                <a16:creationId xmlns:a16="http://schemas.microsoft.com/office/drawing/2014/main" id="{2EEC1130-6658-3CAB-3F94-0FA0AAB844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41232072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mailto:saryu@ou.edu"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hyperlink" Target="mailto:adrc@ou.edu"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9270D-14C3-FED3-E83A-AD4E36EC7A85}"/>
              </a:ext>
            </a:extLst>
          </p:cNvPr>
          <p:cNvSpPr>
            <a:spLocks noGrp="1"/>
          </p:cNvSpPr>
          <p:nvPr>
            <p:ph type="ctrTitle"/>
          </p:nvPr>
        </p:nvSpPr>
        <p:spPr/>
        <p:txBody>
          <a:bodyPr>
            <a:normAutofit/>
          </a:bodyPr>
          <a:lstStyle/>
          <a:p>
            <a:r>
              <a:rPr lang="en-US" dirty="0"/>
              <a:t>Sports Performance Analytics</a:t>
            </a:r>
            <a:endParaRPr lang="en-GB" dirty="0"/>
          </a:p>
        </p:txBody>
      </p:sp>
      <p:sp>
        <p:nvSpPr>
          <p:cNvPr id="3" name="Subtitle 2">
            <a:extLst>
              <a:ext uri="{FF2B5EF4-FFF2-40B4-BE49-F238E27FC236}">
                <a16:creationId xmlns:a16="http://schemas.microsoft.com/office/drawing/2014/main" id="{FE03FB66-255C-9B0B-8F15-F85AACB34CEA}"/>
              </a:ext>
            </a:extLst>
          </p:cNvPr>
          <p:cNvSpPr>
            <a:spLocks noGrp="1"/>
          </p:cNvSpPr>
          <p:nvPr>
            <p:ph type="subTitle" idx="1"/>
          </p:nvPr>
        </p:nvSpPr>
        <p:spPr/>
        <p:txBody>
          <a:bodyPr/>
          <a:lstStyle/>
          <a:p>
            <a:r>
              <a:rPr lang="en-GB" dirty="0"/>
              <a:t>HES 3000-002</a:t>
            </a:r>
          </a:p>
          <a:p>
            <a:r>
              <a:rPr lang="en-GB" dirty="0"/>
              <a:t>Saryu Onishi</a:t>
            </a:r>
          </a:p>
        </p:txBody>
      </p:sp>
    </p:spTree>
    <p:extLst>
      <p:ext uri="{BB962C8B-B14F-4D97-AF65-F5344CB8AC3E}">
        <p14:creationId xmlns:p14="http://schemas.microsoft.com/office/powerpoint/2010/main" val="32942738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06E65A-FA49-3A96-CB61-659E2BF7CFE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E4CA25C-DE20-7E88-572F-F99D1139B41F}"/>
              </a:ext>
            </a:extLst>
          </p:cNvPr>
          <p:cNvSpPr>
            <a:spLocks noGrp="1"/>
          </p:cNvSpPr>
          <p:nvPr>
            <p:ph idx="1"/>
          </p:nvPr>
        </p:nvSpPr>
        <p:spPr>
          <a:xfrm>
            <a:off x="838200" y="3002692"/>
            <a:ext cx="10515600" cy="3174271"/>
          </a:xfrm>
        </p:spPr>
        <p:txBody>
          <a:bodyPr/>
          <a:lstStyle/>
          <a:p>
            <a:pPr marL="0" indent="0">
              <a:buNone/>
            </a:pPr>
            <a:r>
              <a:rPr lang="en-US" dirty="0"/>
              <a:t>Close all computers and pull out a pen and paper</a:t>
            </a:r>
          </a:p>
        </p:txBody>
      </p:sp>
    </p:spTree>
    <p:extLst>
      <p:ext uri="{BB962C8B-B14F-4D97-AF65-F5344CB8AC3E}">
        <p14:creationId xmlns:p14="http://schemas.microsoft.com/office/powerpoint/2010/main" val="18510965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BE2FAA-0AEB-A3B4-8F23-4370C2717662}"/>
              </a:ext>
            </a:extLst>
          </p:cNvPr>
          <p:cNvSpPr>
            <a:spLocks noGrp="1"/>
          </p:cNvSpPr>
          <p:nvPr>
            <p:ph type="title"/>
          </p:nvPr>
        </p:nvSpPr>
        <p:spPr/>
        <p:txBody>
          <a:bodyPr/>
          <a:lstStyle/>
          <a:p>
            <a:r>
              <a:rPr lang="en-US" dirty="0"/>
              <a:t>Welcome!</a:t>
            </a:r>
          </a:p>
        </p:txBody>
      </p:sp>
      <p:sp>
        <p:nvSpPr>
          <p:cNvPr id="3" name="Content Placeholder 2">
            <a:extLst>
              <a:ext uri="{FF2B5EF4-FFF2-40B4-BE49-F238E27FC236}">
                <a16:creationId xmlns:a16="http://schemas.microsoft.com/office/drawing/2014/main" id="{35803029-7703-D415-8652-8E95181446F2}"/>
              </a:ext>
            </a:extLst>
          </p:cNvPr>
          <p:cNvSpPr>
            <a:spLocks noGrp="1"/>
          </p:cNvSpPr>
          <p:nvPr>
            <p:ph idx="1"/>
          </p:nvPr>
        </p:nvSpPr>
        <p:spPr/>
        <p:txBody>
          <a:bodyPr/>
          <a:lstStyle/>
          <a:p>
            <a:pPr lvl="0"/>
            <a:r>
              <a:rPr lang="en-GB" dirty="0"/>
              <a:t>Modern sports generate enormous amounts of data.</a:t>
            </a:r>
          </a:p>
          <a:p>
            <a:pPr lvl="0"/>
            <a:r>
              <a:rPr lang="en-GB" dirty="0"/>
              <a:t>Having data is not the same as knowing:</a:t>
            </a:r>
          </a:p>
          <a:p>
            <a:pPr lvl="1"/>
            <a:r>
              <a:rPr lang="en-GB" dirty="0"/>
              <a:t>What it means</a:t>
            </a:r>
          </a:p>
          <a:p>
            <a:pPr lvl="1"/>
            <a:r>
              <a:rPr lang="en-GB" dirty="0"/>
              <a:t>What matters</a:t>
            </a:r>
          </a:p>
          <a:p>
            <a:pPr lvl="1"/>
            <a:r>
              <a:rPr lang="en-GB" dirty="0"/>
              <a:t>What to do next</a:t>
            </a:r>
          </a:p>
          <a:p>
            <a:pPr lvl="1"/>
            <a:endParaRPr lang="en-GB" dirty="0"/>
          </a:p>
          <a:p>
            <a:r>
              <a:rPr lang="en-GB" dirty="0"/>
              <a:t>This course is about turning </a:t>
            </a:r>
            <a:r>
              <a:rPr lang="en-GB" b="1" dirty="0"/>
              <a:t>sports problems </a:t>
            </a:r>
            <a:r>
              <a:rPr lang="en-GB" dirty="0"/>
              <a:t>into </a:t>
            </a:r>
            <a:r>
              <a:rPr lang="en-GB" b="1" dirty="0"/>
              <a:t>evidence-informed decisions</a:t>
            </a:r>
            <a:r>
              <a:rPr lang="en-GB" dirty="0"/>
              <a:t>.</a:t>
            </a:r>
          </a:p>
          <a:p>
            <a:endParaRPr lang="en-US" dirty="0"/>
          </a:p>
        </p:txBody>
      </p:sp>
    </p:spTree>
    <p:extLst>
      <p:ext uri="{BB962C8B-B14F-4D97-AF65-F5344CB8AC3E}">
        <p14:creationId xmlns:p14="http://schemas.microsoft.com/office/powerpoint/2010/main" val="2535954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3ADAB-CD64-E680-44CE-20B1203CB0FB}"/>
              </a:ext>
            </a:extLst>
          </p:cNvPr>
          <p:cNvSpPr>
            <a:spLocks noGrp="1"/>
          </p:cNvSpPr>
          <p:nvPr>
            <p:ph type="title"/>
          </p:nvPr>
        </p:nvSpPr>
        <p:spPr/>
        <p:txBody>
          <a:bodyPr>
            <a:normAutofit/>
          </a:bodyPr>
          <a:lstStyle/>
          <a:p>
            <a:r>
              <a:rPr lang="en-GB" dirty="0"/>
              <a:t>What Will We Do in This Course?</a:t>
            </a:r>
            <a:endParaRPr lang="en-US" dirty="0"/>
          </a:p>
        </p:txBody>
      </p:sp>
      <p:sp>
        <p:nvSpPr>
          <p:cNvPr id="3" name="Content Placeholder 2">
            <a:extLst>
              <a:ext uri="{FF2B5EF4-FFF2-40B4-BE49-F238E27FC236}">
                <a16:creationId xmlns:a16="http://schemas.microsoft.com/office/drawing/2014/main" id="{73FDFAF8-CA9F-4904-667C-4E160B28F8D1}"/>
              </a:ext>
            </a:extLst>
          </p:cNvPr>
          <p:cNvSpPr>
            <a:spLocks noGrp="1"/>
          </p:cNvSpPr>
          <p:nvPr>
            <p:ph idx="1"/>
          </p:nvPr>
        </p:nvSpPr>
        <p:spPr/>
        <p:txBody>
          <a:bodyPr/>
          <a:lstStyle/>
          <a:p>
            <a:pPr lvl="0"/>
            <a:r>
              <a:rPr lang="en-GB" dirty="0"/>
              <a:t>Translate sports intuition into answerable analytical problems.</a:t>
            </a:r>
          </a:p>
          <a:p>
            <a:r>
              <a:rPr lang="en-GB" dirty="0"/>
              <a:t>Extract and summarize information from performance data.</a:t>
            </a:r>
          </a:p>
          <a:p>
            <a:r>
              <a:rPr lang="en-GB" dirty="0"/>
              <a:t>Make comparisons, </a:t>
            </a:r>
            <a:r>
              <a:rPr lang="en-GB" dirty="0" err="1"/>
              <a:t>analyze</a:t>
            </a:r>
            <a:r>
              <a:rPr lang="en-GB" dirty="0"/>
              <a:t> patterns / trends and build basic statistical models.</a:t>
            </a:r>
          </a:p>
          <a:p>
            <a:r>
              <a:rPr lang="en-GB" dirty="0"/>
              <a:t>Visualize and communicate findings for sport performance audiences.</a:t>
            </a:r>
          </a:p>
          <a:p>
            <a:r>
              <a:rPr lang="en-GB" dirty="0"/>
              <a:t>Evaluate assumptions, limitations, bias, and uncertainty in analytical claims.</a:t>
            </a:r>
          </a:p>
          <a:p>
            <a:endParaRPr lang="en-US" dirty="0"/>
          </a:p>
        </p:txBody>
      </p:sp>
    </p:spTree>
    <p:extLst>
      <p:ext uri="{BB962C8B-B14F-4D97-AF65-F5344CB8AC3E}">
        <p14:creationId xmlns:p14="http://schemas.microsoft.com/office/powerpoint/2010/main" val="5533948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06033-5535-BCB7-6889-68AB47D34138}"/>
              </a:ext>
            </a:extLst>
          </p:cNvPr>
          <p:cNvSpPr>
            <a:spLocks noGrp="1"/>
          </p:cNvSpPr>
          <p:nvPr>
            <p:ph type="title"/>
          </p:nvPr>
        </p:nvSpPr>
        <p:spPr/>
        <p:txBody>
          <a:bodyPr/>
          <a:lstStyle/>
          <a:p>
            <a:r>
              <a:rPr lang="en-US" dirty="0"/>
              <a:t>The Scope of HES 3000</a:t>
            </a:r>
          </a:p>
        </p:txBody>
      </p:sp>
      <p:sp>
        <p:nvSpPr>
          <p:cNvPr id="3" name="Content Placeholder 2">
            <a:extLst>
              <a:ext uri="{FF2B5EF4-FFF2-40B4-BE49-F238E27FC236}">
                <a16:creationId xmlns:a16="http://schemas.microsoft.com/office/drawing/2014/main" id="{CFCA93A6-47EF-5149-03D3-C2C40A8DCCB0}"/>
              </a:ext>
            </a:extLst>
          </p:cNvPr>
          <p:cNvSpPr>
            <a:spLocks noGrp="1"/>
          </p:cNvSpPr>
          <p:nvPr>
            <p:ph idx="1"/>
          </p:nvPr>
        </p:nvSpPr>
        <p:spPr/>
        <p:txBody>
          <a:bodyPr/>
          <a:lstStyle/>
          <a:p>
            <a:r>
              <a:rPr lang="en-GB" dirty="0"/>
              <a:t>We are interested in questions related to:</a:t>
            </a:r>
          </a:p>
          <a:p>
            <a:pPr lvl="1"/>
            <a:r>
              <a:rPr lang="en-GB" dirty="0"/>
              <a:t>Scouting, recruiting, and roster decisions</a:t>
            </a:r>
          </a:p>
          <a:p>
            <a:pPr lvl="1"/>
            <a:r>
              <a:rPr lang="en-GB" dirty="0"/>
              <a:t>Athlete performance and training</a:t>
            </a:r>
          </a:p>
          <a:p>
            <a:pPr lvl="1"/>
            <a:r>
              <a:rPr lang="en-GB" dirty="0"/>
              <a:t>Strategy and competition</a:t>
            </a:r>
          </a:p>
          <a:p>
            <a:pPr lvl="1"/>
            <a:endParaRPr lang="en-GB" dirty="0"/>
          </a:p>
          <a:p>
            <a:r>
              <a:rPr lang="en-GB" dirty="0"/>
              <a:t>We are </a:t>
            </a:r>
            <a:r>
              <a:rPr lang="en-GB" b="1" dirty="0"/>
              <a:t>not</a:t>
            </a:r>
            <a:r>
              <a:rPr lang="en-GB" dirty="0"/>
              <a:t> focusing on ticketing, marketing, sponsorship, or other business operations.</a:t>
            </a:r>
          </a:p>
          <a:p>
            <a:endParaRPr lang="en-US" dirty="0"/>
          </a:p>
        </p:txBody>
      </p:sp>
    </p:spTree>
    <p:extLst>
      <p:ext uri="{BB962C8B-B14F-4D97-AF65-F5344CB8AC3E}">
        <p14:creationId xmlns:p14="http://schemas.microsoft.com/office/powerpoint/2010/main" val="1153373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22D48E-96E4-8E67-7410-C409190D788A}"/>
              </a:ext>
            </a:extLst>
          </p:cNvPr>
          <p:cNvSpPr>
            <a:spLocks noGrp="1"/>
          </p:cNvSpPr>
          <p:nvPr>
            <p:ph type="title"/>
          </p:nvPr>
        </p:nvSpPr>
        <p:spPr/>
        <p:txBody>
          <a:bodyPr/>
          <a:lstStyle/>
          <a:p>
            <a:r>
              <a:rPr lang="en-US" dirty="0"/>
              <a:t>Before we get too far …</a:t>
            </a:r>
          </a:p>
        </p:txBody>
      </p:sp>
      <p:sp>
        <p:nvSpPr>
          <p:cNvPr id="3" name="Text Placeholder 2">
            <a:extLst>
              <a:ext uri="{FF2B5EF4-FFF2-40B4-BE49-F238E27FC236}">
                <a16:creationId xmlns:a16="http://schemas.microsoft.com/office/drawing/2014/main" id="{6C4040A4-E862-A3E1-DF9E-77127C1BE2B3}"/>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907240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ED8245-CA1F-C927-B33D-5C3CD3E521B9}"/>
              </a:ext>
            </a:extLst>
          </p:cNvPr>
          <p:cNvSpPr>
            <a:spLocks noGrp="1"/>
          </p:cNvSpPr>
          <p:nvPr>
            <p:ph type="title"/>
          </p:nvPr>
        </p:nvSpPr>
        <p:spPr/>
        <p:txBody>
          <a:bodyPr/>
          <a:lstStyle/>
          <a:p>
            <a:r>
              <a:rPr lang="en-US" dirty="0"/>
              <a:t>About me</a:t>
            </a:r>
          </a:p>
        </p:txBody>
      </p:sp>
      <p:sp>
        <p:nvSpPr>
          <p:cNvPr id="3" name="Content Placeholder 2">
            <a:extLst>
              <a:ext uri="{FF2B5EF4-FFF2-40B4-BE49-F238E27FC236}">
                <a16:creationId xmlns:a16="http://schemas.microsoft.com/office/drawing/2014/main" id="{2ACEF787-4746-2764-9D5B-D88B3D24D11F}"/>
              </a:ext>
            </a:extLst>
          </p:cNvPr>
          <p:cNvSpPr>
            <a:spLocks noGrp="1"/>
          </p:cNvSpPr>
          <p:nvPr>
            <p:ph idx="1"/>
          </p:nvPr>
        </p:nvSpPr>
        <p:spPr/>
        <p:txBody>
          <a:bodyPr>
            <a:normAutofit/>
          </a:bodyPr>
          <a:lstStyle/>
          <a:p>
            <a:r>
              <a:rPr lang="en-US" dirty="0"/>
              <a:t>Sports Data Analytics MSc</a:t>
            </a:r>
          </a:p>
          <a:p>
            <a:r>
              <a:rPr lang="en-US" dirty="0"/>
              <a:t>Exercise Physiology PhD candidate</a:t>
            </a:r>
          </a:p>
          <a:p>
            <a:r>
              <a:rPr lang="en-US" dirty="0"/>
              <a:t>Sport science, Oklahoma Basketball</a:t>
            </a:r>
          </a:p>
          <a:p>
            <a:r>
              <a:rPr lang="en-US" dirty="0"/>
              <a:t>Performance Intern, Vegas Golden Knights</a:t>
            </a:r>
          </a:p>
        </p:txBody>
      </p:sp>
      <p:sp>
        <p:nvSpPr>
          <p:cNvPr id="4" name="Slide Number Placeholder 3">
            <a:extLst>
              <a:ext uri="{FF2B5EF4-FFF2-40B4-BE49-F238E27FC236}">
                <a16:creationId xmlns:a16="http://schemas.microsoft.com/office/drawing/2014/main" id="{94F605A1-2F80-DE56-3042-69F40CFBA8F3}"/>
              </a:ext>
            </a:extLst>
          </p:cNvPr>
          <p:cNvSpPr>
            <a:spLocks noGrp="1"/>
          </p:cNvSpPr>
          <p:nvPr>
            <p:ph type="sldNum" sz="quarter" idx="12"/>
          </p:nvPr>
        </p:nvSpPr>
        <p:spPr/>
        <p:txBody>
          <a:bodyPr/>
          <a:lstStyle/>
          <a:p>
            <a:fld id="{45C00377-489B-40EC-B059-26BDDD2E89B9}" type="slidenum">
              <a:rPr lang="en-US" smtClean="0"/>
              <a:pPr/>
              <a:t>7</a:t>
            </a:fld>
            <a:endParaRPr lang="en-US" dirty="0"/>
          </a:p>
        </p:txBody>
      </p:sp>
      <p:pic>
        <p:nvPicPr>
          <p:cNvPr id="4101" name="Picture 5" descr="Tokyo 2020, Catapult festeggia 24 medaglie e l'11° posto nel medagliere ...">
            <a:extLst>
              <a:ext uri="{FF2B5EF4-FFF2-40B4-BE49-F238E27FC236}">
                <a16:creationId xmlns:a16="http://schemas.microsoft.com/office/drawing/2014/main" id="{5C309B9E-A3B9-44C0-FF55-89CE6B733CF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37714" y="3429000"/>
            <a:ext cx="3785476" cy="2522483"/>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2">
            <a:extLst>
              <a:ext uri="{FF2B5EF4-FFF2-40B4-BE49-F238E27FC236}">
                <a16:creationId xmlns:a16="http://schemas.microsoft.com/office/drawing/2014/main" id="{84644E02-2380-22C4-E935-A4C600C622A9}"/>
              </a:ext>
            </a:extLst>
          </p:cNvPr>
          <p:cNvSpPr txBox="1">
            <a:spLocks/>
          </p:cNvSpPr>
          <p:nvPr/>
        </p:nvSpPr>
        <p:spPr>
          <a:xfrm>
            <a:off x="838200" y="3805881"/>
            <a:ext cx="6833259" cy="206567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What I work on</a:t>
            </a:r>
          </a:p>
          <a:p>
            <a:pPr lvl="1"/>
            <a:r>
              <a:rPr lang="en-US" dirty="0"/>
              <a:t>Load management using wearable technology</a:t>
            </a:r>
          </a:p>
          <a:p>
            <a:pPr lvl="1"/>
            <a:r>
              <a:rPr lang="en-US" dirty="0"/>
              <a:t>Translating data into actionable coaching insight</a:t>
            </a:r>
          </a:p>
        </p:txBody>
      </p:sp>
    </p:spTree>
    <p:extLst>
      <p:ext uri="{BB962C8B-B14F-4D97-AF65-F5344CB8AC3E}">
        <p14:creationId xmlns:p14="http://schemas.microsoft.com/office/powerpoint/2010/main" val="10619520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DFB025-3E1A-9CDA-C083-1C971AF701FB}"/>
              </a:ext>
            </a:extLst>
          </p:cNvPr>
          <p:cNvSpPr>
            <a:spLocks noGrp="1"/>
          </p:cNvSpPr>
          <p:nvPr>
            <p:ph type="title"/>
          </p:nvPr>
        </p:nvSpPr>
        <p:spPr/>
        <p:txBody>
          <a:bodyPr/>
          <a:lstStyle/>
          <a:p>
            <a:r>
              <a:rPr lang="en-US" dirty="0"/>
              <a:t>Tell me about yourself!</a:t>
            </a:r>
          </a:p>
        </p:txBody>
      </p:sp>
      <p:sp>
        <p:nvSpPr>
          <p:cNvPr id="3" name="Content Placeholder 2">
            <a:extLst>
              <a:ext uri="{FF2B5EF4-FFF2-40B4-BE49-F238E27FC236}">
                <a16:creationId xmlns:a16="http://schemas.microsoft.com/office/drawing/2014/main" id="{4E71609D-83B2-28F8-F9F7-8A7B5F735096}"/>
              </a:ext>
            </a:extLst>
          </p:cNvPr>
          <p:cNvSpPr>
            <a:spLocks noGrp="1"/>
          </p:cNvSpPr>
          <p:nvPr>
            <p:ph idx="1"/>
          </p:nvPr>
        </p:nvSpPr>
        <p:spPr/>
        <p:txBody>
          <a:bodyPr/>
          <a:lstStyle/>
          <a:p>
            <a:pPr marL="0" indent="0">
              <a:buNone/>
            </a:pPr>
            <a:r>
              <a:rPr lang="en-US" dirty="0"/>
              <a:t>In your index cards:</a:t>
            </a:r>
          </a:p>
          <a:p>
            <a:pPr lvl="1"/>
            <a:r>
              <a:rPr lang="en-US" dirty="0"/>
              <a:t>Name</a:t>
            </a:r>
          </a:p>
          <a:p>
            <a:pPr lvl="1"/>
            <a:r>
              <a:rPr lang="en-US" dirty="0"/>
              <a:t>Year + Major </a:t>
            </a:r>
          </a:p>
          <a:p>
            <a:pPr lvl="1"/>
            <a:r>
              <a:rPr lang="en-US" dirty="0"/>
              <a:t>Favorite sport / team</a:t>
            </a:r>
          </a:p>
          <a:p>
            <a:pPr lvl="1"/>
            <a:r>
              <a:rPr lang="en-US" dirty="0"/>
              <a:t>One thing you're interested in learning from this class</a:t>
            </a:r>
          </a:p>
        </p:txBody>
      </p:sp>
      <p:sp>
        <p:nvSpPr>
          <p:cNvPr id="4" name="Slide Number Placeholder 3">
            <a:extLst>
              <a:ext uri="{FF2B5EF4-FFF2-40B4-BE49-F238E27FC236}">
                <a16:creationId xmlns:a16="http://schemas.microsoft.com/office/drawing/2014/main" id="{AF082B2D-DB76-A161-D92D-655EDCC741A4}"/>
              </a:ext>
            </a:extLst>
          </p:cNvPr>
          <p:cNvSpPr>
            <a:spLocks noGrp="1"/>
          </p:cNvSpPr>
          <p:nvPr>
            <p:ph type="sldNum" sz="quarter" idx="12"/>
          </p:nvPr>
        </p:nvSpPr>
        <p:spPr/>
        <p:txBody>
          <a:bodyPr/>
          <a:lstStyle/>
          <a:p>
            <a:fld id="{45C00377-489B-40EC-B059-26BDDD2E89B9}" type="slidenum">
              <a:rPr lang="en-US" smtClean="0"/>
              <a:pPr/>
              <a:t>8</a:t>
            </a:fld>
            <a:endParaRPr lang="en-US" dirty="0"/>
          </a:p>
        </p:txBody>
      </p:sp>
    </p:spTree>
    <p:extLst>
      <p:ext uri="{BB962C8B-B14F-4D97-AF65-F5344CB8AC3E}">
        <p14:creationId xmlns:p14="http://schemas.microsoft.com/office/powerpoint/2010/main" val="19290882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0CA267-07EE-A8C6-7CAD-A0096AFA34D4}"/>
              </a:ext>
            </a:extLst>
          </p:cNvPr>
          <p:cNvSpPr>
            <a:spLocks noGrp="1"/>
          </p:cNvSpPr>
          <p:nvPr>
            <p:ph type="title"/>
          </p:nvPr>
        </p:nvSpPr>
        <p:spPr/>
        <p:txBody>
          <a:bodyPr>
            <a:normAutofit/>
          </a:bodyPr>
          <a:lstStyle/>
          <a:p>
            <a:r>
              <a:rPr lang="en-GB" dirty="0"/>
              <a:t>Start with your own curiosity about sport.</a:t>
            </a:r>
            <a:endParaRPr lang="en-US" dirty="0"/>
          </a:p>
        </p:txBody>
      </p:sp>
      <p:sp>
        <p:nvSpPr>
          <p:cNvPr id="3" name="Content Placeholder 2">
            <a:extLst>
              <a:ext uri="{FF2B5EF4-FFF2-40B4-BE49-F238E27FC236}">
                <a16:creationId xmlns:a16="http://schemas.microsoft.com/office/drawing/2014/main" id="{403D231D-5BDE-94C3-09E5-7361D0985BEB}"/>
              </a:ext>
            </a:extLst>
          </p:cNvPr>
          <p:cNvSpPr>
            <a:spLocks noGrp="1"/>
          </p:cNvSpPr>
          <p:nvPr>
            <p:ph idx="1"/>
          </p:nvPr>
        </p:nvSpPr>
        <p:spPr/>
        <p:txBody>
          <a:bodyPr>
            <a:normAutofit/>
          </a:bodyPr>
          <a:lstStyle/>
          <a:p>
            <a:pPr marL="0" indent="0">
              <a:buNone/>
            </a:pPr>
            <a:r>
              <a:rPr lang="en-GB" dirty="0"/>
              <a:t>Think about something you have wondered while:</a:t>
            </a:r>
          </a:p>
          <a:p>
            <a:pPr lvl="1"/>
            <a:r>
              <a:rPr lang="en-GB" dirty="0"/>
              <a:t>Watching a game or competition</a:t>
            </a:r>
          </a:p>
          <a:p>
            <a:pPr lvl="1"/>
            <a:r>
              <a:rPr lang="en-GB" dirty="0"/>
              <a:t>Playing, coaching, or training for a sport</a:t>
            </a:r>
          </a:p>
          <a:p>
            <a:pPr lvl="1"/>
            <a:r>
              <a:rPr lang="en-GB" dirty="0"/>
              <a:t>Comparing athletes</a:t>
            </a:r>
          </a:p>
          <a:p>
            <a:pPr lvl="1"/>
            <a:r>
              <a:rPr lang="en-GB" dirty="0"/>
              <a:t>Following recruiting or roster decisions</a:t>
            </a:r>
          </a:p>
          <a:p>
            <a:pPr lvl="1"/>
            <a:r>
              <a:rPr lang="en-GB" dirty="0"/>
              <a:t>Hearing a sports claim that seemed questionable</a:t>
            </a:r>
          </a:p>
        </p:txBody>
      </p:sp>
      <p:sp>
        <p:nvSpPr>
          <p:cNvPr id="5" name="TextBox 4">
            <a:extLst>
              <a:ext uri="{FF2B5EF4-FFF2-40B4-BE49-F238E27FC236}">
                <a16:creationId xmlns:a16="http://schemas.microsoft.com/office/drawing/2014/main" id="{92F0E46E-31B9-6E13-5981-34BD73251BBC}"/>
              </a:ext>
            </a:extLst>
          </p:cNvPr>
          <p:cNvSpPr txBox="1"/>
          <p:nvPr/>
        </p:nvSpPr>
        <p:spPr>
          <a:xfrm>
            <a:off x="5255822" y="4176415"/>
            <a:ext cx="6097978" cy="2000548"/>
          </a:xfrm>
          <a:prstGeom prst="rect">
            <a:avLst/>
          </a:prstGeom>
          <a:noFill/>
        </p:spPr>
        <p:txBody>
          <a:bodyPr wrap="square">
            <a:spAutoFit/>
          </a:bodyPr>
          <a:lstStyle/>
          <a:p>
            <a:r>
              <a:rPr lang="en-GB" sz="2800" dirty="0"/>
              <a:t>Possible starting phrases:</a:t>
            </a:r>
          </a:p>
          <a:p>
            <a:pPr lvl="1"/>
            <a:r>
              <a:rPr lang="en-GB" sz="2400" i="1" dirty="0"/>
              <a:t>“I have always wondered why…”</a:t>
            </a:r>
            <a:endParaRPr lang="en-GB" sz="2400" dirty="0"/>
          </a:p>
          <a:p>
            <a:pPr lvl="1"/>
            <a:r>
              <a:rPr lang="en-GB" sz="2400" i="1" dirty="0"/>
              <a:t>“How could a team determine whether…”</a:t>
            </a:r>
            <a:endParaRPr lang="en-GB" sz="2400" dirty="0"/>
          </a:p>
          <a:p>
            <a:pPr lvl="1"/>
            <a:r>
              <a:rPr lang="en-GB" sz="2400" i="1" dirty="0"/>
              <a:t>“How would we know if…”</a:t>
            </a:r>
            <a:endParaRPr lang="en-GB" sz="2400" dirty="0"/>
          </a:p>
          <a:p>
            <a:pPr lvl="1"/>
            <a:r>
              <a:rPr lang="en-GB" sz="2400" i="1" dirty="0"/>
              <a:t>“Should a coach…”</a:t>
            </a:r>
            <a:endParaRPr lang="en-GB" sz="2400" dirty="0"/>
          </a:p>
        </p:txBody>
      </p:sp>
    </p:spTree>
    <p:extLst>
      <p:ext uri="{BB962C8B-B14F-4D97-AF65-F5344CB8AC3E}">
        <p14:creationId xmlns:p14="http://schemas.microsoft.com/office/powerpoint/2010/main" val="2564971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CDF74-7A78-AB50-1025-2FFA782783E3}"/>
              </a:ext>
            </a:extLst>
          </p:cNvPr>
          <p:cNvSpPr>
            <a:spLocks noGrp="1"/>
          </p:cNvSpPr>
          <p:nvPr>
            <p:ph type="title"/>
          </p:nvPr>
        </p:nvSpPr>
        <p:spPr/>
        <p:txBody>
          <a:bodyPr/>
          <a:lstStyle/>
          <a:p>
            <a:r>
              <a:rPr lang="en-US" dirty="0"/>
              <a:t>Pair and Share</a:t>
            </a:r>
          </a:p>
        </p:txBody>
      </p:sp>
      <p:sp>
        <p:nvSpPr>
          <p:cNvPr id="3" name="Content Placeholder 2">
            <a:extLst>
              <a:ext uri="{FF2B5EF4-FFF2-40B4-BE49-F238E27FC236}">
                <a16:creationId xmlns:a16="http://schemas.microsoft.com/office/drawing/2014/main" id="{8CDCA40E-180C-AB54-DA6C-4961067D881A}"/>
              </a:ext>
            </a:extLst>
          </p:cNvPr>
          <p:cNvSpPr>
            <a:spLocks noGrp="1"/>
          </p:cNvSpPr>
          <p:nvPr>
            <p:ph idx="1"/>
          </p:nvPr>
        </p:nvSpPr>
        <p:spPr/>
        <p:txBody>
          <a:bodyPr/>
          <a:lstStyle/>
          <a:p>
            <a:pPr marL="0" indent="0">
              <a:buNone/>
            </a:pPr>
            <a:r>
              <a:rPr lang="en-GB" dirty="0"/>
              <a:t>In groups of 3:</a:t>
            </a:r>
          </a:p>
          <a:p>
            <a:pPr marL="514350" lvl="0" indent="-514350">
              <a:buFont typeface="+mj-lt"/>
              <a:buAutoNum type="arabicPeriod"/>
            </a:pPr>
            <a:r>
              <a:rPr lang="en-GB" dirty="0"/>
              <a:t>Give each person an opportunity to share.</a:t>
            </a:r>
          </a:p>
          <a:p>
            <a:pPr marL="514350" lvl="0" indent="-514350">
              <a:buFont typeface="+mj-lt"/>
              <a:buAutoNum type="arabicPeriod"/>
            </a:pPr>
            <a:r>
              <a:rPr lang="en-GB" dirty="0"/>
              <a:t>Select one or two ideas to discuss further.</a:t>
            </a:r>
          </a:p>
          <a:p>
            <a:pPr marL="514350" lvl="0" indent="-514350">
              <a:buFont typeface="+mj-lt"/>
              <a:buAutoNum type="arabicPeriod"/>
            </a:pPr>
            <a:r>
              <a:rPr lang="en-GB" dirty="0"/>
              <a:t>For each selected idea, consider:</a:t>
            </a:r>
          </a:p>
          <a:p>
            <a:pPr lvl="2"/>
            <a:r>
              <a:rPr lang="en-GB" dirty="0"/>
              <a:t>What information do we need to answer your question?</a:t>
            </a:r>
          </a:p>
          <a:p>
            <a:pPr lvl="2"/>
            <a:r>
              <a:rPr lang="en-GB" dirty="0"/>
              <a:t>What decisions would the answer effect?</a:t>
            </a:r>
          </a:p>
          <a:p>
            <a:pPr lvl="2"/>
            <a:r>
              <a:rPr lang="en-GB" dirty="0"/>
              <a:t>What are some possible answers to your questions?</a:t>
            </a:r>
          </a:p>
          <a:p>
            <a:pPr lvl="2"/>
            <a:r>
              <a:rPr lang="en-GB" dirty="0"/>
              <a:t>What are the risks and benefits of change?</a:t>
            </a:r>
          </a:p>
          <a:p>
            <a:endParaRPr lang="en-US" dirty="0"/>
          </a:p>
        </p:txBody>
      </p:sp>
    </p:spTree>
    <p:extLst>
      <p:ext uri="{BB962C8B-B14F-4D97-AF65-F5344CB8AC3E}">
        <p14:creationId xmlns:p14="http://schemas.microsoft.com/office/powerpoint/2010/main" val="41264812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A3450-844C-8DC4-E986-2ACD49B2FB8D}"/>
              </a:ext>
            </a:extLst>
          </p:cNvPr>
          <p:cNvSpPr>
            <a:spLocks noGrp="1"/>
          </p:cNvSpPr>
          <p:nvPr>
            <p:ph type="title"/>
          </p:nvPr>
        </p:nvSpPr>
        <p:spPr/>
        <p:txBody>
          <a:bodyPr>
            <a:normAutofit/>
          </a:bodyPr>
          <a:lstStyle/>
          <a:p>
            <a:r>
              <a:rPr lang="en-GB" dirty="0"/>
              <a:t>TBC</a:t>
            </a:r>
            <a:endParaRPr lang="en-US" dirty="0"/>
          </a:p>
        </p:txBody>
      </p:sp>
      <p:sp>
        <p:nvSpPr>
          <p:cNvPr id="3" name="Content Placeholder 2">
            <a:extLst>
              <a:ext uri="{FF2B5EF4-FFF2-40B4-BE49-F238E27FC236}">
                <a16:creationId xmlns:a16="http://schemas.microsoft.com/office/drawing/2014/main" id="{18F2E0BC-8861-0C61-45D0-33D8202F65DE}"/>
              </a:ext>
            </a:extLst>
          </p:cNvPr>
          <p:cNvSpPr>
            <a:spLocks noGrp="1"/>
          </p:cNvSpPr>
          <p:nvPr>
            <p:ph idx="1"/>
          </p:nvPr>
        </p:nvSpPr>
        <p:spPr/>
        <p:txBody>
          <a:bodyPr/>
          <a:lstStyle/>
          <a:p>
            <a:r>
              <a:rPr lang="en-GB" dirty="0"/>
              <a:t>The questions you generated today involve different:</a:t>
            </a:r>
          </a:p>
          <a:p>
            <a:pPr lvl="1"/>
            <a:r>
              <a:rPr lang="en-GB" dirty="0"/>
              <a:t>Sports and competitive settings </a:t>
            </a:r>
          </a:p>
          <a:p>
            <a:pPr lvl="1"/>
            <a:r>
              <a:rPr lang="en-GB" dirty="0"/>
              <a:t>Types of data </a:t>
            </a:r>
          </a:p>
          <a:p>
            <a:pPr lvl="1"/>
            <a:r>
              <a:rPr lang="en-GB" dirty="0"/>
              <a:t>Analytical approaches </a:t>
            </a:r>
          </a:p>
          <a:p>
            <a:pPr lvl="1"/>
            <a:r>
              <a:rPr lang="en-GB" dirty="0"/>
              <a:t>Audiences and decisions </a:t>
            </a:r>
          </a:p>
          <a:p>
            <a:r>
              <a:rPr lang="en-GB" dirty="0"/>
              <a:t>Throughout the semester, we will develop a framework for investigating them more </a:t>
            </a:r>
            <a:r>
              <a:rPr lang="en-GB" b="1" dirty="0"/>
              <a:t>systematically</a:t>
            </a:r>
            <a:r>
              <a:rPr lang="en-GB" dirty="0"/>
              <a:t>.</a:t>
            </a:r>
          </a:p>
        </p:txBody>
      </p:sp>
    </p:spTree>
    <p:extLst>
      <p:ext uri="{BB962C8B-B14F-4D97-AF65-F5344CB8AC3E}">
        <p14:creationId xmlns:p14="http://schemas.microsoft.com/office/powerpoint/2010/main" val="3264007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9BBDF3-3F2B-46C8-EBB9-E76680C30537}"/>
              </a:ext>
            </a:extLst>
          </p:cNvPr>
          <p:cNvSpPr>
            <a:spLocks noGrp="1"/>
          </p:cNvSpPr>
          <p:nvPr>
            <p:ph type="title"/>
          </p:nvPr>
        </p:nvSpPr>
        <p:spPr/>
        <p:txBody>
          <a:bodyPr/>
          <a:lstStyle/>
          <a:p>
            <a:r>
              <a:rPr lang="en-GB" dirty="0"/>
              <a:t>Skills to Build during this semester</a:t>
            </a:r>
          </a:p>
        </p:txBody>
      </p:sp>
      <p:sp>
        <p:nvSpPr>
          <p:cNvPr id="3" name="Content Placeholder 2">
            <a:extLst>
              <a:ext uri="{FF2B5EF4-FFF2-40B4-BE49-F238E27FC236}">
                <a16:creationId xmlns:a16="http://schemas.microsoft.com/office/drawing/2014/main" id="{F47673A8-7F5B-DC3C-10BB-FE0C6EAFCA30}"/>
              </a:ext>
            </a:extLst>
          </p:cNvPr>
          <p:cNvSpPr>
            <a:spLocks noGrp="1"/>
          </p:cNvSpPr>
          <p:nvPr>
            <p:ph idx="1"/>
          </p:nvPr>
        </p:nvSpPr>
        <p:spPr/>
        <p:txBody>
          <a:bodyPr>
            <a:normAutofit/>
          </a:bodyPr>
          <a:lstStyle/>
          <a:p>
            <a:pPr lvl="0"/>
            <a:r>
              <a:rPr lang="en-GB" b="1" dirty="0"/>
              <a:t>Foundations:</a:t>
            </a:r>
            <a:r>
              <a:rPr lang="en-GB" dirty="0"/>
              <a:t> What sport analytics is and formulating good questions we can answer</a:t>
            </a:r>
          </a:p>
          <a:p>
            <a:pPr lvl="0"/>
            <a:r>
              <a:rPr lang="en-GB" b="1" dirty="0"/>
              <a:t>Data:</a:t>
            </a:r>
            <a:r>
              <a:rPr lang="en-GB" dirty="0"/>
              <a:t> Sources, structure, quality, validity, reliability, and ethics</a:t>
            </a:r>
          </a:p>
          <a:p>
            <a:pPr lvl="0"/>
            <a:r>
              <a:rPr lang="en-GB" b="1" dirty="0"/>
              <a:t>Description:</a:t>
            </a:r>
            <a:r>
              <a:rPr lang="en-GB" dirty="0"/>
              <a:t> </a:t>
            </a:r>
            <a:r>
              <a:rPr lang="en-GB" dirty="0" err="1"/>
              <a:t>Center</a:t>
            </a:r>
            <a:r>
              <a:rPr lang="en-GB" dirty="0"/>
              <a:t>, spread, distributions, and athlete profiling</a:t>
            </a:r>
          </a:p>
          <a:p>
            <a:pPr lvl="0"/>
            <a:r>
              <a:rPr lang="en-GB" b="1" dirty="0"/>
              <a:t>Visualization:</a:t>
            </a:r>
            <a:r>
              <a:rPr lang="en-GB" dirty="0"/>
              <a:t> Showing patterns clearly and honestly</a:t>
            </a:r>
          </a:p>
          <a:p>
            <a:pPr lvl="0"/>
            <a:r>
              <a:rPr lang="en-GB" b="1" dirty="0"/>
              <a:t>Relationships:</a:t>
            </a:r>
            <a:r>
              <a:rPr lang="en-GB" dirty="0"/>
              <a:t> Association, regression, and interpretation</a:t>
            </a:r>
          </a:p>
          <a:p>
            <a:pPr lvl="0"/>
            <a:r>
              <a:rPr lang="en-GB" b="1" dirty="0"/>
              <a:t>Decisions:</a:t>
            </a:r>
            <a:r>
              <a:rPr lang="en-GB" dirty="0"/>
              <a:t> Thresholds, probabilities, models, and communication</a:t>
            </a:r>
          </a:p>
          <a:p>
            <a:pPr lvl="0"/>
            <a:r>
              <a:rPr lang="en-GB" b="1" dirty="0"/>
              <a:t>Application:</a:t>
            </a:r>
            <a:r>
              <a:rPr lang="en-GB" dirty="0"/>
              <a:t> A semester-long group project</a:t>
            </a:r>
          </a:p>
        </p:txBody>
      </p:sp>
      <p:sp>
        <p:nvSpPr>
          <p:cNvPr id="4" name="Slide Number Placeholder 3">
            <a:extLst>
              <a:ext uri="{FF2B5EF4-FFF2-40B4-BE49-F238E27FC236}">
                <a16:creationId xmlns:a16="http://schemas.microsoft.com/office/drawing/2014/main" id="{33898ED9-935E-620F-FAF1-607D0AF58D5D}"/>
              </a:ext>
            </a:extLst>
          </p:cNvPr>
          <p:cNvSpPr>
            <a:spLocks noGrp="1"/>
          </p:cNvSpPr>
          <p:nvPr>
            <p:ph type="sldNum" sz="quarter" idx="12"/>
          </p:nvPr>
        </p:nvSpPr>
        <p:spPr/>
        <p:txBody>
          <a:bodyPr/>
          <a:lstStyle/>
          <a:p>
            <a:fld id="{45C00377-489B-40EC-B059-26BDDD2E89B9}" type="slidenum">
              <a:rPr lang="en-US" smtClean="0"/>
              <a:pPr/>
              <a:t>12</a:t>
            </a:fld>
            <a:endParaRPr lang="en-US" dirty="0"/>
          </a:p>
        </p:txBody>
      </p:sp>
    </p:spTree>
    <p:extLst>
      <p:ext uri="{BB962C8B-B14F-4D97-AF65-F5344CB8AC3E}">
        <p14:creationId xmlns:p14="http://schemas.microsoft.com/office/powerpoint/2010/main" val="22731235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BC00C-9A93-01EE-A48E-89BE0BAD4E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5C8C00-C411-85D8-9F2C-080682282586}"/>
              </a:ext>
            </a:extLst>
          </p:cNvPr>
          <p:cNvSpPr>
            <a:spLocks noGrp="1"/>
          </p:cNvSpPr>
          <p:nvPr>
            <p:ph type="title"/>
          </p:nvPr>
        </p:nvSpPr>
        <p:spPr/>
        <p:txBody>
          <a:bodyPr/>
          <a:lstStyle/>
          <a:p>
            <a:r>
              <a:rPr lang="en-US" dirty="0"/>
              <a:t>Assessments</a:t>
            </a:r>
          </a:p>
        </p:txBody>
      </p:sp>
      <p:sp>
        <p:nvSpPr>
          <p:cNvPr id="3" name="Content Placeholder 2">
            <a:extLst>
              <a:ext uri="{FF2B5EF4-FFF2-40B4-BE49-F238E27FC236}">
                <a16:creationId xmlns:a16="http://schemas.microsoft.com/office/drawing/2014/main" id="{FC6A888D-DC63-B929-3676-DC5359C91211}"/>
              </a:ext>
            </a:extLst>
          </p:cNvPr>
          <p:cNvSpPr>
            <a:spLocks noGrp="1"/>
          </p:cNvSpPr>
          <p:nvPr>
            <p:ph idx="1"/>
          </p:nvPr>
        </p:nvSpPr>
        <p:spPr/>
        <p:txBody>
          <a:bodyPr>
            <a:normAutofit lnSpcReduction="10000"/>
          </a:bodyPr>
          <a:lstStyle/>
          <a:p>
            <a:pPr lvl="0"/>
            <a:r>
              <a:rPr lang="en-GB" dirty="0"/>
              <a:t>12 quizzes: Review the previous week's material; the two lowest scores are dropped.</a:t>
            </a:r>
          </a:p>
          <a:p>
            <a:pPr lvl="0"/>
            <a:r>
              <a:rPr lang="en-GB" dirty="0"/>
              <a:t>In-class activities: Apply concepts to sports problems and earn participation credit.</a:t>
            </a:r>
          </a:p>
          <a:p>
            <a:pPr lvl="1"/>
            <a:r>
              <a:rPr lang="en-US" sz="2000" dirty="0"/>
              <a:t>&gt; 80% completion = 10 pts, 60-79% completion = 5 pts, &lt; 60% completion = 0.</a:t>
            </a:r>
            <a:endParaRPr lang="en-GB" sz="2000" dirty="0"/>
          </a:p>
          <a:p>
            <a:pPr lvl="0"/>
            <a:r>
              <a:rPr lang="en-GB" dirty="0"/>
              <a:t>4 case studies: Interpret data, evaluate methods, visualize findings, and reflect on analytical choices.</a:t>
            </a:r>
          </a:p>
          <a:p>
            <a:pPr lvl="0"/>
            <a:r>
              <a:rPr lang="en-GB" dirty="0"/>
              <a:t>Journal article discussion: Present and discuss peer-reviewed sport analytics research.</a:t>
            </a:r>
          </a:p>
          <a:p>
            <a:pPr lvl="0"/>
            <a:r>
              <a:rPr lang="en-GB" dirty="0"/>
              <a:t>2 exam: Demonstrate your understanding of concepts, applications, and the final project.</a:t>
            </a:r>
          </a:p>
        </p:txBody>
      </p:sp>
      <p:sp>
        <p:nvSpPr>
          <p:cNvPr id="4" name="Slide Number Placeholder 3">
            <a:extLst>
              <a:ext uri="{FF2B5EF4-FFF2-40B4-BE49-F238E27FC236}">
                <a16:creationId xmlns:a16="http://schemas.microsoft.com/office/drawing/2014/main" id="{BD5A3C2B-BA88-A218-44BF-B87E87109163}"/>
              </a:ext>
            </a:extLst>
          </p:cNvPr>
          <p:cNvSpPr>
            <a:spLocks noGrp="1"/>
          </p:cNvSpPr>
          <p:nvPr>
            <p:ph type="sldNum" sz="quarter" idx="12"/>
          </p:nvPr>
        </p:nvSpPr>
        <p:spPr/>
        <p:txBody>
          <a:bodyPr/>
          <a:lstStyle/>
          <a:p>
            <a:fld id="{45C00377-489B-40EC-B059-26BDDD2E89B9}" type="slidenum">
              <a:rPr lang="en-US" smtClean="0"/>
              <a:pPr/>
              <a:t>13</a:t>
            </a:fld>
            <a:endParaRPr lang="en-US" dirty="0"/>
          </a:p>
        </p:txBody>
      </p:sp>
    </p:spTree>
    <p:extLst>
      <p:ext uri="{BB962C8B-B14F-4D97-AF65-F5344CB8AC3E}">
        <p14:creationId xmlns:p14="http://schemas.microsoft.com/office/powerpoint/2010/main" val="22344056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455E1-9E94-F39C-2022-4F4718F86CD8}"/>
              </a:ext>
            </a:extLst>
          </p:cNvPr>
          <p:cNvSpPr>
            <a:spLocks noGrp="1"/>
          </p:cNvSpPr>
          <p:nvPr>
            <p:ph type="title"/>
          </p:nvPr>
        </p:nvSpPr>
        <p:spPr/>
        <p:txBody>
          <a:bodyPr/>
          <a:lstStyle/>
          <a:p>
            <a:r>
              <a:rPr lang="en-US" dirty="0"/>
              <a:t>Assessments</a:t>
            </a:r>
          </a:p>
        </p:txBody>
      </p:sp>
      <p:sp>
        <p:nvSpPr>
          <p:cNvPr id="4" name="Slide Number Placeholder 3">
            <a:extLst>
              <a:ext uri="{FF2B5EF4-FFF2-40B4-BE49-F238E27FC236}">
                <a16:creationId xmlns:a16="http://schemas.microsoft.com/office/drawing/2014/main" id="{2ABD99BD-A8DD-9B07-2238-F064A2889A91}"/>
              </a:ext>
            </a:extLst>
          </p:cNvPr>
          <p:cNvSpPr>
            <a:spLocks noGrp="1"/>
          </p:cNvSpPr>
          <p:nvPr>
            <p:ph type="sldNum" sz="quarter" idx="12"/>
          </p:nvPr>
        </p:nvSpPr>
        <p:spPr/>
        <p:txBody>
          <a:bodyPr/>
          <a:lstStyle/>
          <a:p>
            <a:fld id="{45C00377-489B-40EC-B059-26BDDD2E89B9}" type="slidenum">
              <a:rPr lang="en-US" smtClean="0"/>
              <a:pPr/>
              <a:t>14</a:t>
            </a:fld>
            <a:endParaRPr lang="en-US" dirty="0"/>
          </a:p>
        </p:txBody>
      </p:sp>
      <p:graphicFrame>
        <p:nvGraphicFramePr>
          <p:cNvPr id="7" name="Content Placeholder 6">
            <a:extLst>
              <a:ext uri="{FF2B5EF4-FFF2-40B4-BE49-F238E27FC236}">
                <a16:creationId xmlns:a16="http://schemas.microsoft.com/office/drawing/2014/main" id="{B2739E84-65FD-5F89-E2AB-1CF4F2F24362}"/>
              </a:ext>
            </a:extLst>
          </p:cNvPr>
          <p:cNvGraphicFramePr>
            <a:graphicFrameLocks noGrp="1"/>
          </p:cNvGraphicFramePr>
          <p:nvPr>
            <p:ph idx="1"/>
            <p:extLst>
              <p:ext uri="{D42A27DB-BD31-4B8C-83A1-F6EECF244321}">
                <p14:modId xmlns:p14="http://schemas.microsoft.com/office/powerpoint/2010/main" val="2608199997"/>
              </p:ext>
            </p:extLst>
          </p:nvPr>
        </p:nvGraphicFramePr>
        <p:xfrm>
          <a:off x="2624447" y="1650669"/>
          <a:ext cx="6757059" cy="3538848"/>
        </p:xfrm>
        <a:graphic>
          <a:graphicData uri="http://schemas.openxmlformats.org/drawingml/2006/table">
            <a:tbl>
              <a:tblPr firstRow="1" lastRow="1">
                <a:tableStyleId>{5C22544A-7EE6-4342-B048-85BDC9FD1C3A}</a:tableStyleId>
              </a:tblPr>
              <a:tblGrid>
                <a:gridCol w="4120157">
                  <a:extLst>
                    <a:ext uri="{9D8B030D-6E8A-4147-A177-3AD203B41FA5}">
                      <a16:colId xmlns:a16="http://schemas.microsoft.com/office/drawing/2014/main" val="3630878524"/>
                    </a:ext>
                  </a:extLst>
                </a:gridCol>
                <a:gridCol w="1318451">
                  <a:extLst>
                    <a:ext uri="{9D8B030D-6E8A-4147-A177-3AD203B41FA5}">
                      <a16:colId xmlns:a16="http://schemas.microsoft.com/office/drawing/2014/main" val="2661739713"/>
                    </a:ext>
                  </a:extLst>
                </a:gridCol>
                <a:gridCol w="1318451">
                  <a:extLst>
                    <a:ext uri="{9D8B030D-6E8A-4147-A177-3AD203B41FA5}">
                      <a16:colId xmlns:a16="http://schemas.microsoft.com/office/drawing/2014/main" val="3816361369"/>
                    </a:ext>
                  </a:extLst>
                </a:gridCol>
              </a:tblGrid>
              <a:tr h="442356">
                <a:tc>
                  <a:txBody>
                    <a:bodyPr/>
                    <a:lstStyle/>
                    <a:p>
                      <a:pPr algn="ctr">
                        <a:lnSpc>
                          <a:spcPct val="115000"/>
                        </a:lnSpc>
                        <a:buNone/>
                      </a:pPr>
                      <a:r>
                        <a:rPr lang="en-US" sz="1800" kern="100" dirty="0">
                          <a:effectLst/>
                        </a:rPr>
                        <a:t>Evaluation</a:t>
                      </a:r>
                      <a:endParaRPr lang="en-GB" sz="1800" kern="100" dirty="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Points</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Weight</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1731221789"/>
                  </a:ext>
                </a:extLst>
              </a:tr>
              <a:tr h="442356">
                <a:tc>
                  <a:txBody>
                    <a:bodyPr/>
                    <a:lstStyle/>
                    <a:p>
                      <a:pPr algn="ctr">
                        <a:lnSpc>
                          <a:spcPct val="115000"/>
                        </a:lnSpc>
                        <a:buNone/>
                      </a:pPr>
                      <a:r>
                        <a:rPr lang="en-US" sz="1800" kern="100">
                          <a:effectLst/>
                        </a:rPr>
                        <a:t>Quizzes (10)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100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.20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2122959447"/>
                  </a:ext>
                </a:extLst>
              </a:tr>
              <a:tr h="442356">
                <a:tc>
                  <a:txBody>
                    <a:bodyPr/>
                    <a:lstStyle/>
                    <a:p>
                      <a:pPr algn="ctr">
                        <a:lnSpc>
                          <a:spcPct val="115000"/>
                        </a:lnSpc>
                        <a:buNone/>
                      </a:pPr>
                      <a:r>
                        <a:rPr lang="en-US" sz="1800" kern="100">
                          <a:effectLst/>
                        </a:rPr>
                        <a:t>Attendance</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10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.02</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839403633"/>
                  </a:ext>
                </a:extLst>
              </a:tr>
              <a:tr h="442356">
                <a:tc>
                  <a:txBody>
                    <a:bodyPr/>
                    <a:lstStyle/>
                    <a:p>
                      <a:pPr algn="ctr">
                        <a:lnSpc>
                          <a:spcPct val="115000"/>
                        </a:lnSpc>
                        <a:buNone/>
                      </a:pPr>
                      <a:r>
                        <a:rPr lang="en-US" sz="1800" kern="100">
                          <a:effectLst/>
                        </a:rPr>
                        <a:t>Case study (4)</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80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.16</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3793675591"/>
                  </a:ext>
                </a:extLst>
              </a:tr>
              <a:tr h="442356">
                <a:tc>
                  <a:txBody>
                    <a:bodyPr/>
                    <a:lstStyle/>
                    <a:p>
                      <a:pPr algn="ctr">
                        <a:lnSpc>
                          <a:spcPct val="115000"/>
                        </a:lnSpc>
                        <a:buNone/>
                      </a:pPr>
                      <a:r>
                        <a:rPr lang="en-US" sz="1800" kern="100" dirty="0">
                          <a:effectLst/>
                        </a:rPr>
                        <a:t>Journal article discussion</a:t>
                      </a:r>
                      <a:endParaRPr lang="en-GB" sz="1800" kern="100" dirty="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10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.02</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3820934620"/>
                  </a:ext>
                </a:extLst>
              </a:tr>
              <a:tr h="442356">
                <a:tc>
                  <a:txBody>
                    <a:bodyPr/>
                    <a:lstStyle/>
                    <a:p>
                      <a:pPr algn="ctr">
                        <a:lnSpc>
                          <a:spcPct val="115000"/>
                        </a:lnSpc>
                        <a:buNone/>
                      </a:pPr>
                      <a:r>
                        <a:rPr lang="en-US" sz="1800" kern="100">
                          <a:effectLst/>
                        </a:rPr>
                        <a:t> Final project</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100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.2 </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1372832561"/>
                  </a:ext>
                </a:extLst>
              </a:tr>
              <a:tr h="442356">
                <a:tc>
                  <a:txBody>
                    <a:bodyPr/>
                    <a:lstStyle/>
                    <a:p>
                      <a:pPr algn="ctr">
                        <a:lnSpc>
                          <a:spcPct val="115000"/>
                        </a:lnSpc>
                        <a:buNone/>
                      </a:pPr>
                      <a:r>
                        <a:rPr lang="en-US" sz="1800" kern="100">
                          <a:effectLst/>
                        </a:rPr>
                        <a:t>Exams (2)</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200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.4</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2818803125"/>
                  </a:ext>
                </a:extLst>
              </a:tr>
              <a:tr h="442356">
                <a:tc>
                  <a:txBody>
                    <a:bodyPr/>
                    <a:lstStyle/>
                    <a:p>
                      <a:pPr algn="ctr">
                        <a:lnSpc>
                          <a:spcPct val="115000"/>
                        </a:lnSpc>
                        <a:buNone/>
                      </a:pPr>
                      <a:r>
                        <a:rPr lang="en-US" sz="1800" kern="100" dirty="0">
                          <a:effectLst/>
                        </a:rPr>
                        <a:t>Total </a:t>
                      </a:r>
                      <a:endParaRPr lang="en-GB" sz="1800" kern="100" dirty="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500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dirty="0">
                          <a:effectLst/>
                        </a:rPr>
                        <a:t> </a:t>
                      </a:r>
                      <a:endParaRPr lang="en-GB" sz="1800" kern="100" dirty="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3002130040"/>
                  </a:ext>
                </a:extLst>
              </a:tr>
            </a:tbl>
          </a:graphicData>
        </a:graphic>
      </p:graphicFrame>
    </p:spTree>
    <p:extLst>
      <p:ext uri="{BB962C8B-B14F-4D97-AF65-F5344CB8AC3E}">
        <p14:creationId xmlns:p14="http://schemas.microsoft.com/office/powerpoint/2010/main" val="2166066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3B321-296D-72C2-C3F9-48ED96B4BA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FAA7BA-0A93-634C-8566-7C39CD37A5FD}"/>
              </a:ext>
            </a:extLst>
          </p:cNvPr>
          <p:cNvSpPr>
            <a:spLocks noGrp="1"/>
          </p:cNvSpPr>
          <p:nvPr>
            <p:ph type="title"/>
          </p:nvPr>
        </p:nvSpPr>
        <p:spPr/>
        <p:txBody>
          <a:bodyPr/>
          <a:lstStyle/>
          <a:p>
            <a:r>
              <a:rPr lang="en-US" dirty="0"/>
              <a:t>Course policies</a:t>
            </a:r>
          </a:p>
        </p:txBody>
      </p:sp>
      <p:sp>
        <p:nvSpPr>
          <p:cNvPr id="3" name="Content Placeholder 2">
            <a:extLst>
              <a:ext uri="{FF2B5EF4-FFF2-40B4-BE49-F238E27FC236}">
                <a16:creationId xmlns:a16="http://schemas.microsoft.com/office/drawing/2014/main" id="{778D1AB3-CFA6-4444-D7B2-C531D0B433DC}"/>
              </a:ext>
            </a:extLst>
          </p:cNvPr>
          <p:cNvSpPr>
            <a:spLocks noGrp="1"/>
          </p:cNvSpPr>
          <p:nvPr>
            <p:ph idx="1"/>
          </p:nvPr>
        </p:nvSpPr>
        <p:spPr/>
        <p:txBody>
          <a:bodyPr>
            <a:normAutofit/>
          </a:bodyPr>
          <a:lstStyle/>
          <a:p>
            <a:r>
              <a:rPr lang="en-US" dirty="0"/>
              <a:t>Attendance</a:t>
            </a:r>
          </a:p>
          <a:p>
            <a:pPr lvl="1"/>
            <a:r>
              <a:rPr lang="en-GB" dirty="0"/>
              <a:t>In-class activities count toward attendance and cannot be made up.</a:t>
            </a:r>
          </a:p>
          <a:p>
            <a:pPr lvl="1"/>
            <a:r>
              <a:rPr lang="en-US" dirty="0"/>
              <a:t>Grade rounding at the end of the semester is only applied if full attendance points is earned.</a:t>
            </a:r>
          </a:p>
          <a:p>
            <a:r>
              <a:rPr lang="en-GB" dirty="0"/>
              <a:t>Deadlines: </a:t>
            </a:r>
          </a:p>
          <a:p>
            <a:pPr lvl="1"/>
            <a:r>
              <a:rPr lang="en-GB" dirty="0"/>
              <a:t>Late quizzes and exams are not accepted. </a:t>
            </a:r>
          </a:p>
          <a:p>
            <a:pPr lvl="1"/>
            <a:r>
              <a:rPr lang="en-GB" dirty="0"/>
              <a:t>Other late work loses 10% per day unless arranged in advance.</a:t>
            </a:r>
            <a:endParaRPr lang="en-US" dirty="0"/>
          </a:p>
        </p:txBody>
      </p:sp>
      <p:sp>
        <p:nvSpPr>
          <p:cNvPr id="4" name="Slide Number Placeholder 3">
            <a:extLst>
              <a:ext uri="{FF2B5EF4-FFF2-40B4-BE49-F238E27FC236}">
                <a16:creationId xmlns:a16="http://schemas.microsoft.com/office/drawing/2014/main" id="{7000C46F-9422-E582-3C1B-E868C57F97FE}"/>
              </a:ext>
            </a:extLst>
          </p:cNvPr>
          <p:cNvSpPr>
            <a:spLocks noGrp="1"/>
          </p:cNvSpPr>
          <p:nvPr>
            <p:ph type="sldNum" sz="quarter" idx="12"/>
          </p:nvPr>
        </p:nvSpPr>
        <p:spPr/>
        <p:txBody>
          <a:bodyPr/>
          <a:lstStyle/>
          <a:p>
            <a:fld id="{45C00377-489B-40EC-B059-26BDDD2E89B9}" type="slidenum">
              <a:rPr lang="en-US" smtClean="0"/>
              <a:pPr/>
              <a:t>15</a:t>
            </a:fld>
            <a:endParaRPr lang="en-US" dirty="0"/>
          </a:p>
        </p:txBody>
      </p:sp>
      <p:sp>
        <p:nvSpPr>
          <p:cNvPr id="6" name="TextBox 5">
            <a:extLst>
              <a:ext uri="{FF2B5EF4-FFF2-40B4-BE49-F238E27FC236}">
                <a16:creationId xmlns:a16="http://schemas.microsoft.com/office/drawing/2014/main" id="{E53DBA07-6E28-BE08-3D2E-E56341BA4232}"/>
              </a:ext>
            </a:extLst>
          </p:cNvPr>
          <p:cNvSpPr txBox="1"/>
          <p:nvPr/>
        </p:nvSpPr>
        <p:spPr>
          <a:xfrm>
            <a:off x="4012857" y="6277430"/>
            <a:ext cx="6098058" cy="430887"/>
          </a:xfrm>
          <a:prstGeom prst="rect">
            <a:avLst/>
          </a:prstGeom>
          <a:noFill/>
        </p:spPr>
        <p:txBody>
          <a:bodyPr wrap="square">
            <a:spAutoFit/>
          </a:bodyPr>
          <a:lstStyle/>
          <a:p>
            <a:pPr marL="0" indent="0">
              <a:buNone/>
            </a:pPr>
            <a:r>
              <a:rPr lang="en-US" sz="2200" dirty="0"/>
              <a:t>*Check syllabus for full details</a:t>
            </a:r>
          </a:p>
        </p:txBody>
      </p:sp>
    </p:spTree>
    <p:extLst>
      <p:ext uri="{BB962C8B-B14F-4D97-AF65-F5344CB8AC3E}">
        <p14:creationId xmlns:p14="http://schemas.microsoft.com/office/powerpoint/2010/main" val="439118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0F533F-DA30-600A-40A9-E6D7BBD4AA09}"/>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02BFF243-A7FE-CED8-611B-3CA162F2C1CE}"/>
              </a:ext>
            </a:extLst>
          </p:cNvPr>
          <p:cNvSpPr>
            <a:spLocks noGrp="1"/>
          </p:cNvSpPr>
          <p:nvPr>
            <p:ph idx="1"/>
          </p:nvPr>
        </p:nvSpPr>
        <p:spPr/>
        <p:txBody>
          <a:bodyPr>
            <a:normAutofit lnSpcReduction="10000"/>
          </a:bodyPr>
          <a:lstStyle/>
          <a:p>
            <a:r>
              <a:rPr lang="en-US" dirty="0"/>
              <a:t>Canvas</a:t>
            </a:r>
          </a:p>
          <a:p>
            <a:pPr lvl="1"/>
            <a:r>
              <a:rPr lang="en-US" dirty="0"/>
              <a:t>All materials used in this course will be available on Canvas</a:t>
            </a:r>
          </a:p>
          <a:p>
            <a:pPr lvl="1"/>
            <a:r>
              <a:rPr lang="en-US" dirty="0"/>
              <a:t>Class-wide communications will be done via Canvas Announcements</a:t>
            </a:r>
          </a:p>
          <a:p>
            <a:r>
              <a:rPr lang="en-US" dirty="0"/>
              <a:t>Communication </a:t>
            </a:r>
          </a:p>
          <a:p>
            <a:pPr lvl="1"/>
            <a:r>
              <a:rPr lang="en-US" dirty="0"/>
              <a:t>Email: </a:t>
            </a:r>
            <a:r>
              <a:rPr lang="en-US" dirty="0">
                <a:hlinkClick r:id="rId3"/>
              </a:rPr>
              <a:t>saryu@ou.edu</a:t>
            </a:r>
            <a:r>
              <a:rPr lang="en-US" dirty="0"/>
              <a:t> (</a:t>
            </a:r>
            <a:r>
              <a:rPr lang="en-US" b="1" dirty="0">
                <a:solidFill>
                  <a:srgbClr val="FF0000"/>
                </a:solidFill>
              </a:rPr>
              <a:t>DO NOT </a:t>
            </a:r>
            <a:r>
              <a:rPr lang="en-US" dirty="0"/>
              <a:t>message me on Canvas)</a:t>
            </a:r>
          </a:p>
          <a:p>
            <a:pPr lvl="1"/>
            <a:r>
              <a:rPr lang="en-US" dirty="0"/>
              <a:t>Office: SJSC 103 on Tuesdays at 1:30-2:30 or by appointment</a:t>
            </a:r>
          </a:p>
          <a:p>
            <a:pPr lvl="1"/>
            <a:r>
              <a:rPr lang="en-US" i="1" dirty="0"/>
              <a:t>Help me help you</a:t>
            </a:r>
            <a:r>
              <a:rPr lang="en-US" dirty="0"/>
              <a:t> - </a:t>
            </a:r>
            <a:r>
              <a:rPr lang="en-US" b="1" dirty="0">
                <a:solidFill>
                  <a:srgbClr val="FF0000"/>
                </a:solidFill>
              </a:rPr>
              <a:t>please</a:t>
            </a:r>
            <a:r>
              <a:rPr lang="en-US" dirty="0"/>
              <a:t> reach out if you need something from me!</a:t>
            </a:r>
          </a:p>
          <a:p>
            <a:r>
              <a:rPr lang="en-US" dirty="0"/>
              <a:t>Reasonable accommodation policy</a:t>
            </a:r>
          </a:p>
          <a:p>
            <a:pPr lvl="1"/>
            <a:r>
              <a:rPr lang="en-US" dirty="0"/>
              <a:t>All accommodations are facilitated through the Accessibility and Disability Resource Center.</a:t>
            </a:r>
          </a:p>
          <a:p>
            <a:pPr lvl="1"/>
            <a:r>
              <a:rPr lang="en-US" dirty="0"/>
              <a:t>If you require accommodations, contact </a:t>
            </a:r>
            <a:r>
              <a:rPr lang="en-US" dirty="0">
                <a:hlinkClick r:id="rId4"/>
              </a:rPr>
              <a:t>adrc@ou.edu</a:t>
            </a:r>
            <a:r>
              <a:rPr lang="en-US" dirty="0"/>
              <a:t> or (405)2325-3852.</a:t>
            </a:r>
          </a:p>
          <a:p>
            <a:endParaRPr lang="en-US" dirty="0"/>
          </a:p>
        </p:txBody>
      </p:sp>
      <p:sp>
        <p:nvSpPr>
          <p:cNvPr id="4" name="Slide Number Placeholder 3">
            <a:extLst>
              <a:ext uri="{FF2B5EF4-FFF2-40B4-BE49-F238E27FC236}">
                <a16:creationId xmlns:a16="http://schemas.microsoft.com/office/drawing/2014/main" id="{28922991-C37A-72C0-039F-DDF7088C4301}"/>
              </a:ext>
            </a:extLst>
          </p:cNvPr>
          <p:cNvSpPr>
            <a:spLocks noGrp="1"/>
          </p:cNvSpPr>
          <p:nvPr>
            <p:ph type="sldNum" sz="quarter" idx="12"/>
          </p:nvPr>
        </p:nvSpPr>
        <p:spPr/>
        <p:txBody>
          <a:bodyPr/>
          <a:lstStyle/>
          <a:p>
            <a:fld id="{45C00377-489B-40EC-B059-26BDDD2E89B9}" type="slidenum">
              <a:rPr lang="en-US" smtClean="0"/>
              <a:pPr/>
              <a:t>16</a:t>
            </a:fld>
            <a:endParaRPr lang="en-US" dirty="0"/>
          </a:p>
        </p:txBody>
      </p:sp>
    </p:spTree>
    <p:extLst>
      <p:ext uri="{BB962C8B-B14F-4D97-AF65-F5344CB8AC3E}">
        <p14:creationId xmlns:p14="http://schemas.microsoft.com/office/powerpoint/2010/main" val="14245674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230CB-54CC-E7AD-C9A9-5C5EDD664949}"/>
              </a:ext>
            </a:extLst>
          </p:cNvPr>
          <p:cNvSpPr>
            <a:spLocks noGrp="1"/>
          </p:cNvSpPr>
          <p:nvPr>
            <p:ph type="title"/>
          </p:nvPr>
        </p:nvSpPr>
        <p:spPr/>
        <p:txBody>
          <a:bodyPr>
            <a:normAutofit/>
          </a:bodyPr>
          <a:lstStyle/>
          <a:p>
            <a:r>
              <a:rPr lang="en-GB" dirty="0"/>
              <a:t>Looking Ahead</a:t>
            </a:r>
            <a:endParaRPr lang="en-US" dirty="0"/>
          </a:p>
        </p:txBody>
      </p:sp>
      <p:sp>
        <p:nvSpPr>
          <p:cNvPr id="3" name="Content Placeholder 2">
            <a:extLst>
              <a:ext uri="{FF2B5EF4-FFF2-40B4-BE49-F238E27FC236}">
                <a16:creationId xmlns:a16="http://schemas.microsoft.com/office/drawing/2014/main" id="{469926CA-61F9-6CE3-6A2E-EBA6DE431EA1}"/>
              </a:ext>
            </a:extLst>
          </p:cNvPr>
          <p:cNvSpPr>
            <a:spLocks noGrp="1"/>
          </p:cNvSpPr>
          <p:nvPr>
            <p:ph idx="1"/>
          </p:nvPr>
        </p:nvSpPr>
        <p:spPr/>
        <p:txBody>
          <a:bodyPr/>
          <a:lstStyle/>
          <a:p>
            <a:pPr lvl="0"/>
            <a:r>
              <a:rPr lang="en-GB" b="1" dirty="0"/>
              <a:t>Next Class:</a:t>
            </a:r>
            <a:r>
              <a:rPr lang="en-GB" dirty="0"/>
              <a:t> Evolution of sports analytics</a:t>
            </a:r>
          </a:p>
          <a:p>
            <a:pPr lvl="0"/>
            <a:r>
              <a:rPr lang="en-GB" b="1" dirty="0"/>
              <a:t>Before Next Class:</a:t>
            </a:r>
            <a:endParaRPr lang="en-GB" dirty="0"/>
          </a:p>
          <a:p>
            <a:pPr lvl="1"/>
            <a:r>
              <a:rPr lang="en-GB" dirty="0"/>
              <a:t>Read the syllabus</a:t>
            </a:r>
          </a:p>
          <a:p>
            <a:pPr lvl="1"/>
            <a:r>
              <a:rPr lang="en-GB" dirty="0"/>
              <a:t>Get familiar with Moneyball, by Michael Lewis</a:t>
            </a:r>
          </a:p>
          <a:p>
            <a:endParaRPr lang="en-US" dirty="0"/>
          </a:p>
        </p:txBody>
      </p:sp>
    </p:spTree>
    <p:extLst>
      <p:ext uri="{BB962C8B-B14F-4D97-AF65-F5344CB8AC3E}">
        <p14:creationId xmlns:p14="http://schemas.microsoft.com/office/powerpoint/2010/main" val="28024330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356</TotalTime>
  <Words>970</Words>
  <Application>Microsoft Macintosh PowerPoint</Application>
  <PresentationFormat>Widescreen</PresentationFormat>
  <Paragraphs>161</Paragraphs>
  <Slides>17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Aptos Display</vt:lpstr>
      <vt:lpstr>Arial</vt:lpstr>
      <vt:lpstr>Times New Roman</vt:lpstr>
      <vt:lpstr>Office Theme</vt:lpstr>
      <vt:lpstr>Sports Performance Analytics</vt:lpstr>
      <vt:lpstr>PowerPoint Presentation</vt:lpstr>
      <vt:lpstr>Welcome!</vt:lpstr>
      <vt:lpstr>What Will We Do in This Course?</vt:lpstr>
      <vt:lpstr>The Scope of HES 3000</vt:lpstr>
      <vt:lpstr>Before we get too far …</vt:lpstr>
      <vt:lpstr>About me</vt:lpstr>
      <vt:lpstr>Tell me about yourself!</vt:lpstr>
      <vt:lpstr>Start with your own curiosity about sport.</vt:lpstr>
      <vt:lpstr>Pair and Share</vt:lpstr>
      <vt:lpstr>TBC</vt:lpstr>
      <vt:lpstr>Skills to Build during this semester</vt:lpstr>
      <vt:lpstr>Assessments</vt:lpstr>
      <vt:lpstr>Assessments</vt:lpstr>
      <vt:lpstr>Course policies</vt:lpstr>
      <vt:lpstr>Resources</vt:lpstr>
      <vt:lpstr>Looking Ahead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Onishi, Saryu</dc:creator>
  <cp:lastModifiedBy>Onishi, Saryu</cp:lastModifiedBy>
  <cp:revision>4</cp:revision>
  <dcterms:created xsi:type="dcterms:W3CDTF">2026-08-17T13:48:23Z</dcterms:created>
  <dcterms:modified xsi:type="dcterms:W3CDTF">2026-08-19T21:50:45Z</dcterms:modified>
</cp:coreProperties>
</file>