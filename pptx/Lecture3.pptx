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302" r:id="rId3"/>
    <p:sldId id="325" r:id="rId4"/>
    <p:sldId id="313" r:id="rId5"/>
    <p:sldId id="316" r:id="rId6"/>
    <p:sldId id="323" r:id="rId7"/>
    <p:sldId id="315" r:id="rId8"/>
    <p:sldId id="303" r:id="rId9"/>
    <p:sldId id="314" r:id="rId10"/>
    <p:sldId id="326" r:id="rId11"/>
    <p:sldId id="304" r:id="rId12"/>
    <p:sldId id="305" r:id="rId13"/>
    <p:sldId id="306" r:id="rId14"/>
    <p:sldId id="307" r:id="rId15"/>
    <p:sldId id="308" r:id="rId16"/>
    <p:sldId id="309" r:id="rId17"/>
    <p:sldId id="310" r:id="rId18"/>
    <p:sldId id="321" r:id="rId19"/>
    <p:sldId id="311" r:id="rId20"/>
    <p:sldId id="312" r:id="rId21"/>
    <p:sldId id="317" r:id="rId22"/>
    <p:sldId id="324" r:id="rId23"/>
    <p:sldId id="319" r:id="rId24"/>
    <p:sldId id="30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714"/>
    <p:restoredTop sz="74247"/>
  </p:normalViewPr>
  <p:slideViewPr>
    <p:cSldViewPr snapToGrid="0">
      <p:cViewPr varScale="1">
        <p:scale>
          <a:sx n="87" d="100"/>
          <a:sy n="87" d="100"/>
        </p:scale>
        <p:origin x="89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-81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995A223-E7C9-A243-9A70-FE01E1A1DD65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7D17FD-8842-8E4F-8C3E-EC8B634B2D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8813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Overview of the three domains (Tracking, Scouting, Strategy) and how data changes sports decisions.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2458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Give students 90 seconds to write independently, then ask them to share with a partner. Collect two or three examples for use later in the lecture. The purpose is to begin with their sports thinking rather than analytical terminology.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381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tell the streetlight story: someone searches for lost keys under a streetlight because the light is better there, even though the keys were lost elsewhere. Connect the metaphor to convenient sport datasets.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28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ctr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analysts cannot ignore feasibility. The problem is when when convenience becomes the rationale for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3671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 not frame the original statement as bad. It is useful practitioner knowledge, but it is not yet precise enough to guide data collection or analysis.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531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information might be more relevant: possession type, shot location, defensive alignment, ball movement, video, or play-by-play sequence. 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appropriate response may be to collect different data, narrow the claim, or admit the current data cannot answer the question.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1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Briefly connect this to the prior class: the domain tells us where the problem lives, and the analytical purpose tells us what kind of answer is needed. Today focuses on making the question answerable.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129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students what information would matter for each decision. Highlight how timeframe, comparison, and acceptable uncertainty change with the decision.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512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 this to introduce operationalization without relying heavily on the term. A countermovement-jump metric, wellness score, or heart-rate response may provide evidence about fatigue, but none is a universal fatigue detector.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0147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which comparison would be most appropriate if the decision is whether to modify tomorrow's training. There may be more than one defensible answer; require students to connect their choice to the decision.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0913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Avoid turning this into a demand to include every possible variable. The goal is to identify context that is material to the question.</a:t>
            </a:r>
          </a:p>
          <a:p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8709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Ask what remains unresolved. Possible answers include the definition of scoring efficiency, the definition of a close game, whether overtime is included, and what decision the analysis would inform. Emphasize that questions can be refined iteratively.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4155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scope depends on the decision, available observations, and the level of confidence needed. Narrower is not automatically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39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relationship, sequence, or group difference does not by itself establish causation. Keep the discussion conceptual; causal inference will be revisited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6351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 3 minutes for group work and 2 minutes for discussion. Accept several defensible revisions. Listen for students treating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PlayerLoad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both the construct and the measure, leaving performance undefined, or retaining causal language without a design that could support it.</a:t>
            </a:r>
          </a:p>
          <a:p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480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up </a:t>
            </a:r>
            <a:r>
              <a:rPr lang="en-US" dirty="0" err="1"/>
              <a:t>cas</a:t>
            </a:r>
            <a:r>
              <a:rPr lang="en-US" dirty="0"/>
              <a:t> study instructions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7D17FD-8842-8E4F-8C3E-EC8B634B2D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75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sz="5400" dirty="0"/>
              <a:t>Asking Testable Analytical Questions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F30C-1D58-2C38-C8FC-75963B45E6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Start With Something You Notice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82BB9-81D5-9E9D-3946-A3D4B6F26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Think of one observation, concern, or belief about sport that you would like to investigate.</a:t>
            </a:r>
          </a:p>
          <a:p>
            <a:pPr marL="0" indent="0">
              <a:buNone/>
            </a:pPr>
            <a:r>
              <a:rPr lang="en-US" dirty="0"/>
              <a:t>Examples:</a:t>
            </a:r>
          </a:p>
          <a:p>
            <a:pPr lvl="0"/>
            <a:r>
              <a:rPr lang="en-US" dirty="0"/>
              <a:t>“Our team fades late in games.”</a:t>
            </a:r>
          </a:p>
          <a:p>
            <a:pPr lvl="0"/>
            <a:r>
              <a:rPr lang="en-US" dirty="0"/>
              <a:t>“This prospect looks better than the statistics suggest.”</a:t>
            </a:r>
          </a:p>
          <a:p>
            <a:pPr lvl="0"/>
            <a:r>
              <a:rPr lang="en-US" dirty="0"/>
              <a:t>“Some athletes do not recover well after hard practices.”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Write yours in one sentence. Does not need to be a formal question yet.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36504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F65DF-1271-C35E-9FF5-418DD75AC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Why are we still talking about the “question”?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CE6BF1-E5A2-F810-BF8D-B6311ED9A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6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BAAC7-DF7D-29C6-A8D3-5240B7DB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Streetlight Effect</a:t>
            </a:r>
          </a:p>
        </p:txBody>
      </p:sp>
      <p:pic>
        <p:nvPicPr>
          <p:cNvPr id="4" name="Content Placeholder 3" descr="Exploring the Streetlight Effect: Beyond Michelin Stars">
            <a:extLst>
              <a:ext uri="{FF2B5EF4-FFF2-40B4-BE49-F238E27FC236}">
                <a16:creationId xmlns:a16="http://schemas.microsoft.com/office/drawing/2014/main" id="{EDE58B39-52D8-8BC3-E5B9-7AFE6B767E5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28243" y="1441450"/>
            <a:ext cx="4735513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95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1C9-B05E-3F9C-D55B-444CAA23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87321-C734-77C5-DA69-D18759478B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775" y="5131751"/>
            <a:ext cx="10515600" cy="1361123"/>
          </a:xfrm>
        </p:spPr>
        <p:txBody>
          <a:bodyPr/>
          <a:lstStyle/>
          <a:p>
            <a:pPr marL="0" indent="0">
              <a:buNone/>
            </a:pPr>
            <a:r>
              <a:rPr lang="en-US" i="1" dirty="0"/>
              <a:t>probing data using unplanned analyses and then reporting salient results without accurately describing the processes by which the results were generated. </a:t>
            </a:r>
            <a:r>
              <a:rPr lang="en-US" sz="2000" dirty="0"/>
              <a:t>(Erasmus, Holman &amp; Ioannidis , 2022 )</a:t>
            </a:r>
          </a:p>
        </p:txBody>
      </p:sp>
      <p:pic>
        <p:nvPicPr>
          <p:cNvPr id="4" name="Picture 3" descr="Fishing Gear: Dredges | NOAA Fisheries">
            <a:extLst>
              <a:ext uri="{FF2B5EF4-FFF2-40B4-BE49-F238E27FC236}">
                <a16:creationId xmlns:a16="http://schemas.microsoft.com/office/drawing/2014/main" id="{036DBD97-72C8-78D1-3EDB-EEF733474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1387" y="1441938"/>
            <a:ext cx="5229225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986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ED9A-315A-ACDA-B8FB-BB5254B7E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3DBAD-2606-509C-B0D6-0D6636063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Dredging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8EDEC-4041-2018-E55B-55AA19877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often done by repeated statistical testing</a:t>
            </a:r>
          </a:p>
          <a:p>
            <a:r>
              <a:rPr lang="en-US" dirty="0"/>
              <a:t>Can produce misleading or false conclusions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“We have GPS data. What relationships can we find?”</a:t>
            </a:r>
          </a:p>
          <a:p>
            <a:pPr marL="0" indent="0" algn="ctr">
              <a:buNone/>
            </a:pPr>
            <a:endParaRPr lang="en-US" dirty="0"/>
          </a:p>
          <a:p>
            <a:r>
              <a:rPr lang="en-US" dirty="0"/>
              <a:t>If enough relationships are tested, some are likely to appear statistically significant by chance.</a:t>
            </a:r>
          </a:p>
        </p:txBody>
      </p:sp>
    </p:spTree>
    <p:extLst>
      <p:ext uri="{BB962C8B-B14F-4D97-AF65-F5344CB8AC3E}">
        <p14:creationId xmlns:p14="http://schemas.microsoft.com/office/powerpoint/2010/main" val="23004628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D6458-5EC0-A179-B83C-16BDA007C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Data Availability Matters (But It Should Not Lead)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3A133-610D-D59B-4AD8-4F0FF82C5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Practical Steps: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Define</a:t>
            </a:r>
            <a:r>
              <a:rPr lang="en-US" dirty="0"/>
              <a:t> the sport </a:t>
            </a:r>
            <a:r>
              <a:rPr lang="en-US" b="1" dirty="0"/>
              <a:t>concern</a:t>
            </a:r>
            <a:r>
              <a:rPr lang="en-US" dirty="0"/>
              <a:t> and </a:t>
            </a:r>
            <a:r>
              <a:rPr lang="en-US" b="1" dirty="0"/>
              <a:t>decision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Write the </a:t>
            </a:r>
            <a:r>
              <a:rPr lang="en-US" b="1" dirty="0"/>
              <a:t>ideal question</a:t>
            </a:r>
            <a:r>
              <a:rPr lang="en-US" dirty="0"/>
              <a:t>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Identify the evidence </a:t>
            </a:r>
            <a:r>
              <a:rPr lang="en-US" dirty="0"/>
              <a:t>the question requires.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b="1" dirty="0"/>
              <a:t>Inspect</a:t>
            </a:r>
            <a:r>
              <a:rPr lang="en-US" dirty="0"/>
              <a:t> what data are actually available.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Revise the </a:t>
            </a:r>
            <a:r>
              <a:rPr lang="en-US" b="1" dirty="0"/>
              <a:t>scope</a:t>
            </a:r>
            <a:r>
              <a:rPr lang="en-US" dirty="0"/>
              <a:t> without changing the question's purpose.</a:t>
            </a:r>
          </a:p>
          <a:p>
            <a:pPr marL="514350" lvl="0" indent="-514350">
              <a:buFont typeface="+mj-lt"/>
              <a:buAutoNum type="arabicPeriod"/>
            </a:pPr>
            <a:r>
              <a:rPr lang="en-US" dirty="0"/>
              <a:t>State what the </a:t>
            </a:r>
            <a:r>
              <a:rPr lang="en-US" b="1" dirty="0"/>
              <a:t>available data cannot establish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417E50-B0FC-CDF4-4710-BE6261CC59B0}"/>
              </a:ext>
            </a:extLst>
          </p:cNvPr>
          <p:cNvSpPr txBox="1"/>
          <p:nvPr/>
        </p:nvSpPr>
        <p:spPr>
          <a:xfrm>
            <a:off x="1112520" y="5915110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Step 5 should refine the question, not replace it.</a:t>
            </a:r>
          </a:p>
        </p:txBody>
      </p:sp>
    </p:spTree>
    <p:extLst>
      <p:ext uri="{BB962C8B-B14F-4D97-AF65-F5344CB8AC3E}">
        <p14:creationId xmlns:p14="http://schemas.microsoft.com/office/powerpoint/2010/main" val="40566551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2A7AC-EBE2-88F0-2E83-12A67CAE33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must start with clarity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E8646-F7D9-D9AE-45A3-05D7358A7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“Our team fades late in games” leaves several things unresolved:</a:t>
            </a:r>
          </a:p>
          <a:p>
            <a:pPr lvl="1"/>
            <a:r>
              <a:rPr lang="en-US" dirty="0"/>
              <a:t>What does </a:t>
            </a:r>
            <a:r>
              <a:rPr lang="en-US" b="1" dirty="0"/>
              <a:t>fades</a:t>
            </a:r>
            <a:r>
              <a:rPr lang="en-US" dirty="0"/>
              <a:t> mean?</a:t>
            </a:r>
          </a:p>
          <a:p>
            <a:pPr lvl="1"/>
            <a:r>
              <a:rPr lang="en-US" dirty="0"/>
              <a:t>Which team, players, games, or situations?</a:t>
            </a:r>
          </a:p>
          <a:p>
            <a:pPr lvl="1"/>
            <a:r>
              <a:rPr lang="en-US" dirty="0"/>
              <a:t>Compared with what?</a:t>
            </a:r>
          </a:p>
          <a:p>
            <a:pPr lvl="1"/>
            <a:r>
              <a:rPr lang="en-US" dirty="0"/>
              <a:t>What evidence would support or challenge the belief?</a:t>
            </a:r>
          </a:p>
          <a:p>
            <a:pPr lvl="1"/>
            <a:r>
              <a:rPr lang="en-US" dirty="0"/>
              <a:t>What decision would change if the belief were true?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64F3F4-1385-3A3F-B700-AC6EAA3534C0}"/>
              </a:ext>
            </a:extLst>
          </p:cNvPr>
          <p:cNvSpPr txBox="1"/>
          <p:nvPr/>
        </p:nvSpPr>
        <p:spPr>
          <a:xfrm>
            <a:off x="1615440" y="5000564"/>
            <a:ext cx="89611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 The starting 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point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must be observable and the purpose must be clear.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40978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B6E85-EBC7-CD81-C65D-B8A10CED0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Available Data Can Rewrite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E6309-FF70-EF25-84E6-99E073817C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Original concern</a:t>
            </a:r>
          </a:p>
          <a:p>
            <a:pPr lvl="1"/>
            <a:r>
              <a:rPr lang="en-US" dirty="0"/>
              <a:t>Why does the team struggle to create good shots against zone defense?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Available spreadsheet</a:t>
            </a:r>
          </a:p>
          <a:p>
            <a:pPr lvl="1"/>
            <a:r>
              <a:rPr lang="en-US" dirty="0"/>
              <a:t>Points, rebounds, assists, and minutes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Convenient replacement question</a:t>
            </a:r>
          </a:p>
          <a:p>
            <a:pPr lvl="1"/>
            <a:r>
              <a:rPr lang="en-US" dirty="0"/>
              <a:t>Who scores the fewest points?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DB93B-31A9-49F1-6EC0-14F12A4B9A4D}"/>
              </a:ext>
            </a:extLst>
          </p:cNvPr>
          <p:cNvSpPr txBox="1"/>
          <p:nvPr/>
        </p:nvSpPr>
        <p:spPr>
          <a:xfrm>
            <a:off x="1112520" y="5529347"/>
            <a:ext cx="102412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replacement is answerable, but it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does not answer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original concern.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91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9CF10-1CD8-034F-EF20-0B4F96D9FC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Building a Question That Can Guide the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69B5E-9289-6924-3952-1DFF0177DA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83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22145-F8D5-2136-BED8-BC1F86BC5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Questions Connect Curiosity to a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80A4C1-BEE3-46D2-3142-B0C840C0C3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useful analytical question identifies: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decision or purpose</a:t>
            </a:r>
            <a:r>
              <a:rPr lang="en-US" dirty="0"/>
              <a:t> : Why do we need the answer?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outcome</a:t>
            </a:r>
            <a:r>
              <a:rPr lang="en-US" dirty="0"/>
              <a:t> : What are we trying to understand?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comparison</a:t>
            </a:r>
            <a:r>
              <a:rPr lang="en-US" dirty="0"/>
              <a:t> : Relative to whom, what, or when?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context</a:t>
            </a:r>
            <a:r>
              <a:rPr lang="en-US" dirty="0"/>
              <a:t> : Under which conditions?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The evidence</a:t>
            </a:r>
            <a:r>
              <a:rPr lang="en-US" dirty="0"/>
              <a:t> : What observations could answer it?</a:t>
            </a:r>
          </a:p>
          <a:p>
            <a:pPr marL="0" indent="0">
              <a:buNone/>
            </a:pPr>
            <a:r>
              <a:rPr lang="en-US" dirty="0"/>
              <a:t>The question is the bridge between the sport problem and the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07809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3FFE0-3F73-4DAD-28C2-3F471720C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Begin With the </a:t>
            </a:r>
            <a:r>
              <a:rPr lang="en-US" b="1" dirty="0"/>
              <a:t>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201081-4CD5-A2F9-3C62-30D07A96C2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“I want to know whether our players are tired.”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Possible decisions include:</a:t>
            </a:r>
          </a:p>
          <a:p>
            <a:pPr lvl="1"/>
            <a:r>
              <a:rPr lang="en-US" dirty="0"/>
              <a:t>Should today's practice be modified?</a:t>
            </a:r>
          </a:p>
          <a:p>
            <a:pPr lvl="1"/>
            <a:r>
              <a:rPr lang="en-US" dirty="0"/>
              <a:t>Should a player's minutes be restricted tomorrow?</a:t>
            </a:r>
          </a:p>
          <a:p>
            <a:pPr lvl="1"/>
            <a:r>
              <a:rPr lang="en-US" dirty="0"/>
              <a:t>Should the weekly training plan change?</a:t>
            </a:r>
          </a:p>
          <a:p>
            <a:pPr lvl="1"/>
            <a:r>
              <a:rPr lang="en-US" dirty="0"/>
              <a:t>Should the team adopt a new recovery strategy?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320C23-378C-A641-D4E3-E4BBB9449F4E}"/>
              </a:ext>
            </a:extLst>
          </p:cNvPr>
          <p:cNvSpPr txBox="1"/>
          <p:nvPr/>
        </p:nvSpPr>
        <p:spPr>
          <a:xfrm>
            <a:off x="754380" y="5046730"/>
            <a:ext cx="106832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The same concern can lead to different questions because the decisions are different.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42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5AEA7-0403-0FF7-91A1-54F5E0B80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Define the </a:t>
            </a:r>
            <a:r>
              <a:rPr lang="en-US" b="1" dirty="0"/>
              <a:t>Outcome</a:t>
            </a:r>
            <a:r>
              <a:rPr lang="en-US" dirty="0"/>
              <a:t> Before Choosing the Metric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B34BB-FE70-8861-5C13-19E254D4C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“tired” could refer to </a:t>
            </a:r>
            <a:r>
              <a:rPr lang="en-US" i="1" dirty="0"/>
              <a:t>fatigue</a:t>
            </a:r>
            <a:r>
              <a:rPr lang="en-US" dirty="0"/>
              <a:t>, which could mean:</a:t>
            </a:r>
          </a:p>
          <a:p>
            <a:pPr lvl="1"/>
            <a:r>
              <a:rPr lang="en-US" dirty="0"/>
              <a:t>Reduced physical performance</a:t>
            </a:r>
          </a:p>
          <a:p>
            <a:pPr lvl="1"/>
            <a:r>
              <a:rPr lang="en-US" dirty="0"/>
              <a:t>Increased perceived effort</a:t>
            </a:r>
          </a:p>
          <a:p>
            <a:pPr lvl="1"/>
            <a:r>
              <a:rPr lang="en-US" dirty="0"/>
              <a:t>Muscle soreness</a:t>
            </a:r>
          </a:p>
          <a:p>
            <a:pPr lvl="1"/>
            <a:r>
              <a:rPr lang="en-US" dirty="0"/>
              <a:t>Lower motivation or alertness</a:t>
            </a:r>
          </a:p>
          <a:p>
            <a:pPr lvl="1"/>
            <a:r>
              <a:rPr lang="en-US" dirty="0"/>
              <a:t>Incomplete recovery from recent training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metric represents one part of a concept; it is not automatically the concept itself.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484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1646C3-AF44-3C6D-1692-3FAFEF5BE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Comparisons</a:t>
            </a:r>
            <a:r>
              <a:rPr lang="en-US" dirty="0"/>
              <a:t> Give Numbers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DBF179-4A40-A093-5620-24AEA10866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Consider: “Did the athlete complete a high workload?”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High compared with:</a:t>
            </a:r>
          </a:p>
          <a:p>
            <a:pPr lvl="1"/>
            <a:r>
              <a:rPr lang="en-US" dirty="0"/>
              <a:t>The athlete's usual workload?</a:t>
            </a:r>
          </a:p>
          <a:p>
            <a:pPr lvl="1"/>
            <a:r>
              <a:rPr lang="en-US" dirty="0"/>
              <a:t>The planned workload?</a:t>
            </a:r>
          </a:p>
          <a:p>
            <a:pPr lvl="1"/>
            <a:r>
              <a:rPr lang="en-US" dirty="0"/>
              <a:t>Teammates at the same position?</a:t>
            </a:r>
          </a:p>
          <a:p>
            <a:pPr lvl="1"/>
            <a:r>
              <a:rPr lang="en-US" dirty="0"/>
              <a:t>Competition demands?</a:t>
            </a:r>
          </a:p>
          <a:p>
            <a:pPr lvl="1"/>
            <a:r>
              <a:rPr lang="en-US" dirty="0"/>
              <a:t>A threshold associated with a particular goal?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5F6952-0339-ADBA-CB7B-070B43D34BA1}"/>
              </a:ext>
            </a:extLst>
          </p:cNvPr>
          <p:cNvSpPr txBox="1"/>
          <p:nvPr/>
        </p:nvSpPr>
        <p:spPr>
          <a:xfrm>
            <a:off x="838200" y="5574268"/>
            <a:ext cx="1083564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Without a reference point, “high,” “low,” “good,” and “poor” are usually empty labels.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96132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34839-DE9B-1266-7846-B6B88AAA0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Context</a:t>
            </a:r>
            <a:r>
              <a:rPr lang="en-US" dirty="0"/>
              <a:t> Determines What the Comparison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A6E9D4-BF0E-C498-64FA-DDD94CEC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same performance value may mean something different depending on:</a:t>
            </a:r>
          </a:p>
          <a:p>
            <a:pPr lvl="1"/>
            <a:r>
              <a:rPr lang="en-US" dirty="0"/>
              <a:t>Position or role</a:t>
            </a:r>
          </a:p>
          <a:p>
            <a:pPr lvl="1"/>
            <a:r>
              <a:rPr lang="en-US" dirty="0"/>
              <a:t>Opponent quality</a:t>
            </a:r>
          </a:p>
          <a:p>
            <a:pPr lvl="1"/>
            <a:r>
              <a:rPr lang="en-US" dirty="0"/>
              <a:t>Game state</a:t>
            </a:r>
          </a:p>
          <a:p>
            <a:pPr lvl="1"/>
            <a:r>
              <a:rPr lang="en-US" dirty="0"/>
              <a:t>Training phase</a:t>
            </a:r>
          </a:p>
          <a:p>
            <a:pPr lvl="1"/>
            <a:r>
              <a:rPr lang="en-US" dirty="0"/>
              <a:t>Injury or return-to-play status</a:t>
            </a:r>
          </a:p>
          <a:p>
            <a:pPr lvl="1"/>
            <a:r>
              <a:rPr lang="en-US" dirty="0"/>
              <a:t>Age and competition level</a:t>
            </a:r>
          </a:p>
          <a:p>
            <a:pPr marL="0" indent="0">
              <a:buNone/>
            </a:pPr>
            <a:r>
              <a:rPr lang="en-US" dirty="0"/>
              <a:t>Useful questions define </a:t>
            </a:r>
            <a:r>
              <a:rPr lang="en-US" u="sng" dirty="0"/>
              <a:t>just enough</a:t>
            </a:r>
            <a:r>
              <a:rPr lang="en-US" dirty="0"/>
              <a:t> context to make the answer interpretable.</a:t>
            </a:r>
          </a:p>
        </p:txBody>
      </p:sp>
    </p:spTree>
    <p:extLst>
      <p:ext uri="{BB962C8B-B14F-4D97-AF65-F5344CB8AC3E}">
        <p14:creationId xmlns:p14="http://schemas.microsoft.com/office/powerpoint/2010/main" val="33858523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7BC53-667C-6DE7-3C82-9D521CC74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Concern to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EB17A-3D99-67B8-4BB6-BED4E2F94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revision defines:</a:t>
            </a:r>
          </a:p>
          <a:p>
            <a:pPr lvl="1"/>
            <a:r>
              <a:rPr lang="en-US" dirty="0"/>
              <a:t>Outcome = scoring efficiency</a:t>
            </a:r>
          </a:p>
          <a:p>
            <a:pPr lvl="1"/>
            <a:r>
              <a:rPr lang="en-US" dirty="0"/>
              <a:t>Comparison = fourth quarter versus earlier quarters</a:t>
            </a:r>
          </a:p>
          <a:p>
            <a:pPr lvl="1"/>
            <a:r>
              <a:rPr lang="en-US" dirty="0"/>
              <a:t>Context = conference games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F92C28F5-A378-9EE0-050F-A1A4731C3553}"/>
              </a:ext>
            </a:extLst>
          </p:cNvPr>
          <p:cNvSpPr/>
          <p:nvPr/>
        </p:nvSpPr>
        <p:spPr>
          <a:xfrm>
            <a:off x="441960" y="1819457"/>
            <a:ext cx="4023360" cy="1356361"/>
          </a:xfrm>
          <a:prstGeom prst="cloudCallout">
            <a:avLst>
              <a:gd name="adj1" fmla="val -46212"/>
              <a:gd name="adj2" fmla="val 46770"/>
            </a:avLst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“Our team fades late in games.”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C0324FF-737E-AC90-87B9-4D767153D842}"/>
              </a:ext>
            </a:extLst>
          </p:cNvPr>
          <p:cNvSpPr/>
          <p:nvPr/>
        </p:nvSpPr>
        <p:spPr>
          <a:xfrm>
            <a:off x="5715002" y="1277817"/>
            <a:ext cx="4998718" cy="2151184"/>
          </a:xfrm>
          <a:prstGeom prst="ellipse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During conference games this season, did our team's scoring efficiency decline in the fourth quarter compared with the first three quarters?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95CF244B-ED44-7D25-C303-99AFA9A11AA6}"/>
              </a:ext>
            </a:extLst>
          </p:cNvPr>
          <p:cNvSpPr/>
          <p:nvPr/>
        </p:nvSpPr>
        <p:spPr>
          <a:xfrm>
            <a:off x="4600957" y="2255321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C754BFF-6052-9A8F-D252-D338DCB41697}"/>
              </a:ext>
            </a:extLst>
          </p:cNvPr>
          <p:cNvSpPr/>
          <p:nvPr/>
        </p:nvSpPr>
        <p:spPr>
          <a:xfrm>
            <a:off x="9433560" y="3593122"/>
            <a:ext cx="2606040" cy="1375118"/>
          </a:xfrm>
          <a:prstGeom prst="wedgeEllipseCallout">
            <a:avLst>
              <a:gd name="adj1" fmla="val -44210"/>
              <a:gd name="adj2" fmla="val -583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and is the pattern different in close games?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FD210B-0F34-EF90-47BA-D523E2F06334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What else needs to be resolved?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3258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02FD9-116D-5C6D-B58D-09569F20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Precision Does Not Mean Small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282F93-8C44-8190-0B6F-584F2C6418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360" y="1441938"/>
            <a:ext cx="5425440" cy="4735025"/>
          </a:xfrm>
        </p:spPr>
        <p:txBody>
          <a:bodyPr/>
          <a:lstStyle/>
          <a:p>
            <a:r>
              <a:rPr lang="en-US" dirty="0"/>
              <a:t>What makes a basketball team successful?</a:t>
            </a:r>
          </a:p>
          <a:p>
            <a:r>
              <a:rPr lang="en-US" dirty="0"/>
              <a:t>How does turnover rate relate to offensive efficiency across conference games?</a:t>
            </a:r>
          </a:p>
          <a:p>
            <a:r>
              <a:rPr lang="en-US" dirty="0"/>
              <a:t>Did the turnover with 1:12 remaining in Q3 cause Tuesday's loss?</a:t>
            </a: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5A78DD3-2BF7-FA16-4547-07628C82FFBD}"/>
              </a:ext>
            </a:extLst>
          </p:cNvPr>
          <p:cNvSpPr/>
          <p:nvPr/>
        </p:nvSpPr>
        <p:spPr>
          <a:xfrm flipV="1">
            <a:off x="1341120" y="2307102"/>
            <a:ext cx="3322320" cy="2773680"/>
          </a:xfrm>
          <a:prstGeom prst="triangl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3C8B32-C548-7F03-2F4F-E3E743B62C9A}"/>
              </a:ext>
            </a:extLst>
          </p:cNvPr>
          <p:cNvSpPr txBox="1"/>
          <p:nvPr/>
        </p:nvSpPr>
        <p:spPr>
          <a:xfrm>
            <a:off x="2417408" y="2355902"/>
            <a:ext cx="1169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Broad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00C63F-853C-63B9-5662-996A6EC9A4F9}"/>
              </a:ext>
            </a:extLst>
          </p:cNvPr>
          <p:cNvSpPr txBox="1"/>
          <p:nvPr/>
        </p:nvSpPr>
        <p:spPr>
          <a:xfrm>
            <a:off x="2518381" y="4319786"/>
            <a:ext cx="96779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Too Narrow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A8024-07D0-B535-AB65-730AF51A7FEB}"/>
              </a:ext>
            </a:extLst>
          </p:cNvPr>
          <p:cNvSpPr txBox="1"/>
          <p:nvPr/>
        </p:nvSpPr>
        <p:spPr>
          <a:xfrm>
            <a:off x="2286000" y="3429000"/>
            <a:ext cx="14344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Focused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55CE5-31A7-78DD-44B7-D0FB6DF892BB}"/>
              </a:ext>
            </a:extLst>
          </p:cNvPr>
          <p:cNvSpPr txBox="1"/>
          <p:nvPr/>
        </p:nvSpPr>
        <p:spPr>
          <a:xfrm>
            <a:off x="571500" y="6018014"/>
            <a:ext cx="11049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 useful scope is narrow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investigate </a:t>
            </a:r>
            <a:r>
              <a:rPr lang="en-US" sz="2100" b="1" dirty="0">
                <a:solidFill>
                  <a:srgbClr val="841617"/>
                </a:solidFill>
                <a:latin typeface="Fira Sans" panose="020B0503050000020004" pitchFamily="34" charset="0"/>
              </a:rPr>
              <a:t>reasonably</a:t>
            </a:r>
            <a:r>
              <a:rPr lang="en-US" sz="2100" dirty="0">
                <a:solidFill>
                  <a:srgbClr val="841617"/>
                </a:solidFill>
                <a:latin typeface="Fira Sans" panose="020B0503050000020004" pitchFamily="34" charset="0"/>
              </a:rPr>
              <a:t> 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and broad enough to </a:t>
            </a:r>
            <a:r>
              <a:rPr lang="en-US" sz="2100" b="1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matter</a:t>
            </a:r>
            <a:r>
              <a:rPr lang="en-US" sz="2100" i="0" dirty="0">
                <a:solidFill>
                  <a:srgbClr val="841617"/>
                </a:solidFill>
                <a:effectLst/>
                <a:latin typeface="Fira Sans" panose="020B0503050000020004" pitchFamily="34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7412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CB969-C776-A185-D710-DC8531A3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Warning on Causal Language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49031A-6397-FA6B-A13F-CEBBC3070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wording of the question should match what the evidence can support.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AB17EE-1C8D-2274-6614-0BF0F7BE423D}"/>
              </a:ext>
            </a:extLst>
          </p:cNvPr>
          <p:cNvSpPr/>
          <p:nvPr/>
        </p:nvSpPr>
        <p:spPr>
          <a:xfrm>
            <a:off x="838200" y="4014329"/>
            <a:ext cx="3886200" cy="9144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Did greater workload </a:t>
            </a:r>
            <a:r>
              <a:rPr lang="en-US" b="1" dirty="0"/>
              <a:t>cause</a:t>
            </a:r>
            <a:r>
              <a:rPr lang="en-US" dirty="0"/>
              <a:t> poorer shooting?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D35E15B-C06C-3BED-8074-D929866F1D3D}"/>
              </a:ext>
            </a:extLst>
          </p:cNvPr>
          <p:cNvSpPr/>
          <p:nvPr/>
        </p:nvSpPr>
        <p:spPr>
          <a:xfrm>
            <a:off x="7025640" y="247508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Was greater workload </a:t>
            </a:r>
            <a:r>
              <a:rPr lang="en-US" b="1" dirty="0"/>
              <a:t>associated with</a:t>
            </a:r>
            <a:r>
              <a:rPr lang="en-US" dirty="0"/>
              <a:t> poorer shooting?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E3F528D-537A-E0B0-6E17-4554442C41D7}"/>
              </a:ext>
            </a:extLst>
          </p:cNvPr>
          <p:cNvSpPr/>
          <p:nvPr/>
        </p:nvSpPr>
        <p:spPr>
          <a:xfrm>
            <a:off x="7025640" y="4014329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Did poorer shooting occur </a:t>
            </a:r>
            <a:r>
              <a:rPr lang="en-US" b="1" dirty="0"/>
              <a:t>after</a:t>
            </a:r>
            <a:r>
              <a:rPr lang="en-US" dirty="0"/>
              <a:t> periods of greater workload?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45CBF18-896D-373A-62FC-37A7FB13F6E2}"/>
              </a:ext>
            </a:extLst>
          </p:cNvPr>
          <p:cNvSpPr/>
          <p:nvPr/>
        </p:nvSpPr>
        <p:spPr>
          <a:xfrm>
            <a:off x="7025640" y="5426685"/>
            <a:ext cx="3886200" cy="9144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0"/>
            <a:r>
              <a:rPr lang="en-US" dirty="0"/>
              <a:t>Do players with greater workload </a:t>
            </a:r>
            <a:r>
              <a:rPr lang="en-US" b="1" dirty="0"/>
              <a:t>tend to</a:t>
            </a:r>
            <a:r>
              <a:rPr lang="en-US" dirty="0"/>
              <a:t> shoot worse?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A39209B1-5695-EACE-CC19-D1ECA99D3403}"/>
              </a:ext>
            </a:extLst>
          </p:cNvPr>
          <p:cNvSpPr/>
          <p:nvPr/>
        </p:nvSpPr>
        <p:spPr>
          <a:xfrm rot="19698657">
            <a:off x="4922521" y="3439276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5D439A93-EA20-9FD7-812D-79CADF738495}"/>
              </a:ext>
            </a:extLst>
          </p:cNvPr>
          <p:cNvSpPr/>
          <p:nvPr/>
        </p:nvSpPr>
        <p:spPr>
          <a:xfrm rot="1575899">
            <a:off x="4915880" y="5221220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5FCCFEF-9E47-557B-6BA0-C86392F3931D}"/>
              </a:ext>
            </a:extLst>
          </p:cNvPr>
          <p:cNvSpPr/>
          <p:nvPr/>
        </p:nvSpPr>
        <p:spPr>
          <a:xfrm>
            <a:off x="5090160" y="4284499"/>
            <a:ext cx="1722120" cy="41093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9733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759E2-1C1A-7CE5-CB2C-221AD9773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Diagnose the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E7B0D1-46A1-5634-D6AD-7D3096FA90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“Does time spent training affect performance?”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With your group, identify what is missing or ambiguous:</a:t>
            </a:r>
          </a:p>
          <a:p>
            <a:pPr lvl="1"/>
            <a:r>
              <a:rPr lang="en-US" dirty="0"/>
              <a:t>What decision or purpose?</a:t>
            </a:r>
          </a:p>
          <a:p>
            <a:pPr lvl="1"/>
            <a:r>
              <a:rPr lang="en-US" dirty="0"/>
              <a:t>What outcome?</a:t>
            </a:r>
          </a:p>
          <a:p>
            <a:pPr lvl="1"/>
            <a:r>
              <a:rPr lang="en-US" dirty="0"/>
              <a:t>What comparison?</a:t>
            </a:r>
          </a:p>
          <a:p>
            <a:pPr lvl="1"/>
            <a:r>
              <a:rPr lang="en-US" dirty="0"/>
              <a:t>Which athletes and timeframe?</a:t>
            </a:r>
          </a:p>
          <a:p>
            <a:pPr lvl="1"/>
            <a:r>
              <a:rPr lang="en-US" dirty="0"/>
              <a:t>What does “affect” claim?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Then rewrite the question.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9916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88DA3-B815-721E-25F1-04BC40E26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44C5A-C549-20B6-95D0-05FBC22BCC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Decision</a:t>
            </a:r>
          </a:p>
          <a:p>
            <a:r>
              <a:rPr lang="en-US" dirty="0"/>
              <a:t>Should the coaching staff modify practice volume before games?</a:t>
            </a:r>
          </a:p>
          <a:p>
            <a:pPr marL="0" indent="0">
              <a:buNone/>
            </a:pPr>
            <a:r>
              <a:rPr lang="en-US" dirty="0"/>
              <a:t>Question</a:t>
            </a:r>
          </a:p>
          <a:p>
            <a:r>
              <a:rPr lang="en-US" dirty="0"/>
              <a:t>“Among players who appear in at least 15 minutes, is </a:t>
            </a:r>
            <a:r>
              <a:rPr lang="en-US" dirty="0" err="1"/>
              <a:t>PlayerLoad</a:t>
            </a:r>
            <a:r>
              <a:rPr lang="en-US" dirty="0"/>
              <a:t> accumulated during the two days before a game associated with fourth-quarter shooting efficiency?”</a:t>
            </a:r>
          </a:p>
          <a:p>
            <a:pPr marL="0" indent="0">
              <a:buNone/>
            </a:pPr>
            <a:r>
              <a:rPr lang="en-US" dirty="0"/>
              <a:t>Still open for refinement</a:t>
            </a:r>
          </a:p>
          <a:p>
            <a:pPr lvl="0"/>
            <a:r>
              <a:rPr lang="en-US" dirty="0"/>
              <a:t>Is </a:t>
            </a:r>
            <a:r>
              <a:rPr lang="en-US" dirty="0" err="1"/>
              <a:t>PlayerLoad</a:t>
            </a:r>
            <a:r>
              <a:rPr lang="en-US" dirty="0"/>
              <a:t> the most relevant measure?</a:t>
            </a:r>
          </a:p>
          <a:p>
            <a:pPr lvl="0"/>
            <a:r>
              <a:rPr lang="en-US" dirty="0"/>
              <a:t>Is shooting efficiency the right outcome?</a:t>
            </a:r>
          </a:p>
          <a:p>
            <a:pPr lvl="0"/>
            <a:r>
              <a:rPr lang="en-US" dirty="0"/>
              <a:t>What other context might explain the relationship?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2026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618C8-5DDD-8308-9F68-BE35F62AD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Question Can Be Useful Even If the Answer Is “We Cannot Tell”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C7AC4-24AA-9BBC-8F3D-7792C17C8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Sometimes the conclusion of an investigation may be:</a:t>
            </a:r>
          </a:p>
          <a:p>
            <a:pPr lvl="1"/>
            <a:r>
              <a:rPr lang="en-US" dirty="0"/>
              <a:t>The required variable was not measured.</a:t>
            </a:r>
          </a:p>
          <a:p>
            <a:pPr lvl="1"/>
            <a:r>
              <a:rPr lang="en-US" dirty="0"/>
              <a:t>The comparison group is inappropriate.</a:t>
            </a:r>
          </a:p>
          <a:p>
            <a:pPr lvl="1"/>
            <a:r>
              <a:rPr lang="en-US" dirty="0"/>
              <a:t>The sample is too limited.</a:t>
            </a:r>
          </a:p>
          <a:p>
            <a:pPr lvl="1"/>
            <a:r>
              <a:rPr lang="en-US" dirty="0"/>
              <a:t>The measurement does not represent the intended concept.</a:t>
            </a:r>
          </a:p>
          <a:p>
            <a:pPr lvl="1"/>
            <a:r>
              <a:rPr lang="en-US" dirty="0"/>
              <a:t>The design cannot support the claimed explanation.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Recognizing limits is a crucial part of analytics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596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03C95-9B08-B230-FD40-9ADA7D3DD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Exploratory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2E43C-65E3-0788-75F8-EF24FC9A3B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Exploratory analysis is a legitimate analytical approach used to identify patterns, relationships, and potential questions.</a:t>
            </a:r>
          </a:p>
          <a:p>
            <a:endParaRPr lang="en-US" dirty="0"/>
          </a:p>
          <a:p>
            <a:r>
              <a:rPr lang="en-US" dirty="0"/>
              <a:t>findings discovered through exploration should tested with new data before making strong explanatory, predictive, or prescriptive claims.</a:t>
            </a:r>
          </a:p>
        </p:txBody>
      </p:sp>
    </p:spTree>
    <p:extLst>
      <p:ext uri="{BB962C8B-B14F-4D97-AF65-F5344CB8AC3E}">
        <p14:creationId xmlns:p14="http://schemas.microsoft.com/office/powerpoint/2010/main" val="294136893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C56F3-E5F5-2C0D-E9EE-7E798A881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CS1: Establish the Project Direction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11F32-8055-42F6-D53F-1374F1587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you will identify: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sport and domain that interests you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 real observation, concern, or decision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Who would use the answer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An initial analytical question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ideal evidence needed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Data sources that may be feasible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Keep the concern (step 2) and the question (step 4) separate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9856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D6EB5-FEC2-47DE-01A3-F0E170543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Summary &amp; Looking Ahead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81857-C6C4-CF29-7D9F-C7FCD74ECA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Start with a sport concern or decision.</a:t>
            </a:r>
          </a:p>
          <a:p>
            <a:pPr lvl="0"/>
            <a:r>
              <a:rPr lang="en-US" dirty="0"/>
              <a:t>Define the outcome, comparison, and context.</a:t>
            </a:r>
          </a:p>
          <a:p>
            <a:pPr lvl="0"/>
            <a:r>
              <a:rPr lang="en-US" dirty="0"/>
              <a:t>Use causal language only when the evidence supports it.</a:t>
            </a:r>
          </a:p>
          <a:p>
            <a:pPr lvl="0"/>
            <a:r>
              <a:rPr lang="en-US" dirty="0"/>
              <a:t>Let feasibility refine the scope without replacing the purpose.</a:t>
            </a:r>
          </a:p>
          <a:p>
            <a:pPr lvl="0"/>
            <a:r>
              <a:rPr lang="en-US" dirty="0"/>
              <a:t>Treat limitations as part of the answer.</a:t>
            </a:r>
          </a:p>
          <a:p>
            <a:r>
              <a:rPr lang="en-US" dirty="0"/>
              <a:t>Next: at-home case study (generate question and identify dataset)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692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1643</TotalTime>
  <Words>1727</Words>
  <Application>Microsoft Office PowerPoint</Application>
  <PresentationFormat>Widescreen</PresentationFormat>
  <Paragraphs>218</Paragraphs>
  <Slides>24</Slides>
  <Notes>16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Aptos Display</vt:lpstr>
      <vt:lpstr>Arial</vt:lpstr>
      <vt:lpstr>Fira Sans</vt:lpstr>
      <vt:lpstr>Office Theme</vt:lpstr>
      <vt:lpstr>Asking Testable Analytical Questions</vt:lpstr>
      <vt:lpstr>Start With Something You Notice</vt:lpstr>
      <vt:lpstr>Why are we still talking about the “question”?</vt:lpstr>
      <vt:lpstr>The Streetlight Effect</vt:lpstr>
      <vt:lpstr>Data Dredging</vt:lpstr>
      <vt:lpstr>Data Dredging</vt:lpstr>
      <vt:lpstr>Data Availability Matters (But It Should Not Lead)</vt:lpstr>
      <vt:lpstr>Analysis must start with clarity</vt:lpstr>
      <vt:lpstr>Available Data Can Rewrite Questions</vt:lpstr>
      <vt:lpstr>Building a Question That Can Guide the Analysis</vt:lpstr>
      <vt:lpstr>Good Questions Connect Curiosity to a Decision</vt:lpstr>
      <vt:lpstr>Begin With the Decision</vt:lpstr>
      <vt:lpstr>Define the Outcome Before Choosing the Metric</vt:lpstr>
      <vt:lpstr>Comparisons Give Numbers Meaning</vt:lpstr>
      <vt:lpstr>Context Determines What the Comparison Means</vt:lpstr>
      <vt:lpstr>From Concern to Question</vt:lpstr>
      <vt:lpstr>Precision Does Not Mean Small Questions</vt:lpstr>
      <vt:lpstr>Warning on Causal Language</vt:lpstr>
      <vt:lpstr>Activity: Diagnose the Question</vt:lpstr>
      <vt:lpstr>EXAMPLE solution</vt:lpstr>
      <vt:lpstr>A Question Can Be Useful Even If the Answer Is “We Cannot Tell”</vt:lpstr>
      <vt:lpstr>Exploratory Analysis</vt:lpstr>
      <vt:lpstr>CS1: Establish the Project Direction</vt:lpstr>
      <vt:lpstr>Summary &amp; Looking Ahead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21</cp:revision>
  <dcterms:created xsi:type="dcterms:W3CDTF">2026-08-17T13:48:23Z</dcterms:created>
  <dcterms:modified xsi:type="dcterms:W3CDTF">2026-09-02T23:07:59Z</dcterms:modified>
</cp:coreProperties>
</file>