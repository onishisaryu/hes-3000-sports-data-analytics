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325" r:id="rId3"/>
    <p:sldId id="313" r:id="rId4"/>
    <p:sldId id="327" r:id="rId5"/>
    <p:sldId id="316" r:id="rId6"/>
    <p:sldId id="323" r:id="rId7"/>
    <p:sldId id="314" r:id="rId8"/>
    <p:sldId id="326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21" r:id="rId18"/>
    <p:sldId id="311" r:id="rId19"/>
    <p:sldId id="312" r:id="rId20"/>
    <p:sldId id="317" r:id="rId21"/>
    <p:sldId id="315" r:id="rId22"/>
    <p:sldId id="324" r:id="rId23"/>
    <p:sldId id="328" r:id="rId24"/>
    <p:sldId id="319" r:id="rId25"/>
    <p:sldId id="301" r:id="rId26"/>
    <p:sldId id="30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153"/>
    <p:restoredTop sz="74247"/>
  </p:normalViewPr>
  <p:slideViewPr>
    <p:cSldViewPr snapToGrid="0">
      <p:cViewPr varScale="1">
        <p:scale>
          <a:sx n="65" d="100"/>
          <a:sy n="65" d="100"/>
        </p:scale>
        <p:origin x="208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8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5A223-E7C9-A243-9A70-FE01E1A1DD65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D17FD-8842-8E4F-8C3E-EC8B634B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8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58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Briefly tell the streetlight story: someone searches for lost keys under a streetlight because the light is better there, even though the keys were lost elsewhere. Connect the metaphor to convenient sport datasets.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2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information might be more relevant: possession type, shot location, defensive alignment, ball movement, video, or play-by-play sequence.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appropriate response may be to collect different data, narrow the claim, or admit the current data cannot answer the question.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31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not frame the original statement as bad. It is useful practitioner knowledge, but it is not yet precise enough to guide data collection or analysis.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8531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Briefly connect this to the prior class: the domain tells us where the problem lives, and the analytical purpose tells us what kind of answer is needed. Today focuses on making the question answerable.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129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students what information would matter for each decision. Highlight how timeframe, comparison, and acceptable uncertainty change with the decision.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12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to introduce operationalization without relying heavily on the term. A countermovement-jump metric, wellness score, or heart-rate response may provide evidence about fatigue, but none is a universal fatigue detector.</a:t>
            </a:r>
          </a:p>
          <a:p>
            <a:br>
              <a:rPr lang="en-US" dirty="0"/>
            </a:b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14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which comparison would be most appropriate if the decision is whether to modify tomorrow's training. There may be more than one defensible answer; require students to connect their choice to the decision.</a:t>
            </a:r>
          </a:p>
          <a:p>
            <a:br>
              <a:rPr lang="en-US" dirty="0"/>
            </a:b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091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Avoid turning this into a demand to include every possible variable. The goal is to identify context that is material to the question.</a:t>
            </a:r>
          </a:p>
          <a:p>
            <a:br>
              <a:rPr lang="en-US" dirty="0"/>
            </a:b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70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what remains unresolved. Possible answers include the definition of scoring efficiency, the definition of a close game, whether overtime is included, and what decision the analysis would inform. Emphasize that questions can be refined iteratively.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15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scope depends on the decision, available observations, and the level of confidence needed. Narrower is not automatically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9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relationship, sequence, or group difference does not by itself establish causation. Keep the discussion conceptual; causal inference will be revisited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6351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 3 minutes for group work and 2 minutes for discussion. Accept several defensible revisions. Listen for students treating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PlayerLoad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both the construct and the measure, leaving performance undefined, or retaining causal language without a design that could support it.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480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good for limitations of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420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ctr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 analysts cannot ignore feasibility. The problem is when when convenience becomes the rationale for the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3671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up </a:t>
            </a:r>
            <a:r>
              <a:rPr lang="en-US" dirty="0" err="1"/>
              <a:t>cas</a:t>
            </a:r>
            <a:r>
              <a:rPr lang="en-US" dirty="0"/>
              <a:t> study instructions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759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 students 90 seconds to write independently, then ask them to share with a partner. Collect two or three examples for use later in the lecture. The purpose is to begin with their sports thinking rather than analytical terminology.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38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8C46-97B5-06A6-FCEF-1A1F72D6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A6AC-3ACF-3E00-27EA-CDC21E0D0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602038"/>
            <a:ext cx="1051559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74E7-FB50-6453-FBC4-4FF2059E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C381-9EAC-65CA-E2D4-E9753C63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5E49-459E-7153-8DCA-00BFA12D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4AAB-14A7-7BCA-3837-4F570792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B745-E89B-BA25-707B-D3F4B483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29DF3-7131-344B-BE29-3470A6E4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C8A0-82E3-D43A-B433-03BD0E8A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C3461-EED3-DA55-3A67-403D2D4F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EF06-5D11-579D-7B22-EDF525B0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87EE-121E-981D-94B0-7DD81A76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09C7F-68AA-F83B-0CC2-643C7451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DF23-F262-A143-3D94-2E03C5E8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CC86-AF79-D336-B20B-1E34423D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23E6-4994-ADDB-53EF-33DAC620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385E-3FBA-00D8-820B-01457DE09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00107-976D-189B-D5B8-F3309A029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1288-007A-64D1-177C-EC493AB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BDC7E-1ED0-A64E-B741-2BD6DCC1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0B18-79B2-CA9A-54E7-8E270EA6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1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BA0C-D408-C89D-A5A4-EE49BFEF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5059-44C0-5CAB-DD62-331CAEACC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210DA-60F4-E204-139F-488557C3A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6D382-4432-4F54-9B2C-18EA1D350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DFF74-3B74-1F87-68E5-7C6346238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D8442-0A79-241F-AD71-72BAE087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D044B-09B6-F478-2B54-1F154135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18B98-54E9-0248-CDC2-25F053D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9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8611-FF70-0739-AB12-3A0D4D68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340F8-BFC2-15DC-7097-138E7417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7FFF2-E8C5-FBDB-D95A-12987FF7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2AAC0-7C6B-411F-8B27-54187B08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4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24E59-43B1-B0E4-7BB5-449B4E62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DB2FC-A612-3F77-71B9-89F90F23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EA5C7-5EFB-A99C-8686-6EB2C8FC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7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815E-33A2-36BD-141A-20E6987B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718-3207-923E-BB2A-3A6A8B97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8BF2C-0530-D542-CEA1-66680DF2C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46F5-476E-F02E-8D52-52095AD7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CBF9F-FEBA-A17C-67EF-779BF698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91D5-A6B8-C1A9-58A4-732980B5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4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3C8-34AC-4EC3-9EF2-7646130C5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5296B-D06F-EC13-3B4B-D0804D56A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5AD4-D0C4-4B3F-01A9-C4EB16F15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5DC77-4EA3-68F2-C1B1-3B61F9D4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8E95B-5416-3489-B8F3-9294F9E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31B0D-A406-6B24-1768-98B5238C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6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492E-5097-4D4A-B212-B9541B6D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B2462-C37E-9A16-D9B2-03FE3550D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E3E0-2253-2E4B-C45D-9DD87541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8D6ED-F324-5EA4-EBC1-32D8A8A8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6162-D880-6B17-AFBB-2555E585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EF97A-4C14-3B96-B570-63221FE42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FCF3E-3E21-12E5-F093-CD2EBC62C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B50E-0940-C414-1C80-43A1C4CB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34562-A92B-8D3C-4A79-2489A997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7ADD3-AF08-2898-D3BF-4768616B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7E355-A6C3-ABB7-5FB3-07B7718D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E3536-C253-FE9A-75A8-6625508B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1938"/>
            <a:ext cx="105156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7838E-35A9-F96A-354A-AE0FF3F8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BC5A-10F1-AA57-C7EC-9CDC8A53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EC1130-6658-3CAB-3F94-0FA0AAB8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270D-14C3-FED3-E83A-AD4E36EC7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5400" dirty="0"/>
              <a:t>Asking Testable Analytical Questions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3FB66-255C-9B0B-8F15-F85AACB34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Saryu Onishi</a:t>
            </a:r>
          </a:p>
          <a:p>
            <a:r>
              <a:rPr lang="en-GB" dirty="0"/>
              <a:t>HES 3000-002, Sport 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329427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F65DF-1271-C35E-9FF5-418DD75AC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Why are we still talking about the “question”?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E6BF1-E5A2-F810-BF8D-B6311ED9A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962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BAAC7-DF7D-29C6-A8D3-5240B7DB7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Streetlight Effect</a:t>
            </a:r>
          </a:p>
        </p:txBody>
      </p:sp>
      <p:pic>
        <p:nvPicPr>
          <p:cNvPr id="4" name="Content Placeholder 3" descr="Exploring the Streetlight Effect: Beyond Michelin Stars">
            <a:extLst>
              <a:ext uri="{FF2B5EF4-FFF2-40B4-BE49-F238E27FC236}">
                <a16:creationId xmlns:a16="http://schemas.microsoft.com/office/drawing/2014/main" id="{EDE58B39-52D8-8BC3-E5B9-7AFE6B767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28243" y="1441450"/>
            <a:ext cx="4735513" cy="473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9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C6E7E-C9E0-7AAB-9679-0FAEFE2E8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Streetlight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8EECE-42E6-357A-3515-C3FFC2720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When you start with the data, you may:</a:t>
            </a:r>
          </a:p>
          <a:p>
            <a:r>
              <a:rPr lang="en-GB" dirty="0"/>
              <a:t>Gravitate  toward variables that are already collected.</a:t>
            </a:r>
          </a:p>
          <a:p>
            <a:r>
              <a:rPr lang="en-GB" dirty="0"/>
              <a:t>Miss important factors outside the dataset.</a:t>
            </a:r>
          </a:p>
          <a:p>
            <a:r>
              <a:rPr lang="en-GB" dirty="0"/>
              <a:t>Produce technically correct analysis that </a:t>
            </a:r>
            <a:r>
              <a:rPr lang="en-GB" b="1" dirty="0"/>
              <a:t>does not address actual performance problems.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35909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281C9-B05E-3F9C-D55B-444CAA23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Dredging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87321-C734-77C5-DA69-D18759478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775" y="5131751"/>
            <a:ext cx="10515600" cy="1361123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probing data using unplanned analyses and then reporting salient results without accurately describing the processes by which the results were generated. </a:t>
            </a:r>
            <a:r>
              <a:rPr lang="en-US" sz="2000" dirty="0"/>
              <a:t>(Erasmus, Holman &amp; Ioannidis , 2022 )</a:t>
            </a:r>
          </a:p>
        </p:txBody>
      </p:sp>
      <p:pic>
        <p:nvPicPr>
          <p:cNvPr id="4" name="Picture 3" descr="Fishing Gear: Dredges | NOAA Fisheries">
            <a:extLst>
              <a:ext uri="{FF2B5EF4-FFF2-40B4-BE49-F238E27FC236}">
                <a16:creationId xmlns:a16="http://schemas.microsoft.com/office/drawing/2014/main" id="{036DBD97-72C8-78D1-3EDB-EEF733474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387" y="1441938"/>
            <a:ext cx="5229225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98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1ED9A-315A-ACDA-B8FB-BB5254B7E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3DBAD-2606-509C-B0D6-0D6636063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Dredging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8EDEC-4041-2018-E55B-55AA19877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often done by repeated statistical testing</a:t>
            </a:r>
          </a:p>
          <a:p>
            <a:r>
              <a:rPr lang="en-US" dirty="0"/>
              <a:t>Can produce misleading or false conclusions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“We have GPS data. What relationships can we find?”</a:t>
            </a:r>
          </a:p>
          <a:p>
            <a:pPr marL="0" indent="0" algn="ctr">
              <a:buNone/>
            </a:pPr>
            <a:endParaRPr lang="en-US" dirty="0"/>
          </a:p>
          <a:p>
            <a:r>
              <a:rPr lang="en-US" dirty="0"/>
              <a:t>If enough relationships are tested, some are likely to appear statistically significant by chance.</a:t>
            </a:r>
          </a:p>
        </p:txBody>
      </p:sp>
    </p:spTree>
    <p:extLst>
      <p:ext uri="{BB962C8B-B14F-4D97-AF65-F5344CB8AC3E}">
        <p14:creationId xmlns:p14="http://schemas.microsoft.com/office/powerpoint/2010/main" val="2300462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6E85-EBC7-CD81-C65D-B8A10CED0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Available Data Can Rewrite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E6309-FF70-EF25-84E6-99E073817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Original concern</a:t>
            </a:r>
          </a:p>
          <a:p>
            <a:pPr lvl="1"/>
            <a:r>
              <a:rPr lang="en-US" dirty="0"/>
              <a:t>Why does the team struggle to create good shots against zone defense?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Available data</a:t>
            </a:r>
          </a:p>
          <a:p>
            <a:pPr lvl="1"/>
            <a:r>
              <a:rPr lang="en-US" dirty="0"/>
              <a:t>Points, rebounds, assists, and minutes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Change the question</a:t>
            </a:r>
          </a:p>
          <a:p>
            <a:pPr lvl="1"/>
            <a:r>
              <a:rPr lang="en-US" dirty="0"/>
              <a:t>Who scores the fewest points?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1DB93B-31A9-49F1-6EC0-14F12A4B9A4D}"/>
              </a:ext>
            </a:extLst>
          </p:cNvPr>
          <p:cNvSpPr txBox="1"/>
          <p:nvPr/>
        </p:nvSpPr>
        <p:spPr>
          <a:xfrm>
            <a:off x="1112520" y="5761465"/>
            <a:ext cx="102412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The replacement is answerable, but it </a:t>
            </a:r>
            <a:r>
              <a:rPr lang="en-US" sz="2100" b="1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does not answer </a:t>
            </a:r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the original concern.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F72459-72CA-56E3-A271-920241C9D516}"/>
              </a:ext>
            </a:extLst>
          </p:cNvPr>
          <p:cNvSpPr txBox="1"/>
          <p:nvPr/>
        </p:nvSpPr>
        <p:spPr>
          <a:xfrm>
            <a:off x="6091004" y="4301694"/>
            <a:ext cx="610099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/>
              <a:t>Collect more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Play-by-play game data</a:t>
            </a:r>
          </a:p>
        </p:txBody>
      </p:sp>
    </p:spTree>
    <p:extLst>
      <p:ext uri="{BB962C8B-B14F-4D97-AF65-F5344CB8AC3E}">
        <p14:creationId xmlns:p14="http://schemas.microsoft.com/office/powerpoint/2010/main" val="22299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9CF10-1CD8-034F-EF20-0B4F96D9F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Building a Question That Can Guide the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69B5E-9289-6924-3952-1DFF0177D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83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2A7AC-EBE2-88F0-2E83-12A67CAE3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must start with clarity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E8646-F7D9-D9AE-45A3-05D7358A7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“Our team fades late in games”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Clarifying questions:</a:t>
            </a:r>
          </a:p>
          <a:p>
            <a:pPr lvl="1"/>
            <a:r>
              <a:rPr lang="en-US" dirty="0"/>
              <a:t>What does ”fades” mean?</a:t>
            </a:r>
          </a:p>
          <a:p>
            <a:pPr lvl="1"/>
            <a:r>
              <a:rPr lang="en-US" dirty="0"/>
              <a:t>Which team, players, games, or situations?</a:t>
            </a:r>
          </a:p>
          <a:p>
            <a:pPr lvl="1"/>
            <a:r>
              <a:rPr lang="en-US" dirty="0"/>
              <a:t>Compared with what?</a:t>
            </a:r>
          </a:p>
          <a:p>
            <a:pPr lvl="1"/>
            <a:r>
              <a:rPr lang="en-US" dirty="0"/>
              <a:t>What evidence would support or challenge the belief?</a:t>
            </a:r>
          </a:p>
          <a:p>
            <a:pPr lvl="1"/>
            <a:r>
              <a:rPr lang="en-US" dirty="0"/>
              <a:t>What decision would change if the belief were true?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64F3F4-1385-3A3F-B700-AC6EAA3534C0}"/>
              </a:ext>
            </a:extLst>
          </p:cNvPr>
          <p:cNvSpPr txBox="1"/>
          <p:nvPr/>
        </p:nvSpPr>
        <p:spPr>
          <a:xfrm>
            <a:off x="1615440" y="5416062"/>
            <a:ext cx="89611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 The starting </a:t>
            </a:r>
            <a:r>
              <a:rPr lang="en-US" sz="2100" dirty="0">
                <a:solidFill>
                  <a:srgbClr val="841617"/>
                </a:solidFill>
                <a:latin typeface="Fira Sans" panose="020B0503050000020004" pitchFamily="34" charset="0"/>
              </a:rPr>
              <a:t>point </a:t>
            </a:r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must be observable and the purpose must be clear.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097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2145-F8D5-2136-BED8-BC1F86BC5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Good Questions Connect Curiosity to a Decision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0A4C1-BEE3-46D2-3142-B0C840C0C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useful analytical question identifies: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The decision or purpose</a:t>
            </a:r>
            <a:r>
              <a:rPr lang="en-US" dirty="0"/>
              <a:t> : Why do we need the answer?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The outcome</a:t>
            </a:r>
            <a:r>
              <a:rPr lang="en-US" dirty="0"/>
              <a:t> : What are we trying to understand?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The comparison</a:t>
            </a:r>
            <a:r>
              <a:rPr lang="en-US" dirty="0"/>
              <a:t> : Relative to whom, what, or when?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The context</a:t>
            </a:r>
            <a:r>
              <a:rPr lang="en-US" dirty="0"/>
              <a:t> : Under which conditions?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The evidence</a:t>
            </a:r>
            <a:r>
              <a:rPr lang="en-US" dirty="0"/>
              <a:t> : What observations could answer it?</a:t>
            </a:r>
          </a:p>
          <a:p>
            <a:pPr marL="0" indent="0">
              <a:buNone/>
            </a:pPr>
            <a:r>
              <a:rPr lang="en-US" dirty="0"/>
              <a:t>The question is the bridge between the sport problem and the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780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3FFE0-3F73-4DAD-28C2-3F471720C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Begin With the </a:t>
            </a:r>
            <a:r>
              <a:rPr lang="en-US" b="1" dirty="0"/>
              <a:t>Decision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01081-4CD5-A2F9-3C62-30D07A96C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“I want to know whether our players are tired.”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Possible decisions include:</a:t>
            </a:r>
          </a:p>
          <a:p>
            <a:pPr lvl="1"/>
            <a:r>
              <a:rPr lang="en-US" dirty="0"/>
              <a:t>Should today's practice be modified?</a:t>
            </a:r>
          </a:p>
          <a:p>
            <a:pPr lvl="1"/>
            <a:r>
              <a:rPr lang="en-US" dirty="0"/>
              <a:t>Should a player's minutes be restricted tomorrow?</a:t>
            </a:r>
          </a:p>
          <a:p>
            <a:pPr lvl="1"/>
            <a:r>
              <a:rPr lang="en-US" dirty="0"/>
              <a:t>Should the weekly training plan change?</a:t>
            </a:r>
          </a:p>
          <a:p>
            <a:pPr lvl="1"/>
            <a:r>
              <a:rPr lang="en-US" dirty="0"/>
              <a:t>Should the team adopt a new recovery strategy?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320C23-378C-A641-D4E3-E4BBB9449F4E}"/>
              </a:ext>
            </a:extLst>
          </p:cNvPr>
          <p:cNvSpPr txBox="1"/>
          <p:nvPr/>
        </p:nvSpPr>
        <p:spPr>
          <a:xfrm>
            <a:off x="754380" y="5046730"/>
            <a:ext cx="10683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The same concern can lead to different questions because the decisions are different.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2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5AEA7-0403-0FF7-91A1-54F5E0B80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Define the </a:t>
            </a:r>
            <a:r>
              <a:rPr lang="en-US" b="1" dirty="0"/>
              <a:t>Outcome</a:t>
            </a:r>
            <a:r>
              <a:rPr lang="en-US" dirty="0"/>
              <a:t> Before Choosing the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B34BB-FE70-8861-5C13-19E254D4C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do we want to measure how “tired” an athlete is? </a:t>
            </a:r>
          </a:p>
          <a:p>
            <a:r>
              <a:rPr lang="en-US" dirty="0"/>
              <a:t>“tired” could refer to </a:t>
            </a:r>
            <a:r>
              <a:rPr lang="en-US" i="1" dirty="0"/>
              <a:t>fatigue</a:t>
            </a:r>
            <a:r>
              <a:rPr lang="en-US" dirty="0"/>
              <a:t>, which could mean:</a:t>
            </a:r>
          </a:p>
          <a:p>
            <a:pPr lvl="1"/>
            <a:r>
              <a:rPr lang="en-US" dirty="0"/>
              <a:t>Reduced physical performance</a:t>
            </a:r>
          </a:p>
          <a:p>
            <a:pPr lvl="1"/>
            <a:r>
              <a:rPr lang="en-US" dirty="0"/>
              <a:t>Increased perceived effort</a:t>
            </a:r>
          </a:p>
          <a:p>
            <a:pPr lvl="1"/>
            <a:r>
              <a:rPr lang="en-US" dirty="0"/>
              <a:t>Muscle soreness</a:t>
            </a:r>
          </a:p>
          <a:p>
            <a:pPr lvl="1"/>
            <a:r>
              <a:rPr lang="en-US" dirty="0"/>
              <a:t>Lower motivation or alertness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metric represents one part of a concept; it is not automatically the concept itself.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484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646C3-AF44-3C6D-1692-3FAFEF5BE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Comparisons</a:t>
            </a:r>
            <a:r>
              <a:rPr lang="en-US" dirty="0"/>
              <a:t> Give Numbers Meaning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BF179-4A40-A093-5620-24AEA1086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“Did the athlete complete a high workload?”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High compared with:</a:t>
            </a:r>
          </a:p>
          <a:p>
            <a:pPr lvl="1"/>
            <a:r>
              <a:rPr lang="en-US" dirty="0"/>
              <a:t>The athlete's usual workload?</a:t>
            </a:r>
          </a:p>
          <a:p>
            <a:pPr lvl="1"/>
            <a:r>
              <a:rPr lang="en-US" dirty="0"/>
              <a:t>The planned workload?</a:t>
            </a:r>
          </a:p>
          <a:p>
            <a:pPr lvl="1"/>
            <a:r>
              <a:rPr lang="en-US" dirty="0"/>
              <a:t>Teammates at the same position?</a:t>
            </a:r>
          </a:p>
          <a:p>
            <a:pPr lvl="1"/>
            <a:r>
              <a:rPr lang="en-US" dirty="0"/>
              <a:t>Competition demands?</a:t>
            </a:r>
          </a:p>
          <a:p>
            <a:pPr lvl="1"/>
            <a:r>
              <a:rPr lang="en-US" dirty="0"/>
              <a:t>A threshold associated with a particular goal?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5F6952-0339-ADBA-CB7B-070B43D34BA1}"/>
              </a:ext>
            </a:extLst>
          </p:cNvPr>
          <p:cNvSpPr txBox="1"/>
          <p:nvPr/>
        </p:nvSpPr>
        <p:spPr>
          <a:xfrm>
            <a:off x="838200" y="5574268"/>
            <a:ext cx="108356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b="1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Without a reference point, “high,” “low,” “good,” and “poor” are usually empty labels.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613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34839-DE9B-1266-7846-B6B88AAA0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Context</a:t>
            </a:r>
            <a:r>
              <a:rPr lang="en-US" dirty="0"/>
              <a:t> Determines What the Comparison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6E9D4-BF0E-C498-64FA-DDD94CEC2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same performance value may mean something different depending on:</a:t>
            </a:r>
          </a:p>
          <a:p>
            <a:pPr lvl="1"/>
            <a:r>
              <a:rPr lang="en-US" dirty="0"/>
              <a:t>Position or role</a:t>
            </a:r>
          </a:p>
          <a:p>
            <a:pPr lvl="1"/>
            <a:r>
              <a:rPr lang="en-US" dirty="0"/>
              <a:t>Opponent quality</a:t>
            </a:r>
          </a:p>
          <a:p>
            <a:pPr lvl="1"/>
            <a:r>
              <a:rPr lang="en-US" dirty="0"/>
              <a:t>Game state</a:t>
            </a:r>
          </a:p>
          <a:p>
            <a:pPr lvl="1"/>
            <a:r>
              <a:rPr lang="en-US" dirty="0"/>
              <a:t>Training phase</a:t>
            </a:r>
          </a:p>
          <a:p>
            <a:pPr lvl="1"/>
            <a:r>
              <a:rPr lang="en-US" dirty="0"/>
              <a:t>Injury or return-to-play status</a:t>
            </a:r>
          </a:p>
          <a:p>
            <a:pPr lvl="1"/>
            <a:r>
              <a:rPr lang="en-US" dirty="0"/>
              <a:t>Age and competition level</a:t>
            </a:r>
          </a:p>
          <a:p>
            <a:pPr marL="0" indent="0">
              <a:buNone/>
            </a:pPr>
            <a:r>
              <a:rPr lang="en-US" dirty="0"/>
              <a:t>Useful questions define </a:t>
            </a:r>
            <a:r>
              <a:rPr lang="en-US" u="sng" dirty="0"/>
              <a:t>just enough</a:t>
            </a:r>
            <a:r>
              <a:rPr lang="en-US" dirty="0"/>
              <a:t> context to make the answer interpretable.</a:t>
            </a:r>
          </a:p>
        </p:txBody>
      </p:sp>
    </p:spTree>
    <p:extLst>
      <p:ext uri="{BB962C8B-B14F-4D97-AF65-F5344CB8AC3E}">
        <p14:creationId xmlns:p14="http://schemas.microsoft.com/office/powerpoint/2010/main" val="3385852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7BC53-667C-6DE7-3C82-9D521CC74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Concern to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EB17A-3D99-67B8-4BB6-BED4E2F94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revision defines:</a:t>
            </a:r>
          </a:p>
          <a:p>
            <a:pPr lvl="1"/>
            <a:r>
              <a:rPr lang="en-US" dirty="0"/>
              <a:t>Outcome = scoring efficiency</a:t>
            </a:r>
          </a:p>
          <a:p>
            <a:pPr lvl="1"/>
            <a:r>
              <a:rPr lang="en-US" dirty="0"/>
              <a:t>Comparison = fourth quarter versus earlier quarters</a:t>
            </a:r>
          </a:p>
          <a:p>
            <a:pPr lvl="1"/>
            <a:r>
              <a:rPr lang="en-US" dirty="0"/>
              <a:t>Context = conference games</a:t>
            </a:r>
          </a:p>
        </p:txBody>
      </p:sp>
      <p:sp>
        <p:nvSpPr>
          <p:cNvPr id="4" name="Thought Bubble: Cloud 3">
            <a:extLst>
              <a:ext uri="{FF2B5EF4-FFF2-40B4-BE49-F238E27FC236}">
                <a16:creationId xmlns:a16="http://schemas.microsoft.com/office/drawing/2014/main" id="{F92C28F5-A378-9EE0-050F-A1A4731C3553}"/>
              </a:ext>
            </a:extLst>
          </p:cNvPr>
          <p:cNvSpPr/>
          <p:nvPr/>
        </p:nvSpPr>
        <p:spPr>
          <a:xfrm>
            <a:off x="441960" y="1819457"/>
            <a:ext cx="4023360" cy="1356361"/>
          </a:xfrm>
          <a:prstGeom prst="cloudCallout">
            <a:avLst>
              <a:gd name="adj1" fmla="val -46212"/>
              <a:gd name="adj2" fmla="val 4677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“Our team fades late in games.”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C0324FF-737E-AC90-87B9-4D767153D842}"/>
              </a:ext>
            </a:extLst>
          </p:cNvPr>
          <p:cNvSpPr/>
          <p:nvPr/>
        </p:nvSpPr>
        <p:spPr>
          <a:xfrm>
            <a:off x="5715002" y="1277817"/>
            <a:ext cx="4998718" cy="215118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During conference games this season, did our team's scoring efficiency decline in the fourth quarter compared with the first three quarters?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5CF244B-ED44-7D25-C303-99AFA9A11AA6}"/>
              </a:ext>
            </a:extLst>
          </p:cNvPr>
          <p:cNvSpPr/>
          <p:nvPr/>
        </p:nvSpPr>
        <p:spPr>
          <a:xfrm>
            <a:off x="4600957" y="225532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1C754BFF-6052-9A8F-D252-D338DCB41697}"/>
              </a:ext>
            </a:extLst>
          </p:cNvPr>
          <p:cNvSpPr/>
          <p:nvPr/>
        </p:nvSpPr>
        <p:spPr>
          <a:xfrm>
            <a:off x="9433560" y="3593122"/>
            <a:ext cx="2606040" cy="1375118"/>
          </a:xfrm>
          <a:prstGeom prst="wedgeEllipseCallout">
            <a:avLst>
              <a:gd name="adj1" fmla="val -44210"/>
              <a:gd name="adj2" fmla="val -583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and is the pattern different in close games?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FD210B-0F34-EF90-47BA-D523E2F06334}"/>
              </a:ext>
            </a:extLst>
          </p:cNvPr>
          <p:cNvSpPr txBox="1"/>
          <p:nvPr/>
        </p:nvSpPr>
        <p:spPr>
          <a:xfrm>
            <a:off x="571500" y="6018014"/>
            <a:ext cx="11049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What else needs to be resolved?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325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02FD9-116D-5C6D-B58D-09569F201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Precision Does Not Mean Small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82F93-8C44-8190-0B6F-584F2C641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8360" y="2355902"/>
            <a:ext cx="5425440" cy="2773681"/>
          </a:xfrm>
        </p:spPr>
        <p:txBody>
          <a:bodyPr>
            <a:normAutofit/>
          </a:bodyPr>
          <a:lstStyle/>
          <a:p>
            <a:r>
              <a:rPr lang="en-US" sz="2000" dirty="0"/>
              <a:t>What makes a basketball team successful?</a:t>
            </a:r>
          </a:p>
          <a:p>
            <a:endParaRPr lang="en-US" sz="2000" dirty="0"/>
          </a:p>
          <a:p>
            <a:r>
              <a:rPr lang="en-US" sz="2000" dirty="0"/>
              <a:t>How does turnover rate relate to offensive efficiency across conference games?</a:t>
            </a:r>
          </a:p>
          <a:p>
            <a:endParaRPr lang="en-US" sz="2000" dirty="0"/>
          </a:p>
          <a:p>
            <a:r>
              <a:rPr lang="en-US" sz="2000" dirty="0"/>
              <a:t>Did the turnover with 72 seconds remaining in Q3 cause Tuesday's loss?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85A78DD3-2BF7-FA16-4547-07628C82FFBD}"/>
              </a:ext>
            </a:extLst>
          </p:cNvPr>
          <p:cNvSpPr/>
          <p:nvPr/>
        </p:nvSpPr>
        <p:spPr>
          <a:xfrm flipV="1">
            <a:off x="1341120" y="2307102"/>
            <a:ext cx="3322320" cy="2773680"/>
          </a:xfrm>
          <a:prstGeom prst="triangl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3C8B32-C548-7F03-2F4F-E3E743B62C9A}"/>
              </a:ext>
            </a:extLst>
          </p:cNvPr>
          <p:cNvSpPr txBox="1"/>
          <p:nvPr/>
        </p:nvSpPr>
        <p:spPr>
          <a:xfrm>
            <a:off x="2417408" y="2355902"/>
            <a:ext cx="1169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 Broad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00C63F-853C-63B9-5662-996A6EC9A4F9}"/>
              </a:ext>
            </a:extLst>
          </p:cNvPr>
          <p:cNvSpPr txBox="1"/>
          <p:nvPr/>
        </p:nvSpPr>
        <p:spPr>
          <a:xfrm>
            <a:off x="2518381" y="4319786"/>
            <a:ext cx="967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Too Narrow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FA8024-07D0-B535-AB65-730AF51A7FEB}"/>
              </a:ext>
            </a:extLst>
          </p:cNvPr>
          <p:cNvSpPr txBox="1"/>
          <p:nvPr/>
        </p:nvSpPr>
        <p:spPr>
          <a:xfrm>
            <a:off x="2286000" y="3429000"/>
            <a:ext cx="1434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Focused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955CE5-31A7-78DD-44B7-D0FB6DF892BB}"/>
              </a:ext>
            </a:extLst>
          </p:cNvPr>
          <p:cNvSpPr txBox="1"/>
          <p:nvPr/>
        </p:nvSpPr>
        <p:spPr>
          <a:xfrm>
            <a:off x="571500" y="6018014"/>
            <a:ext cx="11049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A useful scope is narrow enough to </a:t>
            </a:r>
            <a:r>
              <a:rPr lang="en-US" sz="2100" b="1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investigate </a:t>
            </a:r>
            <a:r>
              <a:rPr lang="en-US" sz="2100" b="1" dirty="0">
                <a:solidFill>
                  <a:srgbClr val="841617"/>
                </a:solidFill>
                <a:latin typeface="Fira Sans" panose="020B0503050000020004" pitchFamily="34" charset="0"/>
              </a:rPr>
              <a:t>reasonably</a:t>
            </a:r>
            <a:r>
              <a:rPr lang="en-US" sz="2100" dirty="0">
                <a:solidFill>
                  <a:srgbClr val="841617"/>
                </a:solidFill>
                <a:latin typeface="Fira Sans" panose="020B0503050000020004" pitchFamily="34" charset="0"/>
              </a:rPr>
              <a:t> </a:t>
            </a:r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and broad enough to </a:t>
            </a:r>
            <a:r>
              <a:rPr lang="en-US" sz="2100" b="1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matter</a:t>
            </a:r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74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CB969-C776-A185-D710-DC8531A33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Warning on Causal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9031A-6397-FA6B-A13F-CEBBC3070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wording of the question should match what the evidence can support.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5AB17EE-1C8D-2274-6614-0BF0F7BE423D}"/>
              </a:ext>
            </a:extLst>
          </p:cNvPr>
          <p:cNvSpPr/>
          <p:nvPr/>
        </p:nvSpPr>
        <p:spPr>
          <a:xfrm>
            <a:off x="838200" y="4014329"/>
            <a:ext cx="3886200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Did greater workload </a:t>
            </a:r>
            <a:r>
              <a:rPr lang="en-US" b="1" dirty="0"/>
              <a:t>cause</a:t>
            </a:r>
            <a:r>
              <a:rPr lang="en-US" dirty="0"/>
              <a:t> poorer shooting?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D35E15B-C06C-3BED-8074-D929866F1D3D}"/>
              </a:ext>
            </a:extLst>
          </p:cNvPr>
          <p:cNvSpPr/>
          <p:nvPr/>
        </p:nvSpPr>
        <p:spPr>
          <a:xfrm>
            <a:off x="7025640" y="2475089"/>
            <a:ext cx="38862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dirty="0"/>
              <a:t>Was greater workload </a:t>
            </a:r>
            <a:r>
              <a:rPr lang="en-US" b="1" dirty="0"/>
              <a:t>associated with</a:t>
            </a:r>
            <a:r>
              <a:rPr lang="en-US" dirty="0"/>
              <a:t> poorer shooting?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E3F528D-537A-E0B0-6E17-4554442C41D7}"/>
              </a:ext>
            </a:extLst>
          </p:cNvPr>
          <p:cNvSpPr/>
          <p:nvPr/>
        </p:nvSpPr>
        <p:spPr>
          <a:xfrm>
            <a:off x="7025640" y="4014329"/>
            <a:ext cx="38862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dirty="0"/>
              <a:t>Did poorer shooting occur </a:t>
            </a:r>
            <a:r>
              <a:rPr lang="en-US" b="1" dirty="0"/>
              <a:t>after</a:t>
            </a:r>
            <a:r>
              <a:rPr lang="en-US" dirty="0"/>
              <a:t> periods of greater workload?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5CBF18-896D-373A-62FC-37A7FB13F6E2}"/>
              </a:ext>
            </a:extLst>
          </p:cNvPr>
          <p:cNvSpPr/>
          <p:nvPr/>
        </p:nvSpPr>
        <p:spPr>
          <a:xfrm>
            <a:off x="7025640" y="5426685"/>
            <a:ext cx="38862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dirty="0"/>
              <a:t>Do players with greater workload </a:t>
            </a:r>
            <a:r>
              <a:rPr lang="en-US" b="1" dirty="0"/>
              <a:t>tend to</a:t>
            </a:r>
            <a:r>
              <a:rPr lang="en-US" dirty="0"/>
              <a:t> shoot worse?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39209B1-5695-EACE-CC19-D1ECA99D3403}"/>
              </a:ext>
            </a:extLst>
          </p:cNvPr>
          <p:cNvSpPr/>
          <p:nvPr/>
        </p:nvSpPr>
        <p:spPr>
          <a:xfrm rot="19698657">
            <a:off x="4922521" y="3439276"/>
            <a:ext cx="1722120" cy="41093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D439A93-EA20-9FD7-812D-79CADF738495}"/>
              </a:ext>
            </a:extLst>
          </p:cNvPr>
          <p:cNvSpPr/>
          <p:nvPr/>
        </p:nvSpPr>
        <p:spPr>
          <a:xfrm rot="1575899">
            <a:off x="4915880" y="5221220"/>
            <a:ext cx="1722120" cy="41093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5FCCFEF-9E47-557B-6BA0-C86392F3931D}"/>
              </a:ext>
            </a:extLst>
          </p:cNvPr>
          <p:cNvSpPr/>
          <p:nvPr/>
        </p:nvSpPr>
        <p:spPr>
          <a:xfrm>
            <a:off x="5090160" y="4284499"/>
            <a:ext cx="1722120" cy="41093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973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759E2-1C1A-7CE5-CB2C-221AD9773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Activity: Diagnose the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7B0D1-46A1-5634-D6AD-7D3096FA9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“Does time spent training affect performance?”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With your group, identify what is missing or ambiguous:</a:t>
            </a:r>
          </a:p>
          <a:p>
            <a:pPr lvl="1"/>
            <a:r>
              <a:rPr lang="en-US" dirty="0"/>
              <a:t>What decision or purpose?</a:t>
            </a:r>
          </a:p>
          <a:p>
            <a:pPr lvl="1"/>
            <a:r>
              <a:rPr lang="en-US" dirty="0"/>
              <a:t>What outcome?</a:t>
            </a:r>
          </a:p>
          <a:p>
            <a:pPr lvl="1"/>
            <a:r>
              <a:rPr lang="en-US" dirty="0"/>
              <a:t>What comparison?</a:t>
            </a:r>
          </a:p>
          <a:p>
            <a:pPr lvl="1"/>
            <a:r>
              <a:rPr lang="en-US" dirty="0"/>
              <a:t>Which athletes and timeframe?</a:t>
            </a:r>
          </a:p>
          <a:p>
            <a:pPr lvl="1"/>
            <a:r>
              <a:rPr lang="en-US" dirty="0"/>
              <a:t>What does “affect” claim?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Then rewrite the question.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916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88DA3-B815-721E-25F1-04BC40E26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44C5A-C549-20B6-95D0-05FBC22BC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Decision</a:t>
            </a:r>
          </a:p>
          <a:p>
            <a:r>
              <a:rPr lang="en-US" dirty="0"/>
              <a:t>Should the coaching staff modify practice volume before games?</a:t>
            </a:r>
          </a:p>
          <a:p>
            <a:pPr marL="0" indent="0">
              <a:buNone/>
            </a:pPr>
            <a:r>
              <a:rPr lang="en-US" dirty="0"/>
              <a:t>Question</a:t>
            </a:r>
          </a:p>
          <a:p>
            <a:r>
              <a:rPr lang="en-US" dirty="0"/>
              <a:t>“Among players who appear in at least 15 minutes, is </a:t>
            </a:r>
            <a:r>
              <a:rPr lang="en-US" dirty="0" err="1"/>
              <a:t>PlayerLoad</a:t>
            </a:r>
            <a:r>
              <a:rPr lang="en-US" dirty="0"/>
              <a:t> accumulated during the two days before a game associated with fourth-quarter shooting efficiency?”</a:t>
            </a:r>
          </a:p>
          <a:p>
            <a:pPr marL="0" indent="0">
              <a:buNone/>
            </a:pPr>
            <a:r>
              <a:rPr lang="en-US" dirty="0"/>
              <a:t>Still open for refinement</a:t>
            </a:r>
          </a:p>
          <a:p>
            <a:pPr lvl="0"/>
            <a:r>
              <a:rPr lang="en-US" dirty="0"/>
              <a:t>Is </a:t>
            </a:r>
            <a:r>
              <a:rPr lang="en-US" dirty="0" err="1"/>
              <a:t>PlayerLoad</a:t>
            </a:r>
            <a:r>
              <a:rPr lang="en-US" dirty="0"/>
              <a:t> the most relevant measure?</a:t>
            </a:r>
          </a:p>
          <a:p>
            <a:pPr lvl="0"/>
            <a:r>
              <a:rPr lang="en-US" dirty="0"/>
              <a:t>Is shooting efficiency the right outcome?</a:t>
            </a:r>
          </a:p>
          <a:p>
            <a:pPr lvl="0"/>
            <a:r>
              <a:rPr lang="en-US" dirty="0"/>
              <a:t>What other context might explain the relationship?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202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618C8-5DDD-8308-9F68-BE35F62AD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98782"/>
          </a:xfrm>
        </p:spPr>
        <p:txBody>
          <a:bodyPr>
            <a:normAutofit fontScale="90000"/>
          </a:bodyPr>
          <a:lstStyle/>
          <a:p>
            <a:r>
              <a:rPr lang="en-US" dirty="0"/>
              <a:t>A Question Can Be Useful Even If the Answer Is “We Cannot Tell”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C7AC4-24AA-9BBC-8F3D-7792C17C8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8780"/>
            <a:ext cx="10515600" cy="431818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Sometimes the conclusion of an investigation may be:</a:t>
            </a:r>
          </a:p>
          <a:p>
            <a:pPr lvl="1"/>
            <a:r>
              <a:rPr lang="en-US" dirty="0"/>
              <a:t>The required variable was not measured.</a:t>
            </a:r>
          </a:p>
          <a:p>
            <a:pPr lvl="1"/>
            <a:r>
              <a:rPr lang="en-US" dirty="0"/>
              <a:t>The comparison group is inappropriate.</a:t>
            </a:r>
          </a:p>
          <a:p>
            <a:pPr lvl="1"/>
            <a:r>
              <a:rPr lang="en-US" dirty="0"/>
              <a:t>The sample is too limited.</a:t>
            </a:r>
          </a:p>
          <a:p>
            <a:pPr lvl="1"/>
            <a:r>
              <a:rPr lang="en-US" dirty="0"/>
              <a:t>The measurement does not represent the intended concept.</a:t>
            </a:r>
          </a:p>
          <a:p>
            <a:pPr lvl="1"/>
            <a:r>
              <a:rPr lang="en-US" dirty="0"/>
              <a:t>The design cannot support the claimed explanation.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Recognizing limits is a crucial part of analytics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596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D6458-5EC0-A179-B83C-16BDA007C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Availability Matters but It Should Not Lead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3A133-610D-D59B-4AD8-4F0FF82C5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Practical Steps: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Define</a:t>
            </a:r>
            <a:r>
              <a:rPr lang="en-US" dirty="0"/>
              <a:t> the sport </a:t>
            </a:r>
            <a:r>
              <a:rPr lang="en-US" b="1" dirty="0"/>
              <a:t>concern</a:t>
            </a:r>
            <a:r>
              <a:rPr lang="en-US" dirty="0"/>
              <a:t> and </a:t>
            </a:r>
            <a:r>
              <a:rPr lang="en-US" b="1" dirty="0"/>
              <a:t>decision</a:t>
            </a:r>
            <a:r>
              <a:rPr lang="en-US" dirty="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Write the </a:t>
            </a:r>
            <a:r>
              <a:rPr lang="en-US" b="1" dirty="0"/>
              <a:t>ideal question</a:t>
            </a:r>
            <a:r>
              <a:rPr lang="en-US" dirty="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Identify the evidence </a:t>
            </a:r>
            <a:r>
              <a:rPr lang="en-US" dirty="0"/>
              <a:t>the question requires.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Inspect</a:t>
            </a:r>
            <a:r>
              <a:rPr lang="en-US" dirty="0"/>
              <a:t> what data are actually available.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Revise the </a:t>
            </a:r>
            <a:r>
              <a:rPr lang="en-US" b="1" dirty="0"/>
              <a:t>scope</a:t>
            </a:r>
            <a:r>
              <a:rPr lang="en-US" dirty="0"/>
              <a:t> without changing the question's purpose.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State what the </a:t>
            </a:r>
            <a:r>
              <a:rPr lang="en-US" b="1" dirty="0"/>
              <a:t>available data cannot establish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417E50-B0FC-CDF4-4710-BE6261CC59B0}"/>
              </a:ext>
            </a:extLst>
          </p:cNvPr>
          <p:cNvSpPr txBox="1"/>
          <p:nvPr/>
        </p:nvSpPr>
        <p:spPr>
          <a:xfrm>
            <a:off x="1112520" y="5915110"/>
            <a:ext cx="102412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Step 5 should refine the question, not replace it.</a:t>
            </a:r>
          </a:p>
        </p:txBody>
      </p:sp>
    </p:spTree>
    <p:extLst>
      <p:ext uri="{BB962C8B-B14F-4D97-AF65-F5344CB8AC3E}">
        <p14:creationId xmlns:p14="http://schemas.microsoft.com/office/powerpoint/2010/main" val="4056655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03C95-9B08-B230-FD40-9ADA7D3DD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Exploring the data for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2E43C-65E3-0788-75F8-EF24FC9A3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Exploratory analysis</a:t>
            </a:r>
            <a:r>
              <a:rPr lang="en-US" dirty="0"/>
              <a:t> is a legitimate analytical approach used to identify patterns, relationships, and potential questions.</a:t>
            </a:r>
          </a:p>
          <a:p>
            <a:endParaRPr lang="en-US" dirty="0"/>
          </a:p>
          <a:p>
            <a:r>
              <a:rPr lang="en-US" dirty="0"/>
              <a:t>Findings discovered through exploration should </a:t>
            </a:r>
            <a:r>
              <a:rPr lang="en-US" b="1" dirty="0"/>
              <a:t>tested with new data </a:t>
            </a:r>
            <a:r>
              <a:rPr lang="en-US" dirty="0"/>
              <a:t>before making stronger explanatory, predictive, or prescriptive claims.</a:t>
            </a:r>
          </a:p>
        </p:txBody>
      </p:sp>
    </p:spTree>
    <p:extLst>
      <p:ext uri="{BB962C8B-B14F-4D97-AF65-F5344CB8AC3E}">
        <p14:creationId xmlns:p14="http://schemas.microsoft.com/office/powerpoint/2010/main" val="29413689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4281B-2F20-AD1C-7A9B-04133FF2C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class..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42F7B-9A6E-E592-768E-0B7B0D641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80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C56F3-E5F5-2C0D-E9EE-7E798A881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CS1: Establish the Project Direction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11F32-8055-42F6-D53F-1374F1587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this you will identify: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 sport and domain that interests you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 real observation, concern, or decision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Who would use the answer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An initial analytical question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 ideal evidence needed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Data sources that may be feasible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Keep the concern (step 2) and the question (step 4) separate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985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D6EB5-FEC2-47DE-01A3-F0E170543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Summary &amp; Looking Ahead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81857-C6C4-CF29-7D9F-C7FCD74EC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Start with a sport concern or decision.</a:t>
            </a:r>
          </a:p>
          <a:p>
            <a:pPr lvl="0"/>
            <a:r>
              <a:rPr lang="en-US" dirty="0"/>
              <a:t>Define the outcome, comparison, and context.</a:t>
            </a:r>
          </a:p>
          <a:p>
            <a:pPr lvl="0"/>
            <a:r>
              <a:rPr lang="en-US" dirty="0"/>
              <a:t>Use causal language only when the evidence supports it.</a:t>
            </a:r>
          </a:p>
          <a:p>
            <a:pPr lvl="0"/>
            <a:r>
              <a:rPr lang="en-US" dirty="0"/>
              <a:t>Let feasibility refine the scope without replacing the purpose.</a:t>
            </a:r>
          </a:p>
          <a:p>
            <a:pPr lvl="0"/>
            <a:r>
              <a:rPr lang="en-US" dirty="0"/>
              <a:t>Treat limitations as part of the answer.</a:t>
            </a:r>
          </a:p>
          <a:p>
            <a:r>
              <a:rPr lang="en-US" dirty="0"/>
              <a:t>Next: at-home case study (generate question and identify dataset)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692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BF30C-1D58-2C38-C8FC-75963B45E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Start With Something You Notice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82BB9-81D5-9E9D-3946-A3D4B6F26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Think of one observation, concern, or belief about sport that you would like to investigate.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pPr lvl="0"/>
            <a:r>
              <a:rPr lang="en-US" dirty="0"/>
              <a:t>“Our team fades late in games.”</a:t>
            </a:r>
          </a:p>
          <a:p>
            <a:pPr lvl="0"/>
            <a:r>
              <a:rPr lang="en-US" dirty="0"/>
              <a:t>“This prospect looks better than the statistics suggest.”</a:t>
            </a:r>
          </a:p>
          <a:p>
            <a:pPr lvl="0"/>
            <a:r>
              <a:rPr lang="en-US" dirty="0"/>
              <a:t>“Some athletes do not recover well after hard practices.”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Write yours in one sentence. Does not need to be a formal question yet.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650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1729</TotalTime>
  <Words>1775</Words>
  <Application>Microsoft Macintosh PowerPoint</Application>
  <PresentationFormat>Widescreen</PresentationFormat>
  <Paragraphs>232</Paragraphs>
  <Slides>26</Slides>
  <Notes>17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Fira Sans</vt:lpstr>
      <vt:lpstr>Office Theme</vt:lpstr>
      <vt:lpstr>Asking Testable Analytical Questions</vt:lpstr>
      <vt:lpstr>Why are we still talking about the “question”?</vt:lpstr>
      <vt:lpstr>The Streetlight Effect</vt:lpstr>
      <vt:lpstr>The Streetlight Effect</vt:lpstr>
      <vt:lpstr>Data Dredging</vt:lpstr>
      <vt:lpstr>Data Dredging</vt:lpstr>
      <vt:lpstr>Available Data Can Rewrite Questions</vt:lpstr>
      <vt:lpstr>Building a Question That Can Guide the Analysis</vt:lpstr>
      <vt:lpstr>Analysis must start with clarity</vt:lpstr>
      <vt:lpstr>Good Questions Connect Curiosity to a Decision</vt:lpstr>
      <vt:lpstr>Begin With the Decision</vt:lpstr>
      <vt:lpstr>Define the Outcome Before Choosing the Metric</vt:lpstr>
      <vt:lpstr>Comparisons Give Numbers Meaning</vt:lpstr>
      <vt:lpstr>Context Determines What the Comparison Means</vt:lpstr>
      <vt:lpstr>From Concern to Question</vt:lpstr>
      <vt:lpstr>Precision Does Not Mean Small Questions</vt:lpstr>
      <vt:lpstr>Warning on Causal Language</vt:lpstr>
      <vt:lpstr>Activity: Diagnose the Question</vt:lpstr>
      <vt:lpstr>EXAMPLE solution</vt:lpstr>
      <vt:lpstr>A Question Can Be Useful Even If the Answer Is “We Cannot Tell”</vt:lpstr>
      <vt:lpstr>Data Availability Matters but It Should Not Lead</vt:lpstr>
      <vt:lpstr>Exploring the data for patterns</vt:lpstr>
      <vt:lpstr>Next class..</vt:lpstr>
      <vt:lpstr>CS1: Establish the Project Direction</vt:lpstr>
      <vt:lpstr>Summary &amp; Looking Ahead</vt:lpstr>
      <vt:lpstr>Start With Something You Notice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Onishi, Saryu</dc:creator>
  <cp:lastModifiedBy>Onishi, Saryu</cp:lastModifiedBy>
  <cp:revision>24</cp:revision>
  <dcterms:created xsi:type="dcterms:W3CDTF">2026-08-17T13:48:23Z</dcterms:created>
  <dcterms:modified xsi:type="dcterms:W3CDTF">2026-09-03T20:34:33Z</dcterms:modified>
</cp:coreProperties>
</file>