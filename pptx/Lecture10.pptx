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16" r:id="rId3"/>
    <p:sldId id="366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16" r:id="rId12"/>
    <p:sldId id="404" r:id="rId13"/>
    <p:sldId id="406" r:id="rId14"/>
    <p:sldId id="415" r:id="rId15"/>
    <p:sldId id="414" r:id="rId16"/>
    <p:sldId id="413" r:id="rId17"/>
    <p:sldId id="407" r:id="rId18"/>
    <p:sldId id="408" r:id="rId19"/>
    <p:sldId id="409" r:id="rId20"/>
    <p:sldId id="410" r:id="rId21"/>
    <p:sldId id="411" r:id="rId22"/>
    <p:sldId id="412" r:id="rId23"/>
    <p:sldId id="417" r:id="rId24"/>
    <p:sldId id="3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0"/>
    <p:restoredTop sz="78493" autoAdjust="0"/>
  </p:normalViewPr>
  <p:slideViewPr>
    <p:cSldViewPr snapToGrid="0">
      <p:cViewPr varScale="1">
        <p:scale>
          <a:sx n="98" d="100"/>
          <a:sy n="98" d="100"/>
        </p:scale>
        <p:origin x="9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9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3904-24DD-BBD9-3F26-D97C96C5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92767-A574-B234-1F5B-6066209D0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8ABCC-AE87-0888-D53F-61BC0491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2E723-DC8C-43B8-8DBC-493302A06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9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“We judged these patterns visually. Pearson’s correlation coefficient puts a number on their linear direction and strength, giving us a consistent way to describe and compare them.”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3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9EF8-4C23-4FD0-899B-07426FF3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8036C-41C5-2CF2-5AFE-911FC1D4B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D69E2-AB2E-981D-8B09-F6A635039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9A08C-7DFF-E634-CB79-2CB083B95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35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The point is that usefulness depends on the task and the size of the error. You can call the observed-minus-predicted difference a </a:t>
            </a:r>
            <a:r>
              <a:rPr lang="en-GB" b="1" dirty="0"/>
              <a:t>residual</a:t>
            </a:r>
            <a:r>
              <a:rPr lang="en-GB" dirty="0"/>
              <a:t>, but leave formal error metrics for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0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DB77E-C484-9A28-A48B-29EF45AF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2FED6-B986-FE1D-F8C2-1BB762956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C57B8-4E52-1127-B662-DF480A9FF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FF80B-CAE7-FFB7-0065-0ECBE917A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16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Debrief:</a:t>
            </a:r>
          </a:p>
          <a:p>
            <a:pPr lvl="0"/>
            <a:r>
              <a:rPr lang="en-GB" dirty="0"/>
              <a:t>The graph and \(r\) describe association.</a:t>
            </a:r>
          </a:p>
          <a:p>
            <a:pPr lvl="0"/>
            <a:r>
              <a:rPr lang="en-GB" dirty="0"/>
              <a:t>The fitted line produces predictions; their accuracy still needs evaluation.</a:t>
            </a:r>
          </a:p>
          <a:p>
            <a:pPr lvl="0"/>
            <a:r>
              <a:rPr lang="en-GB" dirty="0"/>
              <a:t>A causal claim requires evidence about what happens when something changes.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3C4-8C70-E3C5-875E-93ADB847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C621D-DE1E-1563-2B16-AF60017F4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BE690-1766-8F91-E5B3-490F455E0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this example, strength, training background, or sport could help explain both jumping and sprinting performance.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3555F-DC77-C4E8-D57E-B2EB333B1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48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a concrete comparison: observing jump height and sprint time versus randomly assigning athletes to a training intervention and a comparison condition. Be clear that the experiment estimates the </a:t>
            </a:r>
            <a:r>
              <a:rPr lang="en-GB" b="1" dirty="0"/>
              <a:t>effect of that intervention</a:t>
            </a:r>
            <a:r>
              <a:rPr lang="en-GB" dirty="0"/>
              <a:t>, rather than automatically proving that jump height itself causes sprint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06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pairs a minute, then take a few responses. Guide them toward:</a:t>
            </a:r>
          </a:p>
          <a:p>
            <a:pPr lvl="0"/>
            <a:r>
              <a:rPr lang="en-GB" dirty="0"/>
              <a:t>The data show an association between jump height and sprint time.</a:t>
            </a:r>
          </a:p>
          <a:p>
            <a:pPr lvl="0"/>
            <a:r>
              <a:rPr lang="en-GB" dirty="0"/>
              <a:t>The line estimates sprint time, but individual outcomes vary.</a:t>
            </a:r>
          </a:p>
          <a:p>
            <a:pPr lvl="0"/>
            <a:r>
              <a:rPr lang="en-GB" dirty="0"/>
              <a:t>This analysis alone doesn’t establish that adding jump training will improve sprint performance.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We started with a pattern on a graph. Now we can describe its strength, use an equation to estimate an outcome, and explain how far the evidence takes us. Next class, you’ll do those steps yourselves in Excel.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2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6E8C1D3-413D-3F8C-2B71-1C4EB0ADE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77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Quantifying relationships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00E21B-1982-E0CA-1F9E-8355997AA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604BDD-1EB2-C9AE-AD81-128821271322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What can we do beyond describing what happened?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94415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ED5F-9CC6-A209-CC91-A3402F9B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Beyond descriptive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9277-A54C-600B-5D1B-CC6FA5A7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Previously: summarize variables and visualize relationships.</a:t>
            </a:r>
          </a:p>
          <a:p>
            <a:pPr lvl="0"/>
            <a:r>
              <a:rPr lang="en-GB" dirty="0"/>
              <a:t>Today: quantify a relationship and use it to estimate an outcome.</a:t>
            </a:r>
          </a:p>
          <a:p>
            <a:pPr marL="0" lv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EFA0D-70DC-29F5-63B3-4BF1D269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68" y="3429000"/>
            <a:ext cx="3561063" cy="2894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A4461F-B4B7-363D-6B70-F8AB64989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610" y="3121569"/>
            <a:ext cx="2822473" cy="2294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A2F9AB-B60F-0DD9-7D4D-2109D4B00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265844"/>
            <a:ext cx="2822473" cy="226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6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15F6-0DDE-9DCC-F99C-41D1C54C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B047E-A6F6-9B5E-334D-61EED0DF4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B7D52F-427B-EEE0-FA49-6A128CC642FC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Correlation Analysis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348672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56C3-D1EA-CF29-2ED9-AD098215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8D91-9626-50E7-A7D5-29B538F9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two variables move together?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E28E1-9D88-3B65-D0B7-453C47AD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Positive: higher values of one tend to accompany higher values of the other.</a:t>
            </a:r>
          </a:p>
          <a:p>
            <a:pPr lvl="0"/>
            <a:r>
              <a:rPr lang="en-GB" dirty="0"/>
              <a:t>Negative: higher values of one tend to accompany lower values of the other.</a:t>
            </a:r>
          </a:p>
        </p:txBody>
      </p:sp>
      <p:pic>
        <p:nvPicPr>
          <p:cNvPr id="5" name="Picture 4" descr="https://www.investopedia.com/thmb/2b8kkUpoknl2tKdZfbsCzI-2X54=/1500x0/filters:no_upscale():max_bytes(150000):strip_icc()/TC_3126228-how-to-calculate-the-correlation-coefficient-5aabeb313de423003610ee40.png">
            <a:extLst>
              <a:ext uri="{FF2B5EF4-FFF2-40B4-BE49-F238E27FC236}">
                <a16:creationId xmlns:a16="http://schemas.microsoft.com/office/drawing/2014/main" id="{1BA08E04-CF51-CAFF-C68E-FC2F136E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38" b="28412"/>
          <a:stretch>
            <a:fillRect/>
          </a:stretch>
        </p:blipFill>
        <p:spPr>
          <a:xfrm>
            <a:off x="2238375" y="3792991"/>
            <a:ext cx="7715250" cy="238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9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E6D9D-E82E-AEAF-7798-2367791E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0620-4950-8C0C-59D8-BD979FB8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Pearson’s correlation coefficient (</a:t>
            </a:r>
            <a:r>
              <a:rPr lang="en-GB" i="1" dirty="0"/>
              <a:t>r</a:t>
            </a:r>
            <a:r>
              <a:rPr lang="en-GB" dirty="0"/>
              <a:t>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35B1-ECC7-0E61-50A5-391D07650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Measures the direction and strength of a linear relationship between two </a:t>
            </a:r>
            <a:r>
              <a:rPr lang="en-GB" b="1" u="sng" dirty="0"/>
              <a:t>numerical</a:t>
            </a:r>
            <a:r>
              <a:rPr lang="en-GB" dirty="0"/>
              <a:t> variables.</a:t>
            </a:r>
          </a:p>
          <a:p>
            <a:r>
              <a:rPr lang="en-GB" dirty="0"/>
              <a:t>Ranges from </a:t>
            </a:r>
            <a:r>
              <a:rPr lang="en-GB" b="1" dirty="0"/>
              <a:t>−1 to +1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The </a:t>
            </a:r>
            <a:r>
              <a:rPr lang="en-GB" b="1" dirty="0"/>
              <a:t>sign</a:t>
            </a:r>
            <a:r>
              <a:rPr lang="en-GB" dirty="0"/>
              <a:t> describes direction.</a:t>
            </a:r>
          </a:p>
          <a:p>
            <a:pPr lvl="0"/>
            <a:r>
              <a:rPr lang="en-GB" dirty="0"/>
              <a:t>The </a:t>
            </a:r>
            <a:r>
              <a:rPr lang="en-GB" b="1" dirty="0"/>
              <a:t>distance from zero</a:t>
            </a:r>
            <a:r>
              <a:rPr lang="en-GB" dirty="0"/>
              <a:t> describes the strength.</a:t>
            </a:r>
          </a:p>
          <a:p>
            <a:pPr lvl="0"/>
            <a:r>
              <a:rPr lang="en-GB" dirty="0"/>
              <a:t>Correlation has no units.</a:t>
            </a:r>
          </a:p>
        </p:txBody>
      </p:sp>
    </p:spTree>
    <p:extLst>
      <p:ext uri="{BB962C8B-B14F-4D97-AF65-F5344CB8AC3E}">
        <p14:creationId xmlns:p14="http://schemas.microsoft.com/office/powerpoint/2010/main" val="10380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4B78-CEB5-09D0-23B2-8F8CFDEB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8E75-D022-C2F9-90DF-BD62E873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Ranking correlations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8D73-5371-638D-CE36-7ED7F3277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6"/>
            <a:ext cx="10515600" cy="4518696"/>
          </a:xfrm>
        </p:spPr>
        <p:txBody>
          <a:bodyPr/>
          <a:lstStyle/>
          <a:p>
            <a:pPr lvl="0"/>
            <a:r>
              <a:rPr lang="en-GB" dirty="0"/>
              <a:t>Rank the plots from weakest to strongest</a:t>
            </a:r>
          </a:p>
          <a:p>
            <a:pPr lvl="0"/>
            <a:r>
              <a:rPr lang="en-GB"/>
              <a:t>Identify direction</a:t>
            </a:r>
            <a:endParaRPr lang="en-GB" dirty="0"/>
          </a:p>
        </p:txBody>
      </p:sp>
      <p:pic>
        <p:nvPicPr>
          <p:cNvPr id="4" name="Picture 3" descr="https://www.statlect.com/images/linear-correlation-coefficient.png">
            <a:extLst>
              <a:ext uri="{FF2B5EF4-FFF2-40B4-BE49-F238E27FC236}">
                <a16:creationId xmlns:a16="http://schemas.microsoft.com/office/drawing/2014/main" id="{58AE00D0-930C-E62A-BCB0-FDD603AF4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8" t="39268" r="65303" b="32906"/>
          <a:stretch>
            <a:fillRect/>
          </a:stretch>
        </p:blipFill>
        <p:spPr>
          <a:xfrm>
            <a:off x="9082606" y="2563422"/>
            <a:ext cx="2743200" cy="2524714"/>
          </a:xfrm>
          <a:prstGeom prst="rect">
            <a:avLst/>
          </a:prstGeom>
        </p:spPr>
      </p:pic>
      <p:pic>
        <p:nvPicPr>
          <p:cNvPr id="5" name="Picture 4" descr="https://www.statlect.com/images/linear-correlation-coefficient.png">
            <a:extLst>
              <a:ext uri="{FF2B5EF4-FFF2-40B4-BE49-F238E27FC236}">
                <a16:creationId xmlns:a16="http://schemas.microsoft.com/office/drawing/2014/main" id="{D78764BF-5C6E-AFC1-92C5-BD0486BB8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07" t="39515" r="31524" b="32659"/>
          <a:stretch>
            <a:fillRect/>
          </a:stretch>
        </p:blipFill>
        <p:spPr>
          <a:xfrm>
            <a:off x="3178822" y="2563422"/>
            <a:ext cx="2743200" cy="2524714"/>
          </a:xfrm>
          <a:prstGeom prst="rect">
            <a:avLst/>
          </a:prstGeom>
        </p:spPr>
      </p:pic>
      <p:pic>
        <p:nvPicPr>
          <p:cNvPr id="6" name="Picture 5" descr="https://www.statlect.com/images/linear-correlation-coefficient.png">
            <a:extLst>
              <a:ext uri="{FF2B5EF4-FFF2-40B4-BE49-F238E27FC236}">
                <a16:creationId xmlns:a16="http://schemas.microsoft.com/office/drawing/2014/main" id="{F5AAA52A-F6EE-882A-12D1-154E0A73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62" t="70271" r="31869" b="1903"/>
          <a:stretch>
            <a:fillRect/>
          </a:stretch>
        </p:blipFill>
        <p:spPr>
          <a:xfrm>
            <a:off x="6096000" y="2563422"/>
            <a:ext cx="2743200" cy="2524714"/>
          </a:xfrm>
          <a:prstGeom prst="rect">
            <a:avLst/>
          </a:prstGeom>
        </p:spPr>
      </p:pic>
      <p:pic>
        <p:nvPicPr>
          <p:cNvPr id="7" name="Picture 6" descr="https://www.statlect.com/images/linear-correlation-coefficient.png">
            <a:extLst>
              <a:ext uri="{FF2B5EF4-FFF2-40B4-BE49-F238E27FC236}">
                <a16:creationId xmlns:a16="http://schemas.microsoft.com/office/drawing/2014/main" id="{EC045679-4644-89EC-A569-72CF67DA2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24" t="9643" r="31607" b="62531"/>
          <a:stretch>
            <a:fillRect/>
          </a:stretch>
        </p:blipFill>
        <p:spPr>
          <a:xfrm>
            <a:off x="307618" y="2563422"/>
            <a:ext cx="2743200" cy="25247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BCA94F-5280-8F12-B688-2C2B219F1F94}"/>
              </a:ext>
            </a:extLst>
          </p:cNvPr>
          <p:cNvSpPr/>
          <p:nvPr/>
        </p:nvSpPr>
        <p:spPr>
          <a:xfrm>
            <a:off x="743387" y="2363397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F4FE1-0CC0-47EB-24DB-DB59E1EAF635}"/>
              </a:ext>
            </a:extLst>
          </p:cNvPr>
          <p:cNvSpPr/>
          <p:nvPr/>
        </p:nvSpPr>
        <p:spPr>
          <a:xfrm>
            <a:off x="3614591" y="2412219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9A8295-DAAA-34E3-F40E-E937BC0AEBB1}"/>
              </a:ext>
            </a:extLst>
          </p:cNvPr>
          <p:cNvSpPr/>
          <p:nvPr/>
        </p:nvSpPr>
        <p:spPr>
          <a:xfrm>
            <a:off x="6705749" y="2363397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59241-4256-F53C-B981-637F911CB293}"/>
              </a:ext>
            </a:extLst>
          </p:cNvPr>
          <p:cNvSpPr/>
          <p:nvPr/>
        </p:nvSpPr>
        <p:spPr>
          <a:xfrm>
            <a:off x="9576953" y="2412219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BCDEB-0E88-2F89-9585-8768A53CDF29}"/>
              </a:ext>
            </a:extLst>
          </p:cNvPr>
          <p:cNvSpPr txBox="1"/>
          <p:nvPr/>
        </p:nvSpPr>
        <p:spPr>
          <a:xfrm>
            <a:off x="2235631" y="5580184"/>
            <a:ext cx="706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Pearson’s r quantifies the linear pattern we see in a scatterplot.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62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F8EA-86C7-451C-D741-2807365C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37F25-9491-17FF-8428-832C8017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Pearson’s </a:t>
            </a:r>
            <a:r>
              <a:rPr lang="en-GB" i="1" dirty="0"/>
              <a:t>r</a:t>
            </a:r>
            <a:r>
              <a:rPr lang="en-GB" dirty="0"/>
              <a:t> does (and doesn’t) tell 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600BB-5F9D-FC67-26A4-609D6F860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582" y="1609175"/>
            <a:ext cx="6037217" cy="4567788"/>
          </a:xfrm>
        </p:spPr>
        <p:txBody>
          <a:bodyPr/>
          <a:lstStyle/>
          <a:p>
            <a:pPr lvl="0"/>
            <a:r>
              <a:rPr lang="en-GB" dirty="0"/>
              <a:t>A negative correlation is not a weak correlation.</a:t>
            </a:r>
          </a:p>
          <a:p>
            <a:pPr lvl="0"/>
            <a:r>
              <a:rPr lang="en-GB" i="1" dirty="0"/>
              <a:t>r</a:t>
            </a:r>
            <a:r>
              <a:rPr lang="en-GB" dirty="0"/>
              <a:t> describes a </a:t>
            </a:r>
            <a:r>
              <a:rPr lang="en-GB" b="1" dirty="0"/>
              <a:t>linear</a:t>
            </a:r>
            <a:r>
              <a:rPr lang="en-GB" dirty="0"/>
              <a:t> relationship.</a:t>
            </a:r>
          </a:p>
          <a:p>
            <a:pPr lvl="0"/>
            <a:r>
              <a:rPr lang="en-GB" i="1" dirty="0"/>
              <a:t>r</a:t>
            </a:r>
            <a:r>
              <a:rPr lang="en-GB" dirty="0"/>
              <a:t> ≈ 0 can still occur when there is a curved relationship.</a:t>
            </a:r>
          </a:p>
          <a:p>
            <a:pPr lvl="0"/>
            <a:r>
              <a:rPr lang="en-GB" dirty="0"/>
              <a:t>Always inspect the graph alongside the number.</a:t>
            </a:r>
          </a:p>
        </p:txBody>
      </p:sp>
      <p:pic>
        <p:nvPicPr>
          <p:cNvPr id="5" name="Picture 4" descr="Is there an equivalent to Pearson's Correlation coefficient for non-linear  relationships? : r/AskStatistics">
            <a:extLst>
              <a:ext uri="{FF2B5EF4-FFF2-40B4-BE49-F238E27FC236}">
                <a16:creationId xmlns:a16="http://schemas.microsoft.com/office/drawing/2014/main" id="{43CF7F1C-5F11-9512-55A9-667A5F98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1609175"/>
            <a:ext cx="4425267" cy="41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09B0-4CB4-6426-2A9E-7CB77EA9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From a relationship to a 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EE0C-51AC-683D-0D4E-D5AF68FDD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Correlation</a:t>
            </a:r>
            <a:r>
              <a:rPr lang="en-GB" dirty="0"/>
              <a:t> describes the direction and strength of a linear relationship.</a:t>
            </a:r>
          </a:p>
          <a:p>
            <a:pPr lvl="0"/>
            <a:r>
              <a:rPr lang="en-GB" b="1" dirty="0"/>
              <a:t>Simple linear regression</a:t>
            </a:r>
            <a:r>
              <a:rPr lang="en-GB" dirty="0"/>
              <a:t> fits a line that describes the relationship in the variables’ original units.</a:t>
            </a:r>
          </a:p>
          <a:p>
            <a:pPr lvl="1"/>
            <a:r>
              <a:rPr lang="en-GB" dirty="0"/>
              <a:t>This line is sometimes called “trend line” or “line of best fit”</a:t>
            </a:r>
          </a:p>
        </p:txBody>
      </p:sp>
    </p:spTree>
    <p:extLst>
      <p:ext uri="{BB962C8B-B14F-4D97-AF65-F5344CB8AC3E}">
        <p14:creationId xmlns:p14="http://schemas.microsoft.com/office/powerpoint/2010/main" val="146106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2FEA-033E-D7E0-085E-EC7E2BD9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linear relationships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5108A-93B6-9515-B78B-C886D2165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Equation for a linear relationship: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 the input or predictor.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 the predicted outcome when using the fitted equation.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: slope.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 intercept.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5108A-93B6-9515-B78B-C886D2165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31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3778-A0BE-1DFC-DC33-AFFEFD18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0F93-DE2F-DBDE-6924-7AE586E0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Scatter plot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line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6539F-F2A2-4498-8EA8-C5317C94B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72" y="1600200"/>
            <a:ext cx="416165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3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3685-0526-6941-EDB6-E1A2D4DC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Scatter plot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line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6D23B-2EB0-CE1C-D87D-9FDCBDE3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4161653" cy="365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2AEF025-EB7B-5180-EB25-39B128D46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5439" y="1277816"/>
                <a:ext cx="6218874" cy="47350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Descriptive details of this relationship: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: -0.82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sprint time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=4.32−0.0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41</m:t>
                    </m:r>
                    <m:d>
                      <m:d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jump height 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sz="2000" dirty="0"/>
                  <a:t>*</a:t>
                </a:r>
                <a:r>
                  <a:rPr lang="en-GB" sz="2000" i="1" dirty="0"/>
                  <a:t>r</a:t>
                </a:r>
                <a:r>
                  <a:rPr lang="en-GB" sz="2000" dirty="0"/>
                  <a:t> and equation can be obtained through software (more next class)</a:t>
                </a:r>
              </a:p>
              <a:p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2AEF025-EB7B-5180-EB25-39B128D46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5439" y="1277816"/>
                <a:ext cx="6218874" cy="4735025"/>
              </a:xfrm>
              <a:blipFill>
                <a:blip r:embed="rId3"/>
                <a:stretch>
                  <a:fillRect l="-2041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895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47E6-4008-9642-844A-BB14C558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CAEE02-70F0-2480-25FB-04273935A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BCA34-A7B7-77CC-3981-F10D0122D4FC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Descriptive </a:t>
            </a:r>
            <a:r>
              <a:rPr lang="en-GB" b="0" cap="none" dirty="0">
                <a:sym typeface="Wingdings" pitchFamily="2" charset="2"/>
              </a:rPr>
              <a:t> </a:t>
            </a:r>
            <a:r>
              <a:rPr lang="en-GB" b="0" cap="none" dirty="0"/>
              <a:t>Predictive Analytics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58136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9BB0-7795-15FE-AACE-EE4365C0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B982F-8DB6-3CA2-51F0-C1DABD3AEE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1938"/>
                <a:ext cx="5928361" cy="4735025"/>
              </a:xfrm>
            </p:spPr>
            <p:txBody>
              <a:bodyPr/>
              <a:lstStyle/>
              <a:p>
                <a:r>
                  <a:rPr lang="en-US" dirty="0"/>
                  <a:t>A fitted line is the basis of simple predictions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 the input or predictor.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 the predicted outcome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: slope.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 intercept.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B982F-8DB6-3CA2-51F0-C1DABD3AE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1938"/>
                <a:ext cx="5928361" cy="4735025"/>
              </a:xfrm>
              <a:blipFill>
                <a:blip r:embed="rId2"/>
                <a:stretch>
                  <a:fillRect l="-1927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7355E7D-38D8-BB59-95B3-72E4772C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1758461"/>
            <a:ext cx="4587240" cy="403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77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5DB1A-017C-7104-2C55-A5E7932A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6765-F6D9-ED86-EF1B-153CD0FAB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slope mean?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32EF2-8774-D0C1-C60F-B358B3F3A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r>
                  <a:rPr lang="en-GB" dirty="0"/>
                  <a:t>Which value represents the slope?</a:t>
                </a:r>
              </a:p>
              <a:p>
                <a:r>
                  <a:rPr lang="en-GB" dirty="0"/>
                  <a:t>Is the slope negative because performance gets worse?</a:t>
                </a:r>
              </a:p>
              <a:p>
                <a:r>
                  <a:rPr lang="en-GB" dirty="0"/>
                  <a:t>For each additional inch of jump height, predicted sprint time is </a:t>
                </a:r>
                <a:r>
                  <a:rPr lang="en-GB" b="1" dirty="0"/>
                  <a:t>0.041 seconds lower</a:t>
                </a:r>
                <a:r>
                  <a:rPr lang="en-GB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32EF2-8774-D0C1-C60F-B358B3F3A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91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2B60F-760B-55B0-913D-F5E25BDC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0555-1BFF-E5EC-5731-312B571B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intercept mean?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646A6-220F-CF05-20CF-CB3EE373E9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r>
                  <a:rPr lang="en-GB" dirty="0"/>
                  <a:t>The intercept predicts 4.32 seconds at a jump height of zero.</a:t>
                </a:r>
              </a:p>
              <a:p>
                <a:pPr lvl="0"/>
                <a:endParaRPr lang="en-GB" dirty="0"/>
              </a:p>
              <a:p>
                <a:pPr lvl="0"/>
                <a:r>
                  <a:rPr lang="en-GB" dirty="0"/>
                  <a:t>Zero may fall outside the observed data, so the intercept may have little practical meaning.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646A6-220F-CF05-20CF-CB3EE373E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659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1EA8-32A8-326C-FDB9-798E5EE2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5F04-3E2D-D800-6E26-7F60FB7D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 an outcome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C4F84-4A16-1A4A-CFE4-49D684DA81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pPr lvl="0"/>
                <a:r>
                  <a:rPr lang="en-GB" dirty="0"/>
                  <a:t>What is the predicted sprint time for an athlete with a 20 inch jump?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C4F84-4A16-1A4A-CFE4-49D684DA81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343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0B3B-F48E-8693-205F-D6AB0247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= best guess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60A3-9F40-BB57-BEFE-595B6650D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928361" cy="4735025"/>
          </a:xfrm>
        </p:spPr>
        <p:txBody>
          <a:bodyPr/>
          <a:lstStyle/>
          <a:p>
            <a:pPr lvl="0"/>
            <a:r>
              <a:rPr lang="en-GB" dirty="0"/>
              <a:t>Athletes with the same jump height can have different sprint times.</a:t>
            </a:r>
          </a:p>
          <a:p>
            <a:pPr lvl="0"/>
            <a:r>
              <a:rPr lang="en-GB" dirty="0"/>
              <a:t>Actual observations fall above and below the line.</a:t>
            </a:r>
          </a:p>
          <a:p>
            <a:pPr lvl="0"/>
            <a:r>
              <a:rPr lang="en-GB" dirty="0"/>
              <a:t>Other factors and ordinary variation remain.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50287-3B0E-5CD7-0400-D51308FE4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1758461"/>
            <a:ext cx="4587240" cy="4031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4BB03-6F29-D4D2-1F20-9D73E2591A00}"/>
              </a:ext>
            </a:extLst>
          </p:cNvPr>
          <p:cNvSpPr txBox="1"/>
          <p:nvPr/>
        </p:nvSpPr>
        <p:spPr>
          <a:xfrm>
            <a:off x="666207" y="5316640"/>
            <a:ext cx="61003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The prediction missed by 0.2 seconds. Would that matter?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59C180-2B20-7E98-66DE-F2A45A9CC243}"/>
              </a:ext>
            </a:extLst>
          </p:cNvPr>
          <p:cNvCxnSpPr>
            <a:cxnSpLocks/>
          </p:cNvCxnSpPr>
          <p:nvPr/>
        </p:nvCxnSpPr>
        <p:spPr>
          <a:xfrm>
            <a:off x="8882743" y="2351314"/>
            <a:ext cx="0" cy="287382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745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2A62-81EF-DD22-54E7-93F8F055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F674E-ED23-B29F-53E8-4BD4CD5D5C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F0DFB9-EB04-3AC5-56B1-3D53F413231E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Association, prediction, and causation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4071876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92C4-2B74-421B-0FE4-5C1A02DF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2D30-90E5-1CFB-0746-E4D86566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separate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6ED1-C839-D77A-B8ED-AA9D993D8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GB" dirty="0"/>
              <a:t>Athletes who jump higher tend to sprint faster.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Jump height helps us estimate sprint time.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Increasing jump height will cause sprint time to improve.</a:t>
            </a:r>
          </a:p>
          <a:p>
            <a:pPr marL="514350" lvl="0" indent="-514350">
              <a:buFont typeface="+mj-lt"/>
              <a:buAutoNum type="arabicPeriod"/>
            </a:pPr>
            <a:endParaRPr lang="en-GB" dirty="0"/>
          </a:p>
          <a:p>
            <a:pPr marL="514350" lvl="0" indent="-51435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Small-group prompt:</a:t>
            </a:r>
          </a:p>
          <a:p>
            <a:r>
              <a:rPr lang="en-GB" dirty="0"/>
              <a:t>Which claims does this scatterplot support? Which require additional evidence?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91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8794-7AE8-F481-701C-E1D563A1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F287-C2AB-3DD0-9731-33A17E53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might variables be associated?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FA082-AF7E-5675-20E0-82A9A31B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One variable may influence the other.</a:t>
            </a:r>
          </a:p>
          <a:p>
            <a:pPr lvl="0"/>
            <a:r>
              <a:rPr lang="en-GB" dirty="0"/>
              <a:t>Another factor may influence both.</a:t>
            </a:r>
          </a:p>
          <a:p>
            <a:pPr lvl="0"/>
            <a:r>
              <a:rPr lang="en-GB" dirty="0"/>
              <a:t>Group differences or sample selection may create the pattern.</a:t>
            </a:r>
          </a:p>
        </p:txBody>
      </p:sp>
      <p:pic>
        <p:nvPicPr>
          <p:cNvPr id="4" name="Picture 3" descr="What is a confounder (confounding variable) and why should I care? — Those  Nerdy Girls">
            <a:extLst>
              <a:ext uri="{FF2B5EF4-FFF2-40B4-BE49-F238E27FC236}">
                <a16:creationId xmlns:a16="http://schemas.microsoft.com/office/drawing/2014/main" id="{591FCD78-A2BE-8C43-D322-A5648D70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89967" y="2845934"/>
            <a:ext cx="4012066" cy="40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10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A621-7606-E778-E6B1-17C72ADA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would support a causal claim?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3935D-D4C5-4BD0-9422-1F2C30CC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 correlation alone does not establish cause and effect.</a:t>
            </a:r>
          </a:p>
          <a:p>
            <a:pPr lvl="0"/>
            <a:r>
              <a:rPr lang="en-GB" dirty="0"/>
              <a:t>Stronger evidence compares outcomes under different conditions while addressing other explanations.</a:t>
            </a:r>
          </a:p>
          <a:p>
            <a:pPr lvl="0"/>
            <a:r>
              <a:rPr lang="en-GB" dirty="0"/>
              <a:t>In sports, rule changes or policy changes can create opportunities for these comparisons.</a:t>
            </a:r>
          </a:p>
        </p:txBody>
      </p:sp>
      <p:pic>
        <p:nvPicPr>
          <p:cNvPr id="4" name="Picture 3" descr="Randomized Controlled Trial (RCTs)- Features, Principle, Steps, Bias">
            <a:extLst>
              <a:ext uri="{FF2B5EF4-FFF2-40B4-BE49-F238E27FC236}">
                <a16:creationId xmlns:a16="http://schemas.microsoft.com/office/drawing/2014/main" id="{5C8C7AF1-6BC0-93F2-E0D7-B1CF5B607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22664"/>
            <a:ext cx="4324210" cy="2270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CB8BC8-9636-C3B5-46E6-FEA39F371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595" y="4187379"/>
            <a:ext cx="5619205" cy="230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24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AEFA-641F-1B59-BE4C-1AC2B807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Applying association, prediction and causation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B9E5-F15F-0613-D09C-91049E59D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coach sees that athletes who jump higher tend to sprint faster and says: </a:t>
            </a:r>
            <a:r>
              <a:rPr lang="en-GB" b="1" dirty="0"/>
              <a:t>“Let’s add jump training so everyone gets faster.”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Discuss in pairs</a:t>
            </a:r>
          </a:p>
          <a:p>
            <a:r>
              <a:rPr lang="en-GB" dirty="0"/>
              <a:t>How would you respond using what we learned today?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41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9BE-B427-AD17-F40D-9FBDC7F4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6377-8128-3C14-E606-5E51175D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Correlation:</a:t>
            </a:r>
            <a:r>
              <a:rPr lang="en-GB" dirty="0"/>
              <a:t> How strongly do the variables move together in a linear pattern?</a:t>
            </a:r>
          </a:p>
          <a:p>
            <a:pPr lvl="0"/>
            <a:r>
              <a:rPr lang="en-GB" b="1" dirty="0"/>
              <a:t>Regression:</a:t>
            </a:r>
            <a:r>
              <a:rPr lang="en-GB" dirty="0"/>
              <a:t> What outcome does the fitted line predict for a given input?</a:t>
            </a:r>
          </a:p>
          <a:p>
            <a:pPr lvl="0"/>
            <a:r>
              <a:rPr lang="en-GB" b="1" dirty="0"/>
              <a:t>Causation:</a:t>
            </a:r>
            <a:r>
              <a:rPr lang="en-GB" dirty="0"/>
              <a:t> Does the study provide evidence that changing something changes the outcome?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Next time</a:t>
            </a:r>
          </a:p>
          <a:p>
            <a:r>
              <a:rPr lang="en-GB" dirty="0"/>
              <a:t>In class application activity</a:t>
            </a:r>
          </a:p>
        </p:txBody>
      </p:sp>
    </p:spTree>
    <p:extLst>
      <p:ext uri="{BB962C8B-B14F-4D97-AF65-F5344CB8AC3E}">
        <p14:creationId xmlns:p14="http://schemas.microsoft.com/office/powerpoint/2010/main" val="110466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1163</Words>
  <Application>Microsoft Macintosh PowerPoint</Application>
  <PresentationFormat>Widescreen</PresentationFormat>
  <Paragraphs>157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Wingdings</vt:lpstr>
      <vt:lpstr>Office Theme</vt:lpstr>
      <vt:lpstr>Quantifying relationships</vt:lpstr>
      <vt:lpstr>PowerPoint Presentation</vt:lpstr>
      <vt:lpstr>Beyond descriptive statistics</vt:lpstr>
      <vt:lpstr>PowerPoint Presentation</vt:lpstr>
      <vt:lpstr>How do two variables move together?</vt:lpstr>
      <vt:lpstr>Pearson’s correlation coefficient (r) </vt:lpstr>
      <vt:lpstr>Ranking correlations</vt:lpstr>
      <vt:lpstr>What Pearson’s r does (and doesn’t) tell us</vt:lpstr>
      <vt:lpstr>From a relationship to a line</vt:lpstr>
      <vt:lpstr>Describing linear relationships</vt:lpstr>
      <vt:lpstr>Scatter plot  r  line</vt:lpstr>
      <vt:lpstr>Scatter plot  r  line</vt:lpstr>
      <vt:lpstr>PowerPoint Presentation</vt:lpstr>
      <vt:lpstr>Simple linear regression</vt:lpstr>
      <vt:lpstr>What does the slope mean?</vt:lpstr>
      <vt:lpstr>What does the intercept mean?</vt:lpstr>
      <vt:lpstr>Predict an outcome</vt:lpstr>
      <vt:lpstr>Prediction = best guess</vt:lpstr>
      <vt:lpstr>PowerPoint Presentation</vt:lpstr>
      <vt:lpstr>Three separate claims</vt:lpstr>
      <vt:lpstr>Why might variables be associated?</vt:lpstr>
      <vt:lpstr>What would support a causal claim?</vt:lpstr>
      <vt:lpstr>Applying association, prediction and causation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53</cp:revision>
  <dcterms:created xsi:type="dcterms:W3CDTF">2026-08-17T13:48:23Z</dcterms:created>
  <dcterms:modified xsi:type="dcterms:W3CDTF">2026-10-13T18:00:22Z</dcterms:modified>
</cp:coreProperties>
</file>