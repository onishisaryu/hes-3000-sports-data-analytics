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423" r:id="rId3"/>
    <p:sldId id="397" r:id="rId4"/>
    <p:sldId id="421" r:id="rId5"/>
    <p:sldId id="422" r:id="rId6"/>
    <p:sldId id="398" r:id="rId7"/>
    <p:sldId id="404" r:id="rId8"/>
    <p:sldId id="399" r:id="rId9"/>
    <p:sldId id="406" r:id="rId10"/>
    <p:sldId id="405" r:id="rId11"/>
    <p:sldId id="402" r:id="rId12"/>
    <p:sldId id="403" r:id="rId13"/>
    <p:sldId id="400" r:id="rId14"/>
    <p:sldId id="401" r:id="rId15"/>
    <p:sldId id="417" r:id="rId16"/>
    <p:sldId id="416" r:id="rId17"/>
    <p:sldId id="418" r:id="rId18"/>
    <p:sldId id="419" r:id="rId19"/>
    <p:sldId id="420" r:id="rId20"/>
    <p:sldId id="39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88"/>
    <p:restoredTop sz="78493" autoAdjust="0"/>
  </p:normalViewPr>
  <p:slideViewPr>
    <p:cSldViewPr snapToGrid="0">
      <p:cViewPr varScale="1">
        <p:scale>
          <a:sx n="98" d="100"/>
          <a:sy n="98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40" d="100"/>
        <a:sy n="140" d="100"/>
      </p:scale>
      <p:origin x="0" y="-32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GB" dirty="0"/>
              <a:t>Should we compare this athlete with everyone, their position, or athletes at the level we are recruiting for?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GB" dirty="0"/>
              <a:t>Could an athlete be exceptional within their current competition but ordinary within the target competition?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GB" dirty="0"/>
              <a:t>What do we gain—and lose—by comparing only within position?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52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3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0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Scouting and Talent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4C25-2916-E91E-1FD2-817E0A90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season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14B54-E229-B786-8DD8-08F63725E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Bunch of athletes, bunch of data. Now what?</a:t>
            </a:r>
          </a:p>
          <a:p>
            <a:pPr lvl="1"/>
            <a:r>
              <a:rPr lang="en-US" dirty="0"/>
              <a:t>Who has what qualities</a:t>
            </a:r>
          </a:p>
          <a:p>
            <a:pPr lvl="1"/>
            <a:r>
              <a:rPr lang="en-US" dirty="0"/>
              <a:t>How do they compare</a:t>
            </a:r>
          </a:p>
          <a:p>
            <a:pPr lvl="1"/>
            <a:r>
              <a:rPr lang="en-US" dirty="0"/>
              <a:t>What qualities </a:t>
            </a:r>
            <a:r>
              <a:rPr lang="en-US"/>
              <a:t>are important to 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25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680B6A-3608-2200-4F8C-1502C97B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scouting decision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82863-BEC1-3831-4C46-FAB7645F0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Boils down to a question of “is this athlete good?”</a:t>
            </a:r>
          </a:p>
          <a:p>
            <a:r>
              <a:rPr lang="en-US" dirty="0"/>
              <a:t>To answer this, we need</a:t>
            </a:r>
          </a:p>
          <a:p>
            <a:pPr lvl="1"/>
            <a:r>
              <a:rPr lang="en-US" dirty="0"/>
              <a:t>Comparison / reference</a:t>
            </a:r>
          </a:p>
          <a:p>
            <a:pPr lvl="1"/>
            <a:r>
              <a:rPr lang="en-US" dirty="0"/>
              <a:t>Comparison method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68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BC048A-DA30-4D96-41B7-23129E45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Profile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BB646-7E69-2AF9-87D0-BB1D34772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70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A0852C-B345-9695-40AC-D1D610A7E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46DB33-2461-08AA-AAFD-6696D0254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step is to build a performance profile</a:t>
            </a:r>
          </a:p>
          <a:p>
            <a:r>
              <a:rPr lang="en-US" dirty="0"/>
              <a:t>identify, select, and implement the qualities they believe are most important for them to achieve peak performance in their own sport. I</a:t>
            </a:r>
          </a:p>
        </p:txBody>
      </p:sp>
    </p:spTree>
    <p:extLst>
      <p:ext uri="{BB962C8B-B14F-4D97-AF65-F5344CB8AC3E}">
        <p14:creationId xmlns:p14="http://schemas.microsoft.com/office/powerpoint/2010/main" val="2475067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A8E9-419D-9A7A-304E-AA631EFA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Compared with whom?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D3B31-5E29-F9B3-1C28-3CAD7A212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Compare to:</a:t>
            </a:r>
          </a:p>
          <a:p>
            <a:pPr lvl="1"/>
            <a:r>
              <a:rPr lang="en-GB" dirty="0"/>
              <a:t>Position group</a:t>
            </a:r>
          </a:p>
          <a:p>
            <a:pPr lvl="1"/>
            <a:r>
              <a:rPr lang="en-GB" dirty="0"/>
              <a:t>Competition level</a:t>
            </a:r>
          </a:p>
          <a:p>
            <a:pPr lvl="1"/>
            <a:r>
              <a:rPr lang="en-GB" dirty="0"/>
              <a:t>Age</a:t>
            </a:r>
          </a:p>
          <a:p>
            <a:pPr lvl="1"/>
            <a:endParaRPr lang="en-GB" dirty="0"/>
          </a:p>
          <a:p>
            <a:r>
              <a:rPr lang="en-GB" dirty="0"/>
              <a:t>Reference group can change the interpretation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14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44F7-6E5A-E33D-555A-D531B37B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10E2B-242F-200C-6B48-290D49C20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</a:t>
            </a:r>
          </a:p>
          <a:p>
            <a:pPr lvl="1"/>
            <a:r>
              <a:rPr lang="en-US" dirty="0"/>
              <a:t>Max = top</a:t>
            </a:r>
          </a:p>
          <a:p>
            <a:pPr lvl="1"/>
            <a:r>
              <a:rPr lang="en-US" dirty="0"/>
              <a:t>Min = last</a:t>
            </a:r>
          </a:p>
          <a:p>
            <a:pPr lvl="1"/>
            <a:r>
              <a:rPr lang="en-US" dirty="0"/>
              <a:t>Median = middle</a:t>
            </a:r>
          </a:p>
          <a:p>
            <a:pPr lvl="1"/>
            <a:endParaRPr lang="en-US" dirty="0"/>
          </a:p>
          <a:p>
            <a:r>
              <a:rPr lang="en-US" dirty="0"/>
              <a:t>Difference</a:t>
            </a:r>
          </a:p>
          <a:p>
            <a:pPr lvl="1"/>
            <a:r>
              <a:rPr lang="en-US" dirty="0"/>
              <a:t>Distance from the mean, in units of test</a:t>
            </a:r>
          </a:p>
          <a:p>
            <a:pPr lvl="1"/>
            <a:r>
              <a:rPr lang="en-US" dirty="0"/>
              <a:t>Athlete’s score – mean score</a:t>
            </a:r>
          </a:p>
        </p:txBody>
      </p:sp>
    </p:spTree>
    <p:extLst>
      <p:ext uri="{BB962C8B-B14F-4D97-AF65-F5344CB8AC3E}">
        <p14:creationId xmlns:p14="http://schemas.microsoft.com/office/powerpoint/2010/main" val="125836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491FC-3A9D-EA8E-2B8C-5EA016496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Quantifying relative standing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2F022D-B877-6BDF-6A43-A1F626E4D7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Ranks</a:t>
                </a:r>
              </a:p>
              <a:p>
                <a:endParaRPr lang="en-GB" dirty="0"/>
              </a:p>
              <a:p>
                <a:r>
                  <a:rPr lang="en-GB" dirty="0"/>
                  <a:t>Standardization:</a:t>
                </a:r>
              </a:p>
              <a:p>
                <a:pPr lvl="1"/>
                <a:r>
                  <a:rPr lang="en-US" dirty="0"/>
                  <a:t>Percentile: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𝑛𝑢𝑚𝑒𝑟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𝑣𝑎𝑙𝑢𝑒𝑠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𝑏𝑒𝑙𝑜𝑤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𝑣𝑎𝑙𝑢𝑒𝑠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Z score: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𝑠𝑐𝑜𝑟𝑒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𝑚𝑒𝑎𝑛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𝑠𝑡𝑎𝑛𝑑𝑎𝑟𝑑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𝑑𝑒𝑣𝑖𝑎𝑡𝑖𝑜𝑛</m:t>
                        </m:r>
                      </m:den>
                    </m:f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Excel:</a:t>
                </a:r>
              </a:p>
              <a:p>
                <a:pPr lvl="1"/>
                <a:r>
                  <a:rPr lang="en-US" dirty="0"/>
                  <a:t>Percentile = </a:t>
                </a:r>
                <a:r>
                  <a:rPr lang="en-US" dirty="0" err="1"/>
                  <a:t>PercentileRankInc</a:t>
                </a:r>
                <a:r>
                  <a:rPr lang="en-US" dirty="0"/>
                  <a:t>(array, x)</a:t>
                </a:r>
              </a:p>
              <a:p>
                <a:pPr lvl="1"/>
                <a:r>
                  <a:rPr lang="en-US" dirty="0"/>
                  <a:t>Z score =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2F022D-B877-6BDF-6A43-A1F626E4D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336DAB3-ED27-8582-1331-064DA08FE9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540"/>
          <a:stretch>
            <a:fillRect/>
          </a:stretch>
        </p:blipFill>
        <p:spPr>
          <a:xfrm>
            <a:off x="7409677" y="2669484"/>
            <a:ext cx="3944123" cy="227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65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5FF0-5078-7548-7B63-BE0870034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Percentile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D85170-ADD8-03C0-EC5B-F81B28EE9F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 relative position of  a value in the distribution</a:t>
                </a:r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𝑛𝑢𝑚𝑒𝑟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𝑣𝑎𝑙𝑢𝑒𝑠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𝑏𝑒𝑙𝑜𝑤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𝑣𝑎𝑙𝑢𝑒𝑠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D85170-ADD8-03C0-EC5B-F81B28EE9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9C3E3FE-814A-900D-0198-7CA9516393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540"/>
          <a:stretch>
            <a:fillRect/>
          </a:stretch>
        </p:blipFill>
        <p:spPr>
          <a:xfrm>
            <a:off x="3948020" y="3897032"/>
            <a:ext cx="3944123" cy="22799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4D2A04-903B-75EC-39D2-BE502062D282}"/>
              </a:ext>
            </a:extLst>
          </p:cNvPr>
          <p:cNvSpPr/>
          <p:nvPr/>
        </p:nvSpPr>
        <p:spPr>
          <a:xfrm flipV="1">
            <a:off x="3948019" y="5793115"/>
            <a:ext cx="3944123" cy="383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95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DC05-442B-D0D6-3340-BB08AC74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 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CC0B88-DD30-84E0-0F02-B77487167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Distance from the mean, in units of SD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𝑠𝑐𝑜𝑟𝑒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𝑚𝑒𝑎𝑛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𝑠𝑡𝑎𝑛𝑑𝑎𝑟𝑑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𝑑𝑒𝑣𝑖𝑎𝑡𝑖𝑜𝑛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CC0B88-DD30-84E0-0F02-B77487167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E09E2D5-EE63-7082-BD4D-EC5E5081F3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540"/>
          <a:stretch>
            <a:fillRect/>
          </a:stretch>
        </p:blipFill>
        <p:spPr>
          <a:xfrm>
            <a:off x="3948020" y="3897032"/>
            <a:ext cx="3944123" cy="22799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5776A6-BE14-5614-1BFE-635F88A16894}"/>
              </a:ext>
            </a:extLst>
          </p:cNvPr>
          <p:cNvSpPr/>
          <p:nvPr/>
        </p:nvSpPr>
        <p:spPr>
          <a:xfrm flipV="1">
            <a:off x="3948019" y="5416061"/>
            <a:ext cx="3944123" cy="383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68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F1C04-FF48-D087-D43B-8A04F33CB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FE34-E7BD-F5D4-B57D-141F4697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9CC8704-7A5D-4197-3161-E6D5C8A1F3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425097"/>
              </p:ext>
            </p:extLst>
          </p:nvPr>
        </p:nvGraphicFramePr>
        <p:xfrm>
          <a:off x="838200" y="1797526"/>
          <a:ext cx="10515600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1630985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419650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00094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it tells 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Main 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85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Raw difference from the 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How far above or below the group mean the athlete falls, in the original units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Does not account for the group’s variability; difficult to compare across measures with different units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450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The athlete’s order within the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Does not show how far apart athletes 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9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Percentile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The athlete’s relative position in the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Equal percentile differences do not imply equal performance differences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699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Z-score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How far the athlete is from the group mean, in standard deviations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Less intuitive to interpret; sensitive to outliers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906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74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5F3DF-5A37-7A75-3737-851DE7D9A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1381-504E-C8B8-1C83-3DEF34EF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Quantifying relative standing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2C0C1-24B9-9D52-9379-9740FAE049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GB" dirty="0"/>
                  <a:t>Higher values are not always better. </a:t>
                </a:r>
              </a:p>
              <a:p>
                <a:pPr lvl="1"/>
                <a:r>
                  <a:rPr lang="en-GB" dirty="0"/>
                  <a:t>A high sprint-time percentile could mean the athlete is slower. </a:t>
                </a:r>
              </a:p>
              <a:p>
                <a:pPr lvl="1"/>
                <a:r>
                  <a:rPr lang="en-GB" dirty="0"/>
                  <a:t>percentile of the measured value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percentile of performance</a:t>
                </a:r>
              </a:p>
              <a:p>
                <a:pPr lvl="1"/>
                <a:endParaRPr lang="en-GB" dirty="0"/>
              </a:p>
              <a:p>
                <a:pPr lvl="0"/>
                <a:r>
                  <a:rPr lang="en-GB" dirty="0"/>
                  <a:t>Standardizing measures does not make them equally important. </a:t>
                </a:r>
              </a:p>
              <a:p>
                <a:pPr lvl="1"/>
                <a:r>
                  <a:rPr lang="en-GB" dirty="0"/>
                  <a:t>It makes their scales comparable; it does not decide their relevance.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2C0C1-24B9-9D52-9379-9740FAE049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145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6D5DC-B64F-1288-E98D-3A366339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Athlete profiling activity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0A09F-C63E-F594-D11A-AA0E214C3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Identify their athlete’s standing on each measure.</a:t>
            </a:r>
          </a:p>
          <a:p>
            <a:pPr lvl="0"/>
            <a:r>
              <a:rPr lang="en-GB" dirty="0"/>
              <a:t>Identify the athlete’s strongest and weakest areas relative to the comparison group.</a:t>
            </a:r>
          </a:p>
          <a:p>
            <a:pPr lvl="0"/>
            <a:r>
              <a:rPr lang="en-GB" dirty="0"/>
              <a:t>Make one simple visual showing the profile, such as a horizontal percentile dot plot.</a:t>
            </a:r>
          </a:p>
          <a:p>
            <a:pPr lvl="0"/>
            <a:r>
              <a:rPr lang="en-GB" dirty="0"/>
              <a:t>Explain why “above average overall” is difficult to claim from the profile alone.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85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390C-ADDF-3085-58F1-57FF0007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Compare interpretations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8C975-CDE0-5985-8B2D-CB2F95F56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1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F273-69B3-FA81-718C-77BBBE1A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we recruiting this athlete to do?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66C12-B59A-4D6E-681F-E3C12DC96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Divide into groups:</a:t>
            </a:r>
          </a:p>
          <a:p>
            <a:pPr lvl="1"/>
            <a:r>
              <a:rPr lang="en-GB" dirty="0"/>
              <a:t>Team A needs a perimeter shooter.</a:t>
            </a:r>
          </a:p>
          <a:p>
            <a:pPr lvl="1"/>
            <a:r>
              <a:rPr lang="en-GB" dirty="0"/>
              <a:t>Team B needs a primary ball handler.</a:t>
            </a:r>
          </a:p>
          <a:p>
            <a:pPr lvl="1"/>
            <a:r>
              <a:rPr lang="en-GB" dirty="0"/>
              <a:t>Team C needs an athletic developmental prospect.</a:t>
            </a:r>
          </a:p>
          <a:p>
            <a:pPr lvl="1"/>
            <a:endParaRPr lang="en-GB" dirty="0"/>
          </a:p>
          <a:p>
            <a:r>
              <a:rPr lang="en-GB" dirty="0"/>
              <a:t>Which athlete did you select?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051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0CE9A-CDBF-48F7-70FE-EE6ED0B9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weighted score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57D88D-159F-7131-271D-5CCFFE5D92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simple weighted score: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represents a performance percentile, with higher always representing better performance</a:t>
                </a:r>
              </a:p>
              <a:p>
                <a:r>
                  <a:rPr lang="en-GB" dirty="0"/>
                  <a:t>weights sum to 1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57D88D-159F-7131-271D-5CCFFE5D92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958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B71A9-3B3A-E579-C61D-33F38DC20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58EE2-52A1-2593-57D7-1B38C1589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most valuable discussion is </a:t>
            </a:r>
            <a:r>
              <a:rPr lang="en-GB" b="1" dirty="0"/>
              <a:t>how to choose the weights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Role and team needs:</a:t>
            </a:r>
            <a:r>
              <a:rPr lang="en-GB" dirty="0"/>
              <a:t> What qualities does the athlete need to contribute?</a:t>
            </a:r>
          </a:p>
          <a:p>
            <a:pPr lvl="1"/>
            <a:r>
              <a:rPr lang="en-GB" b="1" dirty="0"/>
              <a:t>Sport knowledge:</a:t>
            </a:r>
            <a:r>
              <a:rPr lang="en-GB" dirty="0"/>
              <a:t> What do coaches and scouts consider relevant, and why?</a:t>
            </a:r>
          </a:p>
          <a:p>
            <a:pPr lvl="1"/>
            <a:r>
              <a:rPr lang="en-GB" b="1" dirty="0"/>
              <a:t>Evidence:</a:t>
            </a:r>
            <a:r>
              <a:rPr lang="en-GB" dirty="0"/>
              <a:t> Do these measures help predict the outcome we care about?</a:t>
            </a:r>
          </a:p>
          <a:p>
            <a:pPr lvl="1"/>
            <a:r>
              <a:rPr lang="en-GB" b="1" dirty="0"/>
              <a:t>Measurement quality:</a:t>
            </a:r>
            <a:r>
              <a:rPr lang="en-GB" dirty="0"/>
              <a:t> Is the apparent strength based on reliable testing and enough observations?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50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C223B-9CF3-43C4-66E0-D5E2FA2AE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2A738-1444-9F13-373F-CAC5459C3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Their recruitment goal.</a:t>
            </a:r>
          </a:p>
          <a:p>
            <a:pPr lvl="0"/>
            <a:r>
              <a:rPr lang="en-GB" dirty="0"/>
              <a:t>Their selected metrics and weights.</a:t>
            </a:r>
          </a:p>
          <a:p>
            <a:pPr lvl="0"/>
            <a:r>
              <a:rPr lang="en-GB" dirty="0"/>
              <a:t>Their preferred athlete.</a:t>
            </a:r>
          </a:p>
          <a:p>
            <a:pPr lvl="0"/>
            <a:r>
              <a:rPr lang="en-GB" dirty="0"/>
              <a:t>Whether that choice changes under equal weights or a plausible alternative.</a:t>
            </a:r>
          </a:p>
          <a:p>
            <a:pPr lvl="0"/>
            <a:r>
              <a:rPr lang="en-GB" dirty="0"/>
              <a:t>One additional piece of information they would request before recruiting.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48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66BF2-C500-C05C-0A2A-D84909601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standard?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D96C7-5F75-EEA7-07B0-CC1C205A5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minimum requirements</a:t>
            </a:r>
            <a:r>
              <a:rPr lang="en-GB" dirty="0"/>
              <a:t>. A weighted average allows strengths to compensate for weaknesses, but that may be inappropriate for some roles. A team might require a minimum shooting standard before comparing the remaining candidates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08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69BE-B427-AD17-F40D-9FBDC7F4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6377-8128-3C14-E606-5E51175DB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Next time</a:t>
            </a:r>
          </a:p>
        </p:txBody>
      </p:sp>
    </p:spTree>
    <p:extLst>
      <p:ext uri="{BB962C8B-B14F-4D97-AF65-F5344CB8AC3E}">
        <p14:creationId xmlns:p14="http://schemas.microsoft.com/office/powerpoint/2010/main" val="1104664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3800</TotalTime>
  <Words>690</Words>
  <Application>Microsoft Macintosh PowerPoint</Application>
  <PresentationFormat>Widescreen</PresentationFormat>
  <Paragraphs>119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Office Theme</vt:lpstr>
      <vt:lpstr>Scouting and Talent Evaluation</vt:lpstr>
      <vt:lpstr>Draft season</vt:lpstr>
      <vt:lpstr>scouting decision</vt:lpstr>
      <vt:lpstr>Performance Profile</vt:lpstr>
      <vt:lpstr>PowerPoint Presentation</vt:lpstr>
      <vt:lpstr>Compared with whom?</vt:lpstr>
      <vt:lpstr>Simple comparisons</vt:lpstr>
      <vt:lpstr>Quantifying relative standing</vt:lpstr>
      <vt:lpstr>Percentile</vt:lpstr>
      <vt:lpstr>Z score</vt:lpstr>
      <vt:lpstr>PowerPoint Presentation</vt:lpstr>
      <vt:lpstr>Quantifying relative standing</vt:lpstr>
      <vt:lpstr>Athlete profiling activity</vt:lpstr>
      <vt:lpstr>Compare interpretations</vt:lpstr>
      <vt:lpstr>What are we recruiting this athlete to do?</vt:lpstr>
      <vt:lpstr>weighted score</vt:lpstr>
      <vt:lpstr>Choosing the weights</vt:lpstr>
      <vt:lpstr>Revisiting activity</vt:lpstr>
      <vt:lpstr>Minimum standard?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Intern, Performance</cp:lastModifiedBy>
  <cp:revision>61</cp:revision>
  <dcterms:created xsi:type="dcterms:W3CDTF">2026-08-17T13:48:23Z</dcterms:created>
  <dcterms:modified xsi:type="dcterms:W3CDTF">2026-10-22T14:22:00Z</dcterms:modified>
</cp:coreProperties>
</file>