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charts/chartEx2.xml" ContentType="application/vnd.ms-office.chartex+xml"/>
  <Override PartName="/ppt/charts/style4.xml" ContentType="application/vnd.ms-office.chartstyle+xml"/>
  <Override PartName="/ppt/charts/colors4.xml" ContentType="application/vnd.ms-office.chartcolorstyle+xml"/>
  <Override PartName="/ppt/charts/chartEx3.xml" ContentType="application/vnd.ms-office.chartex+xml"/>
  <Override PartName="/ppt/charts/style5.xml" ContentType="application/vnd.ms-office.chartstyle+xml"/>
  <Override PartName="/ppt/charts/colors5.xml" ContentType="application/vnd.ms-office.chartcolorstyle+xml"/>
  <Override PartName="/ppt/charts/chartEx4.xml" ContentType="application/vnd.ms-office.chartex+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charts/chartEx5.xml" ContentType="application/vnd.ms-office.chartex+xml"/>
  <Override PartName="/ppt/charts/style7.xml" ContentType="application/vnd.ms-office.chartstyle+xml"/>
  <Override PartName="/ppt/charts/colors7.xml" ContentType="application/vnd.ms-office.chartcolorstyle+xml"/>
  <Override PartName="/ppt/charts/chartEx6.xml" ContentType="application/vnd.ms-office.chartex+xml"/>
  <Override PartName="/ppt/charts/style8.xml" ContentType="application/vnd.ms-office.chartstyle+xml"/>
  <Override PartName="/ppt/charts/colors8.xml" ContentType="application/vnd.ms-office.chartcolorstyle+xml"/>
  <Override PartName="/ppt/charts/chartEx7.xml" ContentType="application/vnd.ms-office.chartex+xml"/>
  <Override PartName="/ppt/charts/style9.xml" ContentType="application/vnd.ms-office.chartstyle+xml"/>
  <Override PartName="/ppt/charts/colors9.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316" r:id="rId3"/>
    <p:sldId id="366" r:id="rId4"/>
    <p:sldId id="367" r:id="rId5"/>
    <p:sldId id="368" r:id="rId6"/>
    <p:sldId id="395" r:id="rId7"/>
    <p:sldId id="369" r:id="rId8"/>
    <p:sldId id="375" r:id="rId9"/>
    <p:sldId id="370" r:id="rId10"/>
    <p:sldId id="371" r:id="rId11"/>
    <p:sldId id="376" r:id="rId12"/>
    <p:sldId id="372" r:id="rId13"/>
    <p:sldId id="378" r:id="rId14"/>
    <p:sldId id="381" r:id="rId15"/>
    <p:sldId id="380" r:id="rId16"/>
    <p:sldId id="382" r:id="rId17"/>
    <p:sldId id="377" r:id="rId18"/>
    <p:sldId id="397" r:id="rId19"/>
    <p:sldId id="384" r:id="rId20"/>
    <p:sldId id="383" r:id="rId21"/>
    <p:sldId id="389" r:id="rId22"/>
    <p:sldId id="385" r:id="rId23"/>
    <p:sldId id="393" r:id="rId24"/>
    <p:sldId id="392" r:id="rId25"/>
    <p:sldId id="394" r:id="rId26"/>
    <p:sldId id="390" r:id="rId27"/>
    <p:sldId id="387" r:id="rId28"/>
    <p:sldId id="388" r:id="rId29"/>
    <p:sldId id="391" r:id="rId30"/>
    <p:sldId id="39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C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8BA75F-BB6E-9F18-1648-74F52ADBFB50}" v="317" dt="2026-09-14T21:32:23.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27"/>
    <p:restoredTop sz="78492" autoAdjust="0"/>
  </p:normalViewPr>
  <p:slideViewPr>
    <p:cSldViewPr snapToGrid="0">
      <p:cViewPr varScale="1">
        <p:scale>
          <a:sx n="97" d="100"/>
          <a:sy n="97" d="100"/>
        </p:scale>
        <p:origin x="768" y="192"/>
      </p:cViewPr>
      <p:guideLst/>
    </p:cSldViewPr>
  </p:slideViewPr>
  <p:notesTextViewPr>
    <p:cViewPr>
      <p:scale>
        <a:sx n="1" d="1"/>
        <a:sy n="1" d="1"/>
      </p:scale>
      <p:origin x="0" y="0"/>
    </p:cViewPr>
  </p:notesTextViewPr>
  <p:sorterViewPr>
    <p:cViewPr varScale="1">
      <p:scale>
        <a:sx n="1" d="1"/>
        <a:sy n="1" d="1"/>
      </p:scale>
      <p:origin x="0" y="-327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ishi, Saryu" userId="S::saryu@ou.edu::24ec4854-0e9b-4cd9-95b4-b9d15917116b" providerId="AD" clId="Web-{D68BA75F-BB6E-9F18-1648-74F52ADBFB50}"/>
    <pc:docChg chg="addSld modSld">
      <pc:chgData name="Onishi, Saryu" userId="S::saryu@ou.edu::24ec4854-0e9b-4cd9-95b4-b9d15917116b" providerId="AD" clId="Web-{D68BA75F-BB6E-9F18-1648-74F52ADBFB50}" dt="2026-09-14T21:32:21.071" v="322"/>
      <pc:docMkLst>
        <pc:docMk/>
      </pc:docMkLst>
      <pc:sldChg chg="modSp">
        <pc:chgData name="Onishi, Saryu" userId="S::saryu@ou.edu::24ec4854-0e9b-4cd9-95b4-b9d15917116b" providerId="AD" clId="Web-{D68BA75F-BB6E-9F18-1648-74F52ADBFB50}" dt="2026-09-14T21:23:01.601" v="188" actId="20577"/>
        <pc:sldMkLst>
          <pc:docMk/>
          <pc:sldMk cId="2206692154" sldId="301"/>
        </pc:sldMkLst>
        <pc:spChg chg="mod">
          <ac:chgData name="Onishi, Saryu" userId="S::saryu@ou.edu::24ec4854-0e9b-4cd9-95b4-b9d15917116b" providerId="AD" clId="Web-{D68BA75F-BB6E-9F18-1648-74F52ADBFB50}" dt="2026-09-14T21:23:01.601" v="188" actId="20577"/>
          <ac:spMkLst>
            <pc:docMk/>
            <pc:sldMk cId="2206692154" sldId="301"/>
            <ac:spMk id="3" creationId="{B7781857-C6C4-CF29-7D9F-C7FCD74ECA0D}"/>
          </ac:spMkLst>
        </pc:spChg>
      </pc:sldChg>
      <pc:sldChg chg="modSp">
        <pc:chgData name="Onishi, Saryu" userId="S::saryu@ou.edu::24ec4854-0e9b-4cd9-95b4-b9d15917116b" providerId="AD" clId="Web-{D68BA75F-BB6E-9F18-1648-74F52ADBFB50}" dt="2026-09-14T21:16:29.569" v="91" actId="20577"/>
        <pc:sldMkLst>
          <pc:docMk/>
          <pc:sldMk cId="404022894" sldId="309"/>
        </pc:sldMkLst>
        <pc:spChg chg="mod">
          <ac:chgData name="Onishi, Saryu" userId="S::saryu@ou.edu::24ec4854-0e9b-4cd9-95b4-b9d15917116b" providerId="AD" clId="Web-{D68BA75F-BB6E-9F18-1648-74F52ADBFB50}" dt="2026-09-14T21:16:29.569" v="91" actId="20577"/>
          <ac:spMkLst>
            <pc:docMk/>
            <pc:sldMk cId="404022894" sldId="309"/>
            <ac:spMk id="3" creationId="{51729538-923D-458B-77DC-2E172E5670ED}"/>
          </ac:spMkLst>
        </pc:spChg>
      </pc:sldChg>
      <pc:sldChg chg="modSp">
        <pc:chgData name="Onishi, Saryu" userId="S::saryu@ou.edu::24ec4854-0e9b-4cd9-95b4-b9d15917116b" providerId="AD" clId="Web-{D68BA75F-BB6E-9F18-1648-74F52ADBFB50}" dt="2026-09-14T21:07:36.208" v="9" actId="1076"/>
        <pc:sldMkLst>
          <pc:docMk/>
          <pc:sldMk cId="2375312425" sldId="341"/>
        </pc:sldMkLst>
        <pc:spChg chg="mod">
          <ac:chgData name="Onishi, Saryu" userId="S::saryu@ou.edu::24ec4854-0e9b-4cd9-95b4-b9d15917116b" providerId="AD" clId="Web-{D68BA75F-BB6E-9F18-1648-74F52ADBFB50}" dt="2026-09-14T21:07:32.817" v="8" actId="20577"/>
          <ac:spMkLst>
            <pc:docMk/>
            <pc:sldMk cId="2375312425" sldId="341"/>
            <ac:spMk id="3" creationId="{81DA9FF1-2CFE-687B-73EB-63D88B461873}"/>
          </ac:spMkLst>
        </pc:spChg>
        <pc:spChg chg="mod">
          <ac:chgData name="Onishi, Saryu" userId="S::saryu@ou.edu::24ec4854-0e9b-4cd9-95b4-b9d15917116b" providerId="AD" clId="Web-{D68BA75F-BB6E-9F18-1648-74F52ADBFB50}" dt="2026-09-14T21:07:36.208" v="9" actId="1076"/>
          <ac:spMkLst>
            <pc:docMk/>
            <pc:sldMk cId="2375312425" sldId="341"/>
            <ac:spMk id="5" creationId="{6F87B829-A4B6-1F78-9DA5-137B29194ED2}"/>
          </ac:spMkLst>
        </pc:spChg>
      </pc:sldChg>
      <pc:sldChg chg="modSp new">
        <pc:chgData name="Onishi, Saryu" userId="S::saryu@ou.edu::24ec4854-0e9b-4cd9-95b4-b9d15917116b" providerId="AD" clId="Web-{D68BA75F-BB6E-9F18-1648-74F52ADBFB50}" dt="2026-09-14T21:24:18.789" v="206" actId="20577"/>
        <pc:sldMkLst>
          <pc:docMk/>
          <pc:sldMk cId="2874847518" sldId="354"/>
        </pc:sldMkLst>
        <pc:spChg chg="mod">
          <ac:chgData name="Onishi, Saryu" userId="S::saryu@ou.edu::24ec4854-0e9b-4cd9-95b4-b9d15917116b" providerId="AD" clId="Web-{D68BA75F-BB6E-9F18-1648-74F52ADBFB50}" dt="2026-09-14T21:15:16.819" v="74" actId="20577"/>
          <ac:spMkLst>
            <pc:docMk/>
            <pc:sldMk cId="2874847518" sldId="354"/>
            <ac:spMk id="2" creationId="{B112D2BE-C4C4-4D20-846C-3EF3A9972AED}"/>
          </ac:spMkLst>
        </pc:spChg>
        <pc:spChg chg="mod">
          <ac:chgData name="Onishi, Saryu" userId="S::saryu@ou.edu::24ec4854-0e9b-4cd9-95b4-b9d15917116b" providerId="AD" clId="Web-{D68BA75F-BB6E-9F18-1648-74F52ADBFB50}" dt="2026-09-14T21:24:18.789" v="206" actId="20577"/>
          <ac:spMkLst>
            <pc:docMk/>
            <pc:sldMk cId="2874847518" sldId="354"/>
            <ac:spMk id="3" creationId="{D45FD767-E1AA-9C8B-849F-6E11EB3CB6C0}"/>
          </ac:spMkLst>
        </pc:spChg>
      </pc:sldChg>
      <pc:sldChg chg="modSp new">
        <pc:chgData name="Onishi, Saryu" userId="S::saryu@ou.edu::24ec4854-0e9b-4cd9-95b4-b9d15917116b" providerId="AD" clId="Web-{D68BA75F-BB6E-9F18-1648-74F52ADBFB50}" dt="2026-09-14T21:17:39.194" v="127" actId="20577"/>
        <pc:sldMkLst>
          <pc:docMk/>
          <pc:sldMk cId="809028509" sldId="355"/>
        </pc:sldMkLst>
        <pc:spChg chg="mod">
          <ac:chgData name="Onishi, Saryu" userId="S::saryu@ou.edu::24ec4854-0e9b-4cd9-95b4-b9d15917116b" providerId="AD" clId="Web-{D68BA75F-BB6E-9F18-1648-74F52ADBFB50}" dt="2026-09-14T21:17:39.194" v="127" actId="20577"/>
          <ac:spMkLst>
            <pc:docMk/>
            <pc:sldMk cId="809028509" sldId="355"/>
            <ac:spMk id="2" creationId="{9B3B2596-FD5F-03B2-820D-4B9F36FB3D0A}"/>
          </ac:spMkLst>
        </pc:spChg>
        <pc:spChg chg="mod">
          <ac:chgData name="Onishi, Saryu" userId="S::saryu@ou.edu::24ec4854-0e9b-4cd9-95b4-b9d15917116b" providerId="AD" clId="Web-{D68BA75F-BB6E-9F18-1648-74F52ADBFB50}" dt="2026-09-14T21:17:17.678" v="121" actId="20577"/>
          <ac:spMkLst>
            <pc:docMk/>
            <pc:sldMk cId="809028509" sldId="355"/>
            <ac:spMk id="3" creationId="{FAB2016C-BC61-0A1A-E451-7B3E637EF84A}"/>
          </ac:spMkLst>
        </pc:spChg>
      </pc:sldChg>
      <pc:sldChg chg="modSp new">
        <pc:chgData name="Onishi, Saryu" userId="S::saryu@ou.edu::24ec4854-0e9b-4cd9-95b4-b9d15917116b" providerId="AD" clId="Web-{D68BA75F-BB6E-9F18-1648-74F52ADBFB50}" dt="2026-09-14T21:17:57.460" v="132" actId="20577"/>
        <pc:sldMkLst>
          <pc:docMk/>
          <pc:sldMk cId="4290967881" sldId="356"/>
        </pc:sldMkLst>
        <pc:spChg chg="mod">
          <ac:chgData name="Onishi, Saryu" userId="S::saryu@ou.edu::24ec4854-0e9b-4cd9-95b4-b9d15917116b" providerId="AD" clId="Web-{D68BA75F-BB6E-9F18-1648-74F52ADBFB50}" dt="2026-09-14T21:17:53.944" v="130" actId="20577"/>
          <ac:spMkLst>
            <pc:docMk/>
            <pc:sldMk cId="4290967881" sldId="356"/>
            <ac:spMk id="2" creationId="{E2FA18D7-28B2-133F-662F-90CC8F55869B}"/>
          </ac:spMkLst>
        </pc:spChg>
        <pc:spChg chg="mod">
          <ac:chgData name="Onishi, Saryu" userId="S::saryu@ou.edu::24ec4854-0e9b-4cd9-95b4-b9d15917116b" providerId="AD" clId="Web-{D68BA75F-BB6E-9F18-1648-74F52ADBFB50}" dt="2026-09-14T21:17:57.460" v="132" actId="20577"/>
          <ac:spMkLst>
            <pc:docMk/>
            <pc:sldMk cId="4290967881" sldId="356"/>
            <ac:spMk id="3" creationId="{C603F302-AE7F-8CE3-9FC5-7C9203D4C4E2}"/>
          </ac:spMkLst>
        </pc:spChg>
      </pc:sldChg>
      <pc:sldChg chg="modSp add replId">
        <pc:chgData name="Onishi, Saryu" userId="S::saryu@ou.edu::24ec4854-0e9b-4cd9-95b4-b9d15917116b" providerId="AD" clId="Web-{D68BA75F-BB6E-9F18-1648-74F52ADBFB50}" dt="2026-09-14T21:18:30.835" v="139" actId="20577"/>
        <pc:sldMkLst>
          <pc:docMk/>
          <pc:sldMk cId="1767871761" sldId="357"/>
        </pc:sldMkLst>
        <pc:spChg chg="mod">
          <ac:chgData name="Onishi, Saryu" userId="S::saryu@ou.edu::24ec4854-0e9b-4cd9-95b4-b9d15917116b" providerId="AD" clId="Web-{D68BA75F-BB6E-9F18-1648-74F52ADBFB50}" dt="2026-09-14T21:18:30.835" v="139" actId="20577"/>
          <ac:spMkLst>
            <pc:docMk/>
            <pc:sldMk cId="1767871761" sldId="357"/>
            <ac:spMk id="3" creationId="{F328F1A0-F2E2-C4F6-63D0-F385C2C08D80}"/>
          </ac:spMkLst>
        </pc:spChg>
      </pc:sldChg>
      <pc:sldChg chg="add mod replId modShow">
        <pc:chgData name="Onishi, Saryu" userId="S::saryu@ou.edu::24ec4854-0e9b-4cd9-95b4-b9d15917116b" providerId="AD" clId="Web-{D68BA75F-BB6E-9F18-1648-74F52ADBFB50}" dt="2026-09-14T21:24:20.117" v="207"/>
        <pc:sldMkLst>
          <pc:docMk/>
          <pc:sldMk cId="2995389737" sldId="358"/>
        </pc:sldMkLst>
      </pc:sldChg>
      <pc:sldChg chg="modSp add replId">
        <pc:chgData name="Onishi, Saryu" userId="S::saryu@ou.edu::24ec4854-0e9b-4cd9-95b4-b9d15917116b" providerId="AD" clId="Web-{D68BA75F-BB6E-9F18-1648-74F52ADBFB50}" dt="2026-09-14T21:25:34.258" v="214" actId="20577"/>
        <pc:sldMkLst>
          <pc:docMk/>
          <pc:sldMk cId="1243830769" sldId="359"/>
        </pc:sldMkLst>
        <pc:spChg chg="mod">
          <ac:chgData name="Onishi, Saryu" userId="S::saryu@ou.edu::24ec4854-0e9b-4cd9-95b4-b9d15917116b" providerId="AD" clId="Web-{D68BA75F-BB6E-9F18-1648-74F52ADBFB50}" dt="2026-09-14T21:25:34.258" v="214" actId="20577"/>
          <ac:spMkLst>
            <pc:docMk/>
            <pc:sldMk cId="1243830769" sldId="359"/>
            <ac:spMk id="3" creationId="{451547EC-8C64-0100-020D-0D8510686817}"/>
          </ac:spMkLst>
        </pc:spChg>
      </pc:sldChg>
      <pc:sldChg chg="modSp new">
        <pc:chgData name="Onishi, Saryu" userId="S::saryu@ou.edu::24ec4854-0e9b-4cd9-95b4-b9d15917116b" providerId="AD" clId="Web-{D68BA75F-BB6E-9F18-1648-74F52ADBFB50}" dt="2026-09-14T21:26:53.070" v="229" actId="20577"/>
        <pc:sldMkLst>
          <pc:docMk/>
          <pc:sldMk cId="2381630488" sldId="360"/>
        </pc:sldMkLst>
        <pc:spChg chg="mod">
          <ac:chgData name="Onishi, Saryu" userId="S::saryu@ou.edu::24ec4854-0e9b-4cd9-95b4-b9d15917116b" providerId="AD" clId="Web-{D68BA75F-BB6E-9F18-1648-74F52ADBFB50}" dt="2026-09-14T21:26:53.070" v="229" actId="20577"/>
          <ac:spMkLst>
            <pc:docMk/>
            <pc:sldMk cId="2381630488" sldId="360"/>
            <ac:spMk id="3" creationId="{573F9774-8134-A9A4-DA1E-3A021D0E75A4}"/>
          </ac:spMkLst>
        </pc:spChg>
      </pc:sldChg>
      <pc:sldChg chg="addSp modSp new">
        <pc:chgData name="Onishi, Saryu" userId="S::saryu@ou.edu::24ec4854-0e9b-4cd9-95b4-b9d15917116b" providerId="AD" clId="Web-{D68BA75F-BB6E-9F18-1648-74F52ADBFB50}" dt="2026-09-14T21:28:09.180" v="264"/>
        <pc:sldMkLst>
          <pc:docMk/>
          <pc:sldMk cId="1486169029" sldId="361"/>
        </pc:sldMkLst>
        <pc:spChg chg="mod">
          <ac:chgData name="Onishi, Saryu" userId="S::saryu@ou.edu::24ec4854-0e9b-4cd9-95b4-b9d15917116b" providerId="AD" clId="Web-{D68BA75F-BB6E-9F18-1648-74F52ADBFB50}" dt="2026-09-14T21:27:11.758" v="238" actId="20577"/>
          <ac:spMkLst>
            <pc:docMk/>
            <pc:sldMk cId="1486169029" sldId="361"/>
            <ac:spMk id="2" creationId="{519443A2-C56F-F6DF-D387-0E48376C5816}"/>
          </ac:spMkLst>
        </pc:spChg>
        <pc:spChg chg="mod">
          <ac:chgData name="Onishi, Saryu" userId="S::saryu@ou.edu::24ec4854-0e9b-4cd9-95b4-b9d15917116b" providerId="AD" clId="Web-{D68BA75F-BB6E-9F18-1648-74F52ADBFB50}" dt="2026-09-14T21:27:21.649" v="246" actId="20577"/>
          <ac:spMkLst>
            <pc:docMk/>
            <pc:sldMk cId="1486169029" sldId="361"/>
            <ac:spMk id="3" creationId="{B4660DEF-0C6D-4352-D4C1-3F9EDC657A6D}"/>
          </ac:spMkLst>
        </pc:spChg>
        <pc:spChg chg="add mod">
          <ac:chgData name="Onishi, Saryu" userId="S::saryu@ou.edu::24ec4854-0e9b-4cd9-95b4-b9d15917116b" providerId="AD" clId="Web-{D68BA75F-BB6E-9F18-1648-74F52ADBFB50}" dt="2026-09-14T21:28:09.180" v="264"/>
          <ac:spMkLst>
            <pc:docMk/>
            <pc:sldMk cId="1486169029" sldId="361"/>
            <ac:spMk id="4" creationId="{ADEF0CF4-9F0B-9BCC-D6D4-49A532E4AD93}"/>
          </ac:spMkLst>
        </pc:spChg>
      </pc:sldChg>
      <pc:sldChg chg="addSp modSp new">
        <pc:chgData name="Onishi, Saryu" userId="S::saryu@ou.edu::24ec4854-0e9b-4cd9-95b4-b9d15917116b" providerId="AD" clId="Web-{D68BA75F-BB6E-9F18-1648-74F52ADBFB50}" dt="2026-09-14T21:32:21.071" v="322"/>
        <pc:sldMkLst>
          <pc:docMk/>
          <pc:sldMk cId="2995797760" sldId="362"/>
        </pc:sldMkLst>
        <pc:spChg chg="mod">
          <ac:chgData name="Onishi, Saryu" userId="S::saryu@ou.edu::24ec4854-0e9b-4cd9-95b4-b9d15917116b" providerId="AD" clId="Web-{D68BA75F-BB6E-9F18-1648-74F52ADBFB50}" dt="2026-09-14T21:28:52.883" v="278" actId="20577"/>
          <ac:spMkLst>
            <pc:docMk/>
            <pc:sldMk cId="2995797760" sldId="362"/>
            <ac:spMk id="2" creationId="{79865F0B-0A66-FF8B-3F5C-3BDD7AF304A8}"/>
          </ac:spMkLst>
        </pc:spChg>
        <pc:spChg chg="mod">
          <ac:chgData name="Onishi, Saryu" userId="S::saryu@ou.edu::24ec4854-0e9b-4cd9-95b4-b9d15917116b" providerId="AD" clId="Web-{D68BA75F-BB6E-9F18-1648-74F52ADBFB50}" dt="2026-09-14T21:32:16.696" v="320" actId="20577"/>
          <ac:spMkLst>
            <pc:docMk/>
            <pc:sldMk cId="2995797760" sldId="362"/>
            <ac:spMk id="3" creationId="{44203125-B9A9-9921-B918-608635B0F058}"/>
          </ac:spMkLst>
        </pc:spChg>
        <pc:graphicFrameChg chg="add mod modGraphic">
          <ac:chgData name="Onishi, Saryu" userId="S::saryu@ou.edu::24ec4854-0e9b-4cd9-95b4-b9d15917116b" providerId="AD" clId="Web-{D68BA75F-BB6E-9F18-1648-74F52ADBFB50}" dt="2026-09-14T21:32:21.071" v="322"/>
          <ac:graphicFrameMkLst>
            <pc:docMk/>
            <pc:sldMk cId="2995797760" sldId="362"/>
            <ac:graphicFrameMk id="5" creationId="{0EB1E87E-8339-EF70-96ED-F69529683223}"/>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Users/saryu/Downloads/hes3000_sample_data.xlsx" TargetMode="External"/><Relationship Id="rId2" Type="http://schemas.microsoft.com/office/2011/relationships/chartColorStyle" Target="colors2.xml"/><Relationship Id="rId1" Type="http://schemas.microsoft.com/office/2011/relationships/chartStyle" Target="style2.xml"/></Relationships>
</file>

<file path=ppt/charts/_rels/chart2.xml.rels><?xml version="1.0" encoding="UTF-8" standalone="yes"?>
<Relationships xmlns="http://schemas.openxmlformats.org/package/2006/relationships"><Relationship Id="rId3" Type="http://schemas.openxmlformats.org/officeDocument/2006/relationships/oleObject" Target="file:////Users/saryu/Downloads/hes3000_sample_data.xlsx" TargetMode="External"/><Relationship Id="rId2" Type="http://schemas.microsoft.com/office/2011/relationships/chartColorStyle" Target="colors3.xml"/><Relationship Id="rId1" Type="http://schemas.microsoft.com/office/2011/relationships/chartStyle" Target="style3.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Users/saryu/Downloads/hes3000_sample_data.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Users/saryu/Downloads/hes3000_sample_data.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Users/saryu/Downloads/hes3000_sample_data.xlsx" TargetMode="External"/></Relationships>
</file>

<file path=ppt/charts/_rels/chartEx4.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Users/saryu/Downloads/hes3000_sample_data.xlsx" TargetMode="External"/></Relationships>
</file>

<file path=ppt/charts/_rels/chartEx5.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Users/saryu/Downloads/hes3000_sample_data.xlsx" TargetMode="External"/></Relationships>
</file>

<file path=ppt/charts/_rels/chartEx6.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Users/saryu/Downloads/hes3000_sample_data.xlsx" TargetMode="External"/></Relationships>
</file>

<file path=ppt/charts/_rels/chartEx7.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Users/saryu/Downloads/hes3000_sample_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EXAMPLE1!$N$30</c:f>
              <c:strCache>
                <c:ptCount val="1"/>
                <c:pt idx="0">
                  <c:v>mean fg%</c:v>
                </c:pt>
              </c:strCache>
            </c:strRef>
          </c:tx>
          <c:spPr>
            <a:solidFill>
              <a:schemeClr val="accent1"/>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0141-564C-A8D6-9A8D5D1F475D}"/>
              </c:ext>
            </c:extLst>
          </c:dPt>
          <c:dPt>
            <c:idx val="1"/>
            <c:invertIfNegative val="0"/>
            <c:bubble3D val="0"/>
            <c:spPr>
              <a:solidFill>
                <a:schemeClr val="bg2">
                  <a:lumMod val="50000"/>
                </a:schemeClr>
              </a:solidFill>
              <a:ln>
                <a:noFill/>
              </a:ln>
              <a:effectLst/>
            </c:spPr>
            <c:extLst>
              <c:ext xmlns:c16="http://schemas.microsoft.com/office/drawing/2014/chart" uri="{C3380CC4-5D6E-409C-BE32-E72D297353CC}">
                <c16:uniqueId val="{00000003-0141-564C-A8D6-9A8D5D1F475D}"/>
              </c:ext>
            </c:extLst>
          </c:dPt>
          <c:cat>
            <c:strRef>
              <c:f>EXAMPLE1!$L$31:$L$32</c:f>
              <c:strCache>
                <c:ptCount val="2"/>
                <c:pt idx="0">
                  <c:v>starter</c:v>
                </c:pt>
                <c:pt idx="1">
                  <c:v>bench</c:v>
                </c:pt>
              </c:strCache>
            </c:strRef>
          </c:cat>
          <c:val>
            <c:numRef>
              <c:f>EXAMPLE1!$N$31:$N$32</c:f>
              <c:numCache>
                <c:formatCode>0%</c:formatCode>
                <c:ptCount val="2"/>
                <c:pt idx="0">
                  <c:v>0.4973909425767008</c:v>
                </c:pt>
                <c:pt idx="1">
                  <c:v>0.33176249098124094</c:v>
                </c:pt>
              </c:numCache>
            </c:numRef>
          </c:val>
          <c:extLst>
            <c:ext xmlns:c16="http://schemas.microsoft.com/office/drawing/2014/chart" uri="{C3380CC4-5D6E-409C-BE32-E72D297353CC}">
              <c16:uniqueId val="{00000004-0141-564C-A8D6-9A8D5D1F475D}"/>
            </c:ext>
          </c:extLst>
        </c:ser>
        <c:dLbls>
          <c:showLegendKey val="0"/>
          <c:showVal val="0"/>
          <c:showCatName val="0"/>
          <c:showSerName val="0"/>
          <c:showPercent val="0"/>
          <c:showBubbleSize val="0"/>
        </c:dLbls>
        <c:gapWidth val="57"/>
        <c:axId val="513689584"/>
        <c:axId val="596564528"/>
      </c:barChart>
      <c:catAx>
        <c:axId val="513689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6564528"/>
        <c:crosses val="autoZero"/>
        <c:auto val="1"/>
        <c:lblAlgn val="ctr"/>
        <c:lblOffset val="100"/>
        <c:noMultiLvlLbl val="0"/>
      </c:catAx>
      <c:valAx>
        <c:axId val="59656452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3689584"/>
        <c:crosses val="autoZero"/>
        <c:crossBetween val="between"/>
      </c:valAx>
      <c:spPr>
        <a:noFill/>
        <a:ln>
          <a:noFill/>
        </a:ln>
        <a:effectLst/>
      </c:spPr>
    </c:plotArea>
    <c:plotVisOnly val="1"/>
    <c:dispBlanksAs val="gap"/>
    <c:showDLblsOverMax val="0"/>
  </c:chart>
  <c:spPr>
    <a:solidFill>
      <a:schemeClr val="bg2"/>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mean fg%</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EXAMPLE1!$M$1</c:f>
              <c:strCache>
                <c:ptCount val="1"/>
                <c:pt idx="0">
                  <c:v>value</c:v>
                </c:pt>
              </c:strCache>
            </c:strRef>
          </c:tx>
          <c:spPr>
            <a:solidFill>
              <a:schemeClr val="accent1"/>
            </a:solidFill>
            <a:ln>
              <a:noFill/>
            </a:ln>
            <a:effectLst/>
          </c:spPr>
          <c:invertIfNegative val="0"/>
          <c:cat>
            <c:strRef>
              <c:f>EXAMPLE1!$L$2</c:f>
              <c:strCache>
                <c:ptCount val="1"/>
                <c:pt idx="0">
                  <c:v>mean</c:v>
                </c:pt>
              </c:strCache>
            </c:strRef>
          </c:cat>
          <c:val>
            <c:numRef>
              <c:f>EXAMPLE1!$M$2</c:f>
              <c:numCache>
                <c:formatCode>0.0%</c:formatCode>
                <c:ptCount val="1"/>
                <c:pt idx="0">
                  <c:v>0.42057774763387901</c:v>
                </c:pt>
              </c:numCache>
            </c:numRef>
          </c:val>
          <c:extLst>
            <c:ext xmlns:c16="http://schemas.microsoft.com/office/drawing/2014/chart" uri="{C3380CC4-5D6E-409C-BE32-E72D297353CC}">
              <c16:uniqueId val="{00000000-FD0C-1A42-ACA0-868DC4EF81E3}"/>
            </c:ext>
          </c:extLst>
        </c:ser>
        <c:dLbls>
          <c:showLegendKey val="0"/>
          <c:showVal val="0"/>
          <c:showCatName val="0"/>
          <c:showSerName val="0"/>
          <c:showPercent val="0"/>
          <c:showBubbleSize val="0"/>
        </c:dLbls>
        <c:gapWidth val="219"/>
        <c:overlap val="-27"/>
        <c:axId val="596064160"/>
        <c:axId val="596623216"/>
      </c:barChart>
      <c:catAx>
        <c:axId val="596064160"/>
        <c:scaling>
          <c:orientation val="minMax"/>
        </c:scaling>
        <c:delete val="1"/>
        <c:axPos val="b"/>
        <c:numFmt formatCode="General" sourceLinked="1"/>
        <c:majorTickMark val="none"/>
        <c:minorTickMark val="none"/>
        <c:tickLblPos val="nextTo"/>
        <c:crossAx val="596623216"/>
        <c:crosses val="autoZero"/>
        <c:auto val="1"/>
        <c:lblAlgn val="ctr"/>
        <c:lblOffset val="100"/>
        <c:noMultiLvlLbl val="0"/>
      </c:catAx>
      <c:valAx>
        <c:axId val="596623216"/>
        <c:scaling>
          <c:orientation val="minMax"/>
          <c:max val="0.60000000000000009"/>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6064160"/>
        <c:crosses val="autoZero"/>
        <c:crossBetween val="between"/>
      </c:valAx>
      <c:spPr>
        <a:noFill/>
        <a:ln>
          <a:noFill/>
        </a:ln>
        <a:effectLst/>
      </c:spPr>
    </c:plotArea>
    <c:plotVisOnly val="1"/>
    <c:dispBlanksAs val="gap"/>
    <c:showDLblsOverMax val="0"/>
  </c:chart>
  <c:spPr>
    <a:solidFill>
      <a:schemeClr val="bg2"/>
    </a:solid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copy!$H$2:$H$346</cx:f>
        <cx:lvl ptCount="345" formatCode="0%">
          <cx:pt idx="0">0</cx:pt>
          <cx:pt idx="1">1</cx:pt>
          <cx:pt idx="2">0.75</cx:pt>
          <cx:pt idx="3">0</cx:pt>
          <cx:pt idx="4">0.33333333333333331</cx:pt>
          <cx:pt idx="5">0.40000000000000002</cx:pt>
          <cx:pt idx="6">0.33333333333333331</cx:pt>
          <cx:pt idx="7">0</cx:pt>
          <cx:pt idx="8">0</cx:pt>
          <cx:pt idx="9">0</cx:pt>
          <cx:pt idx="10">1</cx:pt>
          <cx:pt idx="11">0</cx:pt>
          <cx:pt idx="12">0.5</cx:pt>
          <cx:pt idx="13">0.40000000000000002</cx:pt>
          <cx:pt idx="14">1</cx:pt>
          <cx:pt idx="15">0.59999999999999998</cx:pt>
          <cx:pt idx="16">0.5</cx:pt>
          <cx:pt idx="17">0.66666666666666663</cx:pt>
          <cx:pt idx="18">1</cx:pt>
          <cx:pt idx="19">1</cx:pt>
          <cx:pt idx="20">0</cx:pt>
          <cx:pt idx="21">0</cx:pt>
          <cx:pt idx="22">0.66666666666666663</cx:pt>
          <cx:pt idx="23">0</cx:pt>
          <cx:pt idx="24">1</cx:pt>
          <cx:pt idx="25">0.5</cx:pt>
          <cx:pt idx="26">1</cx:pt>
          <cx:pt idx="27">0.41666666666666669</cx:pt>
          <cx:pt idx="28">0</cx:pt>
          <cx:pt idx="29">0</cx:pt>
          <cx:pt idx="30">0</cx:pt>
          <cx:pt idx="31">0</cx:pt>
          <cx:pt idx="32">0.33333333333333331</cx:pt>
          <cx:pt idx="33">0.33333333333333331</cx:pt>
          <cx:pt idx="34">0</cx:pt>
          <cx:pt idx="35">0.8571428571428571</cx:pt>
          <cx:pt idx="36">0.42857142857142855</cx:pt>
          <cx:pt idx="37">0</cx:pt>
          <cx:pt idx="38">0</cx:pt>
          <cx:pt idx="39">0</cx:pt>
          <cx:pt idx="40">0</cx:pt>
          <cx:pt idx="41">0</cx:pt>
          <cx:pt idx="42">0</cx:pt>
          <cx:pt idx="43">0</cx:pt>
          <cx:pt idx="44">0.5</cx:pt>
          <cx:pt idx="45">0</cx:pt>
          <cx:pt idx="46">0.6428571428571429</cx:pt>
          <cx:pt idx="47">0.5</cx:pt>
          <cx:pt idx="48">1</cx:pt>
          <cx:pt idx="49">1</cx:pt>
          <cx:pt idx="50">0.66666666666666663</cx:pt>
          <cx:pt idx="51">0.40000000000000002</cx:pt>
          <cx:pt idx="52">1</cx:pt>
          <cx:pt idx="53">0.44444444444444442</cx:pt>
          <cx:pt idx="54">1</cx:pt>
          <cx:pt idx="55">1</cx:pt>
          <cx:pt idx="56">0</cx:pt>
          <cx:pt idx="57">0</cx:pt>
          <cx:pt idx="58">0.33333333333333331</cx:pt>
          <cx:pt idx="59">0.33333333333333331</cx:pt>
          <cx:pt idx="60">1</cx:pt>
          <cx:pt idx="61">0.29999999999999999</cx:pt>
          <cx:pt idx="62">0</cx:pt>
          <cx:pt idx="63">0.40000000000000002</cx:pt>
          <cx:pt idx="64">0</cx:pt>
          <cx:pt idx="65">0.25</cx:pt>
          <cx:pt idx="66">0</cx:pt>
          <cx:pt idx="67">0.63636363636363635</cx:pt>
          <cx:pt idx="68">1</cx:pt>
          <cx:pt idx="69">0</cx:pt>
          <cx:pt idx="70">0.5</cx:pt>
          <cx:pt idx="71">0.66666666666666663</cx:pt>
          <cx:pt idx="72">0</cx:pt>
          <cx:pt idx="73">0</cx:pt>
          <cx:pt idx="74">0.40000000000000002</cx:pt>
          <cx:pt idx="75">0</cx:pt>
          <cx:pt idx="76">0.5</cx:pt>
          <cx:pt idx="77">0.33333333333333331</cx:pt>
          <cx:pt idx="78">0</cx:pt>
          <cx:pt idx="79">0.33333333333333331</cx:pt>
          <cx:pt idx="80">1</cx:pt>
          <cx:pt idx="81">0.42857142857142855</cx:pt>
          <cx:pt idx="82">0.40000000000000002</cx:pt>
          <cx:pt idx="83">0.20000000000000001</cx:pt>
          <cx:pt idx="84">0.59999999999999998</cx:pt>
          <cx:pt idx="85">0.40000000000000002</cx:pt>
          <cx:pt idx="86">0.5</cx:pt>
          <cx:pt idx="87">0.40000000000000002</cx:pt>
          <cx:pt idx="88">0</cx:pt>
          <cx:pt idx="89">0.5</cx:pt>
          <cx:pt idx="90">0.66666666666666663</cx:pt>
          <cx:pt idx="91">0.5</cx:pt>
          <cx:pt idx="92">0.5714285714285714</cx:pt>
          <cx:pt idx="93">0</cx:pt>
          <cx:pt idx="94">0.40000000000000002</cx:pt>
          <cx:pt idx="95">0.33333333333333331</cx:pt>
          <cx:pt idx="96">0</cx:pt>
          <cx:pt idx="97">1</cx:pt>
          <cx:pt idx="98">0</cx:pt>
          <cx:pt idx="99">0</cx:pt>
          <cx:pt idx="100">0.5</cx:pt>
          <cx:pt idx="101">0.5</cx:pt>
          <cx:pt idx="102">0</cx:pt>
          <cx:pt idx="103">0.5</cx:pt>
          <cx:pt idx="104">0.375</cx:pt>
          <cx:pt idx="105">0</cx:pt>
          <cx:pt idx="106">0</cx:pt>
          <cx:pt idx="107">0.2857142857142857</cx:pt>
          <cx:pt idx="108">0.20000000000000001</cx:pt>
          <cx:pt idx="109">0.66666666666666663</cx:pt>
          <cx:pt idx="110">0</cx:pt>
          <cx:pt idx="111">0</cx:pt>
          <cx:pt idx="112">0</cx:pt>
          <cx:pt idx="113">0.25</cx:pt>
          <cx:pt idx="114">0</cx:pt>
          <cx:pt idx="115">0.33333333333333331</cx:pt>
          <cx:pt idx="116">0</cx:pt>
          <cx:pt idx="117">0.16666666666666666</cx:pt>
          <cx:pt idx="118">0.33333333333333331</cx:pt>
          <cx:pt idx="119">0</cx:pt>
          <cx:pt idx="120">0.5</cx:pt>
          <cx:pt idx="121">0</cx:pt>
          <cx:pt idx="122">1</cx:pt>
          <cx:pt idx="123">0</cx:pt>
          <cx:pt idx="124">0.66666666666666663</cx:pt>
          <cx:pt idx="125">0</cx:pt>
          <cx:pt idx="126">0</cx:pt>
          <cx:pt idx="127">0</cx:pt>
          <cx:pt idx="128">0</cx:pt>
          <cx:pt idx="129">0.375</cx:pt>
          <cx:pt idx="130">0</cx:pt>
          <cx:pt idx="131">0.5</cx:pt>
          <cx:pt idx="132">0.33333333333333331</cx:pt>
          <cx:pt idx="133">0</cx:pt>
          <cx:pt idx="134">0.375</cx:pt>
          <cx:pt idx="135">0.40000000000000002</cx:pt>
          <cx:pt idx="136">0.33333333333333331</cx:pt>
          <cx:pt idx="137">0</cx:pt>
          <cx:pt idx="138">0.40000000000000002</cx:pt>
          <cx:pt idx="139">0</cx:pt>
          <cx:pt idx="140">0.5714285714285714</cx:pt>
          <cx:pt idx="141">0.33333333333333331</cx:pt>
          <cx:pt idx="142">0</cx:pt>
          <cx:pt idx="143">0.16666666666666666</cx:pt>
          <cx:pt idx="144">0.25</cx:pt>
          <cx:pt idx="145">0.75</cx:pt>
          <cx:pt idx="146">0.16666666666666666</cx:pt>
          <cx:pt idx="147">0</cx:pt>
          <cx:pt idx="148">0.33333333333333331</cx:pt>
          <cx:pt idx="149">0.59999999999999998</cx:pt>
          <cx:pt idx="150">0</cx:pt>
          <cx:pt idx="151">0.5</cx:pt>
          <cx:pt idx="152">0.42857142857142855</cx:pt>
          <cx:pt idx="153">0.5</cx:pt>
          <cx:pt idx="154">0.5</cx:pt>
          <cx:pt idx="155">0</cx:pt>
          <cx:pt idx="156">0</cx:pt>
          <cx:pt idx="157">0.5</cx:pt>
          <cx:pt idx="158">0.42857142857142855</cx:pt>
          <cx:pt idx="159">0</cx:pt>
          <cx:pt idx="160">1</cx:pt>
          <cx:pt idx="161">0.5</cx:pt>
          <cx:pt idx="162">0.59999999999999998</cx:pt>
          <cx:pt idx="163">0.5</cx:pt>
          <cx:pt idx="164">0.5</cx:pt>
          <cx:pt idx="165">0.63636363636363635</cx:pt>
          <cx:pt idx="166">0</cx:pt>
          <cx:pt idx="167">0.40000000000000002</cx:pt>
          <cx:pt idx="168">0.33333333333333331</cx:pt>
          <cx:pt idx="169">0.5714285714285714</cx:pt>
          <cx:pt idx="170">0.5</cx:pt>
          <cx:pt idx="171">0.54545454545454541</cx:pt>
          <cx:pt idx="172">0.5</cx:pt>
          <cx:pt idx="173">0.66666666666666663</cx:pt>
          <cx:pt idx="174">0.54545454545454541</cx:pt>
          <cx:pt idx="175">1</cx:pt>
          <cx:pt idx="176">0.69999999999999996</cx:pt>
          <cx:pt idx="177">0.75</cx:pt>
          <cx:pt idx="178">1</cx:pt>
          <cx:pt idx="179">0.44444444444444442</cx:pt>
          <cx:pt idx="180">0.5</cx:pt>
          <cx:pt idx="181">1</cx:pt>
          <cx:pt idx="182">0.66666666666666663</cx:pt>
          <cx:pt idx="183">0.66666666666666663</cx:pt>
          <cx:pt idx="184">0.625</cx:pt>
          <cx:pt idx="185">0.2857142857142857</cx:pt>
          <cx:pt idx="186">0.20000000000000001</cx:pt>
          <cx:pt idx="187">0.5714285714285714</cx:pt>
          <cx:pt idx="188">0.33333333333333331</cx:pt>
          <cx:pt idx="189">0.66666666666666663</cx:pt>
          <cx:pt idx="190">0.5</cx:pt>
          <cx:pt idx="191">0.125</cx:pt>
          <cx:pt idx="192">0.33333333333333331</cx:pt>
          <cx:pt idx="193">0</cx:pt>
          <cx:pt idx="194">0.5</cx:pt>
          <cx:pt idx="195">0.40000000000000002</cx:pt>
          <cx:pt idx="196">1</cx:pt>
          <cx:pt idx="197">0.69999999999999996</cx:pt>
          <cx:pt idx="198">0.16666666666666666</cx:pt>
          <cx:pt idx="199">0.75</cx:pt>
          <cx:pt idx="200">0.5</cx:pt>
          <cx:pt idx="201">0.59999999999999998</cx:pt>
          <cx:pt idx="202">1</cx:pt>
          <cx:pt idx="203">0.63636363636363635</cx:pt>
          <cx:pt idx="204">0.33333333333333331</cx:pt>
          <cx:pt idx="205">0</cx:pt>
          <cx:pt idx="206">0</cx:pt>
          <cx:pt idx="207">0.625</cx:pt>
          <cx:pt idx="208">0.33333333333333331</cx:pt>
          <cx:pt idx="209">0.41666666666666669</cx:pt>
          <cx:pt idx="210">0.5</cx:pt>
          <cx:pt idx="211">0</cx:pt>
          <cx:pt idx="212">0.42857142857142855</cx:pt>
          <cx:pt idx="213">0.5</cx:pt>
          <cx:pt idx="214">0.66666666666666663</cx:pt>
          <cx:pt idx="215">0.5</cx:pt>
          <cx:pt idx="216">0.59999999999999998</cx:pt>
          <cx:pt idx="217">0.33333333333333331</cx:pt>
          <cx:pt idx="218">0.5</cx:pt>
          <cx:pt idx="219">0.54545454545454541</cx:pt>
          <cx:pt idx="220">0.40000000000000002</cx:pt>
          <cx:pt idx="221">0.46666666666666667</cx:pt>
          <cx:pt idx="222">0.25</cx:pt>
          <cx:pt idx="223">1</cx:pt>
          <cx:pt idx="224">0.45454545454545453</cx:pt>
          <cx:pt idx="225">0.59999999999999998</cx:pt>
          <cx:pt idx="226">0</cx:pt>
          <cx:pt idx="227">0.38461538461538464</cx:pt>
          <cx:pt idx="228">0.5</cx:pt>
          <cx:pt idx="229">0.5</cx:pt>
          <cx:pt idx="230">0.625</cx:pt>
          <cx:pt idx="231">0.25</cx:pt>
          <cx:pt idx="232">0</cx:pt>
          <cx:pt idx="233">0.80000000000000004</cx:pt>
          <cx:pt idx="234">0.5</cx:pt>
          <cx:pt idx="235">0.8571428571428571</cx:pt>
          <cx:pt idx="236">0.66666666666666663</cx:pt>
          <cx:pt idx="237">0.75</cx:pt>
          <cx:pt idx="238">0.625</cx:pt>
          <cx:pt idx="239">0.40000000000000002</cx:pt>
          <cx:pt idx="240">0.83333333333333337</cx:pt>
          <cx:pt idx="241">0.5</cx:pt>
          <cx:pt idx="242">0.36363636363636365</cx:pt>
          <cx:pt idx="243">0.5</cx:pt>
          <cx:pt idx="244">0.5</cx:pt>
          <cx:pt idx="245">0.44444444444444442</cx:pt>
          <cx:pt idx="246">0</cx:pt>
          <cx:pt idx="247">1</cx:pt>
          <cx:pt idx="248">0.66666666666666663</cx:pt>
          <cx:pt idx="249">0.54545454545454541</cx:pt>
          <cx:pt idx="250">0.5</cx:pt>
          <cx:pt idx="251">0.88888888888888884</cx:pt>
          <cx:pt idx="252">0.59999999999999998</cx:pt>
          <cx:pt idx="253">0.33333333333333331</cx:pt>
          <cx:pt idx="254">0.375</cx:pt>
          <cx:pt idx="255">0.45454545454545453</cx:pt>
          <cx:pt idx="256">0.75</cx:pt>
          <cx:pt idx="257">0.41666666666666669</cx:pt>
          <cx:pt idx="258">0.375</cx:pt>
          <cx:pt idx="259">1</cx:pt>
          <cx:pt idx="260">0.77777777777777779</cx:pt>
          <cx:pt idx="261">0.42857142857142855</cx:pt>
          <cx:pt idx="262">0.33333333333333331</cx:pt>
          <cx:pt idx="263">0.38461538461538464</cx:pt>
          <cx:pt idx="264">0.625</cx:pt>
          <cx:pt idx="265">0.5</cx:pt>
          <cx:pt idx="266">0.29999999999999999</cx:pt>
          <cx:pt idx="267">0.33333333333333331</cx:pt>
          <cx:pt idx="268">0.63636363636363635</cx:pt>
          <cx:pt idx="269">0.69999999999999996</cx:pt>
          <cx:pt idx="270">0.40000000000000002</cx:pt>
          <cx:pt idx="271">0.40000000000000002</cx:pt>
          <cx:pt idx="272">0.5</cx:pt>
          <cx:pt idx="273">0.46666666666666667</cx:pt>
          <cx:pt idx="274">0.46153846153846156</cx:pt>
          <cx:pt idx="275">0.35714285714285715</cx:pt>
          <cx:pt idx="276">0.3888888888888889</cx:pt>
          <cx:pt idx="277">0.20000000000000001</cx:pt>
          <cx:pt idx="278">0.40000000000000002</cx:pt>
          <cx:pt idx="279">0.31578947368421051</cx:pt>
          <cx:pt idx="280">0.5714285714285714</cx:pt>
          <cx:pt idx="281">0.8571428571428571</cx:pt>
          <cx:pt idx="282">0.5</cx:pt>
          <cx:pt idx="283">0.44444444444444442</cx:pt>
          <cx:pt idx="284">0.5</cx:pt>
          <cx:pt idx="285">0.5</cx:pt>
          <cx:pt idx="286">0.59999999999999998</cx:pt>
          <cx:pt idx="287">0.59999999999999998</cx:pt>
          <cx:pt idx="288">0.5714285714285714</cx:pt>
          <cx:pt idx="289">0.54545454545454541</cx:pt>
          <cx:pt idx="290">0.61538461538461542</cx:pt>
          <cx:pt idx="291">0.36363636363636365</cx:pt>
          <cx:pt idx="292">0.22222222222222221</cx:pt>
          <cx:pt idx="293">0.25</cx:pt>
          <cx:pt idx="294">0.77777777777777779</cx:pt>
          <cx:pt idx="295">0.25</cx:pt>
          <cx:pt idx="296">0.59999999999999998</cx:pt>
          <cx:pt idx="297">0.66666666666666663</cx:pt>
          <cx:pt idx="298">0.42857142857142855</cx:pt>
          <cx:pt idx="299">0.54545454545454541</cx:pt>
          <cx:pt idx="300">0.25</cx:pt>
          <cx:pt idx="301">0.375</cx:pt>
          <cx:pt idx="302">0.40909090909090912</cx:pt>
          <cx:pt idx="303">0.40000000000000002</cx:pt>
          <cx:pt idx="304">0.53333333333333333</cx:pt>
          <cx:pt idx="305">0.45454545454545453</cx:pt>
          <cx:pt idx="306">0.61538461538461542</cx:pt>
          <cx:pt idx="307">0.53333333333333333</cx:pt>
          <cx:pt idx="308">0.23076923076923078</cx:pt>
          <cx:pt idx="309">0.35294117647058826</cx:pt>
          <cx:pt idx="310">0.27777777777777779</cx:pt>
          <cx:pt idx="311">0.53846153846153844</cx:pt>
          <cx:pt idx="312">0.25</cx:pt>
          <cx:pt idx="313">0.33333333333333331</cx:pt>
          <cx:pt idx="314">0.40000000000000002</cx:pt>
          <cx:pt idx="315">0.25</cx:pt>
          <cx:pt idx="316">0.41666666666666669</cx:pt>
          <cx:pt idx="317">0.72727272727272729</cx:pt>
          <cx:pt idx="318">0.63636363636363635</cx:pt>
          <cx:pt idx="319">0.5714285714285714</cx:pt>
          <cx:pt idx="320">0.5714285714285714</cx:pt>
          <cx:pt idx="321">0.77777777777777779</cx:pt>
          <cx:pt idx="322">0.5</cx:pt>
          <cx:pt idx="323">0.53333333333333333</cx:pt>
          <cx:pt idx="324">0.5</cx:pt>
          <cx:pt idx="325">0.66666666666666663</cx:pt>
          <cx:pt idx="326">0.42857142857142855</cx:pt>
          <cx:pt idx="327">0.40000000000000002</cx:pt>
          <cx:pt idx="328">0.375</cx:pt>
          <cx:pt idx="329">0.27272727272727271</cx:pt>
          <cx:pt idx="330">0.5</cx:pt>
          <cx:pt idx="331">0</cx:pt>
          <cx:pt idx="332">0.6428571428571429</cx:pt>
          <cx:pt idx="333">0.5</cx:pt>
          <cx:pt idx="334">0.29411764705882354</cx:pt>
          <cx:pt idx="335">0.44444444444444442</cx:pt>
          <cx:pt idx="336">0.59999999999999998</cx:pt>
          <cx:pt idx="337">0.59999999999999998</cx:pt>
          <cx:pt idx="338">0.55555555555555558</cx:pt>
          <cx:pt idx="339">0.53846153846153844</cx:pt>
          <cx:pt idx="340">0.625</cx:pt>
          <cx:pt idx="341">0.5714285714285714</cx:pt>
          <cx:pt idx="342">0.46666666666666667</cx:pt>
          <cx:pt idx="343">0.5</cx:pt>
          <cx:pt idx="344">0.5</cx:pt>
        </cx:lvl>
      </cx:numDim>
    </cx:data>
  </cx:chartData>
  <cx:chart>
    <cx:title pos="t" align="ctr" overlay="0">
      <cx:tx>
        <cx:txData>
          <cx:v>team fg%</cx:v>
        </cx:txData>
      </cx:tx>
      <cx:txPr>
        <a:bodyPr spcFirstLastPara="1" vertOverflow="ellipsis" horzOverflow="overflow" wrap="square" lIns="0" tIns="0" rIns="0" bIns="0" anchor="ctr" anchorCtr="1"/>
        <a:lstStyle/>
        <a:p>
          <a:pPr algn="ctr" rtl="0">
            <a:defRPr/>
          </a:pPr>
          <a:r>
            <a:rPr lang="en-GB" sz="1400" b="0" i="0" u="none" strike="noStrike" baseline="0">
              <a:solidFill>
                <a:sysClr val="windowText" lastClr="000000">
                  <a:lumMod val="65000"/>
                  <a:lumOff val="35000"/>
                </a:sysClr>
              </a:solidFill>
              <a:latin typeface="Aptos Narrow" panose="02110004020202020204"/>
            </a:rPr>
            <a:t>team fg%</a:t>
          </a:r>
        </a:p>
      </cx:txPr>
    </cx:title>
    <cx:plotArea>
      <cx:plotAreaRegion>
        <cx:series layoutId="clusteredColumn" uniqueId="{6CB5FE8D-0971-474F-8631-1CFB84851DF7}">
          <cx:tx>
            <cx:txData>
              <cx:f>copy!$H$1</cx:f>
              <cx:v>fg%</cx:v>
            </cx:txData>
          </cx:tx>
          <cx:dataLabels pos="inEnd">
            <cx:visibility seriesName="0" categoryName="0" value="1"/>
          </cx:dataLabels>
          <cx:dataId val="0"/>
          <cx:layoutPr>
            <cx:binning intervalClosed="r"/>
          </cx:layoutPr>
        </cx:series>
      </cx:plotAreaRegion>
      <cx:axis id="0">
        <cx:catScaling gapWidth="0"/>
        <cx:tickLabels/>
      </cx:axis>
      <cx:axis id="1">
        <cx:valScaling/>
        <cx:majorGridlines/>
        <cx:tickLabels/>
      </cx:axis>
    </cx:plotArea>
  </cx:chart>
  <cx:spPr>
    <a:solidFill>
      <a:schemeClr val="bg2"/>
    </a:solidFill>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copy!$H$2:$H$161</cx:f>
        <cx:lvl ptCount="160" formatCode="0%">
          <cx:pt idx="0">0</cx:pt>
          <cx:pt idx="1">1</cx:pt>
          <cx:pt idx="2">0.75</cx:pt>
          <cx:pt idx="3">0</cx:pt>
          <cx:pt idx="4">0.33333333333333331</cx:pt>
          <cx:pt idx="5">0.40000000000000002</cx:pt>
          <cx:pt idx="6">0.33333333333333331</cx:pt>
          <cx:pt idx="7">0</cx:pt>
          <cx:pt idx="8">0</cx:pt>
          <cx:pt idx="9">0</cx:pt>
          <cx:pt idx="10">1</cx:pt>
          <cx:pt idx="11">0</cx:pt>
          <cx:pt idx="12">0.5</cx:pt>
          <cx:pt idx="13">0.40000000000000002</cx:pt>
          <cx:pt idx="14">1</cx:pt>
          <cx:pt idx="15">0.59999999999999998</cx:pt>
          <cx:pt idx="16">0.5</cx:pt>
          <cx:pt idx="17">0.66666666666666663</cx:pt>
          <cx:pt idx="18">1</cx:pt>
          <cx:pt idx="19">1</cx:pt>
          <cx:pt idx="20">0</cx:pt>
          <cx:pt idx="21">0</cx:pt>
          <cx:pt idx="22">0.66666666666666663</cx:pt>
          <cx:pt idx="23">0</cx:pt>
          <cx:pt idx="24">1</cx:pt>
          <cx:pt idx="25">0.5</cx:pt>
          <cx:pt idx="26">1</cx:pt>
          <cx:pt idx="27">0.41666666666666669</cx:pt>
          <cx:pt idx="28">0</cx:pt>
          <cx:pt idx="29">0</cx:pt>
          <cx:pt idx="30">0</cx:pt>
          <cx:pt idx="31">0</cx:pt>
          <cx:pt idx="32">0.33333333333333331</cx:pt>
          <cx:pt idx="33">0.33333333333333331</cx:pt>
          <cx:pt idx="34">0</cx:pt>
          <cx:pt idx="35">0.8571428571428571</cx:pt>
          <cx:pt idx="36">0.42857142857142855</cx:pt>
          <cx:pt idx="37">0</cx:pt>
          <cx:pt idx="38">0</cx:pt>
          <cx:pt idx="39">0</cx:pt>
          <cx:pt idx="40">0</cx:pt>
          <cx:pt idx="41">0</cx:pt>
          <cx:pt idx="42">0</cx:pt>
          <cx:pt idx="43">0</cx:pt>
          <cx:pt idx="44">0.5</cx:pt>
          <cx:pt idx="45">0</cx:pt>
          <cx:pt idx="46">0.6428571428571429</cx:pt>
          <cx:pt idx="47">0.5</cx:pt>
          <cx:pt idx="48">1</cx:pt>
          <cx:pt idx="49">1</cx:pt>
          <cx:pt idx="50">0.66666666666666663</cx:pt>
          <cx:pt idx="51">0.40000000000000002</cx:pt>
          <cx:pt idx="52">1</cx:pt>
          <cx:pt idx="53">0.44444444444444442</cx:pt>
          <cx:pt idx="54">1</cx:pt>
          <cx:pt idx="55">1</cx:pt>
          <cx:pt idx="56">0</cx:pt>
          <cx:pt idx="57">0</cx:pt>
          <cx:pt idx="58">0.33333333333333331</cx:pt>
          <cx:pt idx="59">0.33333333333333331</cx:pt>
          <cx:pt idx="60">1</cx:pt>
          <cx:pt idx="61">0.29999999999999999</cx:pt>
          <cx:pt idx="62">0</cx:pt>
          <cx:pt idx="63">0.40000000000000002</cx:pt>
          <cx:pt idx="64">0</cx:pt>
          <cx:pt idx="65">0.25</cx:pt>
          <cx:pt idx="66">0</cx:pt>
          <cx:pt idx="67">0.63636363636363635</cx:pt>
          <cx:pt idx="68">1</cx:pt>
          <cx:pt idx="69">0</cx:pt>
          <cx:pt idx="70">0.5</cx:pt>
          <cx:pt idx="71">0.66666666666666663</cx:pt>
          <cx:pt idx="72">0</cx:pt>
          <cx:pt idx="73">0</cx:pt>
          <cx:pt idx="74">0.40000000000000002</cx:pt>
          <cx:pt idx="75">0</cx:pt>
          <cx:pt idx="76">0.5</cx:pt>
          <cx:pt idx="77">0.33333333333333331</cx:pt>
          <cx:pt idx="78">0</cx:pt>
          <cx:pt idx="79">0.33333333333333331</cx:pt>
          <cx:pt idx="80">1</cx:pt>
          <cx:pt idx="81">0.42857142857142855</cx:pt>
          <cx:pt idx="82">0.40000000000000002</cx:pt>
          <cx:pt idx="83">0.20000000000000001</cx:pt>
          <cx:pt idx="84">0.59999999999999998</cx:pt>
          <cx:pt idx="85">0.40000000000000002</cx:pt>
          <cx:pt idx="86">0.5</cx:pt>
          <cx:pt idx="87">0.40000000000000002</cx:pt>
          <cx:pt idx="88">0</cx:pt>
          <cx:pt idx="89">0.5</cx:pt>
          <cx:pt idx="90">0.66666666666666663</cx:pt>
          <cx:pt idx="91">0.5</cx:pt>
          <cx:pt idx="92">0.5714285714285714</cx:pt>
          <cx:pt idx="93">0</cx:pt>
          <cx:pt idx="94">0.40000000000000002</cx:pt>
          <cx:pt idx="95">0.33333333333333331</cx:pt>
          <cx:pt idx="96">0</cx:pt>
          <cx:pt idx="97">1</cx:pt>
          <cx:pt idx="98">0</cx:pt>
          <cx:pt idx="99">0</cx:pt>
          <cx:pt idx="100">0.5</cx:pt>
          <cx:pt idx="101">0.5</cx:pt>
          <cx:pt idx="102">0</cx:pt>
          <cx:pt idx="103">0.5</cx:pt>
          <cx:pt idx="104">0.375</cx:pt>
          <cx:pt idx="105">0</cx:pt>
          <cx:pt idx="106">0</cx:pt>
          <cx:pt idx="107">0.2857142857142857</cx:pt>
          <cx:pt idx="108">0.20000000000000001</cx:pt>
          <cx:pt idx="109">0.66666666666666663</cx:pt>
          <cx:pt idx="110">0</cx:pt>
          <cx:pt idx="111">0</cx:pt>
          <cx:pt idx="112">0</cx:pt>
          <cx:pt idx="113">0.25</cx:pt>
          <cx:pt idx="114">0</cx:pt>
          <cx:pt idx="115">0.33333333333333331</cx:pt>
          <cx:pt idx="116">0</cx:pt>
          <cx:pt idx="117">0.16666666666666666</cx:pt>
          <cx:pt idx="118">0.33333333333333331</cx:pt>
          <cx:pt idx="119">0</cx:pt>
          <cx:pt idx="120">0.5</cx:pt>
          <cx:pt idx="121">0</cx:pt>
          <cx:pt idx="122">1</cx:pt>
          <cx:pt idx="123">0</cx:pt>
          <cx:pt idx="124">0.66666666666666663</cx:pt>
          <cx:pt idx="125">0</cx:pt>
          <cx:pt idx="126">0</cx:pt>
          <cx:pt idx="127">0</cx:pt>
          <cx:pt idx="128">0</cx:pt>
          <cx:pt idx="129">0.375</cx:pt>
          <cx:pt idx="130">0</cx:pt>
          <cx:pt idx="131">0.5</cx:pt>
          <cx:pt idx="132">0.33333333333333331</cx:pt>
          <cx:pt idx="133">0</cx:pt>
          <cx:pt idx="134">0.375</cx:pt>
          <cx:pt idx="135">0.40000000000000002</cx:pt>
          <cx:pt idx="136">0.33333333333333331</cx:pt>
          <cx:pt idx="137">0</cx:pt>
          <cx:pt idx="138">0.40000000000000002</cx:pt>
          <cx:pt idx="139">0</cx:pt>
          <cx:pt idx="140">0.5714285714285714</cx:pt>
          <cx:pt idx="141">0.33333333333333331</cx:pt>
          <cx:pt idx="142">0</cx:pt>
          <cx:pt idx="143">0.16666666666666666</cx:pt>
          <cx:pt idx="144">0.25</cx:pt>
          <cx:pt idx="145">0.75</cx:pt>
          <cx:pt idx="146">0.16666666666666666</cx:pt>
          <cx:pt idx="147">0</cx:pt>
          <cx:pt idx="148">0.33333333333333331</cx:pt>
          <cx:pt idx="149">0.59999999999999998</cx:pt>
          <cx:pt idx="150">0</cx:pt>
          <cx:pt idx="151">0.5</cx:pt>
          <cx:pt idx="152">0.42857142857142855</cx:pt>
          <cx:pt idx="153">0.5</cx:pt>
          <cx:pt idx="154">0.5</cx:pt>
          <cx:pt idx="155">0</cx:pt>
          <cx:pt idx="156">0</cx:pt>
          <cx:pt idx="157">0.5</cx:pt>
          <cx:pt idx="158">0.42857142857142855</cx:pt>
          <cx:pt idx="159">0</cx:pt>
        </cx:lvl>
      </cx:numDim>
    </cx:data>
  </cx:chartData>
  <cx:chart>
    <cx:title pos="t" align="ctr" overlay="0">
      <cx:tx>
        <cx:txData>
          <cx:v>bench fg%</cx:v>
        </cx:txData>
      </cx:tx>
      <cx:txPr>
        <a:bodyPr spcFirstLastPara="1" vertOverflow="ellipsis" horzOverflow="overflow" wrap="square" lIns="0" tIns="0" rIns="0" bIns="0" anchor="ctr" anchorCtr="1"/>
        <a:lstStyle/>
        <a:p>
          <a:pPr algn="ctr" rtl="0">
            <a:defRPr/>
          </a:pPr>
          <a:r>
            <a:rPr lang="en-GB" sz="1400" b="0" i="0" u="none" strike="noStrike" baseline="0">
              <a:solidFill>
                <a:sysClr val="windowText" lastClr="000000">
                  <a:lumMod val="65000"/>
                  <a:lumOff val="35000"/>
                </a:sysClr>
              </a:solidFill>
              <a:latin typeface="Aptos Narrow" panose="02110004020202020204"/>
            </a:rPr>
            <a:t>bench fg%</a:t>
          </a:r>
        </a:p>
      </cx:txPr>
    </cx:title>
    <cx:plotArea>
      <cx:plotAreaRegion>
        <cx:series layoutId="clusteredColumn" uniqueId="{00000000-55C2-D24F-A029-8AFA182E91D1}">
          <cx:tx>
            <cx:txData>
              <cx:f>copy!$H$1</cx:f>
              <cx:v>fg%</cx:v>
            </cx:txData>
          </cx:tx>
          <cx:spPr>
            <a:solidFill>
              <a:schemeClr val="bg2">
                <a:lumMod val="50000"/>
              </a:schemeClr>
            </a:solidFill>
          </cx:spPr>
          <cx:dataId val="0"/>
          <cx:layoutPr>
            <cx:binning intervalClosed="r"/>
          </cx:layoutPr>
        </cx:series>
      </cx:plotAreaRegion>
      <cx:axis id="0">
        <cx:catScaling gapWidth="0"/>
        <cx:tickLabels/>
        <cx:txPr>
          <a:bodyPr spcFirstLastPara="1" vertOverflow="ellipsis" horzOverflow="overflow" wrap="square" lIns="0" tIns="0" rIns="0" bIns="0" anchor="ctr" anchorCtr="1"/>
          <a:lstStyle/>
          <a:p>
            <a:pPr algn="ctr" rtl="0">
              <a:defRPr/>
            </a:pPr>
            <a:endParaRPr lang="en-GB" sz="900" b="0" i="0" u="none" strike="noStrike" baseline="0">
              <a:solidFill>
                <a:sysClr val="windowText" lastClr="000000">
                  <a:lumMod val="65000"/>
                  <a:lumOff val="35000"/>
                </a:sysClr>
              </a:solidFill>
              <a:latin typeface="Aptos Narrow" panose="02110004020202020204"/>
            </a:endParaRPr>
          </a:p>
        </cx:txPr>
      </cx:axis>
      <cx:axis id="1">
        <cx:valScaling/>
        <cx:majorGridlines/>
        <cx:tickLabels/>
      </cx:axis>
    </cx:plotArea>
  </cx:chart>
  <cx:spPr>
    <a:solidFill>
      <a:schemeClr val="bg2"/>
    </a:solidFill>
  </cx:spPr>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copy!$H$162:$H$346</cx:f>
        <cx:lvl ptCount="185" formatCode="0%">
          <cx:pt idx="0">1</cx:pt>
          <cx:pt idx="1">0.5</cx:pt>
          <cx:pt idx="2">0.59999999999999998</cx:pt>
          <cx:pt idx="3">0.5</cx:pt>
          <cx:pt idx="4">0.5</cx:pt>
          <cx:pt idx="5">0.63636363636363635</cx:pt>
          <cx:pt idx="6">0</cx:pt>
          <cx:pt idx="7">0.40000000000000002</cx:pt>
          <cx:pt idx="8">0.33333333333333331</cx:pt>
          <cx:pt idx="9">0.5714285714285714</cx:pt>
          <cx:pt idx="10">0.5</cx:pt>
          <cx:pt idx="11">0.54545454545454541</cx:pt>
          <cx:pt idx="12">0.5</cx:pt>
          <cx:pt idx="13">0.66666666666666663</cx:pt>
          <cx:pt idx="14">0.54545454545454541</cx:pt>
          <cx:pt idx="15">1</cx:pt>
          <cx:pt idx="16">0.69999999999999996</cx:pt>
          <cx:pt idx="17">0.75</cx:pt>
          <cx:pt idx="18">1</cx:pt>
          <cx:pt idx="19">0.44444444444444442</cx:pt>
          <cx:pt idx="20">0.5</cx:pt>
          <cx:pt idx="21">1</cx:pt>
          <cx:pt idx="22">0.66666666666666663</cx:pt>
          <cx:pt idx="23">0.66666666666666663</cx:pt>
          <cx:pt idx="24">0.625</cx:pt>
          <cx:pt idx="25">0.2857142857142857</cx:pt>
          <cx:pt idx="26">0.20000000000000001</cx:pt>
          <cx:pt idx="27">0.5714285714285714</cx:pt>
          <cx:pt idx="28">0.33333333333333331</cx:pt>
          <cx:pt idx="29">0.66666666666666663</cx:pt>
          <cx:pt idx="30">0.5</cx:pt>
          <cx:pt idx="31">0.125</cx:pt>
          <cx:pt idx="32">0.33333333333333331</cx:pt>
          <cx:pt idx="33">0</cx:pt>
          <cx:pt idx="34">0.5</cx:pt>
          <cx:pt idx="35">0.40000000000000002</cx:pt>
          <cx:pt idx="36">1</cx:pt>
          <cx:pt idx="37">0.69999999999999996</cx:pt>
          <cx:pt idx="38">0.16666666666666666</cx:pt>
          <cx:pt idx="39">0.75</cx:pt>
          <cx:pt idx="40">0.5</cx:pt>
          <cx:pt idx="41">0.59999999999999998</cx:pt>
          <cx:pt idx="42">1</cx:pt>
          <cx:pt idx="43">0.63636363636363635</cx:pt>
          <cx:pt idx="44">0.33333333333333331</cx:pt>
          <cx:pt idx="45">0</cx:pt>
          <cx:pt idx="46">0</cx:pt>
          <cx:pt idx="47">0.625</cx:pt>
          <cx:pt idx="48">0.33333333333333331</cx:pt>
          <cx:pt idx="49">0.41666666666666669</cx:pt>
          <cx:pt idx="50">0.5</cx:pt>
          <cx:pt idx="51">0</cx:pt>
          <cx:pt idx="52">0.42857142857142855</cx:pt>
          <cx:pt idx="53">0.5</cx:pt>
          <cx:pt idx="54">0.66666666666666663</cx:pt>
          <cx:pt idx="55">0.5</cx:pt>
          <cx:pt idx="56">0.59999999999999998</cx:pt>
          <cx:pt idx="57">0.33333333333333331</cx:pt>
          <cx:pt idx="58">0.5</cx:pt>
          <cx:pt idx="59">0.54545454545454541</cx:pt>
          <cx:pt idx="60">0.40000000000000002</cx:pt>
          <cx:pt idx="61">0.46666666666666667</cx:pt>
          <cx:pt idx="62">0.25</cx:pt>
          <cx:pt idx="63">1</cx:pt>
          <cx:pt idx="64">0.45454545454545453</cx:pt>
          <cx:pt idx="65">0.59999999999999998</cx:pt>
          <cx:pt idx="66">0</cx:pt>
          <cx:pt idx="67">0.38461538461538464</cx:pt>
          <cx:pt idx="68">0.5</cx:pt>
          <cx:pt idx="69">0.5</cx:pt>
          <cx:pt idx="70">0.625</cx:pt>
          <cx:pt idx="71">0.25</cx:pt>
          <cx:pt idx="72">0</cx:pt>
          <cx:pt idx="73">0.80000000000000004</cx:pt>
          <cx:pt idx="74">0.5</cx:pt>
          <cx:pt idx="75">0.8571428571428571</cx:pt>
          <cx:pt idx="76">0.66666666666666663</cx:pt>
          <cx:pt idx="77">0.75</cx:pt>
          <cx:pt idx="78">0.625</cx:pt>
          <cx:pt idx="79">0.40000000000000002</cx:pt>
          <cx:pt idx="80">0.83333333333333337</cx:pt>
          <cx:pt idx="81">0.5</cx:pt>
          <cx:pt idx="82">0.36363636363636365</cx:pt>
          <cx:pt idx="83">0.5</cx:pt>
          <cx:pt idx="84">0.5</cx:pt>
          <cx:pt idx="85">0.44444444444444442</cx:pt>
          <cx:pt idx="86">0</cx:pt>
          <cx:pt idx="87">1</cx:pt>
          <cx:pt idx="88">0.66666666666666663</cx:pt>
          <cx:pt idx="89">0.54545454545454541</cx:pt>
          <cx:pt idx="90">0.5</cx:pt>
          <cx:pt idx="91">0.88888888888888884</cx:pt>
          <cx:pt idx="92">0.59999999999999998</cx:pt>
          <cx:pt idx="93">0.33333333333333331</cx:pt>
          <cx:pt idx="94">0.375</cx:pt>
          <cx:pt idx="95">0.45454545454545453</cx:pt>
          <cx:pt idx="96">0.75</cx:pt>
          <cx:pt idx="97">0.41666666666666669</cx:pt>
          <cx:pt idx="98">0.375</cx:pt>
          <cx:pt idx="99">1</cx:pt>
          <cx:pt idx="100">0.77777777777777779</cx:pt>
          <cx:pt idx="101">0.42857142857142855</cx:pt>
          <cx:pt idx="102">0.33333333333333331</cx:pt>
          <cx:pt idx="103">0.38461538461538464</cx:pt>
          <cx:pt idx="104">0.625</cx:pt>
          <cx:pt idx="105">0.5</cx:pt>
          <cx:pt idx="106">0.29999999999999999</cx:pt>
          <cx:pt idx="107">0.33333333333333331</cx:pt>
          <cx:pt idx="108">0.63636363636363635</cx:pt>
          <cx:pt idx="109">0.69999999999999996</cx:pt>
          <cx:pt idx="110">0.40000000000000002</cx:pt>
          <cx:pt idx="111">0.40000000000000002</cx:pt>
          <cx:pt idx="112">0.5</cx:pt>
          <cx:pt idx="113">0.46666666666666667</cx:pt>
          <cx:pt idx="114">0.46153846153846156</cx:pt>
          <cx:pt idx="115">0.35714285714285715</cx:pt>
          <cx:pt idx="116">0.3888888888888889</cx:pt>
          <cx:pt idx="117">0.20000000000000001</cx:pt>
          <cx:pt idx="118">0.40000000000000002</cx:pt>
          <cx:pt idx="119">0.31578947368421051</cx:pt>
          <cx:pt idx="120">0.5714285714285714</cx:pt>
          <cx:pt idx="121">0.8571428571428571</cx:pt>
          <cx:pt idx="122">0.5</cx:pt>
          <cx:pt idx="123">0.44444444444444442</cx:pt>
          <cx:pt idx="124">0.5</cx:pt>
          <cx:pt idx="125">0.5</cx:pt>
          <cx:pt idx="126">0.59999999999999998</cx:pt>
          <cx:pt idx="127">0.59999999999999998</cx:pt>
          <cx:pt idx="128">0.5714285714285714</cx:pt>
          <cx:pt idx="129">0.54545454545454541</cx:pt>
          <cx:pt idx="130">0.61538461538461542</cx:pt>
          <cx:pt idx="131">0.36363636363636365</cx:pt>
          <cx:pt idx="132">0.22222222222222221</cx:pt>
          <cx:pt idx="133">0.25</cx:pt>
          <cx:pt idx="134">0.77777777777777779</cx:pt>
          <cx:pt idx="135">0.25</cx:pt>
          <cx:pt idx="136">0.59999999999999998</cx:pt>
          <cx:pt idx="137">0.66666666666666663</cx:pt>
          <cx:pt idx="138">0.42857142857142855</cx:pt>
          <cx:pt idx="139">0.54545454545454541</cx:pt>
          <cx:pt idx="140">0.25</cx:pt>
          <cx:pt idx="141">0.375</cx:pt>
          <cx:pt idx="142">0.40909090909090912</cx:pt>
          <cx:pt idx="143">0.40000000000000002</cx:pt>
          <cx:pt idx="144">0.53333333333333333</cx:pt>
          <cx:pt idx="145">0.45454545454545453</cx:pt>
          <cx:pt idx="146">0.61538461538461542</cx:pt>
          <cx:pt idx="147">0.53333333333333333</cx:pt>
          <cx:pt idx="148">0.23076923076923078</cx:pt>
          <cx:pt idx="149">0.35294117647058826</cx:pt>
          <cx:pt idx="150">0.27777777777777779</cx:pt>
          <cx:pt idx="151">0.53846153846153844</cx:pt>
          <cx:pt idx="152">0.25</cx:pt>
          <cx:pt idx="153">0.33333333333333331</cx:pt>
          <cx:pt idx="154">0.40000000000000002</cx:pt>
          <cx:pt idx="155">0.25</cx:pt>
          <cx:pt idx="156">0.41666666666666669</cx:pt>
          <cx:pt idx="157">0.72727272727272729</cx:pt>
          <cx:pt idx="158">0.63636363636363635</cx:pt>
          <cx:pt idx="159">0.5714285714285714</cx:pt>
          <cx:pt idx="160">0.5714285714285714</cx:pt>
          <cx:pt idx="161">0.77777777777777779</cx:pt>
          <cx:pt idx="162">0.5</cx:pt>
          <cx:pt idx="163">0.53333333333333333</cx:pt>
          <cx:pt idx="164">0.5</cx:pt>
          <cx:pt idx="165">0.66666666666666663</cx:pt>
          <cx:pt idx="166">0.42857142857142855</cx:pt>
          <cx:pt idx="167">0.40000000000000002</cx:pt>
          <cx:pt idx="168">0.375</cx:pt>
          <cx:pt idx="169">0.27272727272727271</cx:pt>
          <cx:pt idx="170">0.5</cx:pt>
          <cx:pt idx="171">0</cx:pt>
          <cx:pt idx="172">0.6428571428571429</cx:pt>
          <cx:pt idx="173">0.5</cx:pt>
          <cx:pt idx="174">0.29411764705882354</cx:pt>
          <cx:pt idx="175">0.44444444444444442</cx:pt>
          <cx:pt idx="176">0.59999999999999998</cx:pt>
          <cx:pt idx="177">0.59999999999999998</cx:pt>
          <cx:pt idx="178">0.55555555555555558</cx:pt>
          <cx:pt idx="179">0.53846153846153844</cx:pt>
          <cx:pt idx="180">0.625</cx:pt>
          <cx:pt idx="181">0.5714285714285714</cx:pt>
          <cx:pt idx="182">0.46666666666666667</cx:pt>
          <cx:pt idx="183">0.5</cx:pt>
          <cx:pt idx="184">0.5</cx:pt>
        </cx:lvl>
      </cx:numDim>
    </cx:data>
  </cx:chartData>
  <cx:chart>
    <cx:title pos="t" align="ctr" overlay="0">
      <cx:tx>
        <cx:txData>
          <cx:v>starter fg%</cx:v>
        </cx:txData>
      </cx:tx>
      <cx:txPr>
        <a:bodyPr spcFirstLastPara="1" vertOverflow="ellipsis" horzOverflow="overflow" wrap="square" lIns="0" tIns="0" rIns="0" bIns="0" anchor="ctr" anchorCtr="1"/>
        <a:lstStyle/>
        <a:p>
          <a:pPr algn="ctr" rtl="0">
            <a:defRPr/>
          </a:pPr>
          <a:r>
            <a:rPr lang="en-GB" sz="1400" b="0" i="0" u="none" strike="noStrike" baseline="0">
              <a:solidFill>
                <a:sysClr val="windowText" lastClr="000000">
                  <a:lumMod val="65000"/>
                  <a:lumOff val="35000"/>
                </a:sysClr>
              </a:solidFill>
              <a:latin typeface="Aptos Narrow" panose="02110004020202020204"/>
            </a:rPr>
            <a:t>starter fg%</a:t>
          </a:r>
        </a:p>
      </cx:txPr>
    </cx:title>
    <cx:plotArea>
      <cx:plotAreaRegion>
        <cx:series layoutId="clusteredColumn" uniqueId="{00000000-9D1A-7946-8061-F4C30A4FC037}">
          <cx:spPr>
            <a:solidFill>
              <a:srgbClr val="C00000"/>
            </a:solidFill>
          </cx:spPr>
          <cx:dataId val="0"/>
          <cx:layoutPr>
            <cx:binning intervalClosed="r"/>
          </cx:layoutPr>
        </cx:series>
      </cx:plotAreaRegion>
      <cx:axis id="0">
        <cx:catScaling gapWidth="0"/>
        <cx:tickLabels/>
      </cx:axis>
      <cx:axis id="1">
        <cx:valScaling/>
        <cx:majorGridlines/>
        <cx:tickLabels/>
      </cx:axis>
    </cx:plotArea>
  </cx:chart>
  <cx:spPr>
    <a:solidFill>
      <a:schemeClr val="bg2"/>
    </a:solidFill>
  </cx:spPr>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copy!$H$2:$H$346</cx:f>
        <cx:lvl ptCount="345" formatCode="0%">
          <cx:pt idx="0">0</cx:pt>
          <cx:pt idx="1">1</cx:pt>
          <cx:pt idx="2">0.75</cx:pt>
          <cx:pt idx="3">0</cx:pt>
          <cx:pt idx="4">0.33333333333333331</cx:pt>
          <cx:pt idx="5">0.40000000000000002</cx:pt>
          <cx:pt idx="6">0.33333333333333331</cx:pt>
          <cx:pt idx="7">0</cx:pt>
          <cx:pt idx="8">0</cx:pt>
          <cx:pt idx="9">0</cx:pt>
          <cx:pt idx="10">1</cx:pt>
          <cx:pt idx="11">0</cx:pt>
          <cx:pt idx="12">0.5</cx:pt>
          <cx:pt idx="13">0.40000000000000002</cx:pt>
          <cx:pt idx="14">1</cx:pt>
          <cx:pt idx="15">0.59999999999999998</cx:pt>
          <cx:pt idx="16">0.5</cx:pt>
          <cx:pt idx="17">0.66666666666666663</cx:pt>
          <cx:pt idx="18">1</cx:pt>
          <cx:pt idx="19">1</cx:pt>
          <cx:pt idx="20">0</cx:pt>
          <cx:pt idx="21">0</cx:pt>
          <cx:pt idx="22">0.66666666666666663</cx:pt>
          <cx:pt idx="23">0</cx:pt>
          <cx:pt idx="24">1</cx:pt>
          <cx:pt idx="25">0.5</cx:pt>
          <cx:pt idx="26">1</cx:pt>
          <cx:pt idx="27">0.41666666666666669</cx:pt>
          <cx:pt idx="28">0</cx:pt>
          <cx:pt idx="29">0</cx:pt>
          <cx:pt idx="30">0</cx:pt>
          <cx:pt idx="31">0</cx:pt>
          <cx:pt idx="32">0.33333333333333331</cx:pt>
          <cx:pt idx="33">0.33333333333333331</cx:pt>
          <cx:pt idx="34">0</cx:pt>
          <cx:pt idx="35">0.8571428571428571</cx:pt>
          <cx:pt idx="36">0.42857142857142855</cx:pt>
          <cx:pt idx="37">0</cx:pt>
          <cx:pt idx="38">0</cx:pt>
          <cx:pt idx="39">0</cx:pt>
          <cx:pt idx="40">0</cx:pt>
          <cx:pt idx="41">0</cx:pt>
          <cx:pt idx="42">0</cx:pt>
          <cx:pt idx="43">0</cx:pt>
          <cx:pt idx="44">0.5</cx:pt>
          <cx:pt idx="45">0</cx:pt>
          <cx:pt idx="46">0.6428571428571429</cx:pt>
          <cx:pt idx="47">0.5</cx:pt>
          <cx:pt idx="48">1</cx:pt>
          <cx:pt idx="49">1</cx:pt>
          <cx:pt idx="50">0.66666666666666663</cx:pt>
          <cx:pt idx="51">0.40000000000000002</cx:pt>
          <cx:pt idx="52">1</cx:pt>
          <cx:pt idx="53">0.44444444444444442</cx:pt>
          <cx:pt idx="54">1</cx:pt>
          <cx:pt idx="55">1</cx:pt>
          <cx:pt idx="56">0</cx:pt>
          <cx:pt idx="57">0</cx:pt>
          <cx:pt idx="58">0.33333333333333331</cx:pt>
          <cx:pt idx="59">0.33333333333333331</cx:pt>
          <cx:pt idx="60">1</cx:pt>
          <cx:pt idx="61">0.29999999999999999</cx:pt>
          <cx:pt idx="62">0</cx:pt>
          <cx:pt idx="63">0.40000000000000002</cx:pt>
          <cx:pt idx="64">0</cx:pt>
          <cx:pt idx="65">0.25</cx:pt>
          <cx:pt idx="66">0</cx:pt>
          <cx:pt idx="67">0.63636363636363635</cx:pt>
          <cx:pt idx="68">1</cx:pt>
          <cx:pt idx="69">0</cx:pt>
          <cx:pt idx="70">0.5</cx:pt>
          <cx:pt idx="71">0.66666666666666663</cx:pt>
          <cx:pt idx="72">0</cx:pt>
          <cx:pt idx="73">0</cx:pt>
          <cx:pt idx="74">0.40000000000000002</cx:pt>
          <cx:pt idx="75">0</cx:pt>
          <cx:pt idx="76">0.5</cx:pt>
          <cx:pt idx="77">0.33333333333333331</cx:pt>
          <cx:pt idx="78">0</cx:pt>
          <cx:pt idx="79">0.33333333333333331</cx:pt>
          <cx:pt idx="80">1</cx:pt>
          <cx:pt idx="81">0.42857142857142855</cx:pt>
          <cx:pt idx="82">0.40000000000000002</cx:pt>
          <cx:pt idx="83">0.20000000000000001</cx:pt>
          <cx:pt idx="84">0.59999999999999998</cx:pt>
          <cx:pt idx="85">0.40000000000000002</cx:pt>
          <cx:pt idx="86">0.5</cx:pt>
          <cx:pt idx="87">0.40000000000000002</cx:pt>
          <cx:pt idx="88">0</cx:pt>
          <cx:pt idx="89">0.5</cx:pt>
          <cx:pt idx="90">0.66666666666666663</cx:pt>
          <cx:pt idx="91">0.5</cx:pt>
          <cx:pt idx="92">0.5714285714285714</cx:pt>
          <cx:pt idx="93">0</cx:pt>
          <cx:pt idx="94">0.40000000000000002</cx:pt>
          <cx:pt idx="95">0.33333333333333331</cx:pt>
          <cx:pt idx="96">0</cx:pt>
          <cx:pt idx="97">1</cx:pt>
          <cx:pt idx="98">0</cx:pt>
          <cx:pt idx="99">0</cx:pt>
          <cx:pt idx="100">0.5</cx:pt>
          <cx:pt idx="101">0.5</cx:pt>
          <cx:pt idx="102">0</cx:pt>
          <cx:pt idx="103">0.5</cx:pt>
          <cx:pt idx="104">0.375</cx:pt>
          <cx:pt idx="105">0</cx:pt>
          <cx:pt idx="106">0</cx:pt>
          <cx:pt idx="107">0.2857142857142857</cx:pt>
          <cx:pt idx="108">0.20000000000000001</cx:pt>
          <cx:pt idx="109">0.66666666666666663</cx:pt>
          <cx:pt idx="110">0</cx:pt>
          <cx:pt idx="111">0</cx:pt>
          <cx:pt idx="112">0</cx:pt>
          <cx:pt idx="113">0.25</cx:pt>
          <cx:pt idx="114">0</cx:pt>
          <cx:pt idx="115">0.33333333333333331</cx:pt>
          <cx:pt idx="116">0</cx:pt>
          <cx:pt idx="117">0.16666666666666666</cx:pt>
          <cx:pt idx="118">0.33333333333333331</cx:pt>
          <cx:pt idx="119">0</cx:pt>
          <cx:pt idx="120">0.5</cx:pt>
          <cx:pt idx="121">0</cx:pt>
          <cx:pt idx="122">1</cx:pt>
          <cx:pt idx="123">0</cx:pt>
          <cx:pt idx="124">0.66666666666666663</cx:pt>
          <cx:pt idx="125">0</cx:pt>
          <cx:pt idx="126">0</cx:pt>
          <cx:pt idx="127">0</cx:pt>
          <cx:pt idx="128">0</cx:pt>
          <cx:pt idx="129">0.375</cx:pt>
          <cx:pt idx="130">0</cx:pt>
          <cx:pt idx="131">0.5</cx:pt>
          <cx:pt idx="132">0.33333333333333331</cx:pt>
          <cx:pt idx="133">0</cx:pt>
          <cx:pt idx="134">0.375</cx:pt>
          <cx:pt idx="135">0.40000000000000002</cx:pt>
          <cx:pt idx="136">0.33333333333333331</cx:pt>
          <cx:pt idx="137">0</cx:pt>
          <cx:pt idx="138">0.40000000000000002</cx:pt>
          <cx:pt idx="139">0</cx:pt>
          <cx:pt idx="140">0.5714285714285714</cx:pt>
          <cx:pt idx="141">0.33333333333333331</cx:pt>
          <cx:pt idx="142">0</cx:pt>
          <cx:pt idx="143">0.16666666666666666</cx:pt>
          <cx:pt idx="144">0.25</cx:pt>
          <cx:pt idx="145">0.75</cx:pt>
          <cx:pt idx="146">0.16666666666666666</cx:pt>
          <cx:pt idx="147">0</cx:pt>
          <cx:pt idx="148">0.33333333333333331</cx:pt>
          <cx:pt idx="149">0.59999999999999998</cx:pt>
          <cx:pt idx="150">0</cx:pt>
          <cx:pt idx="151">0.5</cx:pt>
          <cx:pt idx="152">0.42857142857142855</cx:pt>
          <cx:pt idx="153">0.5</cx:pt>
          <cx:pt idx="154">0.5</cx:pt>
          <cx:pt idx="155">0</cx:pt>
          <cx:pt idx="156">0</cx:pt>
          <cx:pt idx="157">0.5</cx:pt>
          <cx:pt idx="158">0.42857142857142855</cx:pt>
          <cx:pt idx="159">0</cx:pt>
          <cx:pt idx="160">1</cx:pt>
          <cx:pt idx="161">0.5</cx:pt>
          <cx:pt idx="162">0.59999999999999998</cx:pt>
          <cx:pt idx="163">0.5</cx:pt>
          <cx:pt idx="164">0.5</cx:pt>
          <cx:pt idx="165">0.63636363636363635</cx:pt>
          <cx:pt idx="166">0</cx:pt>
          <cx:pt idx="167">0.40000000000000002</cx:pt>
          <cx:pt idx="168">0.33333333333333331</cx:pt>
          <cx:pt idx="169">0.5714285714285714</cx:pt>
          <cx:pt idx="170">0.5</cx:pt>
          <cx:pt idx="171">0.54545454545454541</cx:pt>
          <cx:pt idx="172">0.5</cx:pt>
          <cx:pt idx="173">0.66666666666666663</cx:pt>
          <cx:pt idx="174">0.54545454545454541</cx:pt>
          <cx:pt idx="175">1</cx:pt>
          <cx:pt idx="176">0.69999999999999996</cx:pt>
          <cx:pt idx="177">0.75</cx:pt>
          <cx:pt idx="178">1</cx:pt>
          <cx:pt idx="179">0.44444444444444442</cx:pt>
          <cx:pt idx="180">0.5</cx:pt>
          <cx:pt idx="181">1</cx:pt>
          <cx:pt idx="182">0.66666666666666663</cx:pt>
          <cx:pt idx="183">0.66666666666666663</cx:pt>
          <cx:pt idx="184">0.625</cx:pt>
          <cx:pt idx="185">0.2857142857142857</cx:pt>
          <cx:pt idx="186">0.20000000000000001</cx:pt>
          <cx:pt idx="187">0.5714285714285714</cx:pt>
          <cx:pt idx="188">0.33333333333333331</cx:pt>
          <cx:pt idx="189">0.66666666666666663</cx:pt>
          <cx:pt idx="190">0.5</cx:pt>
          <cx:pt idx="191">0.125</cx:pt>
          <cx:pt idx="192">0.33333333333333331</cx:pt>
          <cx:pt idx="193">0</cx:pt>
          <cx:pt idx="194">0.5</cx:pt>
          <cx:pt idx="195">0.40000000000000002</cx:pt>
          <cx:pt idx="196">1</cx:pt>
          <cx:pt idx="197">0.69999999999999996</cx:pt>
          <cx:pt idx="198">0.16666666666666666</cx:pt>
          <cx:pt idx="199">0.75</cx:pt>
          <cx:pt idx="200">0.5</cx:pt>
          <cx:pt idx="201">0.59999999999999998</cx:pt>
          <cx:pt idx="202">1</cx:pt>
          <cx:pt idx="203">0.63636363636363635</cx:pt>
          <cx:pt idx="204">0.33333333333333331</cx:pt>
          <cx:pt idx="205">0</cx:pt>
          <cx:pt idx="206">0</cx:pt>
          <cx:pt idx="207">0.625</cx:pt>
          <cx:pt idx="208">0.33333333333333331</cx:pt>
          <cx:pt idx="209">0.41666666666666669</cx:pt>
          <cx:pt idx="210">0.5</cx:pt>
          <cx:pt idx="211">0</cx:pt>
          <cx:pt idx="212">0.42857142857142855</cx:pt>
          <cx:pt idx="213">0.5</cx:pt>
          <cx:pt idx="214">0.66666666666666663</cx:pt>
          <cx:pt idx="215">0.5</cx:pt>
          <cx:pt idx="216">0.59999999999999998</cx:pt>
          <cx:pt idx="217">0.33333333333333331</cx:pt>
          <cx:pt idx="218">0.5</cx:pt>
          <cx:pt idx="219">0.54545454545454541</cx:pt>
          <cx:pt idx="220">0.40000000000000002</cx:pt>
          <cx:pt idx="221">0.46666666666666667</cx:pt>
          <cx:pt idx="222">0.25</cx:pt>
          <cx:pt idx="223">1</cx:pt>
          <cx:pt idx="224">0.45454545454545453</cx:pt>
          <cx:pt idx="225">0.59999999999999998</cx:pt>
          <cx:pt idx="226">0</cx:pt>
          <cx:pt idx="227">0.38461538461538464</cx:pt>
          <cx:pt idx="228">0.5</cx:pt>
          <cx:pt idx="229">0.5</cx:pt>
          <cx:pt idx="230">0.625</cx:pt>
          <cx:pt idx="231">0.25</cx:pt>
          <cx:pt idx="232">0</cx:pt>
          <cx:pt idx="233">0.80000000000000004</cx:pt>
          <cx:pt idx="234">0.5</cx:pt>
          <cx:pt idx="235">0.8571428571428571</cx:pt>
          <cx:pt idx="236">0.66666666666666663</cx:pt>
          <cx:pt idx="237">0.75</cx:pt>
          <cx:pt idx="238">0.625</cx:pt>
          <cx:pt idx="239">0.40000000000000002</cx:pt>
          <cx:pt idx="240">0.83333333333333337</cx:pt>
          <cx:pt idx="241">0.5</cx:pt>
          <cx:pt idx="242">0.36363636363636365</cx:pt>
          <cx:pt idx="243">0.5</cx:pt>
          <cx:pt idx="244">0.5</cx:pt>
          <cx:pt idx="245">0.44444444444444442</cx:pt>
          <cx:pt idx="246">0</cx:pt>
          <cx:pt idx="247">1</cx:pt>
          <cx:pt idx="248">0.66666666666666663</cx:pt>
          <cx:pt idx="249">0.54545454545454541</cx:pt>
          <cx:pt idx="250">0.5</cx:pt>
          <cx:pt idx="251">0.88888888888888884</cx:pt>
          <cx:pt idx="252">0.59999999999999998</cx:pt>
          <cx:pt idx="253">0.33333333333333331</cx:pt>
          <cx:pt idx="254">0.375</cx:pt>
          <cx:pt idx="255">0.45454545454545453</cx:pt>
          <cx:pt idx="256">0.75</cx:pt>
          <cx:pt idx="257">0.41666666666666669</cx:pt>
          <cx:pt idx="258">0.375</cx:pt>
          <cx:pt idx="259">1</cx:pt>
          <cx:pt idx="260">0.77777777777777779</cx:pt>
          <cx:pt idx="261">0.42857142857142855</cx:pt>
          <cx:pt idx="262">0.33333333333333331</cx:pt>
          <cx:pt idx="263">0.38461538461538464</cx:pt>
          <cx:pt idx="264">0.625</cx:pt>
          <cx:pt idx="265">0.5</cx:pt>
          <cx:pt idx="266">0.29999999999999999</cx:pt>
          <cx:pt idx="267">0.33333333333333331</cx:pt>
          <cx:pt idx="268">0.63636363636363635</cx:pt>
          <cx:pt idx="269">0.69999999999999996</cx:pt>
          <cx:pt idx="270">0.40000000000000002</cx:pt>
          <cx:pt idx="271">0.40000000000000002</cx:pt>
          <cx:pt idx="272">0.5</cx:pt>
          <cx:pt idx="273">0.46666666666666667</cx:pt>
          <cx:pt idx="274">0.46153846153846156</cx:pt>
          <cx:pt idx="275">0.35714285714285715</cx:pt>
          <cx:pt idx="276">0.3888888888888889</cx:pt>
          <cx:pt idx="277">0.20000000000000001</cx:pt>
          <cx:pt idx="278">0.40000000000000002</cx:pt>
          <cx:pt idx="279">0.31578947368421051</cx:pt>
          <cx:pt idx="280">0.5714285714285714</cx:pt>
          <cx:pt idx="281">0.8571428571428571</cx:pt>
          <cx:pt idx="282">0.5</cx:pt>
          <cx:pt idx="283">0.44444444444444442</cx:pt>
          <cx:pt idx="284">0.5</cx:pt>
          <cx:pt idx="285">0.5</cx:pt>
          <cx:pt idx="286">0.59999999999999998</cx:pt>
          <cx:pt idx="287">0.59999999999999998</cx:pt>
          <cx:pt idx="288">0.5714285714285714</cx:pt>
          <cx:pt idx="289">0.54545454545454541</cx:pt>
          <cx:pt idx="290">0.61538461538461542</cx:pt>
          <cx:pt idx="291">0.36363636363636365</cx:pt>
          <cx:pt idx="292">0.22222222222222221</cx:pt>
          <cx:pt idx="293">0.25</cx:pt>
          <cx:pt idx="294">0.77777777777777779</cx:pt>
          <cx:pt idx="295">0.25</cx:pt>
          <cx:pt idx="296">0.59999999999999998</cx:pt>
          <cx:pt idx="297">0.66666666666666663</cx:pt>
          <cx:pt idx="298">0.42857142857142855</cx:pt>
          <cx:pt idx="299">0.54545454545454541</cx:pt>
          <cx:pt idx="300">0.25</cx:pt>
          <cx:pt idx="301">0.375</cx:pt>
          <cx:pt idx="302">0.40909090909090912</cx:pt>
          <cx:pt idx="303">0.40000000000000002</cx:pt>
          <cx:pt idx="304">0.53333333333333333</cx:pt>
          <cx:pt idx="305">0.45454545454545453</cx:pt>
          <cx:pt idx="306">0.61538461538461542</cx:pt>
          <cx:pt idx="307">0.53333333333333333</cx:pt>
          <cx:pt idx="308">0.23076923076923078</cx:pt>
          <cx:pt idx="309">0.35294117647058826</cx:pt>
          <cx:pt idx="310">0.27777777777777779</cx:pt>
          <cx:pt idx="311">0.53846153846153844</cx:pt>
          <cx:pt idx="312">0.25</cx:pt>
          <cx:pt idx="313">0.33333333333333331</cx:pt>
          <cx:pt idx="314">0.40000000000000002</cx:pt>
          <cx:pt idx="315">0.25</cx:pt>
          <cx:pt idx="316">0.41666666666666669</cx:pt>
          <cx:pt idx="317">0.72727272727272729</cx:pt>
          <cx:pt idx="318">0.63636363636363635</cx:pt>
          <cx:pt idx="319">0.5714285714285714</cx:pt>
          <cx:pt idx="320">0.5714285714285714</cx:pt>
          <cx:pt idx="321">0.77777777777777779</cx:pt>
          <cx:pt idx="322">0.5</cx:pt>
          <cx:pt idx="323">0.53333333333333333</cx:pt>
          <cx:pt idx="324">0.5</cx:pt>
          <cx:pt idx="325">0.66666666666666663</cx:pt>
          <cx:pt idx="326">0.42857142857142855</cx:pt>
          <cx:pt idx="327">0.40000000000000002</cx:pt>
          <cx:pt idx="328">0.375</cx:pt>
          <cx:pt idx="329">0.27272727272727271</cx:pt>
          <cx:pt idx="330">0.5</cx:pt>
          <cx:pt idx="331">0</cx:pt>
          <cx:pt idx="332">0.6428571428571429</cx:pt>
          <cx:pt idx="333">0.5</cx:pt>
          <cx:pt idx="334">0.29411764705882354</cx:pt>
          <cx:pt idx="335">0.44444444444444442</cx:pt>
          <cx:pt idx="336">0.59999999999999998</cx:pt>
          <cx:pt idx="337">0.59999999999999998</cx:pt>
          <cx:pt idx="338">0.55555555555555558</cx:pt>
          <cx:pt idx="339">0.53846153846153844</cx:pt>
          <cx:pt idx="340">0.625</cx:pt>
          <cx:pt idx="341">0.5714285714285714</cx:pt>
          <cx:pt idx="342">0.46666666666666667</cx:pt>
          <cx:pt idx="343">0.5</cx:pt>
          <cx:pt idx="344">0.5</cx:pt>
        </cx:lvl>
      </cx:numDim>
    </cx:data>
  </cx:chartData>
  <cx:chart>
    <cx:title pos="t" align="ctr" overlay="0">
      <cx:tx>
        <cx:txData>
          <cx:v>team fg%</cx:v>
        </cx:txData>
      </cx:tx>
      <cx:txPr>
        <a:bodyPr spcFirstLastPara="1" vertOverflow="ellipsis" horzOverflow="overflow" wrap="square" lIns="0" tIns="0" rIns="0" bIns="0" anchor="ctr" anchorCtr="1"/>
        <a:lstStyle/>
        <a:p>
          <a:pPr algn="ctr" rtl="0">
            <a:defRPr/>
          </a:pPr>
          <a:r>
            <a:rPr lang="en-GB" sz="1400" b="0" i="0" u="none" strike="noStrike" baseline="0">
              <a:solidFill>
                <a:sysClr val="windowText" lastClr="000000">
                  <a:lumMod val="65000"/>
                  <a:lumOff val="35000"/>
                </a:sysClr>
              </a:solidFill>
              <a:latin typeface="Aptos Narrow" panose="02110004020202020204"/>
            </a:rPr>
            <a:t>team fg%</a:t>
          </a:r>
        </a:p>
      </cx:txPr>
    </cx:title>
    <cx:plotArea>
      <cx:plotAreaRegion>
        <cx:series layoutId="clusteredColumn" uniqueId="{6CB5FE8D-0971-474F-8631-1CFB84851DF7}">
          <cx:tx>
            <cx:txData>
              <cx:f>copy!$H$1</cx:f>
              <cx:v>fg%</cx:v>
            </cx:txData>
          </cx:tx>
          <cx:dataLabels pos="inEnd">
            <cx:visibility seriesName="0" categoryName="0" value="1"/>
          </cx:dataLabels>
          <cx:dataId val="0"/>
          <cx:layoutPr>
            <cx:binning intervalClosed="r"/>
          </cx:layoutPr>
        </cx:series>
      </cx:plotAreaRegion>
      <cx:axis id="0">
        <cx:catScaling gapWidth="0"/>
        <cx:tickLabels/>
      </cx:axis>
      <cx:axis id="1">
        <cx:valScaling/>
        <cx:majorGridlines/>
        <cx:tickLabels/>
      </cx:axis>
    </cx:plotArea>
  </cx:chart>
  <cx:spPr>
    <a:solidFill>
      <a:schemeClr val="bg2"/>
    </a:solidFill>
  </cx:spPr>
</cx:chartSpace>
</file>

<file path=ppt/charts/chartEx5.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copy!$H$162:$H$346</cx:f>
        <cx:lvl ptCount="185" formatCode="0%">
          <cx:pt idx="0">1</cx:pt>
          <cx:pt idx="1">0.5</cx:pt>
          <cx:pt idx="2">0.59999999999999998</cx:pt>
          <cx:pt idx="3">0.5</cx:pt>
          <cx:pt idx="4">0.5</cx:pt>
          <cx:pt idx="5">0.63636363636363635</cx:pt>
          <cx:pt idx="6">0</cx:pt>
          <cx:pt idx="7">0.40000000000000002</cx:pt>
          <cx:pt idx="8">0.33333333333333331</cx:pt>
          <cx:pt idx="9">0.5714285714285714</cx:pt>
          <cx:pt idx="10">0.5</cx:pt>
          <cx:pt idx="11">0.54545454545454541</cx:pt>
          <cx:pt idx="12">0.5</cx:pt>
          <cx:pt idx="13">0.66666666666666663</cx:pt>
          <cx:pt idx="14">0.54545454545454541</cx:pt>
          <cx:pt idx="15">1</cx:pt>
          <cx:pt idx="16">0.69999999999999996</cx:pt>
          <cx:pt idx="17">0.75</cx:pt>
          <cx:pt idx="18">1</cx:pt>
          <cx:pt idx="19">0.44444444444444442</cx:pt>
          <cx:pt idx="20">0.5</cx:pt>
          <cx:pt idx="21">1</cx:pt>
          <cx:pt idx="22">0.66666666666666663</cx:pt>
          <cx:pt idx="23">0.66666666666666663</cx:pt>
          <cx:pt idx="24">0.625</cx:pt>
          <cx:pt idx="25">0.2857142857142857</cx:pt>
          <cx:pt idx="26">0.20000000000000001</cx:pt>
          <cx:pt idx="27">0.5714285714285714</cx:pt>
          <cx:pt idx="28">0.33333333333333331</cx:pt>
          <cx:pt idx="29">0.66666666666666663</cx:pt>
          <cx:pt idx="30">0.5</cx:pt>
          <cx:pt idx="31">0.125</cx:pt>
          <cx:pt idx="32">0.33333333333333331</cx:pt>
          <cx:pt idx="33">0</cx:pt>
          <cx:pt idx="34">0.5</cx:pt>
          <cx:pt idx="35">0.40000000000000002</cx:pt>
          <cx:pt idx="36">1</cx:pt>
          <cx:pt idx="37">0.69999999999999996</cx:pt>
          <cx:pt idx="38">0.16666666666666666</cx:pt>
          <cx:pt idx="39">0.75</cx:pt>
          <cx:pt idx="40">0.5</cx:pt>
          <cx:pt idx="41">0.59999999999999998</cx:pt>
          <cx:pt idx="42">1</cx:pt>
          <cx:pt idx="43">0.63636363636363635</cx:pt>
          <cx:pt idx="44">0.33333333333333331</cx:pt>
          <cx:pt idx="45">0</cx:pt>
          <cx:pt idx="46">0</cx:pt>
          <cx:pt idx="47">0.625</cx:pt>
          <cx:pt idx="48">0.33333333333333331</cx:pt>
          <cx:pt idx="49">0.41666666666666669</cx:pt>
          <cx:pt idx="50">0.5</cx:pt>
          <cx:pt idx="51">0</cx:pt>
          <cx:pt idx="52">0.42857142857142855</cx:pt>
          <cx:pt idx="53">0.5</cx:pt>
          <cx:pt idx="54">0.66666666666666663</cx:pt>
          <cx:pt idx="55">0.5</cx:pt>
          <cx:pt idx="56">0.59999999999999998</cx:pt>
          <cx:pt idx="57">0.33333333333333331</cx:pt>
          <cx:pt idx="58">0.5</cx:pt>
          <cx:pt idx="59">0.54545454545454541</cx:pt>
          <cx:pt idx="60">0.40000000000000002</cx:pt>
          <cx:pt idx="61">0.46666666666666667</cx:pt>
          <cx:pt idx="62">0.25</cx:pt>
          <cx:pt idx="63">1</cx:pt>
          <cx:pt idx="64">0.45454545454545453</cx:pt>
          <cx:pt idx="65">0.59999999999999998</cx:pt>
          <cx:pt idx="66">0</cx:pt>
          <cx:pt idx="67">0.38461538461538464</cx:pt>
          <cx:pt idx="68">0.5</cx:pt>
          <cx:pt idx="69">0.5</cx:pt>
          <cx:pt idx="70">0.625</cx:pt>
          <cx:pt idx="71">0.25</cx:pt>
          <cx:pt idx="72">0</cx:pt>
          <cx:pt idx="73">0.80000000000000004</cx:pt>
          <cx:pt idx="74">0.5</cx:pt>
          <cx:pt idx="75">0.8571428571428571</cx:pt>
          <cx:pt idx="76">0.66666666666666663</cx:pt>
          <cx:pt idx="77">0.75</cx:pt>
          <cx:pt idx="78">0.625</cx:pt>
          <cx:pt idx="79">0.40000000000000002</cx:pt>
          <cx:pt idx="80">0.83333333333333337</cx:pt>
          <cx:pt idx="81">0.5</cx:pt>
          <cx:pt idx="82">0.36363636363636365</cx:pt>
          <cx:pt idx="83">0.5</cx:pt>
          <cx:pt idx="84">0.5</cx:pt>
          <cx:pt idx="85">0.44444444444444442</cx:pt>
          <cx:pt idx="86">0</cx:pt>
          <cx:pt idx="87">1</cx:pt>
          <cx:pt idx="88">0.66666666666666663</cx:pt>
          <cx:pt idx="89">0.54545454545454541</cx:pt>
          <cx:pt idx="90">0.5</cx:pt>
          <cx:pt idx="91">0.88888888888888884</cx:pt>
          <cx:pt idx="92">0.59999999999999998</cx:pt>
          <cx:pt idx="93">0.33333333333333331</cx:pt>
          <cx:pt idx="94">0.375</cx:pt>
          <cx:pt idx="95">0.45454545454545453</cx:pt>
          <cx:pt idx="96">0.75</cx:pt>
          <cx:pt idx="97">0.41666666666666669</cx:pt>
          <cx:pt idx="98">0.375</cx:pt>
          <cx:pt idx="99">1</cx:pt>
          <cx:pt idx="100">0.77777777777777779</cx:pt>
          <cx:pt idx="101">0.42857142857142855</cx:pt>
          <cx:pt idx="102">0.33333333333333331</cx:pt>
          <cx:pt idx="103">0.38461538461538464</cx:pt>
          <cx:pt idx="104">0.625</cx:pt>
          <cx:pt idx="105">0.5</cx:pt>
          <cx:pt idx="106">0.29999999999999999</cx:pt>
          <cx:pt idx="107">0.33333333333333331</cx:pt>
          <cx:pt idx="108">0.63636363636363635</cx:pt>
          <cx:pt idx="109">0.69999999999999996</cx:pt>
          <cx:pt idx="110">0.40000000000000002</cx:pt>
          <cx:pt idx="111">0.40000000000000002</cx:pt>
          <cx:pt idx="112">0.5</cx:pt>
          <cx:pt idx="113">0.46666666666666667</cx:pt>
          <cx:pt idx="114">0.46153846153846156</cx:pt>
          <cx:pt idx="115">0.35714285714285715</cx:pt>
          <cx:pt idx="116">0.3888888888888889</cx:pt>
          <cx:pt idx="117">0.20000000000000001</cx:pt>
          <cx:pt idx="118">0.40000000000000002</cx:pt>
          <cx:pt idx="119">0.31578947368421051</cx:pt>
          <cx:pt idx="120">0.5714285714285714</cx:pt>
          <cx:pt idx="121">0.8571428571428571</cx:pt>
          <cx:pt idx="122">0.5</cx:pt>
          <cx:pt idx="123">0.44444444444444442</cx:pt>
          <cx:pt idx="124">0.5</cx:pt>
          <cx:pt idx="125">0.5</cx:pt>
          <cx:pt idx="126">0.59999999999999998</cx:pt>
          <cx:pt idx="127">0.59999999999999998</cx:pt>
          <cx:pt idx="128">0.5714285714285714</cx:pt>
          <cx:pt idx="129">0.54545454545454541</cx:pt>
          <cx:pt idx="130">0.61538461538461542</cx:pt>
          <cx:pt idx="131">0.36363636363636365</cx:pt>
          <cx:pt idx="132">0.22222222222222221</cx:pt>
          <cx:pt idx="133">0.25</cx:pt>
          <cx:pt idx="134">0.77777777777777779</cx:pt>
          <cx:pt idx="135">0.25</cx:pt>
          <cx:pt idx="136">0.59999999999999998</cx:pt>
          <cx:pt idx="137">0.66666666666666663</cx:pt>
          <cx:pt idx="138">0.42857142857142855</cx:pt>
          <cx:pt idx="139">0.54545454545454541</cx:pt>
          <cx:pt idx="140">0.25</cx:pt>
          <cx:pt idx="141">0.375</cx:pt>
          <cx:pt idx="142">0.40909090909090912</cx:pt>
          <cx:pt idx="143">0.40000000000000002</cx:pt>
          <cx:pt idx="144">0.53333333333333333</cx:pt>
          <cx:pt idx="145">0.45454545454545453</cx:pt>
          <cx:pt idx="146">0.61538461538461542</cx:pt>
          <cx:pt idx="147">0.53333333333333333</cx:pt>
          <cx:pt idx="148">0.23076923076923078</cx:pt>
          <cx:pt idx="149">0.35294117647058826</cx:pt>
          <cx:pt idx="150">0.27777777777777779</cx:pt>
          <cx:pt idx="151">0.53846153846153844</cx:pt>
          <cx:pt idx="152">0.25</cx:pt>
          <cx:pt idx="153">0.33333333333333331</cx:pt>
          <cx:pt idx="154">0.40000000000000002</cx:pt>
          <cx:pt idx="155">0.25</cx:pt>
          <cx:pt idx="156">0.41666666666666669</cx:pt>
          <cx:pt idx="157">0.72727272727272729</cx:pt>
          <cx:pt idx="158">0.63636363636363635</cx:pt>
          <cx:pt idx="159">0.5714285714285714</cx:pt>
          <cx:pt idx="160">0.5714285714285714</cx:pt>
          <cx:pt idx="161">0.77777777777777779</cx:pt>
          <cx:pt idx="162">0.5</cx:pt>
          <cx:pt idx="163">0.53333333333333333</cx:pt>
          <cx:pt idx="164">0.5</cx:pt>
          <cx:pt idx="165">0.66666666666666663</cx:pt>
          <cx:pt idx="166">0.42857142857142855</cx:pt>
          <cx:pt idx="167">0.40000000000000002</cx:pt>
          <cx:pt idx="168">0.375</cx:pt>
          <cx:pt idx="169">0.27272727272727271</cx:pt>
          <cx:pt idx="170">0.5</cx:pt>
          <cx:pt idx="171">0</cx:pt>
          <cx:pt idx="172">0.6428571428571429</cx:pt>
          <cx:pt idx="173">0.5</cx:pt>
          <cx:pt idx="174">0.29411764705882354</cx:pt>
          <cx:pt idx="175">0.44444444444444442</cx:pt>
          <cx:pt idx="176">0.59999999999999998</cx:pt>
          <cx:pt idx="177">0.59999999999999998</cx:pt>
          <cx:pt idx="178">0.55555555555555558</cx:pt>
          <cx:pt idx="179">0.53846153846153844</cx:pt>
          <cx:pt idx="180">0.625</cx:pt>
          <cx:pt idx="181">0.5714285714285714</cx:pt>
          <cx:pt idx="182">0.46666666666666667</cx:pt>
          <cx:pt idx="183">0.5</cx:pt>
          <cx:pt idx="184">0.5</cx:pt>
        </cx:lvl>
      </cx:numDim>
    </cx:data>
  </cx:chartData>
  <cx:chart>
    <cx:title pos="t" align="ctr" overlay="0">
      <cx:tx>
        <cx:txData>
          <cx:v>starter fg%</cx:v>
        </cx:txData>
      </cx:tx>
      <cx:txPr>
        <a:bodyPr spcFirstLastPara="1" vertOverflow="ellipsis" horzOverflow="overflow" wrap="square" lIns="0" tIns="0" rIns="0" bIns="0" anchor="ctr" anchorCtr="1"/>
        <a:lstStyle/>
        <a:p>
          <a:pPr algn="ctr" rtl="0">
            <a:defRPr/>
          </a:pPr>
          <a:r>
            <a:rPr lang="en-GB" sz="1400" b="0" i="0" u="none" strike="noStrike" baseline="0">
              <a:solidFill>
                <a:sysClr val="windowText" lastClr="000000">
                  <a:lumMod val="65000"/>
                  <a:lumOff val="35000"/>
                </a:sysClr>
              </a:solidFill>
              <a:latin typeface="Aptos Narrow" panose="02110004020202020204"/>
            </a:rPr>
            <a:t>starter fg%</a:t>
          </a:r>
        </a:p>
      </cx:txPr>
    </cx:title>
    <cx:plotArea>
      <cx:plotAreaRegion>
        <cx:series layoutId="clusteredColumn" uniqueId="{00000000-9D1A-7946-8061-F4C30A4FC037}">
          <cx:spPr>
            <a:solidFill>
              <a:srgbClr val="C00000"/>
            </a:solidFill>
          </cx:spPr>
          <cx:dataId val="0"/>
          <cx:layoutPr>
            <cx:binning intervalClosed="r"/>
          </cx:layoutPr>
        </cx:series>
      </cx:plotAreaRegion>
      <cx:axis id="0">
        <cx:catScaling gapWidth="0"/>
        <cx:tickLabels/>
      </cx:axis>
      <cx:axis id="1">
        <cx:valScaling/>
        <cx:majorGridlines/>
        <cx:tickLabels/>
      </cx:axis>
    </cx:plotArea>
  </cx:chart>
  <cx:spPr>
    <a:solidFill>
      <a:schemeClr val="bg2"/>
    </a:solidFill>
  </cx:spPr>
</cx:chartSpace>
</file>

<file path=ppt/charts/chartEx6.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copy!$H$2:$H$346</cx:f>
        <cx:lvl ptCount="345" formatCode="0%">
          <cx:pt idx="0">0</cx:pt>
          <cx:pt idx="1">1</cx:pt>
          <cx:pt idx="2">0.75</cx:pt>
          <cx:pt idx="3">0</cx:pt>
          <cx:pt idx="4">0.33333333333333331</cx:pt>
          <cx:pt idx="5">0.40000000000000002</cx:pt>
          <cx:pt idx="6">0.33333333333333331</cx:pt>
          <cx:pt idx="7">0</cx:pt>
          <cx:pt idx="8">0</cx:pt>
          <cx:pt idx="9">0</cx:pt>
          <cx:pt idx="10">1</cx:pt>
          <cx:pt idx="11">0</cx:pt>
          <cx:pt idx="12">0.5</cx:pt>
          <cx:pt idx="13">0.40000000000000002</cx:pt>
          <cx:pt idx="14">1</cx:pt>
          <cx:pt idx="15">0.59999999999999998</cx:pt>
          <cx:pt idx="16">0.5</cx:pt>
          <cx:pt idx="17">0.66666666666666663</cx:pt>
          <cx:pt idx="18">1</cx:pt>
          <cx:pt idx="19">1</cx:pt>
          <cx:pt idx="20">0</cx:pt>
          <cx:pt idx="21">0</cx:pt>
          <cx:pt idx="22">0.66666666666666663</cx:pt>
          <cx:pt idx="23">0</cx:pt>
          <cx:pt idx="24">1</cx:pt>
          <cx:pt idx="25">0.5</cx:pt>
          <cx:pt idx="26">1</cx:pt>
          <cx:pt idx="27">0.41666666666666669</cx:pt>
          <cx:pt idx="28">0</cx:pt>
          <cx:pt idx="29">0</cx:pt>
          <cx:pt idx="30">0</cx:pt>
          <cx:pt idx="31">0</cx:pt>
          <cx:pt idx="32">0.33333333333333331</cx:pt>
          <cx:pt idx="33">0.33333333333333331</cx:pt>
          <cx:pt idx="34">0</cx:pt>
          <cx:pt idx="35">0.8571428571428571</cx:pt>
          <cx:pt idx="36">0.42857142857142855</cx:pt>
          <cx:pt idx="37">0</cx:pt>
          <cx:pt idx="38">0</cx:pt>
          <cx:pt idx="39">0</cx:pt>
          <cx:pt idx="40">0</cx:pt>
          <cx:pt idx="41">0</cx:pt>
          <cx:pt idx="42">0</cx:pt>
          <cx:pt idx="43">0</cx:pt>
          <cx:pt idx="44">0.5</cx:pt>
          <cx:pt idx="45">0</cx:pt>
          <cx:pt idx="46">0.6428571428571429</cx:pt>
          <cx:pt idx="47">0.5</cx:pt>
          <cx:pt idx="48">1</cx:pt>
          <cx:pt idx="49">1</cx:pt>
          <cx:pt idx="50">0.66666666666666663</cx:pt>
          <cx:pt idx="51">0.40000000000000002</cx:pt>
          <cx:pt idx="52">1</cx:pt>
          <cx:pt idx="53">0.44444444444444442</cx:pt>
          <cx:pt idx="54">1</cx:pt>
          <cx:pt idx="55">1</cx:pt>
          <cx:pt idx="56">0</cx:pt>
          <cx:pt idx="57">0</cx:pt>
          <cx:pt idx="58">0.33333333333333331</cx:pt>
          <cx:pt idx="59">0.33333333333333331</cx:pt>
          <cx:pt idx="60">1</cx:pt>
          <cx:pt idx="61">0.29999999999999999</cx:pt>
          <cx:pt idx="62">0</cx:pt>
          <cx:pt idx="63">0.40000000000000002</cx:pt>
          <cx:pt idx="64">0</cx:pt>
          <cx:pt idx="65">0.25</cx:pt>
          <cx:pt idx="66">0</cx:pt>
          <cx:pt idx="67">0.63636363636363635</cx:pt>
          <cx:pt idx="68">1</cx:pt>
          <cx:pt idx="69">0</cx:pt>
          <cx:pt idx="70">0.5</cx:pt>
          <cx:pt idx="71">0.66666666666666663</cx:pt>
          <cx:pt idx="72">0</cx:pt>
          <cx:pt idx="73">0</cx:pt>
          <cx:pt idx="74">0.40000000000000002</cx:pt>
          <cx:pt idx="75">0</cx:pt>
          <cx:pt idx="76">0.5</cx:pt>
          <cx:pt idx="77">0.33333333333333331</cx:pt>
          <cx:pt idx="78">0</cx:pt>
          <cx:pt idx="79">0.33333333333333331</cx:pt>
          <cx:pt idx="80">1</cx:pt>
          <cx:pt idx="81">0.42857142857142855</cx:pt>
          <cx:pt idx="82">0.40000000000000002</cx:pt>
          <cx:pt idx="83">0.20000000000000001</cx:pt>
          <cx:pt idx="84">0.59999999999999998</cx:pt>
          <cx:pt idx="85">0.40000000000000002</cx:pt>
          <cx:pt idx="86">0.5</cx:pt>
          <cx:pt idx="87">0.40000000000000002</cx:pt>
          <cx:pt idx="88">0</cx:pt>
          <cx:pt idx="89">0.5</cx:pt>
          <cx:pt idx="90">0.66666666666666663</cx:pt>
          <cx:pt idx="91">0.5</cx:pt>
          <cx:pt idx="92">0.5714285714285714</cx:pt>
          <cx:pt idx="93">0</cx:pt>
          <cx:pt idx="94">0.40000000000000002</cx:pt>
          <cx:pt idx="95">0.33333333333333331</cx:pt>
          <cx:pt idx="96">0</cx:pt>
          <cx:pt idx="97">1</cx:pt>
          <cx:pt idx="98">0</cx:pt>
          <cx:pt idx="99">0</cx:pt>
          <cx:pt idx="100">0.5</cx:pt>
          <cx:pt idx="101">0.5</cx:pt>
          <cx:pt idx="102">0</cx:pt>
          <cx:pt idx="103">0.5</cx:pt>
          <cx:pt idx="104">0.375</cx:pt>
          <cx:pt idx="105">0</cx:pt>
          <cx:pt idx="106">0</cx:pt>
          <cx:pt idx="107">0.2857142857142857</cx:pt>
          <cx:pt idx="108">0.20000000000000001</cx:pt>
          <cx:pt idx="109">0.66666666666666663</cx:pt>
          <cx:pt idx="110">0</cx:pt>
          <cx:pt idx="111">0</cx:pt>
          <cx:pt idx="112">0</cx:pt>
          <cx:pt idx="113">0.25</cx:pt>
          <cx:pt idx="114">0</cx:pt>
          <cx:pt idx="115">0.33333333333333331</cx:pt>
          <cx:pt idx="116">0</cx:pt>
          <cx:pt idx="117">0.16666666666666666</cx:pt>
          <cx:pt idx="118">0.33333333333333331</cx:pt>
          <cx:pt idx="119">0</cx:pt>
          <cx:pt idx="120">0.5</cx:pt>
          <cx:pt idx="121">0</cx:pt>
          <cx:pt idx="122">1</cx:pt>
          <cx:pt idx="123">0</cx:pt>
          <cx:pt idx="124">0.66666666666666663</cx:pt>
          <cx:pt idx="125">0</cx:pt>
          <cx:pt idx="126">0</cx:pt>
          <cx:pt idx="127">0</cx:pt>
          <cx:pt idx="128">0</cx:pt>
          <cx:pt idx="129">0.375</cx:pt>
          <cx:pt idx="130">0</cx:pt>
          <cx:pt idx="131">0.5</cx:pt>
          <cx:pt idx="132">0.33333333333333331</cx:pt>
          <cx:pt idx="133">0</cx:pt>
          <cx:pt idx="134">0.375</cx:pt>
          <cx:pt idx="135">0.40000000000000002</cx:pt>
          <cx:pt idx="136">0.33333333333333331</cx:pt>
          <cx:pt idx="137">0</cx:pt>
          <cx:pt idx="138">0.40000000000000002</cx:pt>
          <cx:pt idx="139">0</cx:pt>
          <cx:pt idx="140">0.5714285714285714</cx:pt>
          <cx:pt idx="141">0.33333333333333331</cx:pt>
          <cx:pt idx="142">0</cx:pt>
          <cx:pt idx="143">0.16666666666666666</cx:pt>
          <cx:pt idx="144">0.25</cx:pt>
          <cx:pt idx="145">0.75</cx:pt>
          <cx:pt idx="146">0.16666666666666666</cx:pt>
          <cx:pt idx="147">0</cx:pt>
          <cx:pt idx="148">0.33333333333333331</cx:pt>
          <cx:pt idx="149">0.59999999999999998</cx:pt>
          <cx:pt idx="150">0</cx:pt>
          <cx:pt idx="151">0.5</cx:pt>
          <cx:pt idx="152">0.42857142857142855</cx:pt>
          <cx:pt idx="153">0.5</cx:pt>
          <cx:pt idx="154">0.5</cx:pt>
          <cx:pt idx="155">0</cx:pt>
          <cx:pt idx="156">0</cx:pt>
          <cx:pt idx="157">0.5</cx:pt>
          <cx:pt idx="158">0.42857142857142855</cx:pt>
          <cx:pt idx="159">0</cx:pt>
          <cx:pt idx="160">1</cx:pt>
          <cx:pt idx="161">0.5</cx:pt>
          <cx:pt idx="162">0.59999999999999998</cx:pt>
          <cx:pt idx="163">0.5</cx:pt>
          <cx:pt idx="164">0.5</cx:pt>
          <cx:pt idx="165">0.63636363636363635</cx:pt>
          <cx:pt idx="166">0</cx:pt>
          <cx:pt idx="167">0.40000000000000002</cx:pt>
          <cx:pt idx="168">0.33333333333333331</cx:pt>
          <cx:pt idx="169">0.5714285714285714</cx:pt>
          <cx:pt idx="170">0.5</cx:pt>
          <cx:pt idx="171">0.54545454545454541</cx:pt>
          <cx:pt idx="172">0.5</cx:pt>
          <cx:pt idx="173">0.66666666666666663</cx:pt>
          <cx:pt idx="174">0.54545454545454541</cx:pt>
          <cx:pt idx="175">1</cx:pt>
          <cx:pt idx="176">0.69999999999999996</cx:pt>
          <cx:pt idx="177">0.75</cx:pt>
          <cx:pt idx="178">1</cx:pt>
          <cx:pt idx="179">0.44444444444444442</cx:pt>
          <cx:pt idx="180">0.5</cx:pt>
          <cx:pt idx="181">1</cx:pt>
          <cx:pt idx="182">0.66666666666666663</cx:pt>
          <cx:pt idx="183">0.66666666666666663</cx:pt>
          <cx:pt idx="184">0.625</cx:pt>
          <cx:pt idx="185">0.2857142857142857</cx:pt>
          <cx:pt idx="186">0.20000000000000001</cx:pt>
          <cx:pt idx="187">0.5714285714285714</cx:pt>
          <cx:pt idx="188">0.33333333333333331</cx:pt>
          <cx:pt idx="189">0.66666666666666663</cx:pt>
          <cx:pt idx="190">0.5</cx:pt>
          <cx:pt idx="191">0.125</cx:pt>
          <cx:pt idx="192">0.33333333333333331</cx:pt>
          <cx:pt idx="193">0</cx:pt>
          <cx:pt idx="194">0.5</cx:pt>
          <cx:pt idx="195">0.40000000000000002</cx:pt>
          <cx:pt idx="196">1</cx:pt>
          <cx:pt idx="197">0.69999999999999996</cx:pt>
          <cx:pt idx="198">0.16666666666666666</cx:pt>
          <cx:pt idx="199">0.75</cx:pt>
          <cx:pt idx="200">0.5</cx:pt>
          <cx:pt idx="201">0.59999999999999998</cx:pt>
          <cx:pt idx="202">1</cx:pt>
          <cx:pt idx="203">0.63636363636363635</cx:pt>
          <cx:pt idx="204">0.33333333333333331</cx:pt>
          <cx:pt idx="205">0</cx:pt>
          <cx:pt idx="206">0</cx:pt>
          <cx:pt idx="207">0.625</cx:pt>
          <cx:pt idx="208">0.33333333333333331</cx:pt>
          <cx:pt idx="209">0.41666666666666669</cx:pt>
          <cx:pt idx="210">0.5</cx:pt>
          <cx:pt idx="211">0</cx:pt>
          <cx:pt idx="212">0.42857142857142855</cx:pt>
          <cx:pt idx="213">0.5</cx:pt>
          <cx:pt idx="214">0.66666666666666663</cx:pt>
          <cx:pt idx="215">0.5</cx:pt>
          <cx:pt idx="216">0.59999999999999998</cx:pt>
          <cx:pt idx="217">0.33333333333333331</cx:pt>
          <cx:pt idx="218">0.5</cx:pt>
          <cx:pt idx="219">0.54545454545454541</cx:pt>
          <cx:pt idx="220">0.40000000000000002</cx:pt>
          <cx:pt idx="221">0.46666666666666667</cx:pt>
          <cx:pt idx="222">0.25</cx:pt>
          <cx:pt idx="223">1</cx:pt>
          <cx:pt idx="224">0.45454545454545453</cx:pt>
          <cx:pt idx="225">0.59999999999999998</cx:pt>
          <cx:pt idx="226">0</cx:pt>
          <cx:pt idx="227">0.38461538461538464</cx:pt>
          <cx:pt idx="228">0.5</cx:pt>
          <cx:pt idx="229">0.5</cx:pt>
          <cx:pt idx="230">0.625</cx:pt>
          <cx:pt idx="231">0.25</cx:pt>
          <cx:pt idx="232">0</cx:pt>
          <cx:pt idx="233">0.80000000000000004</cx:pt>
          <cx:pt idx="234">0.5</cx:pt>
          <cx:pt idx="235">0.8571428571428571</cx:pt>
          <cx:pt idx="236">0.66666666666666663</cx:pt>
          <cx:pt idx="237">0.75</cx:pt>
          <cx:pt idx="238">0.625</cx:pt>
          <cx:pt idx="239">0.40000000000000002</cx:pt>
          <cx:pt idx="240">0.83333333333333337</cx:pt>
          <cx:pt idx="241">0.5</cx:pt>
          <cx:pt idx="242">0.36363636363636365</cx:pt>
          <cx:pt idx="243">0.5</cx:pt>
          <cx:pt idx="244">0.5</cx:pt>
          <cx:pt idx="245">0.44444444444444442</cx:pt>
          <cx:pt idx="246">0</cx:pt>
          <cx:pt idx="247">1</cx:pt>
          <cx:pt idx="248">0.66666666666666663</cx:pt>
          <cx:pt idx="249">0.54545454545454541</cx:pt>
          <cx:pt idx="250">0.5</cx:pt>
          <cx:pt idx="251">0.88888888888888884</cx:pt>
          <cx:pt idx="252">0.59999999999999998</cx:pt>
          <cx:pt idx="253">0.33333333333333331</cx:pt>
          <cx:pt idx="254">0.375</cx:pt>
          <cx:pt idx="255">0.45454545454545453</cx:pt>
          <cx:pt idx="256">0.75</cx:pt>
          <cx:pt idx="257">0.41666666666666669</cx:pt>
          <cx:pt idx="258">0.375</cx:pt>
          <cx:pt idx="259">1</cx:pt>
          <cx:pt idx="260">0.77777777777777779</cx:pt>
          <cx:pt idx="261">0.42857142857142855</cx:pt>
          <cx:pt idx="262">0.33333333333333331</cx:pt>
          <cx:pt idx="263">0.38461538461538464</cx:pt>
          <cx:pt idx="264">0.625</cx:pt>
          <cx:pt idx="265">0.5</cx:pt>
          <cx:pt idx="266">0.29999999999999999</cx:pt>
          <cx:pt idx="267">0.33333333333333331</cx:pt>
          <cx:pt idx="268">0.63636363636363635</cx:pt>
          <cx:pt idx="269">0.69999999999999996</cx:pt>
          <cx:pt idx="270">0.40000000000000002</cx:pt>
          <cx:pt idx="271">0.40000000000000002</cx:pt>
          <cx:pt idx="272">0.5</cx:pt>
          <cx:pt idx="273">0.46666666666666667</cx:pt>
          <cx:pt idx="274">0.46153846153846156</cx:pt>
          <cx:pt idx="275">0.35714285714285715</cx:pt>
          <cx:pt idx="276">0.3888888888888889</cx:pt>
          <cx:pt idx="277">0.20000000000000001</cx:pt>
          <cx:pt idx="278">0.40000000000000002</cx:pt>
          <cx:pt idx="279">0.31578947368421051</cx:pt>
          <cx:pt idx="280">0.5714285714285714</cx:pt>
          <cx:pt idx="281">0.8571428571428571</cx:pt>
          <cx:pt idx="282">0.5</cx:pt>
          <cx:pt idx="283">0.44444444444444442</cx:pt>
          <cx:pt idx="284">0.5</cx:pt>
          <cx:pt idx="285">0.5</cx:pt>
          <cx:pt idx="286">0.59999999999999998</cx:pt>
          <cx:pt idx="287">0.59999999999999998</cx:pt>
          <cx:pt idx="288">0.5714285714285714</cx:pt>
          <cx:pt idx="289">0.54545454545454541</cx:pt>
          <cx:pt idx="290">0.61538461538461542</cx:pt>
          <cx:pt idx="291">0.36363636363636365</cx:pt>
          <cx:pt idx="292">0.22222222222222221</cx:pt>
          <cx:pt idx="293">0.25</cx:pt>
          <cx:pt idx="294">0.77777777777777779</cx:pt>
          <cx:pt idx="295">0.25</cx:pt>
          <cx:pt idx="296">0.59999999999999998</cx:pt>
          <cx:pt idx="297">0.66666666666666663</cx:pt>
          <cx:pt idx="298">0.42857142857142855</cx:pt>
          <cx:pt idx="299">0.54545454545454541</cx:pt>
          <cx:pt idx="300">0.25</cx:pt>
          <cx:pt idx="301">0.375</cx:pt>
          <cx:pt idx="302">0.40909090909090912</cx:pt>
          <cx:pt idx="303">0.40000000000000002</cx:pt>
          <cx:pt idx="304">0.53333333333333333</cx:pt>
          <cx:pt idx="305">0.45454545454545453</cx:pt>
          <cx:pt idx="306">0.61538461538461542</cx:pt>
          <cx:pt idx="307">0.53333333333333333</cx:pt>
          <cx:pt idx="308">0.23076923076923078</cx:pt>
          <cx:pt idx="309">0.35294117647058826</cx:pt>
          <cx:pt idx="310">0.27777777777777779</cx:pt>
          <cx:pt idx="311">0.53846153846153844</cx:pt>
          <cx:pt idx="312">0.25</cx:pt>
          <cx:pt idx="313">0.33333333333333331</cx:pt>
          <cx:pt idx="314">0.40000000000000002</cx:pt>
          <cx:pt idx="315">0.25</cx:pt>
          <cx:pt idx="316">0.41666666666666669</cx:pt>
          <cx:pt idx="317">0.72727272727272729</cx:pt>
          <cx:pt idx="318">0.63636363636363635</cx:pt>
          <cx:pt idx="319">0.5714285714285714</cx:pt>
          <cx:pt idx="320">0.5714285714285714</cx:pt>
          <cx:pt idx="321">0.77777777777777779</cx:pt>
          <cx:pt idx="322">0.5</cx:pt>
          <cx:pt idx="323">0.53333333333333333</cx:pt>
          <cx:pt idx="324">0.5</cx:pt>
          <cx:pt idx="325">0.66666666666666663</cx:pt>
          <cx:pt idx="326">0.42857142857142855</cx:pt>
          <cx:pt idx="327">0.40000000000000002</cx:pt>
          <cx:pt idx="328">0.375</cx:pt>
          <cx:pt idx="329">0.27272727272727271</cx:pt>
          <cx:pt idx="330">0.5</cx:pt>
          <cx:pt idx="331">0</cx:pt>
          <cx:pt idx="332">0.6428571428571429</cx:pt>
          <cx:pt idx="333">0.5</cx:pt>
          <cx:pt idx="334">0.29411764705882354</cx:pt>
          <cx:pt idx="335">0.44444444444444442</cx:pt>
          <cx:pt idx="336">0.59999999999999998</cx:pt>
          <cx:pt idx="337">0.59999999999999998</cx:pt>
          <cx:pt idx="338">0.55555555555555558</cx:pt>
          <cx:pt idx="339">0.53846153846153844</cx:pt>
          <cx:pt idx="340">0.625</cx:pt>
          <cx:pt idx="341">0.5714285714285714</cx:pt>
          <cx:pt idx="342">0.46666666666666667</cx:pt>
          <cx:pt idx="343">0.5</cx:pt>
          <cx:pt idx="344">0.5</cx:pt>
        </cx:lvl>
      </cx:numDim>
    </cx:data>
  </cx:chartData>
  <cx:chart>
    <cx:title pos="t" align="ctr" overlay="0">
      <cx:tx>
        <cx:txData>
          <cx:v>team fg%</cx:v>
        </cx:txData>
      </cx:tx>
      <cx:txPr>
        <a:bodyPr spcFirstLastPara="1" vertOverflow="ellipsis" horzOverflow="overflow" wrap="square" lIns="0" tIns="0" rIns="0" bIns="0" anchor="ctr" anchorCtr="1"/>
        <a:lstStyle/>
        <a:p>
          <a:pPr algn="ctr" rtl="0">
            <a:defRPr/>
          </a:pPr>
          <a:r>
            <a:rPr lang="en-GB" sz="1400" b="0" i="0" u="none" strike="noStrike" baseline="0">
              <a:solidFill>
                <a:sysClr val="windowText" lastClr="000000">
                  <a:lumMod val="65000"/>
                  <a:lumOff val="35000"/>
                </a:sysClr>
              </a:solidFill>
              <a:latin typeface="Aptos Narrow" panose="02110004020202020204"/>
            </a:rPr>
            <a:t>team fg%</a:t>
          </a:r>
        </a:p>
      </cx:txPr>
    </cx:title>
    <cx:plotArea>
      <cx:plotAreaRegion>
        <cx:series layoutId="clusteredColumn" uniqueId="{6CB5FE8D-0971-474F-8631-1CFB84851DF7}">
          <cx:tx>
            <cx:txData>
              <cx:f>copy!$H$1</cx:f>
              <cx:v>fg%</cx:v>
            </cx:txData>
          </cx:tx>
          <cx:dataLabels pos="inEnd">
            <cx:visibility seriesName="0" categoryName="0" value="1"/>
          </cx:dataLabels>
          <cx:dataId val="0"/>
          <cx:layoutPr>
            <cx:binning intervalClosed="r"/>
          </cx:layoutPr>
        </cx:series>
      </cx:plotAreaRegion>
      <cx:axis id="0">
        <cx:catScaling gapWidth="0"/>
        <cx:tickLabels/>
      </cx:axis>
      <cx:axis id="1">
        <cx:valScaling/>
        <cx:majorGridlines/>
        <cx:tickLabels/>
      </cx:axis>
    </cx:plotArea>
  </cx:chart>
  <cx:spPr>
    <a:solidFill>
      <a:schemeClr val="bg2"/>
    </a:solidFill>
  </cx:spPr>
</cx:chartSpace>
</file>

<file path=ppt/charts/chartEx7.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EXAMPLE2!$H$25:$H$184</cx:f>
        <cx:lvl ptCount="136" formatCode="0%">
          <cx:pt idx="0">0</cx:pt>
          <cx:pt idx="1">1</cx:pt>
          <cx:pt idx="2">0.75</cx:pt>
          <cx:pt idx="3">0.33333333333333331</cx:pt>
          <cx:pt idx="4">0.40000000000000002</cx:pt>
          <cx:pt idx="5">0.33333333333333331</cx:pt>
          <cx:pt idx="6">0</cx:pt>
          <cx:pt idx="7">0</cx:pt>
          <cx:pt idx="8">1</cx:pt>
          <cx:pt idx="9">0</cx:pt>
          <cx:pt idx="10">0.5</cx:pt>
          <cx:pt idx="11">0.40000000000000002</cx:pt>
          <cx:pt idx="12">1</cx:pt>
          <cx:pt idx="13">0.59999999999999998</cx:pt>
          <cx:pt idx="14">0.5</cx:pt>
          <cx:pt idx="15">0.66666666666666663</cx:pt>
          <cx:pt idx="16">1</cx:pt>
          <cx:pt idx="17">1</cx:pt>
          <cx:pt idx="18">0</cx:pt>
          <cx:pt idx="19">0</cx:pt>
          <cx:pt idx="20">0.66666666666666663</cx:pt>
          <cx:pt idx="21">0</cx:pt>
          <cx:pt idx="22">1</cx:pt>
          <cx:pt idx="23">0.5</cx:pt>
          <cx:pt idx="24">1</cx:pt>
          <cx:pt idx="25">0.41666666666666669</cx:pt>
          <cx:pt idx="26">0</cx:pt>
          <cx:pt idx="27">0</cx:pt>
          <cx:pt idx="28">0.33333333333333331</cx:pt>
          <cx:pt idx="29">0.33333333333333331</cx:pt>
          <cx:pt idx="30">0.8571428571428571</cx:pt>
          <cx:pt idx="31">0.42857142857142855</cx:pt>
          <cx:pt idx="32">0</cx:pt>
          <cx:pt idx="33">0</cx:pt>
          <cx:pt idx="34">0</cx:pt>
          <cx:pt idx="35">0.5</cx:pt>
          <cx:pt idx="36">0.6428571428571429</cx:pt>
          <cx:pt idx="37">0.5</cx:pt>
          <cx:pt idx="38">1</cx:pt>
          <cx:pt idx="39">1</cx:pt>
          <cx:pt idx="40">0.66666666666666663</cx:pt>
          <cx:pt idx="41">0.40000000000000002</cx:pt>
          <cx:pt idx="42">1</cx:pt>
          <cx:pt idx="43">0.44444444444444442</cx:pt>
          <cx:pt idx="44">1</cx:pt>
          <cx:pt idx="45">1</cx:pt>
          <cx:pt idx="46">0</cx:pt>
          <cx:pt idx="47">0.33333333333333331</cx:pt>
          <cx:pt idx="48">0.33333333333333331</cx:pt>
          <cx:pt idx="49">1</cx:pt>
          <cx:pt idx="50">0.29999999999999999</cx:pt>
          <cx:pt idx="51">0.40000000000000002</cx:pt>
          <cx:pt idx="52">0.25</cx:pt>
          <cx:pt idx="53">0.63636363636363635</cx:pt>
          <cx:pt idx="54">1</cx:pt>
          <cx:pt idx="55">0</cx:pt>
          <cx:pt idx="56">0.5</cx:pt>
          <cx:pt idx="57">0.66666666666666663</cx:pt>
          <cx:pt idx="58">0</cx:pt>
          <cx:pt idx="59">0</cx:pt>
          <cx:pt idx="60">0.40000000000000002</cx:pt>
          <cx:pt idx="61">0</cx:pt>
          <cx:pt idx="62">0.5</cx:pt>
          <cx:pt idx="63">0.33333333333333331</cx:pt>
          <cx:pt idx="64">0</cx:pt>
          <cx:pt idx="65">0.33333333333333331</cx:pt>
          <cx:pt idx="66">1</cx:pt>
          <cx:pt idx="67">0.42857142857142855</cx:pt>
          <cx:pt idx="68">0.40000000000000002</cx:pt>
          <cx:pt idx="69">0.20000000000000001</cx:pt>
          <cx:pt idx="70">0.59999999999999998</cx:pt>
          <cx:pt idx="71">0.40000000000000002</cx:pt>
          <cx:pt idx="72">0.5</cx:pt>
          <cx:pt idx="73">0.40000000000000002</cx:pt>
          <cx:pt idx="74">0.5</cx:pt>
          <cx:pt idx="75">0.66666666666666663</cx:pt>
          <cx:pt idx="76">0.5</cx:pt>
          <cx:pt idx="77">0.5714285714285714</cx:pt>
          <cx:pt idx="78">0.40000000000000002</cx:pt>
          <cx:pt idx="79">0.33333333333333331</cx:pt>
          <cx:pt idx="80">0</cx:pt>
          <cx:pt idx="81">1</cx:pt>
          <cx:pt idx="82">0</cx:pt>
          <cx:pt idx="83">0.5</cx:pt>
          <cx:pt idx="84">0.5</cx:pt>
          <cx:pt idx="85">0</cx:pt>
          <cx:pt idx="86">0.5</cx:pt>
          <cx:pt idx="87">0.375</cx:pt>
          <cx:pt idx="88">0</cx:pt>
          <cx:pt idx="89">0</cx:pt>
          <cx:pt idx="90">0.2857142857142857</cx:pt>
          <cx:pt idx="91">0.20000000000000001</cx:pt>
          <cx:pt idx="92">0.66666666666666663</cx:pt>
          <cx:pt idx="93">0</cx:pt>
          <cx:pt idx="94">0</cx:pt>
          <cx:pt idx="95">0</cx:pt>
          <cx:pt idx="96">0.25</cx:pt>
          <cx:pt idx="97">0</cx:pt>
          <cx:pt idx="98">0.33333333333333331</cx:pt>
          <cx:pt idx="99">0.16666666666666666</cx:pt>
          <cx:pt idx="100">0.33333333333333331</cx:pt>
          <cx:pt idx="101">0.5</cx:pt>
          <cx:pt idx="102">0</cx:pt>
          <cx:pt idx="103">1</cx:pt>
          <cx:pt idx="104">0</cx:pt>
          <cx:pt idx="105">0.66666666666666663</cx:pt>
          <cx:pt idx="106">0</cx:pt>
          <cx:pt idx="107">0</cx:pt>
          <cx:pt idx="108">0.375</cx:pt>
          <cx:pt idx="109">0</cx:pt>
          <cx:pt idx="110">0.5</cx:pt>
          <cx:pt idx="111">0.33333333333333331</cx:pt>
          <cx:pt idx="112">0</cx:pt>
          <cx:pt idx="113">0.375</cx:pt>
          <cx:pt idx="114">0.40000000000000002</cx:pt>
          <cx:pt idx="115">0.33333333333333331</cx:pt>
          <cx:pt idx="116">0</cx:pt>
          <cx:pt idx="117">0.40000000000000002</cx:pt>
          <cx:pt idx="118">0</cx:pt>
          <cx:pt idx="119">0.5714285714285714</cx:pt>
          <cx:pt idx="120">0.33333333333333331</cx:pt>
          <cx:pt idx="121">0</cx:pt>
          <cx:pt idx="122">0.16666666666666666</cx:pt>
          <cx:pt idx="123">0.25</cx:pt>
          <cx:pt idx="124">0.75</cx:pt>
          <cx:pt idx="125">0.16666666666666666</cx:pt>
          <cx:pt idx="126">0.33333333333333331</cx:pt>
          <cx:pt idx="127">0.59999999999999998</cx:pt>
          <cx:pt idx="128">0</cx:pt>
          <cx:pt idx="129">0.5</cx:pt>
          <cx:pt idx="130">0.42857142857142855</cx:pt>
          <cx:pt idx="131">0.5</cx:pt>
          <cx:pt idx="132">0.5</cx:pt>
          <cx:pt idx="133">0</cx:pt>
          <cx:pt idx="134">0.5</cx:pt>
          <cx:pt idx="135">0.42857142857142855</cx:pt>
        </cx:lvl>
      </cx:numDim>
    </cx:data>
  </cx:chartData>
  <cx:chart>
    <cx:title pos="t" align="ctr" overlay="0">
      <cx:tx>
        <cx:txData>
          <cx:v>bench fg%</cx:v>
        </cx:txData>
      </cx:tx>
      <cx:txPr>
        <a:bodyPr spcFirstLastPara="1" vertOverflow="ellipsis" horzOverflow="overflow" wrap="square" lIns="0" tIns="0" rIns="0" bIns="0" anchor="ctr" anchorCtr="1"/>
        <a:lstStyle/>
        <a:p>
          <a:pPr algn="ctr" rtl="0">
            <a:defRPr/>
          </a:pPr>
          <a:r>
            <a:rPr lang="en-GB" sz="1400" b="0" i="0" u="none" strike="noStrike" baseline="0">
              <a:solidFill>
                <a:sysClr val="windowText" lastClr="000000">
                  <a:lumMod val="65000"/>
                  <a:lumOff val="35000"/>
                </a:sysClr>
              </a:solidFill>
              <a:latin typeface="Aptos Narrow" panose="02110004020202020204"/>
            </a:rPr>
            <a:t>bench fg%</a:t>
          </a:r>
        </a:p>
      </cx:txPr>
    </cx:title>
    <cx:plotArea>
      <cx:plotAreaRegion>
        <cx:series layoutId="clusteredColumn" uniqueId="{00000000-55C2-D24F-A029-8AFA182E91D1}">
          <cx:tx>
            <cx:txData>
              <cx:f>EXAMPLE2!$H$24</cx:f>
              <cx:v>fg%</cx:v>
            </cx:txData>
          </cx:tx>
          <cx:spPr>
            <a:solidFill>
              <a:schemeClr val="bg2">
                <a:lumMod val="50000"/>
              </a:schemeClr>
            </a:solidFill>
          </cx:spPr>
          <cx:dataId val="0"/>
          <cx:layoutPr>
            <cx:binning intervalClosed="r">
              <cx:binCount val="7"/>
            </cx:binning>
          </cx:layoutPr>
        </cx:series>
      </cx:plotAreaRegion>
      <cx:axis id="0">
        <cx:catScaling gapWidth="0"/>
        <cx:tickLabels/>
        <cx:txPr>
          <a:bodyPr spcFirstLastPara="1" vertOverflow="ellipsis" horzOverflow="overflow" wrap="square" lIns="0" tIns="0" rIns="0" bIns="0" anchor="ctr" anchorCtr="1"/>
          <a:lstStyle/>
          <a:p>
            <a:pPr algn="ctr" rtl="0">
              <a:defRPr/>
            </a:pPr>
            <a:endParaRPr lang="en-GB" sz="900" b="0" i="0" u="none" strike="noStrike" baseline="0">
              <a:solidFill>
                <a:sysClr val="windowText" lastClr="000000">
                  <a:lumMod val="65000"/>
                  <a:lumOff val="35000"/>
                </a:sysClr>
              </a:solidFill>
              <a:latin typeface="Aptos Narrow" panose="02110004020202020204"/>
            </a:endParaRPr>
          </a:p>
        </cx:txPr>
      </cx:axis>
      <cx:axis id="1">
        <cx:valScaling/>
        <cx:majorGridlines/>
        <cx:tickLabels/>
      </cx:axis>
    </cx:plotArea>
  </cx:chart>
  <cx:spPr>
    <a:solidFill>
      <a:schemeClr val="bg2"/>
    </a:solidFill>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5A223-E7C9-A243-9A70-FE01E1A1DD65}" type="datetimeFigureOut">
              <a:rPr lang="en-US" smtClean="0"/>
              <a:t>9/29/26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7D17FD-8842-8E4F-8C3E-EC8B634B2D5A}" type="slidenum">
              <a:rPr lang="en-US" smtClean="0"/>
              <a:t>‹#›</a:t>
            </a:fld>
            <a:endParaRPr lang="en-US"/>
          </a:p>
        </p:txBody>
      </p:sp>
    </p:spTree>
    <p:extLst>
      <p:ext uri="{BB962C8B-B14F-4D97-AF65-F5344CB8AC3E}">
        <p14:creationId xmlns:p14="http://schemas.microsoft.com/office/powerpoint/2010/main" val="200388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a:t>
            </a:fld>
            <a:endParaRPr lang="en-US"/>
          </a:p>
        </p:txBody>
      </p:sp>
    </p:spTree>
    <p:extLst>
      <p:ext uri="{BB962C8B-B14F-4D97-AF65-F5344CB8AC3E}">
        <p14:creationId xmlns:p14="http://schemas.microsoft.com/office/powerpoint/2010/main" val="248245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GB" b="1" dirty="0"/>
              <a:t>Mean vs. median decision-making</a:t>
            </a:r>
            <a:r>
              <a:rPr lang="en-GB" dirty="0"/>
              <a:t> (most frequent, and conceptually foundational)</a:t>
            </a:r>
          </a:p>
          <a:p>
            <a:pPr lvl="0" rtl="0"/>
            <a:r>
              <a:rPr lang="en-GB" b="1" dirty="0"/>
              <a:t>Graph selection and matching to variable type</a:t>
            </a:r>
            <a:endParaRPr lang="en-GB" dirty="0"/>
          </a:p>
          <a:p>
            <a:pPr lvl="0" rtl="0"/>
            <a:r>
              <a:rPr lang="en-GB" b="1" dirty="0"/>
              <a:t>Describing a distribution in words</a:t>
            </a:r>
            <a:endParaRPr lang="en-GB" dirty="0"/>
          </a:p>
          <a:p>
            <a:pPr lvl="0" rtl="0"/>
            <a:r>
              <a:rPr lang="en-GB" b="1" dirty="0"/>
              <a:t>Excel selection and formula demo</a:t>
            </a:r>
            <a:r>
              <a:rPr lang="en-GB" dirty="0"/>
              <a:t> (quick and practical)</a:t>
            </a:r>
          </a:p>
        </p:txBody>
      </p:sp>
      <p:sp>
        <p:nvSpPr>
          <p:cNvPr id="4" name="Slide Number Placeholder 3"/>
          <p:cNvSpPr>
            <a:spLocks noGrp="1"/>
          </p:cNvSpPr>
          <p:nvPr>
            <p:ph type="sldNum" sz="quarter" idx="5"/>
          </p:nvPr>
        </p:nvSpPr>
        <p:spPr/>
        <p:txBody>
          <a:bodyPr/>
          <a:lstStyle/>
          <a:p>
            <a:fld id="{1560C251-82B7-4253-A774-38D73C276BCE}" type="slidenum">
              <a:rPr lang="en-US" smtClean="0"/>
              <a:t>2</a:t>
            </a:fld>
            <a:endParaRPr lang="en-US"/>
          </a:p>
        </p:txBody>
      </p:sp>
    </p:spTree>
    <p:extLst>
      <p:ext uri="{BB962C8B-B14F-4D97-AF65-F5344CB8AC3E}">
        <p14:creationId xmlns:p14="http://schemas.microsoft.com/office/powerpoint/2010/main" val="2814295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In Excel, select or prepare the values you’ll actually </a:t>
            </a:r>
            <a:r>
              <a:rPr lang="en-GB" dirty="0" err="1"/>
              <a:t>analyze</a:t>
            </a:r>
            <a:r>
              <a:rPr lang="en-GB" dirty="0"/>
              <a:t>.</a:t>
            </a:r>
            <a:endParaRPr lang="en-US" b="1" dirty="0"/>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5</a:t>
            </a:fld>
            <a:endParaRPr lang="en-US"/>
          </a:p>
        </p:txBody>
      </p:sp>
    </p:spTree>
    <p:extLst>
      <p:ext uri="{BB962C8B-B14F-4D97-AF65-F5344CB8AC3E}">
        <p14:creationId xmlns:p14="http://schemas.microsoft.com/office/powerpoint/2010/main" val="3746259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28451-7FE7-4FDA-2C13-7D07CE540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D7C27-9DAB-152D-1B23-A3FBDEB51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A99B2-8E48-4924-69AC-DDF904301F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Make the histogram live in Excel.</a:t>
            </a:r>
            <a:endParaRPr lang="en-US" dirty="0"/>
          </a:p>
          <a:p>
            <a:endParaRPr lang="en-US" dirty="0"/>
          </a:p>
        </p:txBody>
      </p:sp>
      <p:sp>
        <p:nvSpPr>
          <p:cNvPr id="4" name="Slide Number Placeholder 3">
            <a:extLst>
              <a:ext uri="{FF2B5EF4-FFF2-40B4-BE49-F238E27FC236}">
                <a16:creationId xmlns:a16="http://schemas.microsoft.com/office/drawing/2014/main" id="{48723052-F964-5275-93C9-9700CCC01E58}"/>
              </a:ext>
            </a:extLst>
          </p:cNvPr>
          <p:cNvSpPr>
            <a:spLocks noGrp="1"/>
          </p:cNvSpPr>
          <p:nvPr>
            <p:ph type="sldNum" sz="quarter" idx="5"/>
          </p:nvPr>
        </p:nvSpPr>
        <p:spPr/>
        <p:txBody>
          <a:bodyPr/>
          <a:lstStyle/>
          <a:p>
            <a:fld id="{117D17FD-8842-8E4F-8C3E-EC8B634B2D5A}" type="slidenum">
              <a:rPr lang="en-US" smtClean="0"/>
              <a:t>8</a:t>
            </a:fld>
            <a:endParaRPr lang="en-US"/>
          </a:p>
        </p:txBody>
      </p:sp>
    </p:spTree>
    <p:extLst>
      <p:ext uri="{BB962C8B-B14F-4D97-AF65-F5344CB8AC3E}">
        <p14:creationId xmlns:p14="http://schemas.microsoft.com/office/powerpoint/2010/main" val="870491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Make the histogram live in Excel.</a:t>
            </a:r>
            <a:endParaRPr lang="en-US" dirty="0"/>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9</a:t>
            </a:fld>
            <a:endParaRPr lang="en-US"/>
          </a:p>
        </p:txBody>
      </p:sp>
    </p:spTree>
    <p:extLst>
      <p:ext uri="{BB962C8B-B14F-4D97-AF65-F5344CB8AC3E}">
        <p14:creationId xmlns:p14="http://schemas.microsoft.com/office/powerpoint/2010/main" val="899115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Calculate the relevant statistics live and write a brief interpretation.</a:t>
            </a:r>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10</a:t>
            </a:fld>
            <a:endParaRPr lang="en-US"/>
          </a:p>
        </p:txBody>
      </p:sp>
    </p:spTree>
    <p:extLst>
      <p:ext uri="{BB962C8B-B14F-4D97-AF65-F5344CB8AC3E}">
        <p14:creationId xmlns:p14="http://schemas.microsoft.com/office/powerpoint/2010/main" val="283973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Keep this brief; it’s bonus work, so you don’t need to teach every Excel route to it.</a:t>
            </a:r>
            <a:endParaRPr lang="en-US" dirty="0"/>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12</a:t>
            </a:fld>
            <a:endParaRPr lang="en-US"/>
          </a:p>
        </p:txBody>
      </p:sp>
    </p:spTree>
    <p:extLst>
      <p:ext uri="{BB962C8B-B14F-4D97-AF65-F5344CB8AC3E}">
        <p14:creationId xmlns:p14="http://schemas.microsoft.com/office/powerpoint/2010/main" val="2170455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8B7D-F12F-29BF-62A0-B9EC1F3BE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3F621-6E93-D752-D275-CB35B333B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119D7-BD6E-EC5D-5701-351E3F9AD1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Keep this brief; it’s bonus work, so you don’t need to teach every Excel route to it.</a:t>
            </a:r>
            <a:endParaRPr lang="en-US" dirty="0"/>
          </a:p>
          <a:p>
            <a:endParaRPr lang="en-US" dirty="0"/>
          </a:p>
        </p:txBody>
      </p:sp>
      <p:sp>
        <p:nvSpPr>
          <p:cNvPr id="4" name="Slide Number Placeholder 3">
            <a:extLst>
              <a:ext uri="{FF2B5EF4-FFF2-40B4-BE49-F238E27FC236}">
                <a16:creationId xmlns:a16="http://schemas.microsoft.com/office/drawing/2014/main" id="{B483B71E-F3E6-8F6F-13C0-C5E1AD9DDA55}"/>
              </a:ext>
            </a:extLst>
          </p:cNvPr>
          <p:cNvSpPr>
            <a:spLocks noGrp="1"/>
          </p:cNvSpPr>
          <p:nvPr>
            <p:ph type="sldNum" sz="quarter" idx="5"/>
          </p:nvPr>
        </p:nvSpPr>
        <p:spPr/>
        <p:txBody>
          <a:bodyPr/>
          <a:lstStyle/>
          <a:p>
            <a:fld id="{117D17FD-8842-8E4F-8C3E-EC8B634B2D5A}" type="slidenum">
              <a:rPr lang="en-US" smtClean="0"/>
              <a:t>13</a:t>
            </a:fld>
            <a:endParaRPr lang="en-US"/>
          </a:p>
        </p:txBody>
      </p:sp>
    </p:spTree>
    <p:extLst>
      <p:ext uri="{BB962C8B-B14F-4D97-AF65-F5344CB8AC3E}">
        <p14:creationId xmlns:p14="http://schemas.microsoft.com/office/powerpoint/2010/main" val="2743964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97758-E658-A9A0-C9A4-1428E3C94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04B7E-1559-ABB0-9D46-37FF9CFD3A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339A05-912A-0005-1A50-2AA5116BE8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Keep this brief; it’s bonus work, so you don’t need to teach every Excel route to it.</a:t>
            </a:r>
            <a:endParaRPr lang="en-US" dirty="0"/>
          </a:p>
          <a:p>
            <a:endParaRPr lang="en-US" dirty="0"/>
          </a:p>
        </p:txBody>
      </p:sp>
      <p:sp>
        <p:nvSpPr>
          <p:cNvPr id="4" name="Slide Number Placeholder 3">
            <a:extLst>
              <a:ext uri="{FF2B5EF4-FFF2-40B4-BE49-F238E27FC236}">
                <a16:creationId xmlns:a16="http://schemas.microsoft.com/office/drawing/2014/main" id="{26A91980-EF20-2F52-EE19-FBA461497C61}"/>
              </a:ext>
            </a:extLst>
          </p:cNvPr>
          <p:cNvSpPr>
            <a:spLocks noGrp="1"/>
          </p:cNvSpPr>
          <p:nvPr>
            <p:ph type="sldNum" sz="quarter" idx="5"/>
          </p:nvPr>
        </p:nvSpPr>
        <p:spPr/>
        <p:txBody>
          <a:bodyPr/>
          <a:lstStyle/>
          <a:p>
            <a:fld id="{117D17FD-8842-8E4F-8C3E-EC8B634B2D5A}" type="slidenum">
              <a:rPr lang="en-US" smtClean="0"/>
              <a:t>14</a:t>
            </a:fld>
            <a:endParaRPr lang="en-US"/>
          </a:p>
        </p:txBody>
      </p:sp>
    </p:spTree>
    <p:extLst>
      <p:ext uri="{BB962C8B-B14F-4D97-AF65-F5344CB8AC3E}">
        <p14:creationId xmlns:p14="http://schemas.microsoft.com/office/powerpoint/2010/main" val="2731876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D81B7-814A-84B1-F27C-05CE60DFD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466AD-FC7E-0DBF-7973-E626E00BC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822D8-5A91-387D-5CB2-2EE1F1B7C5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Keep this brief; it’s bonus work, so you don’t need to teach every Excel route to it.</a:t>
            </a:r>
            <a:endParaRPr lang="en-US" dirty="0"/>
          </a:p>
          <a:p>
            <a:endParaRPr lang="en-US" dirty="0"/>
          </a:p>
        </p:txBody>
      </p:sp>
      <p:sp>
        <p:nvSpPr>
          <p:cNvPr id="4" name="Slide Number Placeholder 3">
            <a:extLst>
              <a:ext uri="{FF2B5EF4-FFF2-40B4-BE49-F238E27FC236}">
                <a16:creationId xmlns:a16="http://schemas.microsoft.com/office/drawing/2014/main" id="{73E8BBFE-FE90-97DF-B5CD-61F8D50F70B5}"/>
              </a:ext>
            </a:extLst>
          </p:cNvPr>
          <p:cNvSpPr>
            <a:spLocks noGrp="1"/>
          </p:cNvSpPr>
          <p:nvPr>
            <p:ph type="sldNum" sz="quarter" idx="5"/>
          </p:nvPr>
        </p:nvSpPr>
        <p:spPr/>
        <p:txBody>
          <a:bodyPr/>
          <a:lstStyle/>
          <a:p>
            <a:fld id="{117D17FD-8842-8E4F-8C3E-EC8B634B2D5A}" type="slidenum">
              <a:rPr lang="en-US" smtClean="0"/>
              <a:t>15</a:t>
            </a:fld>
            <a:endParaRPr lang="en-US"/>
          </a:p>
        </p:txBody>
      </p:sp>
    </p:spTree>
    <p:extLst>
      <p:ext uri="{BB962C8B-B14F-4D97-AF65-F5344CB8AC3E}">
        <p14:creationId xmlns:p14="http://schemas.microsoft.com/office/powerpoint/2010/main" val="2287906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2DC06-12CD-2F3F-0B22-9F587FE00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CCA1C-6A56-5FEC-1A7D-478D24AF8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2C802-F2FC-3B12-F186-B8E0053261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Keep this brief; it’s bonus work, so you don’t need to teach every Excel route to it.</a:t>
            </a:r>
            <a:endParaRPr lang="en-US" dirty="0"/>
          </a:p>
          <a:p>
            <a:endParaRPr lang="en-US" dirty="0"/>
          </a:p>
        </p:txBody>
      </p:sp>
      <p:sp>
        <p:nvSpPr>
          <p:cNvPr id="4" name="Slide Number Placeholder 3">
            <a:extLst>
              <a:ext uri="{FF2B5EF4-FFF2-40B4-BE49-F238E27FC236}">
                <a16:creationId xmlns:a16="http://schemas.microsoft.com/office/drawing/2014/main" id="{C54D678D-CA07-4769-534B-A72908ABE386}"/>
              </a:ext>
            </a:extLst>
          </p:cNvPr>
          <p:cNvSpPr>
            <a:spLocks noGrp="1"/>
          </p:cNvSpPr>
          <p:nvPr>
            <p:ph type="sldNum" sz="quarter" idx="5"/>
          </p:nvPr>
        </p:nvSpPr>
        <p:spPr/>
        <p:txBody>
          <a:bodyPr/>
          <a:lstStyle/>
          <a:p>
            <a:fld id="{117D17FD-8842-8E4F-8C3E-EC8B634B2D5A}" type="slidenum">
              <a:rPr lang="en-US" smtClean="0"/>
              <a:t>16</a:t>
            </a:fld>
            <a:endParaRPr lang="en-US"/>
          </a:p>
        </p:txBody>
      </p:sp>
    </p:spTree>
    <p:extLst>
      <p:ext uri="{BB962C8B-B14F-4D97-AF65-F5344CB8AC3E}">
        <p14:creationId xmlns:p14="http://schemas.microsoft.com/office/powerpoint/2010/main" val="1722092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21E35-52A6-D493-ADD2-A1E2224C2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3F08A-0DDB-7902-E31C-4BD213B42A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372D4-56A2-C620-ABA6-25FD3BDDB9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Keep this brief; it’s bonus work, so you don’t need to teach every Excel route to it.</a:t>
            </a:r>
            <a:endParaRPr lang="en-US" dirty="0"/>
          </a:p>
          <a:p>
            <a:endParaRPr lang="en-US" dirty="0"/>
          </a:p>
        </p:txBody>
      </p:sp>
      <p:sp>
        <p:nvSpPr>
          <p:cNvPr id="4" name="Slide Number Placeholder 3">
            <a:extLst>
              <a:ext uri="{FF2B5EF4-FFF2-40B4-BE49-F238E27FC236}">
                <a16:creationId xmlns:a16="http://schemas.microsoft.com/office/drawing/2014/main" id="{992BB373-7985-4AAC-0E62-FEE6311A107F}"/>
              </a:ext>
            </a:extLst>
          </p:cNvPr>
          <p:cNvSpPr>
            <a:spLocks noGrp="1"/>
          </p:cNvSpPr>
          <p:nvPr>
            <p:ph type="sldNum" sz="quarter" idx="5"/>
          </p:nvPr>
        </p:nvSpPr>
        <p:spPr/>
        <p:txBody>
          <a:bodyPr/>
          <a:lstStyle/>
          <a:p>
            <a:fld id="{117D17FD-8842-8E4F-8C3E-EC8B634B2D5A}" type="slidenum">
              <a:rPr lang="en-US" smtClean="0"/>
              <a:t>17</a:t>
            </a:fld>
            <a:endParaRPr lang="en-US"/>
          </a:p>
        </p:txBody>
      </p:sp>
    </p:spTree>
    <p:extLst>
      <p:ext uri="{BB962C8B-B14F-4D97-AF65-F5344CB8AC3E}">
        <p14:creationId xmlns:p14="http://schemas.microsoft.com/office/powerpoint/2010/main" val="3686742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6BB32-46C2-DE90-2054-CB41B4796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B7234-59F3-0E97-394D-B356725956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38496-69E7-224D-5B3E-B6E4C581843C}"/>
              </a:ext>
            </a:extLst>
          </p:cNvPr>
          <p:cNvSpPr>
            <a:spLocks noGrp="1"/>
          </p:cNvSpPr>
          <p:nvPr>
            <p:ph type="body" idx="1"/>
          </p:nvPr>
        </p:nvSpPr>
        <p:spPr/>
        <p:txBody>
          <a:bodyPr/>
          <a:lstStyle/>
          <a:p>
            <a:r>
              <a:rPr lang="en-US" b="1" dirty="0"/>
              <a:t>Section 1: Central tendency</a:t>
            </a:r>
          </a:p>
          <a:p>
            <a:r>
              <a:rPr lang="en-US" dirty="0"/>
              <a:t>What is typical?</a:t>
            </a:r>
          </a:p>
        </p:txBody>
      </p:sp>
      <p:sp>
        <p:nvSpPr>
          <p:cNvPr id="4" name="Slide Number Placeholder 3">
            <a:extLst>
              <a:ext uri="{FF2B5EF4-FFF2-40B4-BE49-F238E27FC236}">
                <a16:creationId xmlns:a16="http://schemas.microsoft.com/office/drawing/2014/main" id="{D3DB1684-D0D8-5496-4DC2-93F7B9B7F7D2}"/>
              </a:ext>
            </a:extLst>
          </p:cNvPr>
          <p:cNvSpPr>
            <a:spLocks noGrp="1"/>
          </p:cNvSpPr>
          <p:nvPr>
            <p:ph type="sldNum" sz="quarter" idx="5"/>
          </p:nvPr>
        </p:nvSpPr>
        <p:spPr/>
        <p:txBody>
          <a:bodyPr/>
          <a:lstStyle/>
          <a:p>
            <a:fld id="{1560C251-82B7-4253-A774-38D73C276BCE}" type="slidenum">
              <a:rPr lang="en-US" smtClean="0"/>
              <a:t>18</a:t>
            </a:fld>
            <a:endParaRPr lang="en-US"/>
          </a:p>
        </p:txBody>
      </p:sp>
    </p:spTree>
    <p:extLst>
      <p:ext uri="{BB962C8B-B14F-4D97-AF65-F5344CB8AC3E}">
        <p14:creationId xmlns:p14="http://schemas.microsoft.com/office/powerpoint/2010/main" val="2347891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a:t>In these data, sessions with longer durations tended to ______.</a:t>
            </a:r>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27</a:t>
            </a:fld>
            <a:endParaRPr lang="en-US"/>
          </a:p>
        </p:txBody>
      </p:sp>
    </p:spTree>
    <p:extLst>
      <p:ext uri="{BB962C8B-B14F-4D97-AF65-F5344CB8AC3E}">
        <p14:creationId xmlns:p14="http://schemas.microsoft.com/office/powerpoint/2010/main" val="164114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8C46-97B5-06A6-FCEF-1A1F72D6F7BD}"/>
              </a:ext>
            </a:extLst>
          </p:cNvPr>
          <p:cNvSpPr>
            <a:spLocks noGrp="1"/>
          </p:cNvSpPr>
          <p:nvPr>
            <p:ph type="ctrTitle"/>
          </p:nvPr>
        </p:nvSpPr>
        <p:spPr>
          <a:xfrm>
            <a:off x="838200" y="1122363"/>
            <a:ext cx="10515600" cy="2387600"/>
          </a:xfrm>
        </p:spPr>
        <p:txBody>
          <a:bodyPr anchor="b"/>
          <a:lstStyle>
            <a:lvl1pPr algn="l">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ED3A6AC-3ACF-3E00-27EA-CDC21E0D0CE2}"/>
              </a:ext>
            </a:extLst>
          </p:cNvPr>
          <p:cNvSpPr>
            <a:spLocks noGrp="1"/>
          </p:cNvSpPr>
          <p:nvPr>
            <p:ph type="subTitle" idx="1"/>
          </p:nvPr>
        </p:nvSpPr>
        <p:spPr>
          <a:xfrm>
            <a:off x="838199" y="3602038"/>
            <a:ext cx="10515599"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82D74E7-FB50-6453-FBC4-4FF2059E7DD6}"/>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5" name="Footer Placeholder 4">
            <a:extLst>
              <a:ext uri="{FF2B5EF4-FFF2-40B4-BE49-F238E27FC236}">
                <a16:creationId xmlns:a16="http://schemas.microsoft.com/office/drawing/2014/main" id="{D3DEC381-9EAC-65CA-E2D4-E9753C63FC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E85E49-459E-7153-8DCA-00BFA12DD9A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533530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AAB-14A7-7BCA-3837-4F570792F3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3DB745-E89B-BA25-707B-D3F4B483C33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A29DF3-7131-344B-BE29-3470A6E4AD53}"/>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5" name="Footer Placeholder 4">
            <a:extLst>
              <a:ext uri="{FF2B5EF4-FFF2-40B4-BE49-F238E27FC236}">
                <a16:creationId xmlns:a16="http://schemas.microsoft.com/office/drawing/2014/main" id="{2E19C8A0-82E3-D43A-B433-03BD0E8A13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EC3461-EED3-DA55-3A67-403D2D4F603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59089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F06-5D11-579D-7B22-EDF525B072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3F87EE-121E-981D-94B0-7DD81A760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09C7F-68AA-F83B-0CC2-643C7451C3BF}"/>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5" name="Footer Placeholder 4">
            <a:extLst>
              <a:ext uri="{FF2B5EF4-FFF2-40B4-BE49-F238E27FC236}">
                <a16:creationId xmlns:a16="http://schemas.microsoft.com/office/drawing/2014/main" id="{5ABFDF23-F262-A143-3D94-2E03C5E805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1BCC86-AF79-D336-B20B-1E34423D79D2}"/>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6466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23E6-4994-ADDB-53EF-33DAC6204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11385E-3FBA-00D8-820B-01457DE09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C400107-976D-189B-D5B8-F3309A029F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21288-007A-64D1-177C-EC493AB351E6}"/>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6" name="Footer Placeholder 5">
            <a:extLst>
              <a:ext uri="{FF2B5EF4-FFF2-40B4-BE49-F238E27FC236}">
                <a16:creationId xmlns:a16="http://schemas.microsoft.com/office/drawing/2014/main" id="{D18BDC7E-1ED0-A64E-B741-2BD6DCC161E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110B18-79B2-CA9A-54E7-8E270EA6CAF9}"/>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15611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A0C-D408-C89D-A5A4-EE49BFEFE6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15059-44C0-5CAB-DD62-331CAEACC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8210DA-60F4-E204-139F-488557C3AC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C6D382-4432-4F54-9B2C-18EA1D3502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0DFF74-3B74-1F87-68E5-7C6346238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3D8442-0A79-241F-AD71-72BAE08747AF}"/>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8" name="Footer Placeholder 7">
            <a:extLst>
              <a:ext uri="{FF2B5EF4-FFF2-40B4-BE49-F238E27FC236}">
                <a16:creationId xmlns:a16="http://schemas.microsoft.com/office/drawing/2014/main" id="{81BD044B-09B6-F478-2B54-1F15413514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518B98-54E9-0248-CDC2-25F053D11E93}"/>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47729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8611-FF70-0739-AB12-3A0D4D6885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6340F8-BFC2-15DC-7097-138E7417B933}"/>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4" name="Footer Placeholder 3">
            <a:extLst>
              <a:ext uri="{FF2B5EF4-FFF2-40B4-BE49-F238E27FC236}">
                <a16:creationId xmlns:a16="http://schemas.microsoft.com/office/drawing/2014/main" id="{0987FFF2-E8C5-FBDB-D95A-12987FF75C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02AAC0-7C6B-411F-8B27-54187B087820}"/>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1884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24E59-43B1-B0E4-7BB5-449B4E620269}"/>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3" name="Footer Placeholder 2">
            <a:extLst>
              <a:ext uri="{FF2B5EF4-FFF2-40B4-BE49-F238E27FC236}">
                <a16:creationId xmlns:a16="http://schemas.microsoft.com/office/drawing/2014/main" id="{209DB2FC-A612-3F77-71B9-89F90F23EC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E7EA5C7-5EFB-A99C-8686-6EB2C8FCFA5F}"/>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71517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815E-33A2-36BD-141A-20E6987BFB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64EB718-3207-923E-BB2A-3A6A8B97C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D8BF2C-0530-D542-CEA1-66680DF2C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1246F5-476E-F02E-8D52-52095AD76408}"/>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6" name="Footer Placeholder 5">
            <a:extLst>
              <a:ext uri="{FF2B5EF4-FFF2-40B4-BE49-F238E27FC236}">
                <a16:creationId xmlns:a16="http://schemas.microsoft.com/office/drawing/2014/main" id="{4ACCBF9F-FEBA-A17C-67EF-779BF69825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33091D5-A6B8-C1A9-58A4-732980B56A1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68734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53C8-34AC-4EC3-9EF2-7646130C5F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95296B-D06F-EC13-3B4B-D0804D56A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C15AD4-D0C4-4B3F-01A9-C4EB16F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5DC77-4EA3-68F2-C1B1-3B61F9D48ACD}"/>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6" name="Footer Placeholder 5">
            <a:extLst>
              <a:ext uri="{FF2B5EF4-FFF2-40B4-BE49-F238E27FC236}">
                <a16:creationId xmlns:a16="http://schemas.microsoft.com/office/drawing/2014/main" id="{5028E95B-5416-3489-B8F3-9294F9EAD5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7231B0D-A406-6B24-1768-98B5238CCD11}"/>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7446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492E-5097-4D4A-B212-B9541B6D396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2B2462-C37E-9A16-D9B2-03FE3550DC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5E3E0-2253-2E4B-C45D-9DD87541ECCF}"/>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5" name="Footer Placeholder 4">
            <a:extLst>
              <a:ext uri="{FF2B5EF4-FFF2-40B4-BE49-F238E27FC236}">
                <a16:creationId xmlns:a16="http://schemas.microsoft.com/office/drawing/2014/main" id="{A3E8D6ED-F324-5EA4-EBC1-32D8A8A804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926162-D880-6B17-AFBB-2555E585E2D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35581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EF97A-4C14-3B96-B570-63221FE426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1FCF3E-3E21-12E5-F093-CD2EBC62C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EEB50E-0940-C414-1C80-43A1C4CBF31A}"/>
              </a:ext>
            </a:extLst>
          </p:cNvPr>
          <p:cNvSpPr>
            <a:spLocks noGrp="1"/>
          </p:cNvSpPr>
          <p:nvPr>
            <p:ph type="dt" sz="half" idx="10"/>
          </p:nvPr>
        </p:nvSpPr>
        <p:spPr/>
        <p:txBody>
          <a:bodyPr/>
          <a:lstStyle/>
          <a:p>
            <a:fld id="{1BF61C71-767E-B84C-BFB3-7B18856D27F4}" type="datetimeFigureOut">
              <a:rPr lang="en-US" smtClean="0"/>
              <a:t>9/29/26</a:t>
            </a:fld>
            <a:endParaRPr lang="en-US"/>
          </a:p>
        </p:txBody>
      </p:sp>
      <p:sp>
        <p:nvSpPr>
          <p:cNvPr id="5" name="Footer Placeholder 4">
            <a:extLst>
              <a:ext uri="{FF2B5EF4-FFF2-40B4-BE49-F238E27FC236}">
                <a16:creationId xmlns:a16="http://schemas.microsoft.com/office/drawing/2014/main" id="{01434562-A92B-8D3C-4A79-2489A99752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47ADD3-AF08-2898-D3BF-4768616B38DE}"/>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891510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a:p>
        </p:txBody>
      </p:sp>
      <p:sp>
        <p:nvSpPr>
          <p:cNvPr id="3" name="Title Placeholder 1">
            <a:extLst>
              <a:ext uri="{FF2B5EF4-FFF2-40B4-BE49-F238E27FC236}">
                <a16:creationId xmlns:a16="http://schemas.microsoft.com/office/drawing/2014/main" id="{46E8C1D3-413D-3F8C-2B71-1C4EB0ADE93B}"/>
              </a:ext>
            </a:extLst>
          </p:cNvPr>
          <p:cNvSpPr>
            <a:spLocks noGrp="1"/>
          </p:cNvSpPr>
          <p:nvPr>
            <p:ph type="title" hasCustomPrompt="1"/>
          </p:nvPr>
        </p:nvSpPr>
        <p:spPr>
          <a:xfrm>
            <a:off x="838200" y="3110401"/>
            <a:ext cx="10515600" cy="637198"/>
          </a:xfrm>
          <a:prstGeom prst="rect">
            <a:avLst/>
          </a:prstGeom>
        </p:spPr>
        <p:txBody>
          <a:bodyPr vert="horz" lIns="91440" tIns="45720" rIns="91440" bIns="45720" rtlCol="0" anchor="ctr">
            <a:normAutofit/>
          </a:bodyPr>
          <a:lstStyle>
            <a:lvl1pPr algn="ctr">
              <a:defRPr/>
            </a:lvl1pPr>
          </a:lstStyle>
          <a:p>
            <a:r>
              <a:rPr lang="en-US"/>
              <a:t>CLICK TO EDIT MASTER TITLE STYLE</a:t>
            </a:r>
          </a:p>
        </p:txBody>
      </p:sp>
    </p:spTree>
    <p:extLst>
      <p:ext uri="{BB962C8B-B14F-4D97-AF65-F5344CB8AC3E}">
        <p14:creationId xmlns:p14="http://schemas.microsoft.com/office/powerpoint/2010/main" val="138277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E355-A6C3-ABB7-5FB3-07B7718D6981}"/>
              </a:ext>
            </a:extLst>
          </p:cNvPr>
          <p:cNvSpPr>
            <a:spLocks noGrp="1"/>
          </p:cNvSpPr>
          <p:nvPr>
            <p:ph type="title"/>
          </p:nvPr>
        </p:nvSpPr>
        <p:spPr>
          <a:xfrm>
            <a:off x="838200" y="365126"/>
            <a:ext cx="10515600" cy="91269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3BE3536-C253-FE9A-75A8-6625508B8089}"/>
              </a:ext>
            </a:extLst>
          </p:cNvPr>
          <p:cNvSpPr>
            <a:spLocks noGrp="1"/>
          </p:cNvSpPr>
          <p:nvPr>
            <p:ph type="body" idx="1"/>
          </p:nvPr>
        </p:nvSpPr>
        <p:spPr>
          <a:xfrm>
            <a:off x="838200" y="1441938"/>
            <a:ext cx="10515600" cy="47350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838E-35A9-F96A-354A-AE0FF3F8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61C71-767E-B84C-BFB3-7B18856D27F4}" type="datetimeFigureOut">
              <a:rPr lang="en-US" smtClean="0"/>
              <a:t>9/29/26</a:t>
            </a:fld>
            <a:endParaRPr lang="en-US"/>
          </a:p>
        </p:txBody>
      </p:sp>
      <p:sp>
        <p:nvSpPr>
          <p:cNvPr id="6" name="Slide Number Placeholder 5">
            <a:extLst>
              <a:ext uri="{FF2B5EF4-FFF2-40B4-BE49-F238E27FC236}">
                <a16:creationId xmlns:a16="http://schemas.microsoft.com/office/drawing/2014/main" id="{8E6CBC5A-10F1-AA57-C7EC-9CDC8A53A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CEFD2-39D4-B845-AAFB-DDCB27801685}" type="slidenum">
              <a:rPr lang="en-US" smtClean="0"/>
              <a:t>‹#›</a:t>
            </a:fld>
            <a:endParaRPr lang="en-US"/>
          </a:p>
        </p:txBody>
      </p:sp>
      <p:sp>
        <p:nvSpPr>
          <p:cNvPr id="7" name="Footer Placeholder 6">
            <a:extLst>
              <a:ext uri="{FF2B5EF4-FFF2-40B4-BE49-F238E27FC236}">
                <a16:creationId xmlns:a16="http://schemas.microsoft.com/office/drawing/2014/main" id="{2EEC1130-6658-3CAB-3F94-0FA0AAB8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12320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14/relationships/chartEx" Target="../charts/chartEx2.xml"/><Relationship Id="rId7" Type="http://schemas.microsoft.com/office/2014/relationships/chartEx" Target="../charts/chartEx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14/relationships/chartEx" Target="../charts/chartEx3.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14/relationships/chartEx" Target="../charts/chartEx5.xml"/><Relationship Id="rId7" Type="http://schemas.microsoft.com/office/2014/relationships/chartEx" Target="../charts/chartEx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png"/><Relationship Id="rId5" Type="http://schemas.microsoft.com/office/2014/relationships/chartEx" Target="../charts/chartEx6.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270D-14C3-FED3-E83A-AD4E36EC7A85}"/>
              </a:ext>
            </a:extLst>
          </p:cNvPr>
          <p:cNvSpPr>
            <a:spLocks noGrp="1"/>
          </p:cNvSpPr>
          <p:nvPr>
            <p:ph type="ctrTitle"/>
          </p:nvPr>
        </p:nvSpPr>
        <p:spPr/>
        <p:txBody>
          <a:bodyPr>
            <a:normAutofit/>
          </a:bodyPr>
          <a:lstStyle/>
          <a:p>
            <a:r>
              <a:rPr lang="en-GB" sz="4800" dirty="0"/>
              <a:t>Proportions and relationships</a:t>
            </a:r>
          </a:p>
        </p:txBody>
      </p:sp>
      <p:sp>
        <p:nvSpPr>
          <p:cNvPr id="3" name="Subtitle 2">
            <a:extLst>
              <a:ext uri="{FF2B5EF4-FFF2-40B4-BE49-F238E27FC236}">
                <a16:creationId xmlns:a16="http://schemas.microsoft.com/office/drawing/2014/main" id="{FE03FB66-255C-9B0B-8F15-F85AACB34CEA}"/>
              </a:ext>
            </a:extLst>
          </p:cNvPr>
          <p:cNvSpPr>
            <a:spLocks noGrp="1"/>
          </p:cNvSpPr>
          <p:nvPr>
            <p:ph type="subTitle" idx="1"/>
          </p:nvPr>
        </p:nvSpPr>
        <p:spPr/>
        <p:txBody>
          <a:bodyPr/>
          <a:lstStyle/>
          <a:p>
            <a:r>
              <a:rPr lang="en-GB" dirty="0"/>
              <a:t>Saryu Onishi</a:t>
            </a:r>
          </a:p>
          <a:p>
            <a:r>
              <a:rPr lang="en-GB" dirty="0"/>
              <a:t>HES 3000-002, Sport Performance Analytics</a:t>
            </a:r>
          </a:p>
        </p:txBody>
      </p:sp>
    </p:spTree>
    <p:extLst>
      <p:ext uri="{BB962C8B-B14F-4D97-AF65-F5344CB8AC3E}">
        <p14:creationId xmlns:p14="http://schemas.microsoft.com/office/powerpoint/2010/main" val="329427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00E21B-1982-E0CA-1F9E-8355997AAE51}"/>
              </a:ext>
            </a:extLst>
          </p:cNvPr>
          <p:cNvSpPr>
            <a:spLocks noGrp="1"/>
          </p:cNvSpPr>
          <p:nvPr>
            <p:ph type="sldNum" sz="quarter" idx="11"/>
          </p:nvPr>
        </p:nvSpPr>
        <p:spPr/>
        <p:txBody>
          <a:bodyPr/>
          <a:lstStyle/>
          <a:p>
            <a:fld id="{45C00377-489B-40EC-B059-26BDDD2E89B9}" type="slidenum">
              <a:rPr lang="en-US" smtClean="0"/>
              <a:pPr/>
              <a:t>2</a:t>
            </a:fld>
            <a:endParaRPr lang="en-US"/>
          </a:p>
        </p:txBody>
      </p:sp>
      <p:sp>
        <p:nvSpPr>
          <p:cNvPr id="3" name="Title 1">
            <a:extLst>
              <a:ext uri="{FF2B5EF4-FFF2-40B4-BE49-F238E27FC236}">
                <a16:creationId xmlns:a16="http://schemas.microsoft.com/office/drawing/2014/main" id="{B2604BDD-1EB2-C9AE-AD81-128821271322}"/>
              </a:ext>
            </a:extLst>
          </p:cNvPr>
          <p:cNvSpPr txBox="1">
            <a:spLocks/>
          </p:cNvSpPr>
          <p:nvPr/>
        </p:nvSpPr>
        <p:spPr>
          <a:xfrm>
            <a:off x="838200" y="3110401"/>
            <a:ext cx="10515600" cy="637198"/>
          </a:xfrm>
          <a:prstGeom prst="rect">
            <a:avLst/>
          </a:prstGeom>
        </p:spPr>
        <p:txBody>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pPr algn="ctr"/>
            <a:r>
              <a:rPr lang="en-US" b="0" dirty="0"/>
              <a:t>Case study 2</a:t>
            </a:r>
          </a:p>
        </p:txBody>
      </p:sp>
    </p:spTree>
    <p:extLst>
      <p:ext uri="{BB962C8B-B14F-4D97-AF65-F5344CB8AC3E}">
        <p14:creationId xmlns:p14="http://schemas.microsoft.com/office/powerpoint/2010/main" val="944151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3ED5F-9CC6-A209-CC91-A3402F9B4862}"/>
              </a:ext>
            </a:extLst>
          </p:cNvPr>
          <p:cNvSpPr>
            <a:spLocks noGrp="1"/>
          </p:cNvSpPr>
          <p:nvPr>
            <p:ph type="title"/>
          </p:nvPr>
        </p:nvSpPr>
        <p:spPr/>
        <p:txBody>
          <a:bodyPr/>
          <a:lstStyle/>
          <a:p>
            <a:r>
              <a:rPr lang="en-US" dirty="0"/>
              <a:t>Workflow </a:t>
            </a:r>
          </a:p>
        </p:txBody>
      </p:sp>
      <p:sp>
        <p:nvSpPr>
          <p:cNvPr id="3" name="Content Placeholder 2">
            <a:extLst>
              <a:ext uri="{FF2B5EF4-FFF2-40B4-BE49-F238E27FC236}">
                <a16:creationId xmlns:a16="http://schemas.microsoft.com/office/drawing/2014/main" id="{33789277-A54C-600B-5D1B-CC6FA5A75AA3}"/>
              </a:ext>
            </a:extLst>
          </p:cNvPr>
          <p:cNvSpPr>
            <a:spLocks noGrp="1"/>
          </p:cNvSpPr>
          <p:nvPr>
            <p:ph idx="1"/>
          </p:nvPr>
        </p:nvSpPr>
        <p:spPr/>
        <p:txBody>
          <a:bodyPr/>
          <a:lstStyle/>
          <a:p>
            <a:pPr marL="514350" indent="-514350">
              <a:buFont typeface="+mj-lt"/>
              <a:buAutoNum type="arabicPeriod"/>
            </a:pPr>
            <a:r>
              <a:rPr lang="en-GB" dirty="0"/>
              <a:t>Open and inspect </a:t>
            </a:r>
          </a:p>
          <a:p>
            <a:pPr marL="514350" indent="-514350">
              <a:buFont typeface="+mj-lt"/>
              <a:buAutoNum type="arabicPeriod"/>
            </a:pPr>
            <a:r>
              <a:rPr lang="en-GB" dirty="0"/>
              <a:t>Identify the observation and variables </a:t>
            </a:r>
          </a:p>
          <a:p>
            <a:pPr marL="514350" indent="-514350">
              <a:buFont typeface="+mj-lt"/>
              <a:buAutoNum type="arabicPeriod"/>
            </a:pPr>
            <a:r>
              <a:rPr lang="en-GB" dirty="0"/>
              <a:t>Prepare the values </a:t>
            </a:r>
          </a:p>
          <a:p>
            <a:pPr marL="514350" indent="-514350">
              <a:buFont typeface="+mj-lt"/>
              <a:buAutoNum type="arabicPeriod"/>
            </a:pPr>
            <a:r>
              <a:rPr lang="en-GB" dirty="0"/>
              <a:t>Choose and make a graph </a:t>
            </a:r>
          </a:p>
          <a:p>
            <a:pPr marL="514350" indent="-514350">
              <a:buFont typeface="+mj-lt"/>
              <a:buAutoNum type="arabicPeriod"/>
            </a:pPr>
            <a:r>
              <a:rPr lang="en-GB" dirty="0"/>
              <a:t>Summarize </a:t>
            </a:r>
          </a:p>
          <a:p>
            <a:pPr marL="514350" indent="-514350">
              <a:buFont typeface="+mj-lt"/>
              <a:buAutoNum type="arabicPeriod"/>
            </a:pPr>
            <a:r>
              <a:rPr lang="en-GB" dirty="0"/>
              <a:t>Interpret</a:t>
            </a:r>
            <a:endParaRPr lang="en-US" dirty="0"/>
          </a:p>
        </p:txBody>
      </p:sp>
    </p:spTree>
    <p:extLst>
      <p:ext uri="{BB962C8B-B14F-4D97-AF65-F5344CB8AC3E}">
        <p14:creationId xmlns:p14="http://schemas.microsoft.com/office/powerpoint/2010/main" val="235406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54AFD-355F-80E9-0445-AA619FC2D950}"/>
              </a:ext>
            </a:extLst>
          </p:cNvPr>
          <p:cNvSpPr>
            <a:spLocks noGrp="1"/>
          </p:cNvSpPr>
          <p:nvPr>
            <p:ph type="title"/>
          </p:nvPr>
        </p:nvSpPr>
        <p:spPr/>
        <p:txBody>
          <a:bodyPr/>
          <a:lstStyle/>
          <a:p>
            <a:r>
              <a:rPr lang="en-GB" dirty="0"/>
              <a:t>What am I looking at?</a:t>
            </a:r>
            <a:endParaRPr lang="en-US" dirty="0"/>
          </a:p>
        </p:txBody>
      </p:sp>
      <p:sp>
        <p:nvSpPr>
          <p:cNvPr id="3" name="Content Placeholder 2">
            <a:extLst>
              <a:ext uri="{FF2B5EF4-FFF2-40B4-BE49-F238E27FC236}">
                <a16:creationId xmlns:a16="http://schemas.microsoft.com/office/drawing/2014/main" id="{FA10CAE2-7C0F-B163-453C-C747922C75D1}"/>
              </a:ext>
            </a:extLst>
          </p:cNvPr>
          <p:cNvSpPr>
            <a:spLocks noGrp="1"/>
          </p:cNvSpPr>
          <p:nvPr>
            <p:ph idx="1"/>
          </p:nvPr>
        </p:nvSpPr>
        <p:spPr/>
        <p:txBody>
          <a:bodyPr/>
          <a:lstStyle/>
          <a:p>
            <a:r>
              <a:rPr lang="en-GB" dirty="0"/>
              <a:t>What does one row represent? </a:t>
            </a:r>
          </a:p>
          <a:p>
            <a:r>
              <a:rPr lang="en-GB" dirty="0"/>
              <a:t>What does each column represent? </a:t>
            </a:r>
          </a:p>
          <a:p>
            <a:r>
              <a:rPr lang="en-GB" dirty="0"/>
              <a:t>Which columns are numeric or categorical? </a:t>
            </a:r>
          </a:p>
          <a:p>
            <a:r>
              <a:rPr lang="en-GB" dirty="0"/>
              <a:t>Are there blank cells, labels mixed with values, or units in the cells? </a:t>
            </a:r>
          </a:p>
          <a:p>
            <a:pPr lvl="1"/>
            <a:endParaRPr lang="en-GB" dirty="0"/>
          </a:p>
          <a:p>
            <a:r>
              <a:rPr lang="en-GB" b="1" dirty="0"/>
              <a:t>Recall:</a:t>
            </a:r>
            <a:r>
              <a:rPr lang="en-GB" dirty="0"/>
              <a:t> data characteristics slides.</a:t>
            </a:r>
          </a:p>
        </p:txBody>
      </p:sp>
    </p:spTree>
    <p:extLst>
      <p:ext uri="{BB962C8B-B14F-4D97-AF65-F5344CB8AC3E}">
        <p14:creationId xmlns:p14="http://schemas.microsoft.com/office/powerpoint/2010/main" val="4167299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5F6F-59B0-8040-77C5-299BC060D988}"/>
              </a:ext>
            </a:extLst>
          </p:cNvPr>
          <p:cNvSpPr>
            <a:spLocks noGrp="1"/>
          </p:cNvSpPr>
          <p:nvPr>
            <p:ph type="title"/>
          </p:nvPr>
        </p:nvSpPr>
        <p:spPr/>
        <p:txBody>
          <a:bodyPr/>
          <a:lstStyle/>
          <a:p>
            <a:r>
              <a:rPr lang="en-GB" dirty="0"/>
              <a:t>Which values answer the question?</a:t>
            </a:r>
            <a:endParaRPr lang="en-US" dirty="0"/>
          </a:p>
        </p:txBody>
      </p:sp>
      <p:sp>
        <p:nvSpPr>
          <p:cNvPr id="3" name="Content Placeholder 2">
            <a:extLst>
              <a:ext uri="{FF2B5EF4-FFF2-40B4-BE49-F238E27FC236}">
                <a16:creationId xmlns:a16="http://schemas.microsoft.com/office/drawing/2014/main" id="{A491E5EB-22D1-F45A-235A-E9AC624A5619}"/>
              </a:ext>
            </a:extLst>
          </p:cNvPr>
          <p:cNvSpPr>
            <a:spLocks noGrp="1"/>
          </p:cNvSpPr>
          <p:nvPr>
            <p:ph idx="1"/>
          </p:nvPr>
        </p:nvSpPr>
        <p:spPr/>
        <p:txBody>
          <a:bodyPr/>
          <a:lstStyle/>
          <a:p>
            <a:r>
              <a:rPr lang="en-GB" dirty="0"/>
              <a:t>Defined by your research question</a:t>
            </a:r>
          </a:p>
          <a:p>
            <a:pPr lvl="1"/>
            <a:r>
              <a:rPr lang="en-GB" dirty="0"/>
              <a:t>Eg: study of offensive performance? </a:t>
            </a:r>
            <a:r>
              <a:rPr lang="en-GB" dirty="0">
                <a:sym typeface="Wingdings" pitchFamily="2" charset="2"/>
              </a:rPr>
              <a:t> field goal percentage?</a:t>
            </a:r>
          </a:p>
          <a:p>
            <a:pPr lvl="1"/>
            <a:endParaRPr lang="en-GB" dirty="0"/>
          </a:p>
          <a:p>
            <a:r>
              <a:rPr lang="en-GB" b="1" dirty="0"/>
              <a:t>Recall:</a:t>
            </a:r>
            <a:r>
              <a:rPr lang="en-GB" dirty="0"/>
              <a:t> unit of observation and data structure. </a:t>
            </a:r>
          </a:p>
        </p:txBody>
      </p:sp>
    </p:spTree>
    <p:extLst>
      <p:ext uri="{BB962C8B-B14F-4D97-AF65-F5344CB8AC3E}">
        <p14:creationId xmlns:p14="http://schemas.microsoft.com/office/powerpoint/2010/main" val="3909415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FE295-E9B2-2B4C-3C79-A9C555BC3E0F}"/>
              </a:ext>
            </a:extLst>
          </p:cNvPr>
          <p:cNvSpPr>
            <a:spLocks noGrp="1"/>
          </p:cNvSpPr>
          <p:nvPr>
            <p:ph type="title"/>
          </p:nvPr>
        </p:nvSpPr>
        <p:spPr/>
        <p:txBody>
          <a:bodyPr/>
          <a:lstStyle/>
          <a:p>
            <a:r>
              <a:rPr lang="en-US" dirty="0"/>
              <a:t>Inspecting data</a:t>
            </a:r>
          </a:p>
        </p:txBody>
      </p:sp>
      <p:sp>
        <p:nvSpPr>
          <p:cNvPr id="3" name="Content Placeholder 2">
            <a:extLst>
              <a:ext uri="{FF2B5EF4-FFF2-40B4-BE49-F238E27FC236}">
                <a16:creationId xmlns:a16="http://schemas.microsoft.com/office/drawing/2014/main" id="{C70A0031-F67D-EE65-AA29-8411D70737AD}"/>
              </a:ext>
            </a:extLst>
          </p:cNvPr>
          <p:cNvSpPr>
            <a:spLocks noGrp="1"/>
          </p:cNvSpPr>
          <p:nvPr>
            <p:ph idx="1"/>
          </p:nvPr>
        </p:nvSpPr>
        <p:spPr>
          <a:xfrm>
            <a:off x="5380383" y="1441938"/>
            <a:ext cx="5973417" cy="4735025"/>
          </a:xfrm>
        </p:spPr>
        <p:txBody>
          <a:bodyPr>
            <a:normAutofit/>
          </a:bodyPr>
          <a:lstStyle/>
          <a:p>
            <a:pPr marL="514350" indent="-514350">
              <a:buFont typeface="+mj-lt"/>
              <a:buAutoNum type="arabicPeriod"/>
            </a:pPr>
            <a:r>
              <a:rPr lang="en-US" sz="2400" dirty="0"/>
              <a:t>Describing one row is a descriptive. Do not need to report metrics.</a:t>
            </a:r>
          </a:p>
          <a:p>
            <a:pPr lvl="1"/>
            <a:r>
              <a:rPr lang="en-US" sz="2000" dirty="0"/>
              <a:t>“each row represents a single athlete’s performance in one game of the 2026 season”</a:t>
            </a:r>
          </a:p>
          <a:p>
            <a:pPr lvl="1"/>
            <a:r>
              <a:rPr lang="en-US" sz="2000" dirty="0"/>
              <a:t>“a summary of a team’s performance last season”</a:t>
            </a:r>
          </a:p>
          <a:p>
            <a:pPr marL="514350" indent="-514350">
              <a:buFont typeface="+mj-lt"/>
              <a:buAutoNum type="arabicPeriod"/>
            </a:pPr>
            <a:r>
              <a:rPr lang="en-US" sz="2400" dirty="0"/>
              <a:t>Understanding the data is critical for all future steps. </a:t>
            </a:r>
          </a:p>
          <a:p>
            <a:pPr lvl="1"/>
            <a:r>
              <a:rPr lang="en-US" sz="2000" dirty="0"/>
              <a:t>Data type affects which summaries and graphs make sense. (mode vs mean, color vs position)</a:t>
            </a:r>
          </a:p>
          <a:p>
            <a:pPr lvl="1"/>
            <a:r>
              <a:rPr lang="en-US" sz="2000" dirty="0"/>
              <a:t>Is the data valid? (can </a:t>
            </a:r>
            <a:r>
              <a:rPr lang="en-US" sz="2000" dirty="0" err="1"/>
              <a:t>fg</a:t>
            </a:r>
            <a:r>
              <a:rPr lang="en-US" sz="2000" dirty="0"/>
              <a:t>% be 0 if </a:t>
            </a:r>
            <a:r>
              <a:rPr lang="en-US" sz="2000" dirty="0" err="1"/>
              <a:t>fg</a:t>
            </a:r>
            <a:r>
              <a:rPr lang="en-US" sz="2000" dirty="0"/>
              <a:t> attempted is 0?)</a:t>
            </a:r>
          </a:p>
          <a:p>
            <a:endParaRPr lang="en-US" sz="2400" dirty="0"/>
          </a:p>
        </p:txBody>
      </p:sp>
      <p:graphicFrame>
        <p:nvGraphicFramePr>
          <p:cNvPr id="4" name="Table 3">
            <a:extLst>
              <a:ext uri="{FF2B5EF4-FFF2-40B4-BE49-F238E27FC236}">
                <a16:creationId xmlns:a16="http://schemas.microsoft.com/office/drawing/2014/main" id="{69CF67E4-B787-6E66-E881-4D77BBE3FB0C}"/>
              </a:ext>
            </a:extLst>
          </p:cNvPr>
          <p:cNvGraphicFramePr>
            <a:graphicFrameLocks noGrp="1"/>
          </p:cNvGraphicFramePr>
          <p:nvPr>
            <p:extLst>
              <p:ext uri="{D42A27DB-BD31-4B8C-83A1-F6EECF244321}">
                <p14:modId xmlns:p14="http://schemas.microsoft.com/office/powerpoint/2010/main" val="4152800749"/>
              </p:ext>
            </p:extLst>
          </p:nvPr>
        </p:nvGraphicFramePr>
        <p:xfrm>
          <a:off x="838200" y="1441938"/>
          <a:ext cx="4251789" cy="4735502"/>
        </p:xfrm>
        <a:graphic>
          <a:graphicData uri="http://schemas.openxmlformats.org/drawingml/2006/table">
            <a:tbl>
              <a:tblPr firstRow="1">
                <a:tableStyleId>{5C22544A-7EE6-4342-B048-85BDC9FD1C3A}</a:tableStyleId>
              </a:tblPr>
              <a:tblGrid>
                <a:gridCol w="590059">
                  <a:extLst>
                    <a:ext uri="{9D8B030D-6E8A-4147-A177-3AD203B41FA5}">
                      <a16:colId xmlns:a16="http://schemas.microsoft.com/office/drawing/2014/main" val="2960107707"/>
                    </a:ext>
                  </a:extLst>
                </a:gridCol>
                <a:gridCol w="548640">
                  <a:extLst>
                    <a:ext uri="{9D8B030D-6E8A-4147-A177-3AD203B41FA5}">
                      <a16:colId xmlns:a16="http://schemas.microsoft.com/office/drawing/2014/main" val="1163048234"/>
                    </a:ext>
                  </a:extLst>
                </a:gridCol>
                <a:gridCol w="548640">
                  <a:extLst>
                    <a:ext uri="{9D8B030D-6E8A-4147-A177-3AD203B41FA5}">
                      <a16:colId xmlns:a16="http://schemas.microsoft.com/office/drawing/2014/main" val="983879205"/>
                    </a:ext>
                  </a:extLst>
                </a:gridCol>
                <a:gridCol w="644210">
                  <a:extLst>
                    <a:ext uri="{9D8B030D-6E8A-4147-A177-3AD203B41FA5}">
                      <a16:colId xmlns:a16="http://schemas.microsoft.com/office/drawing/2014/main" val="795933687"/>
                    </a:ext>
                  </a:extLst>
                </a:gridCol>
                <a:gridCol w="640080">
                  <a:extLst>
                    <a:ext uri="{9D8B030D-6E8A-4147-A177-3AD203B41FA5}">
                      <a16:colId xmlns:a16="http://schemas.microsoft.com/office/drawing/2014/main" val="3327370894"/>
                    </a:ext>
                  </a:extLst>
                </a:gridCol>
                <a:gridCol w="640080">
                  <a:extLst>
                    <a:ext uri="{9D8B030D-6E8A-4147-A177-3AD203B41FA5}">
                      <a16:colId xmlns:a16="http://schemas.microsoft.com/office/drawing/2014/main" val="781121282"/>
                    </a:ext>
                  </a:extLst>
                </a:gridCol>
                <a:gridCol w="640080">
                  <a:extLst>
                    <a:ext uri="{9D8B030D-6E8A-4147-A177-3AD203B41FA5}">
                      <a16:colId xmlns:a16="http://schemas.microsoft.com/office/drawing/2014/main" val="3877924112"/>
                    </a:ext>
                  </a:extLst>
                </a:gridCol>
              </a:tblGrid>
              <a:tr h="292814">
                <a:tc>
                  <a:txBody>
                    <a:bodyPr/>
                    <a:lstStyle/>
                    <a:p>
                      <a:pPr algn="l" fontAlgn="b">
                        <a:buNone/>
                      </a:pPr>
                      <a:r>
                        <a:rPr lang="en-GB" sz="900" u="none" strike="noStrike">
                          <a:effectLst/>
                        </a:rPr>
                        <a:t>game_id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team_id</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opponent_team_id</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athlete_id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field_goals_made</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field_goals_attempted</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fg</a:t>
                      </a:r>
                      <a:r>
                        <a:rPr lang="en-GB" sz="900" u="none" strike="noStrike" dirty="0">
                          <a:effectLst/>
                        </a:rPr>
                        <a:t>%</a:t>
                      </a:r>
                      <a:endParaRPr lang="en-GB" sz="900" b="1" i="0" u="none" strike="noStrike" dirty="0">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852672679"/>
                  </a:ext>
                </a:extLst>
              </a:tr>
              <a:tr h="164544">
                <a:tc>
                  <a:txBody>
                    <a:bodyPr/>
                    <a:lstStyle/>
                    <a:p>
                      <a:pPr algn="r" fontAlgn="b">
                        <a:buNone/>
                      </a:pPr>
                      <a:r>
                        <a:rPr lang="en-GB" sz="900" u="none" strike="noStrike">
                          <a:effectLst/>
                        </a:rPr>
                        <a:t>401858379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38</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0</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53786874"/>
                  </a:ext>
                </a:extLst>
              </a:tr>
              <a:tr h="164544">
                <a:tc>
                  <a:txBody>
                    <a:bodyPr/>
                    <a:lstStyle/>
                    <a:p>
                      <a:pPr algn="r" fontAlgn="b">
                        <a:buNone/>
                      </a:pPr>
                      <a:r>
                        <a:rPr lang="en-GB" sz="900" u="none" strike="noStrike">
                          <a:effectLst/>
                        </a:rPr>
                        <a:t>401851568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8</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5329888</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399955904"/>
                  </a:ext>
                </a:extLst>
              </a:tr>
              <a:tr h="164544">
                <a:tc>
                  <a:txBody>
                    <a:bodyPr/>
                    <a:lstStyle/>
                    <a:p>
                      <a:pPr algn="r" fontAlgn="b">
                        <a:buNone/>
                      </a:pPr>
                      <a:r>
                        <a:rPr lang="en-GB" sz="900" u="none" strike="noStrike">
                          <a:effectLst/>
                        </a:rPr>
                        <a:t>401851564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245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4</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75%</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250644507"/>
                  </a:ext>
                </a:extLst>
              </a:tr>
              <a:tr h="164544">
                <a:tc>
                  <a:txBody>
                    <a:bodyPr/>
                    <a:lstStyle/>
                    <a:p>
                      <a:pPr algn="r" fontAlgn="b">
                        <a:buNone/>
                      </a:pPr>
                      <a:r>
                        <a:rPr lang="en-GB" sz="900" u="none" strike="noStrike">
                          <a:effectLst/>
                        </a:rPr>
                        <a:t>401851560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2579</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0</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120084516"/>
                  </a:ext>
                </a:extLst>
              </a:tr>
              <a:tr h="164544">
                <a:tc>
                  <a:txBody>
                    <a:bodyPr/>
                    <a:lstStyle/>
                    <a:p>
                      <a:pPr algn="r" fontAlgn="b">
                        <a:buNone/>
                      </a:pPr>
                      <a:r>
                        <a:rPr lang="en-GB" sz="900" u="none" strike="noStrike">
                          <a:effectLst/>
                        </a:rPr>
                        <a:t>401808287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251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33%</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8918566"/>
                  </a:ext>
                </a:extLst>
              </a:tr>
              <a:tr h="164544">
                <a:tc>
                  <a:txBody>
                    <a:bodyPr/>
                    <a:lstStyle/>
                    <a:p>
                      <a:pPr algn="r" fontAlgn="b">
                        <a:buNone/>
                      </a:pPr>
                      <a:r>
                        <a:rPr lang="en-GB" sz="900" u="none" strike="noStrike">
                          <a:effectLst/>
                        </a:rPr>
                        <a:t>401808280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142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40%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254369952"/>
                  </a:ext>
                </a:extLst>
              </a:tr>
              <a:tr h="164544">
                <a:tc>
                  <a:txBody>
                    <a:bodyPr/>
                    <a:lstStyle/>
                    <a:p>
                      <a:pPr algn="r" fontAlgn="b">
                        <a:buNone/>
                      </a:pPr>
                      <a:r>
                        <a:rPr lang="en-GB" sz="900" u="none" strike="noStrike">
                          <a:effectLst/>
                        </a:rPr>
                        <a:t>401808269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99</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33%</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7569690"/>
                  </a:ext>
                </a:extLst>
              </a:tr>
              <a:tr h="164544">
                <a:tc>
                  <a:txBody>
                    <a:bodyPr/>
                    <a:lstStyle/>
                    <a:p>
                      <a:pPr algn="r" fontAlgn="b">
                        <a:buNone/>
                      </a:pPr>
                      <a:r>
                        <a:rPr lang="en-GB" sz="900" u="none" strike="noStrike">
                          <a:effectLst/>
                        </a:rPr>
                        <a:t>401808262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0</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528984186"/>
                  </a:ext>
                </a:extLst>
              </a:tr>
              <a:tr h="164544">
                <a:tc>
                  <a:txBody>
                    <a:bodyPr/>
                    <a:lstStyle/>
                    <a:p>
                      <a:pPr algn="r" fontAlgn="b">
                        <a:buNone/>
                      </a:pPr>
                      <a:r>
                        <a:rPr lang="en-GB" sz="900" u="none" strike="noStrike">
                          <a:effectLst/>
                        </a:rPr>
                        <a:t>401808256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245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999452786"/>
                  </a:ext>
                </a:extLst>
              </a:tr>
              <a:tr h="164544">
                <a:tc>
                  <a:txBody>
                    <a:bodyPr/>
                    <a:lstStyle/>
                    <a:p>
                      <a:pPr algn="r" fontAlgn="b">
                        <a:buNone/>
                      </a:pPr>
                      <a:r>
                        <a:rPr lang="en-GB" sz="900" u="none" strike="noStrike">
                          <a:effectLst/>
                        </a:rPr>
                        <a:t>401808247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2633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091315309"/>
                  </a:ext>
                </a:extLst>
              </a:tr>
              <a:tr h="164544">
                <a:tc>
                  <a:txBody>
                    <a:bodyPr/>
                    <a:lstStyle/>
                    <a:p>
                      <a:pPr algn="r" fontAlgn="b">
                        <a:buNone/>
                      </a:pPr>
                      <a:r>
                        <a:rPr lang="en-GB" sz="900" u="none" strike="noStrike">
                          <a:effectLst/>
                        </a:rPr>
                        <a:t>401808239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61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030630019"/>
                  </a:ext>
                </a:extLst>
              </a:tr>
              <a:tr h="164544">
                <a:tc>
                  <a:txBody>
                    <a:bodyPr/>
                    <a:lstStyle/>
                    <a:p>
                      <a:pPr algn="r" fontAlgn="b">
                        <a:buNone/>
                      </a:pPr>
                      <a:r>
                        <a:rPr lang="en-GB" sz="900" u="none" strike="noStrike">
                          <a:effectLst/>
                        </a:rPr>
                        <a:t>401808225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238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762853185"/>
                  </a:ext>
                </a:extLst>
              </a:tr>
              <a:tr h="164544">
                <a:tc>
                  <a:txBody>
                    <a:bodyPr/>
                    <a:lstStyle/>
                    <a:p>
                      <a:pPr algn="r" fontAlgn="b">
                        <a:buNone/>
                      </a:pPr>
                      <a:r>
                        <a:rPr lang="en-GB" sz="900" u="none" strike="noStrike">
                          <a:effectLst/>
                        </a:rPr>
                        <a:t>401808216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96</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50%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695585311"/>
                  </a:ext>
                </a:extLst>
              </a:tr>
              <a:tr h="164544">
                <a:tc>
                  <a:txBody>
                    <a:bodyPr/>
                    <a:lstStyle/>
                    <a:p>
                      <a:pPr algn="r" fontAlgn="b">
                        <a:buNone/>
                      </a:pPr>
                      <a:r>
                        <a:rPr lang="en-GB" sz="900" u="none" strike="noStrike">
                          <a:effectLst/>
                        </a:rPr>
                        <a:t>401808214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40%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436922497"/>
                  </a:ext>
                </a:extLst>
              </a:tr>
              <a:tr h="164544">
                <a:tc>
                  <a:txBody>
                    <a:bodyPr/>
                    <a:lstStyle/>
                    <a:p>
                      <a:pPr algn="r" fontAlgn="b">
                        <a:buNone/>
                      </a:pPr>
                      <a:r>
                        <a:rPr lang="en-GB" sz="900" u="none" strike="noStrike">
                          <a:effectLst/>
                        </a:rPr>
                        <a:t>401808206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243207738"/>
                  </a:ext>
                </a:extLst>
              </a:tr>
              <a:tr h="164544">
                <a:tc>
                  <a:txBody>
                    <a:bodyPr/>
                    <a:lstStyle/>
                    <a:p>
                      <a:pPr algn="r" fontAlgn="b">
                        <a:buNone/>
                      </a:pPr>
                      <a:r>
                        <a:rPr lang="en-GB" sz="900" u="none" strike="noStrike">
                          <a:effectLst/>
                        </a:rPr>
                        <a:t>401808196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142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60%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864796801"/>
                  </a:ext>
                </a:extLst>
              </a:tr>
              <a:tr h="164544">
                <a:tc>
                  <a:txBody>
                    <a:bodyPr/>
                    <a:lstStyle/>
                    <a:p>
                      <a:pPr algn="r" fontAlgn="b">
                        <a:buNone/>
                      </a:pPr>
                      <a:r>
                        <a:rPr lang="en-GB" sz="900" u="none" strike="noStrike">
                          <a:effectLst/>
                        </a:rPr>
                        <a:t>401808191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50%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537903987"/>
                  </a:ext>
                </a:extLst>
              </a:tr>
              <a:tr h="164544">
                <a:tc>
                  <a:txBody>
                    <a:bodyPr/>
                    <a:lstStyle/>
                    <a:p>
                      <a:pPr algn="r" fontAlgn="b">
                        <a:buNone/>
                      </a:pPr>
                      <a:r>
                        <a:rPr lang="en-GB" sz="900" u="none" strike="noStrike">
                          <a:effectLst/>
                        </a:rPr>
                        <a:t>401808184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333</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67%</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277042283"/>
                  </a:ext>
                </a:extLst>
              </a:tr>
              <a:tr h="164544">
                <a:tc>
                  <a:txBody>
                    <a:bodyPr/>
                    <a:lstStyle/>
                    <a:p>
                      <a:pPr algn="r" fontAlgn="b">
                        <a:buNone/>
                      </a:pPr>
                      <a:r>
                        <a:rPr lang="en-GB" sz="900" u="none" strike="noStrike">
                          <a:effectLst/>
                        </a:rPr>
                        <a:t>401808172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053440590"/>
                  </a:ext>
                </a:extLst>
              </a:tr>
              <a:tr h="164544">
                <a:tc>
                  <a:txBody>
                    <a:bodyPr/>
                    <a:lstStyle/>
                    <a:p>
                      <a:pPr algn="r" fontAlgn="b">
                        <a:buNone/>
                      </a:pPr>
                      <a:r>
                        <a:rPr lang="en-GB" sz="900" u="none" strike="noStrike">
                          <a:effectLst/>
                        </a:rPr>
                        <a:t>401808166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245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706560240"/>
                  </a:ext>
                </a:extLst>
              </a:tr>
              <a:tr h="164544">
                <a:tc>
                  <a:txBody>
                    <a:bodyPr/>
                    <a:lstStyle/>
                    <a:p>
                      <a:pPr algn="r" fontAlgn="b">
                        <a:buNone/>
                      </a:pPr>
                      <a:r>
                        <a:rPr lang="en-GB" sz="900" u="none" strike="noStrike">
                          <a:effectLst/>
                        </a:rPr>
                        <a:t>401808154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344</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166672910"/>
                  </a:ext>
                </a:extLst>
              </a:tr>
              <a:tr h="164544">
                <a:tc>
                  <a:txBody>
                    <a:bodyPr/>
                    <a:lstStyle/>
                    <a:p>
                      <a:pPr algn="r" fontAlgn="b">
                        <a:buNone/>
                      </a:pPr>
                      <a:r>
                        <a:rPr lang="en-GB" sz="900" u="none" strike="noStrike">
                          <a:effectLst/>
                        </a:rPr>
                        <a:t>401808151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145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776705631"/>
                  </a:ext>
                </a:extLst>
              </a:tr>
              <a:tr h="164544">
                <a:tc>
                  <a:txBody>
                    <a:bodyPr/>
                    <a:lstStyle/>
                    <a:p>
                      <a:pPr algn="r" fontAlgn="b">
                        <a:buNone/>
                      </a:pPr>
                      <a:r>
                        <a:rPr lang="en-GB" sz="900" u="none" strike="noStrike">
                          <a:effectLst/>
                        </a:rPr>
                        <a:t>401826782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2400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67%</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8907871"/>
                  </a:ext>
                </a:extLst>
              </a:tr>
              <a:tr h="164544">
                <a:tc>
                  <a:txBody>
                    <a:bodyPr/>
                    <a:lstStyle/>
                    <a:p>
                      <a:pPr algn="r" fontAlgn="b">
                        <a:buNone/>
                      </a:pPr>
                      <a:r>
                        <a:rPr lang="en-GB" sz="900" u="none" strike="noStrike">
                          <a:effectLst/>
                        </a:rPr>
                        <a:t>401858385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277</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5144388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797567868"/>
                  </a:ext>
                </a:extLst>
              </a:tr>
              <a:tr h="164544">
                <a:tc>
                  <a:txBody>
                    <a:bodyPr/>
                    <a:lstStyle/>
                    <a:p>
                      <a:pPr algn="r" fontAlgn="b">
                        <a:buNone/>
                      </a:pPr>
                      <a:r>
                        <a:rPr lang="en-GB" sz="900" u="none" strike="noStrike">
                          <a:effectLst/>
                        </a:rPr>
                        <a:t>401858385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277</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5101844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675940478"/>
                  </a:ext>
                </a:extLst>
              </a:tr>
              <a:tr h="164544">
                <a:tc>
                  <a:txBody>
                    <a:bodyPr/>
                    <a:lstStyle/>
                    <a:p>
                      <a:pPr algn="r" fontAlgn="b">
                        <a:buNone/>
                      </a:pPr>
                      <a:r>
                        <a:rPr lang="en-GB" sz="900" u="none" strike="noStrike">
                          <a:effectLst/>
                        </a:rPr>
                        <a:t>401858383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239</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5144388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50%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881331822"/>
                  </a:ext>
                </a:extLst>
              </a:tr>
              <a:tr h="164544">
                <a:tc>
                  <a:txBody>
                    <a:bodyPr/>
                    <a:lstStyle/>
                    <a:p>
                      <a:pPr algn="r" fontAlgn="b">
                        <a:buNone/>
                      </a:pPr>
                      <a:r>
                        <a:rPr lang="en-GB" sz="900" u="none" strike="noStrike">
                          <a:effectLst/>
                        </a:rPr>
                        <a:t>401858383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239</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5101844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10818452"/>
                  </a:ext>
                </a:extLst>
              </a:tr>
            </a:tbl>
          </a:graphicData>
        </a:graphic>
      </p:graphicFrame>
      <p:sp>
        <p:nvSpPr>
          <p:cNvPr id="7" name="TextBox 6">
            <a:extLst>
              <a:ext uri="{FF2B5EF4-FFF2-40B4-BE49-F238E27FC236}">
                <a16:creationId xmlns:a16="http://schemas.microsoft.com/office/drawing/2014/main" id="{B9CFC2CC-24FE-FCCF-EB1D-8F8B73F05B06}"/>
              </a:ext>
            </a:extLst>
          </p:cNvPr>
          <p:cNvSpPr txBox="1"/>
          <p:nvPr/>
        </p:nvSpPr>
        <p:spPr>
          <a:xfrm>
            <a:off x="838200" y="6187673"/>
            <a:ext cx="3657600" cy="307777"/>
          </a:xfrm>
          <a:prstGeom prst="rect">
            <a:avLst/>
          </a:prstGeom>
          <a:noFill/>
        </p:spPr>
        <p:txBody>
          <a:bodyPr wrap="square">
            <a:spAutoFit/>
          </a:bodyPr>
          <a:lstStyle/>
          <a:p>
            <a:r>
              <a:rPr lang="en-GB" sz="1400" i="1" dirty="0"/>
              <a:t>*sample rows from the full dataset</a:t>
            </a:r>
            <a:endParaRPr lang="en-US" sz="1400" i="1" dirty="0"/>
          </a:p>
        </p:txBody>
      </p:sp>
    </p:spTree>
    <p:extLst>
      <p:ext uri="{BB962C8B-B14F-4D97-AF65-F5344CB8AC3E}">
        <p14:creationId xmlns:p14="http://schemas.microsoft.com/office/powerpoint/2010/main" val="78673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0C8E4-78FF-C4F5-E4A4-2E93E70284C9}"/>
              </a:ext>
            </a:extLst>
          </p:cNvPr>
          <p:cNvSpPr>
            <a:spLocks noGrp="1"/>
          </p:cNvSpPr>
          <p:nvPr>
            <p:ph type="title"/>
          </p:nvPr>
        </p:nvSpPr>
        <p:spPr/>
        <p:txBody>
          <a:bodyPr/>
          <a:lstStyle/>
          <a:p>
            <a:r>
              <a:rPr lang="en-GB" dirty="0"/>
              <a:t>Which graph answers this question?</a:t>
            </a:r>
            <a:endParaRPr lang="en-US" dirty="0"/>
          </a:p>
        </p:txBody>
      </p:sp>
      <p:sp>
        <p:nvSpPr>
          <p:cNvPr id="3" name="Content Placeholder 2">
            <a:extLst>
              <a:ext uri="{FF2B5EF4-FFF2-40B4-BE49-F238E27FC236}">
                <a16:creationId xmlns:a16="http://schemas.microsoft.com/office/drawing/2014/main" id="{A834043E-BC10-A067-320E-5D96D8C1541B}"/>
              </a:ext>
            </a:extLst>
          </p:cNvPr>
          <p:cNvSpPr>
            <a:spLocks noGrp="1"/>
          </p:cNvSpPr>
          <p:nvPr>
            <p:ph idx="1"/>
          </p:nvPr>
        </p:nvSpPr>
        <p:spPr/>
        <p:txBody>
          <a:bodyPr/>
          <a:lstStyle/>
          <a:p>
            <a:r>
              <a:rPr lang="en-GB" i="1" dirty="0"/>
              <a:t>one numeric variable → distribution → histogram.</a:t>
            </a:r>
            <a:r>
              <a:rPr lang="en-GB" dirty="0"/>
              <a:t> </a:t>
            </a:r>
          </a:p>
          <a:p>
            <a:pPr lvl="1"/>
            <a:endParaRPr lang="en-GB" dirty="0"/>
          </a:p>
          <a:p>
            <a:r>
              <a:rPr lang="en-GB" b="1" dirty="0"/>
              <a:t>Recall:</a:t>
            </a:r>
            <a:r>
              <a:rPr lang="en-GB" dirty="0"/>
              <a:t> chart choice follows the question.</a:t>
            </a:r>
            <a:endParaRPr lang="en-US" b="1" dirty="0"/>
          </a:p>
        </p:txBody>
      </p:sp>
      <p:pic>
        <p:nvPicPr>
          <p:cNvPr id="5" name="Picture 4">
            <a:extLst>
              <a:ext uri="{FF2B5EF4-FFF2-40B4-BE49-F238E27FC236}">
                <a16:creationId xmlns:a16="http://schemas.microsoft.com/office/drawing/2014/main" id="{DA41776F-D1F3-B3E7-ADF1-8593CD491C00}"/>
              </a:ext>
            </a:extLst>
          </p:cNvPr>
          <p:cNvPicPr>
            <a:picLocks noChangeAspect="1"/>
          </p:cNvPicPr>
          <p:nvPr/>
        </p:nvPicPr>
        <p:blipFill>
          <a:blip r:embed="rId2"/>
          <a:stretch>
            <a:fillRect/>
          </a:stretch>
        </p:blipFill>
        <p:spPr>
          <a:xfrm>
            <a:off x="495299" y="3033597"/>
            <a:ext cx="11201401" cy="3586344"/>
          </a:xfrm>
          <a:prstGeom prst="rect">
            <a:avLst/>
          </a:prstGeom>
        </p:spPr>
      </p:pic>
    </p:spTree>
    <p:extLst>
      <p:ext uri="{BB962C8B-B14F-4D97-AF65-F5344CB8AC3E}">
        <p14:creationId xmlns:p14="http://schemas.microsoft.com/office/powerpoint/2010/main" val="2719843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FED71-9433-5AA6-84A6-1E67AFDB6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F74CF-CF8E-BC55-72F6-CFA53EE6F2AA}"/>
              </a:ext>
            </a:extLst>
          </p:cNvPr>
          <p:cNvSpPr>
            <a:spLocks noGrp="1"/>
          </p:cNvSpPr>
          <p:nvPr>
            <p:ph type="title"/>
          </p:nvPr>
        </p:nvSpPr>
        <p:spPr/>
        <p:txBody>
          <a:bodyPr/>
          <a:lstStyle/>
          <a:p>
            <a:r>
              <a:rPr lang="en-US" dirty="0"/>
              <a:t>Making the histogram</a:t>
            </a:r>
          </a:p>
        </p:txBody>
      </p:sp>
      <p:sp>
        <p:nvSpPr>
          <p:cNvPr id="3" name="Content Placeholder 2">
            <a:extLst>
              <a:ext uri="{FF2B5EF4-FFF2-40B4-BE49-F238E27FC236}">
                <a16:creationId xmlns:a16="http://schemas.microsoft.com/office/drawing/2014/main" id="{0DFB23F5-FFE7-F55A-963A-892E5BAFEE53}"/>
              </a:ext>
            </a:extLst>
          </p:cNvPr>
          <p:cNvSpPr>
            <a:spLocks noGrp="1"/>
          </p:cNvSpPr>
          <p:nvPr>
            <p:ph idx="1"/>
          </p:nvPr>
        </p:nvSpPr>
        <p:spPr/>
        <p:txBody>
          <a:bodyPr/>
          <a:lstStyle/>
          <a:p>
            <a:pPr lvl="1"/>
            <a:endParaRPr lang="en-GB" dirty="0"/>
          </a:p>
          <a:p>
            <a:r>
              <a:rPr lang="en-GB" b="1" dirty="0"/>
              <a:t>Recall:</a:t>
            </a:r>
            <a:r>
              <a:rPr lang="en-GB" dirty="0"/>
              <a:t> long format. </a:t>
            </a:r>
          </a:p>
        </p:txBody>
      </p:sp>
      <p:graphicFrame>
        <p:nvGraphicFramePr>
          <p:cNvPr id="5" name="Table 4">
            <a:extLst>
              <a:ext uri="{FF2B5EF4-FFF2-40B4-BE49-F238E27FC236}">
                <a16:creationId xmlns:a16="http://schemas.microsoft.com/office/drawing/2014/main" id="{DFB85BC3-8B84-572C-A508-86073F96CBB8}"/>
              </a:ext>
            </a:extLst>
          </p:cNvPr>
          <p:cNvGraphicFramePr>
            <a:graphicFrameLocks noGrp="1"/>
          </p:cNvGraphicFramePr>
          <p:nvPr>
            <p:extLst>
              <p:ext uri="{D42A27DB-BD31-4B8C-83A1-F6EECF244321}">
                <p14:modId xmlns:p14="http://schemas.microsoft.com/office/powerpoint/2010/main" val="1318052222"/>
              </p:ext>
            </p:extLst>
          </p:nvPr>
        </p:nvGraphicFramePr>
        <p:xfrm>
          <a:off x="7434494" y="1659414"/>
          <a:ext cx="1574800" cy="1955800"/>
        </p:xfrm>
        <a:graphic>
          <a:graphicData uri="http://schemas.openxmlformats.org/drawingml/2006/table">
            <a:tbl>
              <a:tblPr firstRow="1">
                <a:tableStyleId>{5C22544A-7EE6-4342-B048-85BDC9FD1C3A}</a:tableStyleId>
              </a:tblPr>
              <a:tblGrid>
                <a:gridCol w="825347">
                  <a:extLst>
                    <a:ext uri="{9D8B030D-6E8A-4147-A177-3AD203B41FA5}">
                      <a16:colId xmlns:a16="http://schemas.microsoft.com/office/drawing/2014/main" val="3905656066"/>
                    </a:ext>
                  </a:extLst>
                </a:gridCol>
                <a:gridCol w="749453">
                  <a:extLst>
                    <a:ext uri="{9D8B030D-6E8A-4147-A177-3AD203B41FA5}">
                      <a16:colId xmlns:a16="http://schemas.microsoft.com/office/drawing/2014/main" val="1912136173"/>
                    </a:ext>
                  </a:extLst>
                </a:gridCol>
              </a:tblGrid>
              <a:tr h="279400">
                <a:tc>
                  <a:txBody>
                    <a:bodyPr/>
                    <a:lstStyle/>
                    <a:p>
                      <a:pPr algn="l" fontAlgn="b">
                        <a:buNone/>
                      </a:pP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GB" sz="1600" u="none" strike="noStrike">
                          <a:effectLst/>
                        </a:rPr>
                        <a:t>value</a:t>
                      </a:r>
                      <a:endParaRPr lang="en-GB"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00142639"/>
                  </a:ext>
                </a:extLst>
              </a:tr>
              <a:tr h="279400">
                <a:tc>
                  <a:txBody>
                    <a:bodyPr/>
                    <a:lstStyle/>
                    <a:p>
                      <a:pPr algn="l" fontAlgn="b">
                        <a:buNone/>
                      </a:pPr>
                      <a:r>
                        <a:rPr lang="en-GB" sz="1600" u="none" strike="noStrike">
                          <a:effectLst/>
                        </a:rPr>
                        <a:t>mean</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GB" sz="1600" u="none" strike="noStrike">
                          <a:effectLst/>
                        </a:rPr>
                        <a:t>42.1%</a:t>
                      </a:r>
                      <a:endParaRPr lang="en-GB"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05194812"/>
                  </a:ext>
                </a:extLst>
              </a:tr>
              <a:tr h="279400">
                <a:tc>
                  <a:txBody>
                    <a:bodyPr/>
                    <a:lstStyle/>
                    <a:p>
                      <a:pPr algn="l" fontAlgn="b">
                        <a:buNone/>
                      </a:pPr>
                      <a:r>
                        <a:rPr lang="en-GB" sz="1600" u="none" strike="noStrike">
                          <a:effectLst/>
                        </a:rPr>
                        <a:t>median</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GB" sz="1600" u="none" strike="noStrike">
                          <a:effectLst/>
                        </a:rPr>
                        <a:t>42.9%</a:t>
                      </a:r>
                      <a:endParaRPr lang="en-GB"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77452891"/>
                  </a:ext>
                </a:extLst>
              </a:tr>
              <a:tr h="279400">
                <a:tc>
                  <a:txBody>
                    <a:bodyPr/>
                    <a:lstStyle/>
                    <a:p>
                      <a:pPr algn="l" fontAlgn="b">
                        <a:buNone/>
                      </a:pPr>
                      <a:r>
                        <a:rPr lang="en-GB" sz="1600" u="none" strike="noStrike">
                          <a:effectLst/>
                        </a:rPr>
                        <a:t>min</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GB" sz="1600" u="none" strike="noStrike">
                          <a:effectLst/>
                        </a:rPr>
                        <a:t>0.0%</a:t>
                      </a:r>
                      <a:endParaRPr lang="en-GB"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01700835"/>
                  </a:ext>
                </a:extLst>
              </a:tr>
              <a:tr h="279400">
                <a:tc>
                  <a:txBody>
                    <a:bodyPr/>
                    <a:lstStyle/>
                    <a:p>
                      <a:pPr algn="l" fontAlgn="b">
                        <a:buNone/>
                      </a:pPr>
                      <a:r>
                        <a:rPr lang="en-GB" sz="1600" u="none" strike="noStrike">
                          <a:effectLst/>
                        </a:rPr>
                        <a:t>max</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GB" sz="1600" u="none" strike="noStrike">
                          <a:effectLst/>
                        </a:rPr>
                        <a:t>100.0%</a:t>
                      </a:r>
                      <a:endParaRPr lang="en-GB"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92590735"/>
                  </a:ext>
                </a:extLst>
              </a:tr>
              <a:tr h="279400">
                <a:tc>
                  <a:txBody>
                    <a:bodyPr/>
                    <a:lstStyle/>
                    <a:p>
                      <a:pPr algn="l" fontAlgn="b">
                        <a:buNone/>
                      </a:pPr>
                      <a:r>
                        <a:rPr lang="en-GB" sz="1600" u="none" strike="noStrike">
                          <a:effectLst/>
                        </a:rPr>
                        <a:t>range</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GB" sz="1600" u="none" strike="noStrike">
                          <a:effectLst/>
                        </a:rPr>
                        <a:t>100.0%</a:t>
                      </a:r>
                      <a:endParaRPr lang="en-GB"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87282227"/>
                  </a:ext>
                </a:extLst>
              </a:tr>
              <a:tr h="279400">
                <a:tc>
                  <a:txBody>
                    <a:bodyPr/>
                    <a:lstStyle/>
                    <a:p>
                      <a:pPr algn="l" fontAlgn="b">
                        <a:buNone/>
                      </a:pPr>
                      <a:r>
                        <a:rPr lang="en-GB" sz="1600" u="none" strike="noStrike">
                          <a:effectLst/>
                        </a:rPr>
                        <a:t>sd</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GB" sz="1600" u="none" strike="noStrike" dirty="0">
                          <a:effectLst/>
                        </a:rPr>
                        <a:t>28.4%</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94046888"/>
                  </a:ext>
                </a:extLst>
              </a:tr>
            </a:tbl>
          </a:graphicData>
        </a:graphic>
      </p:graphicFrame>
      <p:sp>
        <p:nvSpPr>
          <p:cNvPr id="7" name="TextBox 6">
            <a:extLst>
              <a:ext uri="{FF2B5EF4-FFF2-40B4-BE49-F238E27FC236}">
                <a16:creationId xmlns:a16="http://schemas.microsoft.com/office/drawing/2014/main" id="{1CB448FB-88C0-DF9E-B0B0-715CE82150EF}"/>
              </a:ext>
            </a:extLst>
          </p:cNvPr>
          <p:cNvSpPr txBox="1"/>
          <p:nvPr/>
        </p:nvSpPr>
        <p:spPr>
          <a:xfrm>
            <a:off x="5897217" y="4220686"/>
            <a:ext cx="6145696" cy="830997"/>
          </a:xfrm>
          <a:prstGeom prst="rect">
            <a:avLst/>
          </a:prstGeom>
          <a:noFill/>
        </p:spPr>
        <p:txBody>
          <a:bodyPr wrap="square">
            <a:spAutoFit/>
          </a:bodyPr>
          <a:lstStyle/>
          <a:p>
            <a:r>
              <a:rPr lang="en-GB" sz="2400" dirty="0">
                <a:solidFill>
                  <a:srgbClr val="FF0000"/>
                </a:solidFill>
              </a:rPr>
              <a:t>Which table should we use for histogram?</a:t>
            </a:r>
          </a:p>
          <a:p>
            <a:r>
              <a:rPr lang="en-GB" sz="2400" dirty="0">
                <a:solidFill>
                  <a:srgbClr val="FF0000"/>
                </a:solidFill>
              </a:rPr>
              <a:t>What format is this? (long or wide)</a:t>
            </a:r>
            <a:endParaRPr lang="en-US" sz="1600" dirty="0">
              <a:solidFill>
                <a:srgbClr val="FF0000"/>
              </a:solidFill>
            </a:endParaRPr>
          </a:p>
        </p:txBody>
      </p:sp>
      <p:graphicFrame>
        <p:nvGraphicFramePr>
          <p:cNvPr id="6" name="Table 5">
            <a:extLst>
              <a:ext uri="{FF2B5EF4-FFF2-40B4-BE49-F238E27FC236}">
                <a16:creationId xmlns:a16="http://schemas.microsoft.com/office/drawing/2014/main" id="{A7FEB0DB-6123-A5CB-EFAF-5913EB4E301F}"/>
              </a:ext>
            </a:extLst>
          </p:cNvPr>
          <p:cNvGraphicFramePr>
            <a:graphicFrameLocks noGrp="1"/>
          </p:cNvGraphicFramePr>
          <p:nvPr>
            <p:extLst>
              <p:ext uri="{D42A27DB-BD31-4B8C-83A1-F6EECF244321}">
                <p14:modId xmlns:p14="http://schemas.microsoft.com/office/powerpoint/2010/main" val="3213690344"/>
              </p:ext>
            </p:extLst>
          </p:nvPr>
        </p:nvGraphicFramePr>
        <p:xfrm>
          <a:off x="838200" y="1441938"/>
          <a:ext cx="4251789" cy="4735502"/>
        </p:xfrm>
        <a:graphic>
          <a:graphicData uri="http://schemas.openxmlformats.org/drawingml/2006/table">
            <a:tbl>
              <a:tblPr firstRow="1">
                <a:tableStyleId>{5C22544A-7EE6-4342-B048-85BDC9FD1C3A}</a:tableStyleId>
              </a:tblPr>
              <a:tblGrid>
                <a:gridCol w="590059">
                  <a:extLst>
                    <a:ext uri="{9D8B030D-6E8A-4147-A177-3AD203B41FA5}">
                      <a16:colId xmlns:a16="http://schemas.microsoft.com/office/drawing/2014/main" val="2960107707"/>
                    </a:ext>
                  </a:extLst>
                </a:gridCol>
                <a:gridCol w="548640">
                  <a:extLst>
                    <a:ext uri="{9D8B030D-6E8A-4147-A177-3AD203B41FA5}">
                      <a16:colId xmlns:a16="http://schemas.microsoft.com/office/drawing/2014/main" val="1163048234"/>
                    </a:ext>
                  </a:extLst>
                </a:gridCol>
                <a:gridCol w="548640">
                  <a:extLst>
                    <a:ext uri="{9D8B030D-6E8A-4147-A177-3AD203B41FA5}">
                      <a16:colId xmlns:a16="http://schemas.microsoft.com/office/drawing/2014/main" val="983879205"/>
                    </a:ext>
                  </a:extLst>
                </a:gridCol>
                <a:gridCol w="644210">
                  <a:extLst>
                    <a:ext uri="{9D8B030D-6E8A-4147-A177-3AD203B41FA5}">
                      <a16:colId xmlns:a16="http://schemas.microsoft.com/office/drawing/2014/main" val="795933687"/>
                    </a:ext>
                  </a:extLst>
                </a:gridCol>
                <a:gridCol w="640080">
                  <a:extLst>
                    <a:ext uri="{9D8B030D-6E8A-4147-A177-3AD203B41FA5}">
                      <a16:colId xmlns:a16="http://schemas.microsoft.com/office/drawing/2014/main" val="3327370894"/>
                    </a:ext>
                  </a:extLst>
                </a:gridCol>
                <a:gridCol w="640080">
                  <a:extLst>
                    <a:ext uri="{9D8B030D-6E8A-4147-A177-3AD203B41FA5}">
                      <a16:colId xmlns:a16="http://schemas.microsoft.com/office/drawing/2014/main" val="781121282"/>
                    </a:ext>
                  </a:extLst>
                </a:gridCol>
                <a:gridCol w="640080">
                  <a:extLst>
                    <a:ext uri="{9D8B030D-6E8A-4147-A177-3AD203B41FA5}">
                      <a16:colId xmlns:a16="http://schemas.microsoft.com/office/drawing/2014/main" val="3877924112"/>
                    </a:ext>
                  </a:extLst>
                </a:gridCol>
              </a:tblGrid>
              <a:tr h="292814">
                <a:tc>
                  <a:txBody>
                    <a:bodyPr/>
                    <a:lstStyle/>
                    <a:p>
                      <a:pPr algn="l" fontAlgn="b">
                        <a:buNone/>
                      </a:pPr>
                      <a:r>
                        <a:rPr lang="en-GB" sz="900" u="none" strike="noStrike">
                          <a:effectLst/>
                        </a:rPr>
                        <a:t>game_id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team_id</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opponent_team_id</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athlete_id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field_goals_made</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field_goals_attempted</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fg</a:t>
                      </a:r>
                      <a:r>
                        <a:rPr lang="en-GB" sz="900" u="none" strike="noStrike" dirty="0">
                          <a:effectLst/>
                        </a:rPr>
                        <a:t>%</a:t>
                      </a:r>
                      <a:endParaRPr lang="en-GB" sz="900" b="1" i="0" u="none" strike="noStrike" dirty="0">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852672679"/>
                  </a:ext>
                </a:extLst>
              </a:tr>
              <a:tr h="164544">
                <a:tc>
                  <a:txBody>
                    <a:bodyPr/>
                    <a:lstStyle/>
                    <a:p>
                      <a:pPr algn="r" fontAlgn="b">
                        <a:buNone/>
                      </a:pPr>
                      <a:r>
                        <a:rPr lang="en-GB" sz="900" u="none" strike="noStrike">
                          <a:effectLst/>
                        </a:rPr>
                        <a:t>401858379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38</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0</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53786874"/>
                  </a:ext>
                </a:extLst>
              </a:tr>
              <a:tr h="164544">
                <a:tc>
                  <a:txBody>
                    <a:bodyPr/>
                    <a:lstStyle/>
                    <a:p>
                      <a:pPr algn="r" fontAlgn="b">
                        <a:buNone/>
                      </a:pPr>
                      <a:r>
                        <a:rPr lang="en-GB" sz="900" u="none" strike="noStrike">
                          <a:effectLst/>
                        </a:rPr>
                        <a:t>401851568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8</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5329888</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399955904"/>
                  </a:ext>
                </a:extLst>
              </a:tr>
              <a:tr h="164544">
                <a:tc>
                  <a:txBody>
                    <a:bodyPr/>
                    <a:lstStyle/>
                    <a:p>
                      <a:pPr algn="r" fontAlgn="b">
                        <a:buNone/>
                      </a:pPr>
                      <a:r>
                        <a:rPr lang="en-GB" sz="900" u="none" strike="noStrike">
                          <a:effectLst/>
                        </a:rPr>
                        <a:t>401851564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245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4</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75%</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250644507"/>
                  </a:ext>
                </a:extLst>
              </a:tr>
              <a:tr h="164544">
                <a:tc>
                  <a:txBody>
                    <a:bodyPr/>
                    <a:lstStyle/>
                    <a:p>
                      <a:pPr algn="r" fontAlgn="b">
                        <a:buNone/>
                      </a:pPr>
                      <a:r>
                        <a:rPr lang="en-GB" sz="900" u="none" strike="noStrike">
                          <a:effectLst/>
                        </a:rPr>
                        <a:t>401851560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2579</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0</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120084516"/>
                  </a:ext>
                </a:extLst>
              </a:tr>
              <a:tr h="164544">
                <a:tc>
                  <a:txBody>
                    <a:bodyPr/>
                    <a:lstStyle/>
                    <a:p>
                      <a:pPr algn="r" fontAlgn="b">
                        <a:buNone/>
                      </a:pPr>
                      <a:r>
                        <a:rPr lang="en-GB" sz="900" u="none" strike="noStrike">
                          <a:effectLst/>
                        </a:rPr>
                        <a:t>401808287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251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33%</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8918566"/>
                  </a:ext>
                </a:extLst>
              </a:tr>
              <a:tr h="164544">
                <a:tc>
                  <a:txBody>
                    <a:bodyPr/>
                    <a:lstStyle/>
                    <a:p>
                      <a:pPr algn="r" fontAlgn="b">
                        <a:buNone/>
                      </a:pPr>
                      <a:r>
                        <a:rPr lang="en-GB" sz="900" u="none" strike="noStrike">
                          <a:effectLst/>
                        </a:rPr>
                        <a:t>401808280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142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40%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254369952"/>
                  </a:ext>
                </a:extLst>
              </a:tr>
              <a:tr h="164544">
                <a:tc>
                  <a:txBody>
                    <a:bodyPr/>
                    <a:lstStyle/>
                    <a:p>
                      <a:pPr algn="r" fontAlgn="b">
                        <a:buNone/>
                      </a:pPr>
                      <a:r>
                        <a:rPr lang="en-GB" sz="900" u="none" strike="noStrike">
                          <a:effectLst/>
                        </a:rPr>
                        <a:t>401808269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99</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33%</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7569690"/>
                  </a:ext>
                </a:extLst>
              </a:tr>
              <a:tr h="164544">
                <a:tc>
                  <a:txBody>
                    <a:bodyPr/>
                    <a:lstStyle/>
                    <a:p>
                      <a:pPr algn="r" fontAlgn="b">
                        <a:buNone/>
                      </a:pPr>
                      <a:r>
                        <a:rPr lang="en-GB" sz="900" u="none" strike="noStrike">
                          <a:effectLst/>
                        </a:rPr>
                        <a:t>401808262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0</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528984186"/>
                  </a:ext>
                </a:extLst>
              </a:tr>
              <a:tr h="164544">
                <a:tc>
                  <a:txBody>
                    <a:bodyPr/>
                    <a:lstStyle/>
                    <a:p>
                      <a:pPr algn="r" fontAlgn="b">
                        <a:buNone/>
                      </a:pPr>
                      <a:r>
                        <a:rPr lang="en-GB" sz="900" u="none" strike="noStrike">
                          <a:effectLst/>
                        </a:rPr>
                        <a:t>401808256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245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999452786"/>
                  </a:ext>
                </a:extLst>
              </a:tr>
              <a:tr h="164544">
                <a:tc>
                  <a:txBody>
                    <a:bodyPr/>
                    <a:lstStyle/>
                    <a:p>
                      <a:pPr algn="r" fontAlgn="b">
                        <a:buNone/>
                      </a:pPr>
                      <a:r>
                        <a:rPr lang="en-GB" sz="900" u="none" strike="noStrike">
                          <a:effectLst/>
                        </a:rPr>
                        <a:t>401808247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2633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091315309"/>
                  </a:ext>
                </a:extLst>
              </a:tr>
              <a:tr h="164544">
                <a:tc>
                  <a:txBody>
                    <a:bodyPr/>
                    <a:lstStyle/>
                    <a:p>
                      <a:pPr algn="r" fontAlgn="b">
                        <a:buNone/>
                      </a:pPr>
                      <a:r>
                        <a:rPr lang="en-GB" sz="900" u="none" strike="noStrike">
                          <a:effectLst/>
                        </a:rPr>
                        <a:t>401808239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61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030630019"/>
                  </a:ext>
                </a:extLst>
              </a:tr>
              <a:tr h="164544">
                <a:tc>
                  <a:txBody>
                    <a:bodyPr/>
                    <a:lstStyle/>
                    <a:p>
                      <a:pPr algn="r" fontAlgn="b">
                        <a:buNone/>
                      </a:pPr>
                      <a:r>
                        <a:rPr lang="en-GB" sz="900" u="none" strike="noStrike">
                          <a:effectLst/>
                        </a:rPr>
                        <a:t>401808225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238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762853185"/>
                  </a:ext>
                </a:extLst>
              </a:tr>
              <a:tr h="164544">
                <a:tc>
                  <a:txBody>
                    <a:bodyPr/>
                    <a:lstStyle/>
                    <a:p>
                      <a:pPr algn="r" fontAlgn="b">
                        <a:buNone/>
                      </a:pPr>
                      <a:r>
                        <a:rPr lang="en-GB" sz="900" u="none" strike="noStrike">
                          <a:effectLst/>
                        </a:rPr>
                        <a:t>401808216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96</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50%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695585311"/>
                  </a:ext>
                </a:extLst>
              </a:tr>
              <a:tr h="164544">
                <a:tc>
                  <a:txBody>
                    <a:bodyPr/>
                    <a:lstStyle/>
                    <a:p>
                      <a:pPr algn="r" fontAlgn="b">
                        <a:buNone/>
                      </a:pPr>
                      <a:r>
                        <a:rPr lang="en-GB" sz="900" u="none" strike="noStrike">
                          <a:effectLst/>
                        </a:rPr>
                        <a:t>401808214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40%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436922497"/>
                  </a:ext>
                </a:extLst>
              </a:tr>
              <a:tr h="164544">
                <a:tc>
                  <a:txBody>
                    <a:bodyPr/>
                    <a:lstStyle/>
                    <a:p>
                      <a:pPr algn="r" fontAlgn="b">
                        <a:buNone/>
                      </a:pPr>
                      <a:r>
                        <a:rPr lang="en-GB" sz="900" u="none" strike="noStrike">
                          <a:effectLst/>
                        </a:rPr>
                        <a:t>401808206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243207738"/>
                  </a:ext>
                </a:extLst>
              </a:tr>
              <a:tr h="164544">
                <a:tc>
                  <a:txBody>
                    <a:bodyPr/>
                    <a:lstStyle/>
                    <a:p>
                      <a:pPr algn="r" fontAlgn="b">
                        <a:buNone/>
                      </a:pPr>
                      <a:r>
                        <a:rPr lang="en-GB" sz="900" u="none" strike="noStrike">
                          <a:effectLst/>
                        </a:rPr>
                        <a:t>401808196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142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60%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864796801"/>
                  </a:ext>
                </a:extLst>
              </a:tr>
              <a:tr h="164544">
                <a:tc>
                  <a:txBody>
                    <a:bodyPr/>
                    <a:lstStyle/>
                    <a:p>
                      <a:pPr algn="r" fontAlgn="b">
                        <a:buNone/>
                      </a:pPr>
                      <a:r>
                        <a:rPr lang="en-GB" sz="900" u="none" strike="noStrike">
                          <a:effectLst/>
                        </a:rPr>
                        <a:t>401808191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50%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537903987"/>
                  </a:ext>
                </a:extLst>
              </a:tr>
              <a:tr h="164544">
                <a:tc>
                  <a:txBody>
                    <a:bodyPr/>
                    <a:lstStyle/>
                    <a:p>
                      <a:pPr algn="r" fontAlgn="b">
                        <a:buNone/>
                      </a:pPr>
                      <a:r>
                        <a:rPr lang="en-GB" sz="900" u="none" strike="noStrike">
                          <a:effectLst/>
                        </a:rPr>
                        <a:t>401808184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333</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67%</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277042283"/>
                  </a:ext>
                </a:extLst>
              </a:tr>
              <a:tr h="164544">
                <a:tc>
                  <a:txBody>
                    <a:bodyPr/>
                    <a:lstStyle/>
                    <a:p>
                      <a:pPr algn="r" fontAlgn="b">
                        <a:buNone/>
                      </a:pPr>
                      <a:r>
                        <a:rPr lang="en-GB" sz="900" u="none" strike="noStrike">
                          <a:effectLst/>
                        </a:rPr>
                        <a:t>401808172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053440590"/>
                  </a:ext>
                </a:extLst>
              </a:tr>
              <a:tr h="164544">
                <a:tc>
                  <a:txBody>
                    <a:bodyPr/>
                    <a:lstStyle/>
                    <a:p>
                      <a:pPr algn="r" fontAlgn="b">
                        <a:buNone/>
                      </a:pPr>
                      <a:r>
                        <a:rPr lang="en-GB" sz="900" u="none" strike="noStrike">
                          <a:effectLst/>
                        </a:rPr>
                        <a:t>401808166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245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706560240"/>
                  </a:ext>
                </a:extLst>
              </a:tr>
              <a:tr h="164544">
                <a:tc>
                  <a:txBody>
                    <a:bodyPr/>
                    <a:lstStyle/>
                    <a:p>
                      <a:pPr algn="r" fontAlgn="b">
                        <a:buNone/>
                      </a:pPr>
                      <a:r>
                        <a:rPr lang="en-GB" sz="900" u="none" strike="noStrike">
                          <a:effectLst/>
                        </a:rPr>
                        <a:t>401808154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344</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166672910"/>
                  </a:ext>
                </a:extLst>
              </a:tr>
              <a:tr h="164544">
                <a:tc>
                  <a:txBody>
                    <a:bodyPr/>
                    <a:lstStyle/>
                    <a:p>
                      <a:pPr algn="r" fontAlgn="b">
                        <a:buNone/>
                      </a:pPr>
                      <a:r>
                        <a:rPr lang="en-GB" sz="900" u="none" strike="noStrike">
                          <a:effectLst/>
                        </a:rPr>
                        <a:t>401808151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145</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776705631"/>
                  </a:ext>
                </a:extLst>
              </a:tr>
              <a:tr h="164544">
                <a:tc>
                  <a:txBody>
                    <a:bodyPr/>
                    <a:lstStyle/>
                    <a:p>
                      <a:pPr algn="r" fontAlgn="b">
                        <a:buNone/>
                      </a:pPr>
                      <a:r>
                        <a:rPr lang="en-GB" sz="900" u="none" strike="noStrike">
                          <a:effectLst/>
                        </a:rPr>
                        <a:t>401826782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2400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67%</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8907871"/>
                  </a:ext>
                </a:extLst>
              </a:tr>
              <a:tr h="164544">
                <a:tc>
                  <a:txBody>
                    <a:bodyPr/>
                    <a:lstStyle/>
                    <a:p>
                      <a:pPr algn="r" fontAlgn="b">
                        <a:buNone/>
                      </a:pPr>
                      <a:r>
                        <a:rPr lang="en-GB" sz="900" u="none" strike="noStrike">
                          <a:effectLst/>
                        </a:rPr>
                        <a:t>401858385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277</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5144388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797567868"/>
                  </a:ext>
                </a:extLst>
              </a:tr>
              <a:tr h="164544">
                <a:tc>
                  <a:txBody>
                    <a:bodyPr/>
                    <a:lstStyle/>
                    <a:p>
                      <a:pPr algn="r" fontAlgn="b">
                        <a:buNone/>
                      </a:pPr>
                      <a:r>
                        <a:rPr lang="en-GB" sz="900" u="none" strike="noStrike">
                          <a:effectLst/>
                        </a:rPr>
                        <a:t>401858385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277</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5101844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675940478"/>
                  </a:ext>
                </a:extLst>
              </a:tr>
              <a:tr h="164544">
                <a:tc>
                  <a:txBody>
                    <a:bodyPr/>
                    <a:lstStyle/>
                    <a:p>
                      <a:pPr algn="r" fontAlgn="b">
                        <a:buNone/>
                      </a:pPr>
                      <a:r>
                        <a:rPr lang="en-GB" sz="900" u="none" strike="noStrike">
                          <a:effectLst/>
                        </a:rPr>
                        <a:t>401858383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239</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5144388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50%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881331822"/>
                  </a:ext>
                </a:extLst>
              </a:tr>
              <a:tr h="164544">
                <a:tc>
                  <a:txBody>
                    <a:bodyPr/>
                    <a:lstStyle/>
                    <a:p>
                      <a:pPr algn="r" fontAlgn="b">
                        <a:buNone/>
                      </a:pPr>
                      <a:r>
                        <a:rPr lang="en-GB" sz="900" u="none" strike="noStrike">
                          <a:effectLst/>
                        </a:rPr>
                        <a:t>401858383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239</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5101844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rPr>
                        <a:t>2</a:t>
                      </a:r>
                      <a:endParaRPr lang="en-GB" sz="900" b="0" i="0" u="none" strike="noStrike" dirty="0">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10818452"/>
                  </a:ext>
                </a:extLst>
              </a:tr>
            </a:tbl>
          </a:graphicData>
        </a:graphic>
      </p:graphicFrame>
      <p:sp>
        <p:nvSpPr>
          <p:cNvPr id="8" name="TextBox 7">
            <a:extLst>
              <a:ext uri="{FF2B5EF4-FFF2-40B4-BE49-F238E27FC236}">
                <a16:creationId xmlns:a16="http://schemas.microsoft.com/office/drawing/2014/main" id="{51B31002-9016-6AC6-949C-38E9BAF28467}"/>
              </a:ext>
            </a:extLst>
          </p:cNvPr>
          <p:cNvSpPr txBox="1"/>
          <p:nvPr/>
        </p:nvSpPr>
        <p:spPr>
          <a:xfrm>
            <a:off x="838200" y="6187673"/>
            <a:ext cx="3657600" cy="307777"/>
          </a:xfrm>
          <a:prstGeom prst="rect">
            <a:avLst/>
          </a:prstGeom>
          <a:noFill/>
        </p:spPr>
        <p:txBody>
          <a:bodyPr wrap="square">
            <a:spAutoFit/>
          </a:bodyPr>
          <a:lstStyle/>
          <a:p>
            <a:r>
              <a:rPr lang="en-GB" sz="1400" i="1" dirty="0"/>
              <a:t>*sample rows from the full dataset</a:t>
            </a:r>
            <a:endParaRPr lang="en-US" sz="1400" i="1" dirty="0"/>
          </a:p>
        </p:txBody>
      </p:sp>
    </p:spTree>
    <p:extLst>
      <p:ext uri="{BB962C8B-B14F-4D97-AF65-F5344CB8AC3E}">
        <p14:creationId xmlns:p14="http://schemas.microsoft.com/office/powerpoint/2010/main" val="2726181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55260-23E9-339A-A173-0EEE185CB0B7}"/>
              </a:ext>
            </a:extLst>
          </p:cNvPr>
          <p:cNvSpPr>
            <a:spLocks noGrp="1"/>
          </p:cNvSpPr>
          <p:nvPr>
            <p:ph type="title"/>
          </p:nvPr>
        </p:nvSpPr>
        <p:spPr/>
        <p:txBody>
          <a:bodyPr/>
          <a:lstStyle/>
          <a:p>
            <a:r>
              <a:rPr lang="en-US" dirty="0"/>
              <a:t>Making the histogram</a:t>
            </a:r>
          </a:p>
        </p:txBody>
      </p:sp>
      <p:sp>
        <p:nvSpPr>
          <p:cNvPr id="3" name="Content Placeholder 2">
            <a:extLst>
              <a:ext uri="{FF2B5EF4-FFF2-40B4-BE49-F238E27FC236}">
                <a16:creationId xmlns:a16="http://schemas.microsoft.com/office/drawing/2014/main" id="{5DB1F40D-625A-35CA-285C-63364229ED0F}"/>
              </a:ext>
            </a:extLst>
          </p:cNvPr>
          <p:cNvSpPr>
            <a:spLocks noGrp="1"/>
          </p:cNvSpPr>
          <p:nvPr>
            <p:ph idx="1"/>
          </p:nvPr>
        </p:nvSpPr>
        <p:spPr/>
        <p:txBody>
          <a:bodyPr/>
          <a:lstStyle/>
          <a:p>
            <a:r>
              <a:rPr lang="en-GB" dirty="0"/>
              <a:t>one observation per row and values in one column</a:t>
            </a:r>
          </a:p>
          <a:p>
            <a:endParaRPr lang="en-GB" dirty="0"/>
          </a:p>
          <a:p>
            <a:r>
              <a:rPr lang="en-GB" b="1" dirty="0"/>
              <a:t>Recall:</a:t>
            </a:r>
            <a:r>
              <a:rPr lang="en-GB" dirty="0"/>
              <a:t> long format data for visualization and analysis</a:t>
            </a:r>
          </a:p>
        </p:txBody>
      </p:sp>
    </p:spTree>
    <p:extLst>
      <p:ext uri="{BB962C8B-B14F-4D97-AF65-F5344CB8AC3E}">
        <p14:creationId xmlns:p14="http://schemas.microsoft.com/office/powerpoint/2010/main" val="2072817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007F-5FD8-0B9E-9A3B-AA050A3B2FC4}"/>
              </a:ext>
            </a:extLst>
          </p:cNvPr>
          <p:cNvSpPr>
            <a:spLocks noGrp="1"/>
          </p:cNvSpPr>
          <p:nvPr>
            <p:ph type="title"/>
          </p:nvPr>
        </p:nvSpPr>
        <p:spPr/>
        <p:txBody>
          <a:bodyPr/>
          <a:lstStyle/>
          <a:p>
            <a:r>
              <a:rPr lang="en-GB" dirty="0"/>
              <a:t>What does the distribution tell us?</a:t>
            </a:r>
            <a:endParaRPr lang="en-US" dirty="0"/>
          </a:p>
        </p:txBody>
      </p:sp>
      <p:sp>
        <p:nvSpPr>
          <p:cNvPr id="3" name="Content Placeholder 2">
            <a:extLst>
              <a:ext uri="{FF2B5EF4-FFF2-40B4-BE49-F238E27FC236}">
                <a16:creationId xmlns:a16="http://schemas.microsoft.com/office/drawing/2014/main" id="{874CEC6C-0D37-11BA-839F-3D5146AEF6C7}"/>
              </a:ext>
            </a:extLst>
          </p:cNvPr>
          <p:cNvSpPr>
            <a:spLocks noGrp="1"/>
          </p:cNvSpPr>
          <p:nvPr>
            <p:ph idx="1"/>
          </p:nvPr>
        </p:nvSpPr>
        <p:spPr>
          <a:xfrm>
            <a:off x="838200" y="5149515"/>
            <a:ext cx="10515600" cy="1027447"/>
          </a:xfrm>
        </p:spPr>
        <p:txBody>
          <a:bodyPr>
            <a:normAutofit/>
          </a:bodyPr>
          <a:lstStyle/>
          <a:p>
            <a:r>
              <a:rPr lang="en-GB" sz="2400" dirty="0"/>
              <a:t>Describe the shape, range/spread, clusters, unusual values.</a:t>
            </a:r>
          </a:p>
          <a:p>
            <a:r>
              <a:rPr lang="en-GB" sz="2400" i="1" dirty="0"/>
              <a:t>Would the mean or median better describe a typical value here, and why?</a:t>
            </a:r>
            <a:r>
              <a:rPr lang="en-GB" sz="2400" dirty="0"/>
              <a:t> </a:t>
            </a:r>
          </a:p>
          <a:p>
            <a:endParaRPr lang="en-US" sz="2400" dirty="0"/>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86E42CCD-859A-EDC4-6269-502B7B5DF575}"/>
                  </a:ext>
                </a:extLst>
              </p:cNvPr>
              <p:cNvGraphicFramePr/>
              <p:nvPr>
                <p:extLst>
                  <p:ext uri="{D42A27DB-BD31-4B8C-83A1-F6EECF244321}">
                    <p14:modId xmlns:p14="http://schemas.microsoft.com/office/powerpoint/2010/main" val="2978731089"/>
                  </p:ext>
                </p:extLst>
              </p:nvPr>
            </p:nvGraphicFramePr>
            <p:xfrm>
              <a:off x="2322650" y="1441938"/>
              <a:ext cx="7546699" cy="3390901"/>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hart 3">
                <a:extLst>
                  <a:ext uri="{FF2B5EF4-FFF2-40B4-BE49-F238E27FC236}">
                    <a16:creationId xmlns:a16="http://schemas.microsoft.com/office/drawing/2014/main" id="{86E42CCD-859A-EDC4-6269-502B7B5DF575}"/>
                  </a:ext>
                </a:extLst>
              </p:cNvPr>
              <p:cNvPicPr>
                <a:picLocks noGrp="1" noRot="1" noChangeAspect="1" noMove="1" noResize="1" noEditPoints="1" noAdjustHandles="1" noChangeArrowheads="1" noChangeShapeType="1"/>
              </p:cNvPicPr>
              <p:nvPr/>
            </p:nvPicPr>
            <p:blipFill>
              <a:blip r:embed="rId4"/>
              <a:stretch>
                <a:fillRect/>
              </a:stretch>
            </p:blipFill>
            <p:spPr>
              <a:xfrm>
                <a:off x="2322650" y="1441938"/>
                <a:ext cx="7546699" cy="3390901"/>
              </a:xfrm>
              <a:prstGeom prst="rect">
                <a:avLst/>
              </a:prstGeom>
            </p:spPr>
          </p:pic>
        </mc:Fallback>
      </mc:AlternateContent>
    </p:spTree>
    <p:extLst>
      <p:ext uri="{BB962C8B-B14F-4D97-AF65-F5344CB8AC3E}">
        <p14:creationId xmlns:p14="http://schemas.microsoft.com/office/powerpoint/2010/main" val="3826809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BE25C-FF6F-8415-E8D1-033672DE9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24EED-E7EA-F6B3-900E-E589786D58BC}"/>
              </a:ext>
            </a:extLst>
          </p:cNvPr>
          <p:cNvSpPr>
            <a:spLocks noGrp="1"/>
          </p:cNvSpPr>
          <p:nvPr>
            <p:ph type="title"/>
          </p:nvPr>
        </p:nvSpPr>
        <p:spPr/>
        <p:txBody>
          <a:bodyPr/>
          <a:lstStyle/>
          <a:p>
            <a:r>
              <a:rPr lang="en-GB" dirty="0"/>
              <a:t>What does the distribution tell us?</a:t>
            </a:r>
            <a:endParaRPr lang="en-US" dirty="0"/>
          </a:p>
        </p:txBody>
      </p:sp>
      <p:sp>
        <p:nvSpPr>
          <p:cNvPr id="3" name="Content Placeholder 2">
            <a:extLst>
              <a:ext uri="{FF2B5EF4-FFF2-40B4-BE49-F238E27FC236}">
                <a16:creationId xmlns:a16="http://schemas.microsoft.com/office/drawing/2014/main" id="{90AB4C28-6394-1D7A-E800-84A38FB18973}"/>
              </a:ext>
            </a:extLst>
          </p:cNvPr>
          <p:cNvSpPr>
            <a:spLocks noGrp="1"/>
          </p:cNvSpPr>
          <p:nvPr>
            <p:ph idx="1"/>
          </p:nvPr>
        </p:nvSpPr>
        <p:spPr/>
        <p:txBody>
          <a:bodyPr/>
          <a:lstStyle/>
          <a:p>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r>
              <a:rPr lang="en-GB" b="1" dirty="0"/>
              <a:t>Recall:</a:t>
            </a:r>
            <a:r>
              <a:rPr lang="en-GB" dirty="0"/>
              <a:t> </a:t>
            </a:r>
            <a:r>
              <a:rPr lang="en-GB" dirty="0" err="1"/>
              <a:t>center</a:t>
            </a:r>
            <a:r>
              <a:rPr lang="en-GB" dirty="0"/>
              <a:t> and spread lecture. </a:t>
            </a:r>
          </a:p>
        </p:txBody>
      </p:sp>
      <p:pic>
        <p:nvPicPr>
          <p:cNvPr id="4" name="Picture 2" descr="How to Interpret Histograms - LabXchange">
            <a:extLst>
              <a:ext uri="{FF2B5EF4-FFF2-40B4-BE49-F238E27FC236}">
                <a16:creationId xmlns:a16="http://schemas.microsoft.com/office/drawing/2014/main" id="{1212722B-4908-AC47-07A5-CF5E744DDD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5" t="-447" r="2511" b="447"/>
          <a:stretch>
            <a:fillRect/>
          </a:stretch>
        </p:blipFill>
        <p:spPr bwMode="auto">
          <a:xfrm>
            <a:off x="838200" y="1441938"/>
            <a:ext cx="10041538" cy="3050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885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A7CC-EAFD-4B7D-09DD-AECBC6A0AA74}"/>
              </a:ext>
            </a:extLst>
          </p:cNvPr>
          <p:cNvSpPr>
            <a:spLocks noGrp="1"/>
          </p:cNvSpPr>
          <p:nvPr>
            <p:ph type="title"/>
          </p:nvPr>
        </p:nvSpPr>
        <p:spPr/>
        <p:txBody>
          <a:bodyPr>
            <a:normAutofit fontScale="90000"/>
          </a:bodyPr>
          <a:lstStyle/>
          <a:p>
            <a:r>
              <a:rPr lang="en-GB" dirty="0"/>
              <a:t>Bonus: What changes when we compare groups?</a:t>
            </a:r>
            <a:endParaRPr lang="en-US" dirty="0"/>
          </a:p>
        </p:txBody>
      </p:sp>
      <p:sp>
        <p:nvSpPr>
          <p:cNvPr id="3" name="Content Placeholder 2">
            <a:extLst>
              <a:ext uri="{FF2B5EF4-FFF2-40B4-BE49-F238E27FC236}">
                <a16:creationId xmlns:a16="http://schemas.microsoft.com/office/drawing/2014/main" id="{3562D2A4-DC08-D7A1-78C4-92642385D3D4}"/>
              </a:ext>
            </a:extLst>
          </p:cNvPr>
          <p:cNvSpPr>
            <a:spLocks noGrp="1"/>
          </p:cNvSpPr>
          <p:nvPr>
            <p:ph idx="1"/>
          </p:nvPr>
        </p:nvSpPr>
        <p:spPr>
          <a:xfrm>
            <a:off x="5518485" y="1441938"/>
            <a:ext cx="5835316" cy="4735025"/>
          </a:xfrm>
        </p:spPr>
        <p:txBody>
          <a:bodyPr/>
          <a:lstStyle/>
          <a:p>
            <a:r>
              <a:rPr lang="en-US" dirty="0"/>
              <a:t>To compare groups, addition information is needed</a:t>
            </a:r>
          </a:p>
        </p:txBody>
      </p:sp>
      <p:graphicFrame>
        <p:nvGraphicFramePr>
          <p:cNvPr id="5" name="Table 4">
            <a:extLst>
              <a:ext uri="{FF2B5EF4-FFF2-40B4-BE49-F238E27FC236}">
                <a16:creationId xmlns:a16="http://schemas.microsoft.com/office/drawing/2014/main" id="{C97CF563-080C-4CC5-DBE0-BFD6CFD26C81}"/>
              </a:ext>
            </a:extLst>
          </p:cNvPr>
          <p:cNvGraphicFramePr>
            <a:graphicFrameLocks noGrp="1"/>
          </p:cNvGraphicFramePr>
          <p:nvPr>
            <p:extLst>
              <p:ext uri="{D42A27DB-BD31-4B8C-83A1-F6EECF244321}">
                <p14:modId xmlns:p14="http://schemas.microsoft.com/office/powerpoint/2010/main" val="3147418450"/>
              </p:ext>
            </p:extLst>
          </p:nvPr>
        </p:nvGraphicFramePr>
        <p:xfrm>
          <a:off x="838200" y="1441461"/>
          <a:ext cx="4530785" cy="4735502"/>
        </p:xfrm>
        <a:graphic>
          <a:graphicData uri="http://schemas.openxmlformats.org/drawingml/2006/table">
            <a:tbl>
              <a:tblPr firstRow="1">
                <a:tableStyleId>{5C22544A-7EE6-4342-B048-85BDC9FD1C3A}</a:tableStyleId>
              </a:tblPr>
              <a:tblGrid>
                <a:gridCol w="590160">
                  <a:extLst>
                    <a:ext uri="{9D8B030D-6E8A-4147-A177-3AD203B41FA5}">
                      <a16:colId xmlns:a16="http://schemas.microsoft.com/office/drawing/2014/main" val="361851463"/>
                    </a:ext>
                  </a:extLst>
                </a:gridCol>
                <a:gridCol w="554675">
                  <a:extLst>
                    <a:ext uri="{9D8B030D-6E8A-4147-A177-3AD203B41FA5}">
                      <a16:colId xmlns:a16="http://schemas.microsoft.com/office/drawing/2014/main" val="1088525872"/>
                    </a:ext>
                  </a:extLst>
                </a:gridCol>
                <a:gridCol w="1060794">
                  <a:extLst>
                    <a:ext uri="{9D8B030D-6E8A-4147-A177-3AD203B41FA5}">
                      <a16:colId xmlns:a16="http://schemas.microsoft.com/office/drawing/2014/main" val="2866917831"/>
                    </a:ext>
                  </a:extLst>
                </a:gridCol>
                <a:gridCol w="644320">
                  <a:extLst>
                    <a:ext uri="{9D8B030D-6E8A-4147-A177-3AD203B41FA5}">
                      <a16:colId xmlns:a16="http://schemas.microsoft.com/office/drawing/2014/main" val="15671590"/>
                    </a:ext>
                  </a:extLst>
                </a:gridCol>
                <a:gridCol w="448223">
                  <a:extLst>
                    <a:ext uri="{9D8B030D-6E8A-4147-A177-3AD203B41FA5}">
                      <a16:colId xmlns:a16="http://schemas.microsoft.com/office/drawing/2014/main" val="645648981"/>
                    </a:ext>
                  </a:extLst>
                </a:gridCol>
                <a:gridCol w="448223">
                  <a:extLst>
                    <a:ext uri="{9D8B030D-6E8A-4147-A177-3AD203B41FA5}">
                      <a16:colId xmlns:a16="http://schemas.microsoft.com/office/drawing/2014/main" val="2101677354"/>
                    </a:ext>
                  </a:extLst>
                </a:gridCol>
                <a:gridCol w="380989">
                  <a:extLst>
                    <a:ext uri="{9D8B030D-6E8A-4147-A177-3AD203B41FA5}">
                      <a16:colId xmlns:a16="http://schemas.microsoft.com/office/drawing/2014/main" val="2504180734"/>
                    </a:ext>
                  </a:extLst>
                </a:gridCol>
                <a:gridCol w="403401">
                  <a:extLst>
                    <a:ext uri="{9D8B030D-6E8A-4147-A177-3AD203B41FA5}">
                      <a16:colId xmlns:a16="http://schemas.microsoft.com/office/drawing/2014/main" val="950211765"/>
                    </a:ext>
                  </a:extLst>
                </a:gridCol>
              </a:tblGrid>
              <a:tr h="292814">
                <a:tc>
                  <a:txBody>
                    <a:bodyPr/>
                    <a:lstStyle/>
                    <a:p>
                      <a:pPr algn="l" fontAlgn="b">
                        <a:buNone/>
                      </a:pPr>
                      <a:r>
                        <a:rPr lang="en-GB" sz="900" u="none" strike="noStrike">
                          <a:effectLst/>
                        </a:rPr>
                        <a:t>game_id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team_id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opponent_team_id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athlete_id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minutes</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fg</a:t>
                      </a:r>
                      <a:r>
                        <a:rPr lang="en-GB" sz="900" u="none" strike="noStrike" dirty="0">
                          <a:effectLst/>
                        </a:rPr>
                        <a:t>%</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points</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starter</a:t>
                      </a:r>
                      <a:endParaRPr lang="en-GB" sz="900" b="1"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373008420"/>
                  </a:ext>
                </a:extLst>
              </a:tr>
              <a:tr h="164544">
                <a:tc>
                  <a:txBody>
                    <a:bodyPr/>
                    <a:lstStyle/>
                    <a:p>
                      <a:pPr algn="r" fontAlgn="b">
                        <a:buNone/>
                      </a:pPr>
                      <a:r>
                        <a:rPr lang="en-GB" sz="900" u="none" strike="noStrike">
                          <a:effectLst/>
                        </a:rPr>
                        <a:t>401858379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2078520003"/>
                  </a:ext>
                </a:extLst>
              </a:tr>
              <a:tr h="164544">
                <a:tc>
                  <a:txBody>
                    <a:bodyPr/>
                    <a:lstStyle/>
                    <a:p>
                      <a:pPr algn="r" fontAlgn="b">
                        <a:buNone/>
                      </a:pPr>
                      <a:r>
                        <a:rPr lang="en-GB" sz="900" u="none" strike="noStrike">
                          <a:effectLst/>
                        </a:rPr>
                        <a:t>401851568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893843541"/>
                  </a:ext>
                </a:extLst>
              </a:tr>
              <a:tr h="164544">
                <a:tc>
                  <a:txBody>
                    <a:bodyPr/>
                    <a:lstStyle/>
                    <a:p>
                      <a:pPr algn="r" fontAlgn="b">
                        <a:buNone/>
                      </a:pPr>
                      <a:r>
                        <a:rPr lang="en-GB" sz="900" u="none" strike="noStrike">
                          <a:effectLst/>
                        </a:rPr>
                        <a:t>401851564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75%</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398705484"/>
                  </a:ext>
                </a:extLst>
              </a:tr>
              <a:tr h="164544">
                <a:tc>
                  <a:txBody>
                    <a:bodyPr/>
                    <a:lstStyle/>
                    <a:p>
                      <a:pPr algn="r" fontAlgn="b">
                        <a:buNone/>
                      </a:pPr>
                      <a:r>
                        <a:rPr lang="en-GB" sz="900" u="none" strike="noStrike">
                          <a:effectLst/>
                        </a:rPr>
                        <a:t>401851560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2064283209"/>
                  </a:ext>
                </a:extLst>
              </a:tr>
              <a:tr h="164544">
                <a:tc>
                  <a:txBody>
                    <a:bodyPr/>
                    <a:lstStyle/>
                    <a:p>
                      <a:pPr algn="r" fontAlgn="b">
                        <a:buNone/>
                      </a:pPr>
                      <a:r>
                        <a:rPr lang="en-GB" sz="900" u="none" strike="noStrike">
                          <a:effectLst/>
                        </a:rPr>
                        <a:t>401808287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33%</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4170276081"/>
                  </a:ext>
                </a:extLst>
              </a:tr>
              <a:tr h="164544">
                <a:tc>
                  <a:txBody>
                    <a:bodyPr/>
                    <a:lstStyle/>
                    <a:p>
                      <a:pPr algn="r" fontAlgn="b">
                        <a:buNone/>
                      </a:pPr>
                      <a:r>
                        <a:rPr lang="en-GB" sz="900" u="none" strike="noStrike">
                          <a:effectLst/>
                        </a:rPr>
                        <a:t>401808280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40%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2735886962"/>
                  </a:ext>
                </a:extLst>
              </a:tr>
              <a:tr h="164544">
                <a:tc>
                  <a:txBody>
                    <a:bodyPr/>
                    <a:lstStyle/>
                    <a:p>
                      <a:pPr algn="r" fontAlgn="b">
                        <a:buNone/>
                      </a:pPr>
                      <a:r>
                        <a:rPr lang="en-GB" sz="900" u="none" strike="noStrike">
                          <a:effectLst/>
                        </a:rPr>
                        <a:t>401808269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33%</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406397535"/>
                  </a:ext>
                </a:extLst>
              </a:tr>
              <a:tr h="164544">
                <a:tc>
                  <a:txBody>
                    <a:bodyPr/>
                    <a:lstStyle/>
                    <a:p>
                      <a:pPr algn="r" fontAlgn="b">
                        <a:buNone/>
                      </a:pPr>
                      <a:r>
                        <a:rPr lang="en-GB" sz="900" u="none" strike="noStrike">
                          <a:effectLst/>
                        </a:rPr>
                        <a:t>401808262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1392730357"/>
                  </a:ext>
                </a:extLst>
              </a:tr>
              <a:tr h="164544">
                <a:tc>
                  <a:txBody>
                    <a:bodyPr/>
                    <a:lstStyle/>
                    <a:p>
                      <a:pPr algn="r" fontAlgn="b">
                        <a:buNone/>
                      </a:pPr>
                      <a:r>
                        <a:rPr lang="en-GB" sz="900" u="none" strike="noStrike">
                          <a:effectLst/>
                        </a:rPr>
                        <a:t>401808256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179319035"/>
                  </a:ext>
                </a:extLst>
              </a:tr>
              <a:tr h="164544">
                <a:tc>
                  <a:txBody>
                    <a:bodyPr/>
                    <a:lstStyle/>
                    <a:p>
                      <a:pPr algn="r" fontAlgn="b">
                        <a:buNone/>
                      </a:pPr>
                      <a:r>
                        <a:rPr lang="en-GB" sz="900" u="none" strike="noStrike">
                          <a:effectLst/>
                        </a:rPr>
                        <a:t>401808247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2633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342072309"/>
                  </a:ext>
                </a:extLst>
              </a:tr>
              <a:tr h="164544">
                <a:tc>
                  <a:txBody>
                    <a:bodyPr/>
                    <a:lstStyle/>
                    <a:p>
                      <a:pPr algn="r" fontAlgn="b">
                        <a:buNone/>
                      </a:pPr>
                      <a:r>
                        <a:rPr lang="en-GB" sz="900" u="none" strike="noStrike">
                          <a:effectLst/>
                        </a:rPr>
                        <a:t>401808239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343226347"/>
                  </a:ext>
                </a:extLst>
              </a:tr>
              <a:tr h="164544">
                <a:tc>
                  <a:txBody>
                    <a:bodyPr/>
                    <a:lstStyle/>
                    <a:p>
                      <a:pPr algn="r" fontAlgn="b">
                        <a:buNone/>
                      </a:pPr>
                      <a:r>
                        <a:rPr lang="en-GB" sz="900" u="none" strike="noStrike">
                          <a:effectLst/>
                        </a:rPr>
                        <a:t>401808225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238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2818382856"/>
                  </a:ext>
                </a:extLst>
              </a:tr>
              <a:tr h="164544">
                <a:tc>
                  <a:txBody>
                    <a:bodyPr/>
                    <a:lstStyle/>
                    <a:p>
                      <a:pPr algn="r" fontAlgn="b">
                        <a:buNone/>
                      </a:pPr>
                      <a:r>
                        <a:rPr lang="en-GB" sz="900" u="none" strike="noStrike">
                          <a:effectLst/>
                        </a:rPr>
                        <a:t>401808216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50%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406460702"/>
                  </a:ext>
                </a:extLst>
              </a:tr>
              <a:tr h="164544">
                <a:tc>
                  <a:txBody>
                    <a:bodyPr/>
                    <a:lstStyle/>
                    <a:p>
                      <a:pPr algn="r" fontAlgn="b">
                        <a:buNone/>
                      </a:pPr>
                      <a:r>
                        <a:rPr lang="en-GB" sz="900" u="none" strike="noStrike">
                          <a:effectLst/>
                        </a:rPr>
                        <a:t>401808214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40%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4168823087"/>
                  </a:ext>
                </a:extLst>
              </a:tr>
              <a:tr h="164544">
                <a:tc>
                  <a:txBody>
                    <a:bodyPr/>
                    <a:lstStyle/>
                    <a:p>
                      <a:pPr algn="r" fontAlgn="b">
                        <a:buNone/>
                      </a:pPr>
                      <a:r>
                        <a:rPr lang="en-GB" sz="900" u="none" strike="noStrike">
                          <a:effectLst/>
                        </a:rPr>
                        <a:t>401808206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2186296493"/>
                  </a:ext>
                </a:extLst>
              </a:tr>
              <a:tr h="164544">
                <a:tc>
                  <a:txBody>
                    <a:bodyPr/>
                    <a:lstStyle/>
                    <a:p>
                      <a:pPr algn="r" fontAlgn="b">
                        <a:buNone/>
                      </a:pPr>
                      <a:r>
                        <a:rPr lang="en-GB" sz="900" u="none" strike="noStrike">
                          <a:effectLst/>
                        </a:rPr>
                        <a:t>401808196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60%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1006107648"/>
                  </a:ext>
                </a:extLst>
              </a:tr>
              <a:tr h="164544">
                <a:tc>
                  <a:txBody>
                    <a:bodyPr/>
                    <a:lstStyle/>
                    <a:p>
                      <a:pPr algn="r" fontAlgn="b">
                        <a:buNone/>
                      </a:pPr>
                      <a:r>
                        <a:rPr lang="en-GB" sz="900" u="none" strike="noStrike">
                          <a:effectLst/>
                        </a:rPr>
                        <a:t>401808191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50%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2665790"/>
                  </a:ext>
                </a:extLst>
              </a:tr>
              <a:tr h="164544">
                <a:tc>
                  <a:txBody>
                    <a:bodyPr/>
                    <a:lstStyle/>
                    <a:p>
                      <a:pPr algn="r" fontAlgn="b">
                        <a:buNone/>
                      </a:pPr>
                      <a:r>
                        <a:rPr lang="en-GB" sz="900" u="none" strike="noStrike">
                          <a:effectLst/>
                        </a:rPr>
                        <a:t>401808184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333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67%</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4195975514"/>
                  </a:ext>
                </a:extLst>
              </a:tr>
              <a:tr h="164544">
                <a:tc>
                  <a:txBody>
                    <a:bodyPr/>
                    <a:lstStyle/>
                    <a:p>
                      <a:pPr algn="r" fontAlgn="b">
                        <a:buNone/>
                      </a:pPr>
                      <a:r>
                        <a:rPr lang="en-GB" sz="900" u="none" strike="noStrike">
                          <a:effectLst/>
                        </a:rPr>
                        <a:t>401808172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2865648545"/>
                  </a:ext>
                </a:extLst>
              </a:tr>
              <a:tr h="164544">
                <a:tc>
                  <a:txBody>
                    <a:bodyPr/>
                    <a:lstStyle/>
                    <a:p>
                      <a:pPr algn="r" fontAlgn="b">
                        <a:buNone/>
                      </a:pPr>
                      <a:r>
                        <a:rPr lang="en-GB" sz="900" u="none" strike="noStrike">
                          <a:effectLst/>
                        </a:rPr>
                        <a:t>401808166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766241843"/>
                  </a:ext>
                </a:extLst>
              </a:tr>
              <a:tr h="164544">
                <a:tc>
                  <a:txBody>
                    <a:bodyPr/>
                    <a:lstStyle/>
                    <a:p>
                      <a:pPr algn="r" fontAlgn="b">
                        <a:buNone/>
                      </a:pPr>
                      <a:r>
                        <a:rPr lang="en-GB" sz="900" u="none" strike="noStrike">
                          <a:effectLst/>
                        </a:rPr>
                        <a:t>401808154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1310845933"/>
                  </a:ext>
                </a:extLst>
              </a:tr>
              <a:tr h="164544">
                <a:tc>
                  <a:txBody>
                    <a:bodyPr/>
                    <a:lstStyle/>
                    <a:p>
                      <a:pPr algn="r" fontAlgn="b">
                        <a:buNone/>
                      </a:pPr>
                      <a:r>
                        <a:rPr lang="en-GB" sz="900" u="none" strike="noStrike">
                          <a:effectLst/>
                        </a:rPr>
                        <a:t>401808151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730337467"/>
                  </a:ext>
                </a:extLst>
              </a:tr>
              <a:tr h="164544">
                <a:tc>
                  <a:txBody>
                    <a:bodyPr/>
                    <a:lstStyle/>
                    <a:p>
                      <a:pPr algn="r" fontAlgn="b">
                        <a:buNone/>
                      </a:pPr>
                      <a:r>
                        <a:rPr lang="en-GB" sz="900" u="none" strike="noStrike">
                          <a:effectLst/>
                        </a:rPr>
                        <a:t>401826782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2400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67%</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369256301"/>
                  </a:ext>
                </a:extLst>
              </a:tr>
              <a:tr h="164544">
                <a:tc>
                  <a:txBody>
                    <a:bodyPr/>
                    <a:lstStyle/>
                    <a:p>
                      <a:pPr algn="r" fontAlgn="b">
                        <a:buNone/>
                      </a:pPr>
                      <a:r>
                        <a:rPr lang="en-GB" sz="900" u="none" strike="noStrike">
                          <a:effectLst/>
                        </a:rPr>
                        <a:t>401858385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277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5144388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833142388"/>
                  </a:ext>
                </a:extLst>
              </a:tr>
              <a:tr h="164544">
                <a:tc>
                  <a:txBody>
                    <a:bodyPr/>
                    <a:lstStyle/>
                    <a:p>
                      <a:pPr algn="r" fontAlgn="b">
                        <a:buNone/>
                      </a:pPr>
                      <a:r>
                        <a:rPr lang="en-GB" sz="900" u="none" strike="noStrike">
                          <a:effectLst/>
                        </a:rPr>
                        <a:t>401858385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277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5101844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2174704179"/>
                  </a:ext>
                </a:extLst>
              </a:tr>
              <a:tr h="164544">
                <a:tc>
                  <a:txBody>
                    <a:bodyPr/>
                    <a:lstStyle/>
                    <a:p>
                      <a:pPr algn="r" fontAlgn="b">
                        <a:buNone/>
                      </a:pPr>
                      <a:r>
                        <a:rPr lang="en-GB" sz="900" u="none" strike="noStrike">
                          <a:effectLst/>
                        </a:rPr>
                        <a:t>401858383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239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5144388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50%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a:effectLst/>
                        </a:rPr>
                        <a:t>FALSE</a:t>
                      </a:r>
                      <a:endParaRPr lang="en-GB" sz="900" b="0"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284191240"/>
                  </a:ext>
                </a:extLst>
              </a:tr>
              <a:tr h="164544">
                <a:tc>
                  <a:txBody>
                    <a:bodyPr/>
                    <a:lstStyle/>
                    <a:p>
                      <a:pPr algn="r" fontAlgn="b">
                        <a:buNone/>
                      </a:pPr>
                      <a:r>
                        <a:rPr lang="en-GB" sz="900" u="none" strike="noStrike">
                          <a:effectLst/>
                        </a:rPr>
                        <a:t>401858383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239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5101844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rPr>
                        <a:t>FALSE</a:t>
                      </a:r>
                      <a:endParaRPr lang="en-GB" sz="900" b="0" i="0" u="none" strike="noStrike" dirty="0">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482163912"/>
                  </a:ext>
                </a:extLst>
              </a:tr>
            </a:tbl>
          </a:graphicData>
        </a:graphic>
      </p:graphicFrame>
      <p:sp>
        <p:nvSpPr>
          <p:cNvPr id="4" name="TextBox 3">
            <a:extLst>
              <a:ext uri="{FF2B5EF4-FFF2-40B4-BE49-F238E27FC236}">
                <a16:creationId xmlns:a16="http://schemas.microsoft.com/office/drawing/2014/main" id="{31C9614A-F143-48E4-1AA6-BA1889B5FD4C}"/>
              </a:ext>
            </a:extLst>
          </p:cNvPr>
          <p:cNvSpPr txBox="1"/>
          <p:nvPr/>
        </p:nvSpPr>
        <p:spPr>
          <a:xfrm>
            <a:off x="838200" y="6187673"/>
            <a:ext cx="3657600" cy="307777"/>
          </a:xfrm>
          <a:prstGeom prst="rect">
            <a:avLst/>
          </a:prstGeom>
          <a:noFill/>
        </p:spPr>
        <p:txBody>
          <a:bodyPr wrap="square">
            <a:spAutoFit/>
          </a:bodyPr>
          <a:lstStyle/>
          <a:p>
            <a:r>
              <a:rPr lang="en-GB" sz="1400" i="1" dirty="0"/>
              <a:t>*sample rows from the full dataset</a:t>
            </a:r>
            <a:endParaRPr lang="en-US" sz="1400" i="1" dirty="0"/>
          </a:p>
        </p:txBody>
      </p:sp>
    </p:spTree>
    <p:extLst>
      <p:ext uri="{BB962C8B-B14F-4D97-AF65-F5344CB8AC3E}">
        <p14:creationId xmlns:p14="http://schemas.microsoft.com/office/powerpoint/2010/main" val="336131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4FB9F-E8CD-2641-BC63-8BC31CE64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FDFF9-C8E7-C44B-609D-5FB5DB1A53F3}"/>
              </a:ext>
            </a:extLst>
          </p:cNvPr>
          <p:cNvSpPr>
            <a:spLocks noGrp="1"/>
          </p:cNvSpPr>
          <p:nvPr>
            <p:ph type="title"/>
          </p:nvPr>
        </p:nvSpPr>
        <p:spPr/>
        <p:txBody>
          <a:bodyPr>
            <a:normAutofit fontScale="90000"/>
          </a:bodyPr>
          <a:lstStyle/>
          <a:p>
            <a:r>
              <a:rPr lang="en-GB" dirty="0"/>
              <a:t>Bonus: What changes when we compare groups?</a:t>
            </a:r>
            <a:endParaRPr lang="en-US" dirty="0"/>
          </a:p>
        </p:txBody>
      </p:sp>
      <p:sp>
        <p:nvSpPr>
          <p:cNvPr id="3" name="Content Placeholder 2">
            <a:extLst>
              <a:ext uri="{FF2B5EF4-FFF2-40B4-BE49-F238E27FC236}">
                <a16:creationId xmlns:a16="http://schemas.microsoft.com/office/drawing/2014/main" id="{E8DD3AA9-55C5-FF45-A331-120FCAB7BD9C}"/>
              </a:ext>
            </a:extLst>
          </p:cNvPr>
          <p:cNvSpPr>
            <a:spLocks noGrp="1"/>
          </p:cNvSpPr>
          <p:nvPr>
            <p:ph idx="1"/>
          </p:nvPr>
        </p:nvSpPr>
        <p:spPr>
          <a:xfrm>
            <a:off x="5605670" y="1441938"/>
            <a:ext cx="5748130" cy="4735025"/>
          </a:xfrm>
        </p:spPr>
        <p:txBody>
          <a:bodyPr/>
          <a:lstStyle/>
          <a:p>
            <a:r>
              <a:rPr lang="en-US" dirty="0"/>
              <a:t>To compare groups, addition information is needed</a:t>
            </a:r>
          </a:p>
          <a:p>
            <a:r>
              <a:rPr lang="en-US" dirty="0"/>
              <a:t>Typically, categorical information</a:t>
            </a:r>
          </a:p>
          <a:p>
            <a:pPr lvl="1"/>
            <a:r>
              <a:rPr lang="en-US" dirty="0"/>
              <a:t>Eg: starter status</a:t>
            </a:r>
          </a:p>
        </p:txBody>
      </p:sp>
      <p:graphicFrame>
        <p:nvGraphicFramePr>
          <p:cNvPr id="5" name="Table 4">
            <a:extLst>
              <a:ext uri="{FF2B5EF4-FFF2-40B4-BE49-F238E27FC236}">
                <a16:creationId xmlns:a16="http://schemas.microsoft.com/office/drawing/2014/main" id="{38B91462-2CE6-5184-18E7-DE16F53315C0}"/>
              </a:ext>
            </a:extLst>
          </p:cNvPr>
          <p:cNvGraphicFramePr>
            <a:graphicFrameLocks noGrp="1"/>
          </p:cNvGraphicFramePr>
          <p:nvPr>
            <p:extLst>
              <p:ext uri="{D42A27DB-BD31-4B8C-83A1-F6EECF244321}">
                <p14:modId xmlns:p14="http://schemas.microsoft.com/office/powerpoint/2010/main" val="2344258374"/>
              </p:ext>
            </p:extLst>
          </p:nvPr>
        </p:nvGraphicFramePr>
        <p:xfrm>
          <a:off x="838200" y="1441461"/>
          <a:ext cx="4530785" cy="4735502"/>
        </p:xfrm>
        <a:graphic>
          <a:graphicData uri="http://schemas.openxmlformats.org/drawingml/2006/table">
            <a:tbl>
              <a:tblPr firstRow="1">
                <a:tableStyleId>{5C22544A-7EE6-4342-B048-85BDC9FD1C3A}</a:tableStyleId>
              </a:tblPr>
              <a:tblGrid>
                <a:gridCol w="590160">
                  <a:extLst>
                    <a:ext uri="{9D8B030D-6E8A-4147-A177-3AD203B41FA5}">
                      <a16:colId xmlns:a16="http://schemas.microsoft.com/office/drawing/2014/main" val="361851463"/>
                    </a:ext>
                  </a:extLst>
                </a:gridCol>
                <a:gridCol w="554675">
                  <a:extLst>
                    <a:ext uri="{9D8B030D-6E8A-4147-A177-3AD203B41FA5}">
                      <a16:colId xmlns:a16="http://schemas.microsoft.com/office/drawing/2014/main" val="1088525872"/>
                    </a:ext>
                  </a:extLst>
                </a:gridCol>
                <a:gridCol w="1060794">
                  <a:extLst>
                    <a:ext uri="{9D8B030D-6E8A-4147-A177-3AD203B41FA5}">
                      <a16:colId xmlns:a16="http://schemas.microsoft.com/office/drawing/2014/main" val="2866917831"/>
                    </a:ext>
                  </a:extLst>
                </a:gridCol>
                <a:gridCol w="644320">
                  <a:extLst>
                    <a:ext uri="{9D8B030D-6E8A-4147-A177-3AD203B41FA5}">
                      <a16:colId xmlns:a16="http://schemas.microsoft.com/office/drawing/2014/main" val="15671590"/>
                    </a:ext>
                  </a:extLst>
                </a:gridCol>
                <a:gridCol w="448223">
                  <a:extLst>
                    <a:ext uri="{9D8B030D-6E8A-4147-A177-3AD203B41FA5}">
                      <a16:colId xmlns:a16="http://schemas.microsoft.com/office/drawing/2014/main" val="645648981"/>
                    </a:ext>
                  </a:extLst>
                </a:gridCol>
                <a:gridCol w="448223">
                  <a:extLst>
                    <a:ext uri="{9D8B030D-6E8A-4147-A177-3AD203B41FA5}">
                      <a16:colId xmlns:a16="http://schemas.microsoft.com/office/drawing/2014/main" val="2101677354"/>
                    </a:ext>
                  </a:extLst>
                </a:gridCol>
                <a:gridCol w="380989">
                  <a:extLst>
                    <a:ext uri="{9D8B030D-6E8A-4147-A177-3AD203B41FA5}">
                      <a16:colId xmlns:a16="http://schemas.microsoft.com/office/drawing/2014/main" val="2504180734"/>
                    </a:ext>
                  </a:extLst>
                </a:gridCol>
                <a:gridCol w="403401">
                  <a:extLst>
                    <a:ext uri="{9D8B030D-6E8A-4147-A177-3AD203B41FA5}">
                      <a16:colId xmlns:a16="http://schemas.microsoft.com/office/drawing/2014/main" val="950211765"/>
                    </a:ext>
                  </a:extLst>
                </a:gridCol>
              </a:tblGrid>
              <a:tr h="292814">
                <a:tc>
                  <a:txBody>
                    <a:bodyPr/>
                    <a:lstStyle/>
                    <a:p>
                      <a:pPr algn="l" fontAlgn="b">
                        <a:buNone/>
                      </a:pPr>
                      <a:r>
                        <a:rPr lang="en-GB" sz="900" u="none" strike="noStrike" dirty="0" err="1">
                          <a:effectLst/>
                        </a:rPr>
                        <a:t>game_id</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team_id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opponent_team_id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athlete_id</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minutes</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dirty="0" err="1">
                          <a:effectLst/>
                        </a:rPr>
                        <a:t>fg</a:t>
                      </a:r>
                      <a:r>
                        <a:rPr lang="en-GB" sz="900" u="none" strike="noStrike" dirty="0">
                          <a:effectLst/>
                        </a:rPr>
                        <a:t>%</a:t>
                      </a:r>
                      <a:endParaRPr lang="en-GB" sz="900" b="1" i="0" u="none" strike="noStrike" dirty="0">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points</a:t>
                      </a:r>
                      <a:endParaRPr lang="en-GB" sz="900" b="1" i="0" u="none" strike="noStrike">
                        <a:solidFill>
                          <a:srgbClr val="000000"/>
                        </a:solidFill>
                        <a:effectLst/>
                        <a:latin typeface="Aptos Narrow" panose="020B0004020202020204" pitchFamily="34" charset="0"/>
                      </a:endParaRPr>
                    </a:p>
                  </a:txBody>
                  <a:tcPr marL="5609" marR="5609" marT="5609" marB="0" anchor="b"/>
                </a:tc>
                <a:tc>
                  <a:txBody>
                    <a:bodyPr/>
                    <a:lstStyle/>
                    <a:p>
                      <a:pPr algn="l" fontAlgn="b">
                        <a:buNone/>
                      </a:pPr>
                      <a:r>
                        <a:rPr lang="en-GB" sz="900" u="none" strike="noStrike">
                          <a:effectLst/>
                        </a:rPr>
                        <a:t>starter</a:t>
                      </a:r>
                      <a:endParaRPr lang="en-GB" sz="900" b="1" i="0" u="none" strike="noStrike">
                        <a:solidFill>
                          <a:srgbClr val="000000"/>
                        </a:solidFill>
                        <a:effectLst/>
                        <a:latin typeface="Aptos Narrow" panose="020B0004020202020204" pitchFamily="34" charset="0"/>
                      </a:endParaRPr>
                    </a:p>
                  </a:txBody>
                  <a:tcPr marL="5609" marR="5609" marT="5609" marB="0" anchor="b"/>
                </a:tc>
                <a:extLst>
                  <a:ext uri="{0D108BD9-81ED-4DB2-BD59-A6C34878D82A}">
                    <a16:rowId xmlns:a16="http://schemas.microsoft.com/office/drawing/2014/main" val="3373008420"/>
                  </a:ext>
                </a:extLst>
              </a:tr>
              <a:tr h="164544">
                <a:tc>
                  <a:txBody>
                    <a:bodyPr/>
                    <a:lstStyle/>
                    <a:p>
                      <a:pPr algn="r" fontAlgn="b">
                        <a:buNone/>
                      </a:pPr>
                      <a:r>
                        <a:rPr lang="en-GB" sz="900" u="none" strike="noStrike">
                          <a:effectLst/>
                        </a:rPr>
                        <a:t>401858379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078520003"/>
                  </a:ext>
                </a:extLst>
              </a:tr>
              <a:tr h="164544">
                <a:tc>
                  <a:txBody>
                    <a:bodyPr/>
                    <a:lstStyle/>
                    <a:p>
                      <a:pPr algn="r" fontAlgn="b">
                        <a:buNone/>
                      </a:pPr>
                      <a:r>
                        <a:rPr lang="en-GB" sz="900" u="none" strike="noStrike">
                          <a:effectLst/>
                        </a:rPr>
                        <a:t>401851568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893843541"/>
                  </a:ext>
                </a:extLst>
              </a:tr>
              <a:tr h="164544">
                <a:tc>
                  <a:txBody>
                    <a:bodyPr/>
                    <a:lstStyle/>
                    <a:p>
                      <a:pPr algn="r" fontAlgn="b">
                        <a:buNone/>
                      </a:pPr>
                      <a:r>
                        <a:rPr lang="en-GB" sz="900" u="none" strike="noStrike">
                          <a:effectLst/>
                        </a:rPr>
                        <a:t>401851564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75%</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398705484"/>
                  </a:ext>
                </a:extLst>
              </a:tr>
              <a:tr h="164544">
                <a:tc>
                  <a:txBody>
                    <a:bodyPr/>
                    <a:lstStyle/>
                    <a:p>
                      <a:pPr algn="r" fontAlgn="b">
                        <a:buNone/>
                      </a:pPr>
                      <a:r>
                        <a:rPr lang="en-GB" sz="900" u="none" strike="noStrike">
                          <a:effectLst/>
                        </a:rPr>
                        <a:t>401851560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064283209"/>
                  </a:ext>
                </a:extLst>
              </a:tr>
              <a:tr h="164544">
                <a:tc>
                  <a:txBody>
                    <a:bodyPr/>
                    <a:lstStyle/>
                    <a:p>
                      <a:pPr algn="r" fontAlgn="b">
                        <a:buNone/>
                      </a:pPr>
                      <a:r>
                        <a:rPr lang="en-GB" sz="900" u="none" strike="noStrike">
                          <a:effectLst/>
                        </a:rPr>
                        <a:t>401808287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33%</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170276081"/>
                  </a:ext>
                </a:extLst>
              </a:tr>
              <a:tr h="164544">
                <a:tc>
                  <a:txBody>
                    <a:bodyPr/>
                    <a:lstStyle/>
                    <a:p>
                      <a:pPr algn="r" fontAlgn="b">
                        <a:buNone/>
                      </a:pPr>
                      <a:r>
                        <a:rPr lang="en-GB" sz="900" u="none" strike="noStrike">
                          <a:effectLst/>
                        </a:rPr>
                        <a:t>401808280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40%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735886962"/>
                  </a:ext>
                </a:extLst>
              </a:tr>
              <a:tr h="164544">
                <a:tc>
                  <a:txBody>
                    <a:bodyPr/>
                    <a:lstStyle/>
                    <a:p>
                      <a:pPr algn="r" fontAlgn="b">
                        <a:buNone/>
                      </a:pPr>
                      <a:r>
                        <a:rPr lang="en-GB" sz="900" u="none" strike="noStrike">
                          <a:effectLst/>
                        </a:rPr>
                        <a:t>401808269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33%</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406397535"/>
                  </a:ext>
                </a:extLst>
              </a:tr>
              <a:tr h="164544">
                <a:tc>
                  <a:txBody>
                    <a:bodyPr/>
                    <a:lstStyle/>
                    <a:p>
                      <a:pPr algn="r" fontAlgn="b">
                        <a:buNone/>
                      </a:pPr>
                      <a:r>
                        <a:rPr lang="en-GB" sz="900" u="none" strike="noStrike">
                          <a:effectLst/>
                        </a:rPr>
                        <a:t>401808262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392730357"/>
                  </a:ext>
                </a:extLst>
              </a:tr>
              <a:tr h="164544">
                <a:tc>
                  <a:txBody>
                    <a:bodyPr/>
                    <a:lstStyle/>
                    <a:p>
                      <a:pPr algn="r" fontAlgn="b">
                        <a:buNone/>
                      </a:pPr>
                      <a:r>
                        <a:rPr lang="en-GB" sz="900" u="none" strike="noStrike">
                          <a:effectLst/>
                        </a:rPr>
                        <a:t>401808256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79319035"/>
                  </a:ext>
                </a:extLst>
              </a:tr>
              <a:tr h="164544">
                <a:tc>
                  <a:txBody>
                    <a:bodyPr/>
                    <a:lstStyle/>
                    <a:p>
                      <a:pPr algn="r" fontAlgn="b">
                        <a:buNone/>
                      </a:pPr>
                      <a:r>
                        <a:rPr lang="en-GB" sz="900" u="none" strike="noStrike">
                          <a:effectLst/>
                        </a:rPr>
                        <a:t>401808247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2633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342072309"/>
                  </a:ext>
                </a:extLst>
              </a:tr>
              <a:tr h="164544">
                <a:tc>
                  <a:txBody>
                    <a:bodyPr/>
                    <a:lstStyle/>
                    <a:p>
                      <a:pPr algn="r" fontAlgn="b">
                        <a:buNone/>
                      </a:pPr>
                      <a:r>
                        <a:rPr lang="en-GB" sz="900" u="none" strike="noStrike">
                          <a:effectLst/>
                        </a:rPr>
                        <a:t>401808239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343226347"/>
                  </a:ext>
                </a:extLst>
              </a:tr>
              <a:tr h="164544">
                <a:tc>
                  <a:txBody>
                    <a:bodyPr/>
                    <a:lstStyle/>
                    <a:p>
                      <a:pPr algn="r" fontAlgn="b">
                        <a:buNone/>
                      </a:pPr>
                      <a:r>
                        <a:rPr lang="en-GB" sz="900" u="none" strike="noStrike">
                          <a:effectLst/>
                        </a:rPr>
                        <a:t>401808225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238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818382856"/>
                  </a:ext>
                </a:extLst>
              </a:tr>
              <a:tr h="164544">
                <a:tc>
                  <a:txBody>
                    <a:bodyPr/>
                    <a:lstStyle/>
                    <a:p>
                      <a:pPr algn="r" fontAlgn="b">
                        <a:buNone/>
                      </a:pPr>
                      <a:r>
                        <a:rPr lang="en-GB" sz="900" u="none" strike="noStrike">
                          <a:effectLst/>
                        </a:rPr>
                        <a:t>401808216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50%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406460702"/>
                  </a:ext>
                </a:extLst>
              </a:tr>
              <a:tr h="164544">
                <a:tc>
                  <a:txBody>
                    <a:bodyPr/>
                    <a:lstStyle/>
                    <a:p>
                      <a:pPr algn="r" fontAlgn="b">
                        <a:buNone/>
                      </a:pPr>
                      <a:r>
                        <a:rPr lang="en-GB" sz="900" u="none" strike="noStrike">
                          <a:effectLst/>
                        </a:rPr>
                        <a:t>401808214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40%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168823087"/>
                  </a:ext>
                </a:extLst>
              </a:tr>
              <a:tr h="164544">
                <a:tc>
                  <a:txBody>
                    <a:bodyPr/>
                    <a:lstStyle/>
                    <a:p>
                      <a:pPr algn="r" fontAlgn="b">
                        <a:buNone/>
                      </a:pPr>
                      <a:r>
                        <a:rPr lang="en-GB" sz="900" u="none" strike="noStrike">
                          <a:effectLst/>
                        </a:rPr>
                        <a:t>401808206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186296493"/>
                  </a:ext>
                </a:extLst>
              </a:tr>
              <a:tr h="164544">
                <a:tc>
                  <a:txBody>
                    <a:bodyPr/>
                    <a:lstStyle/>
                    <a:p>
                      <a:pPr algn="r" fontAlgn="b">
                        <a:buNone/>
                      </a:pPr>
                      <a:r>
                        <a:rPr lang="en-GB" sz="900" u="none" strike="noStrike">
                          <a:effectLst/>
                        </a:rPr>
                        <a:t>401808196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60%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006107648"/>
                  </a:ext>
                </a:extLst>
              </a:tr>
              <a:tr h="164544">
                <a:tc>
                  <a:txBody>
                    <a:bodyPr/>
                    <a:lstStyle/>
                    <a:p>
                      <a:pPr algn="r" fontAlgn="b">
                        <a:buNone/>
                      </a:pPr>
                      <a:r>
                        <a:rPr lang="en-GB" sz="900" u="none" strike="noStrike">
                          <a:effectLst/>
                        </a:rPr>
                        <a:t>401808191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2579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50%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665790"/>
                  </a:ext>
                </a:extLst>
              </a:tr>
              <a:tr h="164544">
                <a:tc>
                  <a:txBody>
                    <a:bodyPr/>
                    <a:lstStyle/>
                    <a:p>
                      <a:pPr algn="r" fontAlgn="b">
                        <a:buNone/>
                      </a:pPr>
                      <a:r>
                        <a:rPr lang="en-GB" sz="900" u="none" strike="noStrike">
                          <a:effectLst/>
                        </a:rPr>
                        <a:t>401808184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333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67%</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4195975514"/>
                  </a:ext>
                </a:extLst>
              </a:tr>
              <a:tr h="164544">
                <a:tc>
                  <a:txBody>
                    <a:bodyPr/>
                    <a:lstStyle/>
                    <a:p>
                      <a:pPr algn="r" fontAlgn="b">
                        <a:buNone/>
                      </a:pPr>
                      <a:r>
                        <a:rPr lang="en-GB" sz="900" u="none" strike="noStrike">
                          <a:effectLst/>
                        </a:rPr>
                        <a:t>401808172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865648545"/>
                  </a:ext>
                </a:extLst>
              </a:tr>
              <a:tr h="164544">
                <a:tc>
                  <a:txBody>
                    <a:bodyPr/>
                    <a:lstStyle/>
                    <a:p>
                      <a:pPr algn="r" fontAlgn="b">
                        <a:buNone/>
                      </a:pPr>
                      <a:r>
                        <a:rPr lang="en-GB" sz="900" u="none" strike="noStrike">
                          <a:effectLst/>
                        </a:rPr>
                        <a:t>401808166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766241843"/>
                  </a:ext>
                </a:extLst>
              </a:tr>
              <a:tr h="164544">
                <a:tc>
                  <a:txBody>
                    <a:bodyPr/>
                    <a:lstStyle/>
                    <a:p>
                      <a:pPr algn="r" fontAlgn="b">
                        <a:buNone/>
                      </a:pPr>
                      <a:r>
                        <a:rPr lang="en-GB" sz="900" u="none" strike="noStrike">
                          <a:effectLst/>
                        </a:rPr>
                        <a:t>401808154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1310845933"/>
                  </a:ext>
                </a:extLst>
              </a:tr>
              <a:tr h="164544">
                <a:tc>
                  <a:txBody>
                    <a:bodyPr/>
                    <a:lstStyle/>
                    <a:p>
                      <a:pPr algn="r" fontAlgn="b">
                        <a:buNone/>
                      </a:pPr>
                      <a:r>
                        <a:rPr lang="en-GB" sz="900" u="none" strike="noStrike">
                          <a:effectLst/>
                        </a:rPr>
                        <a:t>401808151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145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730337467"/>
                  </a:ext>
                </a:extLst>
              </a:tr>
              <a:tr h="164544">
                <a:tc>
                  <a:txBody>
                    <a:bodyPr/>
                    <a:lstStyle/>
                    <a:p>
                      <a:pPr algn="r" fontAlgn="b">
                        <a:buNone/>
                      </a:pPr>
                      <a:r>
                        <a:rPr lang="en-GB" sz="900" u="none" strike="noStrike">
                          <a:effectLst/>
                        </a:rPr>
                        <a:t>401826782</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2400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5329888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67%</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369256301"/>
                  </a:ext>
                </a:extLst>
              </a:tr>
              <a:tr h="164544">
                <a:tc>
                  <a:txBody>
                    <a:bodyPr/>
                    <a:lstStyle/>
                    <a:p>
                      <a:pPr algn="r" fontAlgn="b">
                        <a:buNone/>
                      </a:pPr>
                      <a:r>
                        <a:rPr lang="en-GB" sz="900" u="none" strike="noStrike">
                          <a:effectLst/>
                        </a:rPr>
                        <a:t>401858385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277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5144388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833142388"/>
                  </a:ext>
                </a:extLst>
              </a:tr>
              <a:tr h="164544">
                <a:tc>
                  <a:txBody>
                    <a:bodyPr/>
                    <a:lstStyle/>
                    <a:p>
                      <a:pPr algn="r" fontAlgn="b">
                        <a:buNone/>
                      </a:pPr>
                      <a:r>
                        <a:rPr lang="en-GB" sz="900" u="none" strike="noStrike">
                          <a:effectLst/>
                        </a:rPr>
                        <a:t>401858385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277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5101844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100%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6</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2174704179"/>
                  </a:ext>
                </a:extLst>
              </a:tr>
              <a:tr h="164544">
                <a:tc>
                  <a:txBody>
                    <a:bodyPr/>
                    <a:lstStyle/>
                    <a:p>
                      <a:pPr algn="r" fontAlgn="b">
                        <a:buNone/>
                      </a:pPr>
                      <a:r>
                        <a:rPr lang="en-GB" sz="900" u="none" strike="noStrike">
                          <a:effectLst/>
                        </a:rPr>
                        <a:t>401858383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239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5144388</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10</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highlight>
                            <a:srgbClr val="FFFF00"/>
                          </a:highlight>
                        </a:rPr>
                        <a:t>50%</a:t>
                      </a:r>
                      <a:endParaRPr lang="en-GB" sz="900" b="0" i="0" u="none" strike="noStrike">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284191240"/>
                  </a:ext>
                </a:extLst>
              </a:tr>
              <a:tr h="164544">
                <a:tc>
                  <a:txBody>
                    <a:bodyPr/>
                    <a:lstStyle/>
                    <a:p>
                      <a:pPr algn="r" fontAlgn="b">
                        <a:buNone/>
                      </a:pPr>
                      <a:r>
                        <a:rPr lang="en-GB" sz="900" u="none" strike="noStrike">
                          <a:effectLst/>
                        </a:rPr>
                        <a:t>401858383</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201</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239</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5101844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17</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r" fontAlgn="b">
                        <a:buNone/>
                      </a:pPr>
                      <a:r>
                        <a:rPr lang="en-GB" sz="900" u="none" strike="noStrike" dirty="0">
                          <a:effectLst/>
                          <a:highlight>
                            <a:srgbClr val="FFFF00"/>
                          </a:highlight>
                        </a:rPr>
                        <a:t>100%</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tc>
                  <a:txBody>
                    <a:bodyPr/>
                    <a:lstStyle/>
                    <a:p>
                      <a:pPr algn="r" fontAlgn="b">
                        <a:buNone/>
                      </a:pPr>
                      <a:r>
                        <a:rPr lang="en-GB" sz="900" u="none" strike="noStrike">
                          <a:effectLst/>
                        </a:rPr>
                        <a:t>4</a:t>
                      </a:r>
                      <a:endParaRPr lang="en-GB" sz="900" b="0" i="0" u="none" strike="noStrike">
                        <a:solidFill>
                          <a:srgbClr val="000000"/>
                        </a:solidFill>
                        <a:effectLst/>
                        <a:latin typeface="Aptos Narrow" panose="020B0004020202020204" pitchFamily="34" charset="0"/>
                      </a:endParaRPr>
                    </a:p>
                  </a:txBody>
                  <a:tcPr marL="5609" marR="5609" marT="5609" marB="0" anchor="b"/>
                </a:tc>
                <a:tc>
                  <a:txBody>
                    <a:bodyPr/>
                    <a:lstStyle/>
                    <a:p>
                      <a:pPr algn="ctr" fontAlgn="b">
                        <a:buNone/>
                      </a:pPr>
                      <a:r>
                        <a:rPr lang="en-GB" sz="900" u="none" strike="noStrike" dirty="0">
                          <a:effectLst/>
                          <a:highlight>
                            <a:srgbClr val="FFFF00"/>
                          </a:highlight>
                        </a:rPr>
                        <a:t>FALSE</a:t>
                      </a:r>
                      <a:endParaRPr lang="en-GB" sz="900" b="0" i="0" u="none" strike="noStrike" dirty="0">
                        <a:solidFill>
                          <a:srgbClr val="000000"/>
                        </a:solidFill>
                        <a:effectLst/>
                        <a:highlight>
                          <a:srgbClr val="FFFF00"/>
                        </a:highlight>
                        <a:latin typeface="Aptos Narrow" panose="020B0004020202020204" pitchFamily="34" charset="0"/>
                      </a:endParaRPr>
                    </a:p>
                  </a:txBody>
                  <a:tcPr marL="5609" marR="5609" marT="5609" marB="0" anchor="b"/>
                </a:tc>
                <a:extLst>
                  <a:ext uri="{0D108BD9-81ED-4DB2-BD59-A6C34878D82A}">
                    <a16:rowId xmlns:a16="http://schemas.microsoft.com/office/drawing/2014/main" val="3482163912"/>
                  </a:ext>
                </a:extLst>
              </a:tr>
            </a:tbl>
          </a:graphicData>
        </a:graphic>
      </p:graphicFrame>
      <p:graphicFrame>
        <p:nvGraphicFramePr>
          <p:cNvPr id="6" name="Table 5">
            <a:extLst>
              <a:ext uri="{FF2B5EF4-FFF2-40B4-BE49-F238E27FC236}">
                <a16:creationId xmlns:a16="http://schemas.microsoft.com/office/drawing/2014/main" id="{57F99A97-4E0A-92E0-AE2C-1EA6EABC4A0F}"/>
              </a:ext>
            </a:extLst>
          </p:cNvPr>
          <p:cNvGraphicFramePr>
            <a:graphicFrameLocks noGrp="1"/>
          </p:cNvGraphicFramePr>
          <p:nvPr>
            <p:extLst>
              <p:ext uri="{D42A27DB-BD31-4B8C-83A1-F6EECF244321}">
                <p14:modId xmlns:p14="http://schemas.microsoft.com/office/powerpoint/2010/main" val="2085442653"/>
              </p:ext>
            </p:extLst>
          </p:nvPr>
        </p:nvGraphicFramePr>
        <p:xfrm>
          <a:off x="7266885" y="3809212"/>
          <a:ext cx="3003550" cy="838200"/>
        </p:xfrm>
        <a:graphic>
          <a:graphicData uri="http://schemas.openxmlformats.org/drawingml/2006/table">
            <a:tbl>
              <a:tblPr firstRow="1">
                <a:tableStyleId>{5C22544A-7EE6-4342-B048-85BDC9FD1C3A}</a:tableStyleId>
              </a:tblPr>
              <a:tblGrid>
                <a:gridCol w="1023403">
                  <a:extLst>
                    <a:ext uri="{9D8B030D-6E8A-4147-A177-3AD203B41FA5}">
                      <a16:colId xmlns:a16="http://schemas.microsoft.com/office/drawing/2014/main" val="1835663521"/>
                    </a:ext>
                  </a:extLst>
                </a:gridCol>
                <a:gridCol w="929297">
                  <a:extLst>
                    <a:ext uri="{9D8B030D-6E8A-4147-A177-3AD203B41FA5}">
                      <a16:colId xmlns:a16="http://schemas.microsoft.com/office/drawing/2014/main" val="1423955081"/>
                    </a:ext>
                  </a:extLst>
                </a:gridCol>
                <a:gridCol w="1050850">
                  <a:extLst>
                    <a:ext uri="{9D8B030D-6E8A-4147-A177-3AD203B41FA5}">
                      <a16:colId xmlns:a16="http://schemas.microsoft.com/office/drawing/2014/main" val="3889725127"/>
                    </a:ext>
                  </a:extLst>
                </a:gridCol>
              </a:tblGrid>
              <a:tr h="279400">
                <a:tc>
                  <a:txBody>
                    <a:bodyPr/>
                    <a:lstStyle/>
                    <a:p>
                      <a:pPr algn="ctr" fontAlgn="b">
                        <a:buNone/>
                      </a:pPr>
                      <a:r>
                        <a:rPr lang="en-GB" sz="1600" b="1" i="0" u="none" strike="noStrike" dirty="0">
                          <a:solidFill>
                            <a:schemeClr val="bg1"/>
                          </a:solidFill>
                          <a:effectLst/>
                          <a:latin typeface="Aptos Narrow" panose="020B0004020202020204" pitchFamily="34" charset="0"/>
                        </a:rPr>
                        <a:t>status</a:t>
                      </a:r>
                    </a:p>
                  </a:txBody>
                  <a:tcPr marL="9525" marR="9525" marT="9525" marB="0" anchor="b"/>
                </a:tc>
                <a:tc>
                  <a:txBody>
                    <a:bodyPr/>
                    <a:lstStyle/>
                    <a:p>
                      <a:pPr algn="ctr" fontAlgn="b">
                        <a:buNone/>
                      </a:pPr>
                      <a:r>
                        <a:rPr lang="en-GB" sz="1600" u="none" strike="noStrike" dirty="0">
                          <a:effectLst/>
                        </a:rPr>
                        <a:t>n</a:t>
                      </a: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dirty="0">
                          <a:effectLst/>
                        </a:rPr>
                        <a:t>mean </a:t>
                      </a:r>
                      <a:r>
                        <a:rPr lang="en-GB" sz="1600" u="none" strike="noStrike" dirty="0" err="1">
                          <a:effectLst/>
                        </a:rPr>
                        <a:t>fg</a:t>
                      </a:r>
                      <a:r>
                        <a:rPr lang="en-GB" sz="1600" u="none" strike="noStrike" dirty="0">
                          <a:effectLst/>
                        </a:rPr>
                        <a:t>%</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1166702"/>
                  </a:ext>
                </a:extLst>
              </a:tr>
              <a:tr h="279400">
                <a:tc>
                  <a:txBody>
                    <a:bodyPr/>
                    <a:lstStyle/>
                    <a:p>
                      <a:pPr algn="ctr" fontAlgn="b">
                        <a:buNone/>
                      </a:pPr>
                      <a:r>
                        <a:rPr lang="en-GB" sz="1600" u="none" strike="noStrike" dirty="0">
                          <a:effectLst/>
                        </a:rPr>
                        <a:t>starter</a:t>
                      </a: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a:effectLst/>
                        </a:rPr>
                        <a:t>185</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dirty="0">
                          <a:effectLst/>
                        </a:rPr>
                        <a:t>50%</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35602748"/>
                  </a:ext>
                </a:extLst>
              </a:tr>
              <a:tr h="279400">
                <a:tc>
                  <a:txBody>
                    <a:bodyPr/>
                    <a:lstStyle/>
                    <a:p>
                      <a:pPr algn="ctr" fontAlgn="b">
                        <a:buNone/>
                      </a:pPr>
                      <a:r>
                        <a:rPr lang="en-GB" sz="1600" u="none" strike="noStrike" dirty="0">
                          <a:effectLst/>
                        </a:rPr>
                        <a:t>bench</a:t>
                      </a: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a:effectLst/>
                        </a:rPr>
                        <a:t>160</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dirty="0">
                          <a:effectLst/>
                        </a:rPr>
                        <a:t>33%</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24733915"/>
                  </a:ext>
                </a:extLst>
              </a:tr>
            </a:tbl>
          </a:graphicData>
        </a:graphic>
      </p:graphicFrame>
      <p:sp>
        <p:nvSpPr>
          <p:cNvPr id="4" name="TextBox 3">
            <a:extLst>
              <a:ext uri="{FF2B5EF4-FFF2-40B4-BE49-F238E27FC236}">
                <a16:creationId xmlns:a16="http://schemas.microsoft.com/office/drawing/2014/main" id="{2BFBB2A9-4C43-F0B8-4D54-DA4C61BDA84A}"/>
              </a:ext>
            </a:extLst>
          </p:cNvPr>
          <p:cNvSpPr txBox="1"/>
          <p:nvPr/>
        </p:nvSpPr>
        <p:spPr>
          <a:xfrm>
            <a:off x="838200" y="6187673"/>
            <a:ext cx="3657600" cy="307777"/>
          </a:xfrm>
          <a:prstGeom prst="rect">
            <a:avLst/>
          </a:prstGeom>
          <a:noFill/>
        </p:spPr>
        <p:txBody>
          <a:bodyPr wrap="square">
            <a:spAutoFit/>
          </a:bodyPr>
          <a:lstStyle/>
          <a:p>
            <a:r>
              <a:rPr lang="en-GB" sz="1400" i="1" dirty="0"/>
              <a:t>*sample rows from the full dataset</a:t>
            </a:r>
            <a:endParaRPr lang="en-US" sz="1400" i="1" dirty="0"/>
          </a:p>
        </p:txBody>
      </p:sp>
    </p:spTree>
    <p:extLst>
      <p:ext uri="{BB962C8B-B14F-4D97-AF65-F5344CB8AC3E}">
        <p14:creationId xmlns:p14="http://schemas.microsoft.com/office/powerpoint/2010/main" val="377877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E213F-4AAD-1B2D-D51B-1C4E49E3D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D797C-83D2-13B2-7038-183BA7E4247F}"/>
              </a:ext>
            </a:extLst>
          </p:cNvPr>
          <p:cNvSpPr>
            <a:spLocks noGrp="1"/>
          </p:cNvSpPr>
          <p:nvPr>
            <p:ph type="title"/>
          </p:nvPr>
        </p:nvSpPr>
        <p:spPr/>
        <p:txBody>
          <a:bodyPr>
            <a:normAutofit fontScale="90000"/>
          </a:bodyPr>
          <a:lstStyle/>
          <a:p>
            <a:r>
              <a:rPr lang="en-GB" dirty="0"/>
              <a:t>Bonus: What changes when we compare groups?</a:t>
            </a:r>
            <a:endParaRPr lang="en-US" dirty="0"/>
          </a:p>
        </p:txBody>
      </p:sp>
      <p:graphicFrame>
        <p:nvGraphicFramePr>
          <p:cNvPr id="6" name="Table 5">
            <a:extLst>
              <a:ext uri="{FF2B5EF4-FFF2-40B4-BE49-F238E27FC236}">
                <a16:creationId xmlns:a16="http://schemas.microsoft.com/office/drawing/2014/main" id="{27478903-1A3E-4F14-4F91-95FE92592027}"/>
              </a:ext>
            </a:extLst>
          </p:cNvPr>
          <p:cNvGraphicFramePr>
            <a:graphicFrameLocks noGrp="1"/>
          </p:cNvGraphicFramePr>
          <p:nvPr>
            <p:extLst>
              <p:ext uri="{D42A27DB-BD31-4B8C-83A1-F6EECF244321}">
                <p14:modId xmlns:p14="http://schemas.microsoft.com/office/powerpoint/2010/main" val="312912492"/>
              </p:ext>
            </p:extLst>
          </p:nvPr>
        </p:nvGraphicFramePr>
        <p:xfrm>
          <a:off x="7130360" y="1441461"/>
          <a:ext cx="3003550" cy="838200"/>
        </p:xfrm>
        <a:graphic>
          <a:graphicData uri="http://schemas.openxmlformats.org/drawingml/2006/table">
            <a:tbl>
              <a:tblPr firstRow="1">
                <a:tableStyleId>{5C22544A-7EE6-4342-B048-85BDC9FD1C3A}</a:tableStyleId>
              </a:tblPr>
              <a:tblGrid>
                <a:gridCol w="1023403">
                  <a:extLst>
                    <a:ext uri="{9D8B030D-6E8A-4147-A177-3AD203B41FA5}">
                      <a16:colId xmlns:a16="http://schemas.microsoft.com/office/drawing/2014/main" val="1835663521"/>
                    </a:ext>
                  </a:extLst>
                </a:gridCol>
                <a:gridCol w="929297">
                  <a:extLst>
                    <a:ext uri="{9D8B030D-6E8A-4147-A177-3AD203B41FA5}">
                      <a16:colId xmlns:a16="http://schemas.microsoft.com/office/drawing/2014/main" val="1423955081"/>
                    </a:ext>
                  </a:extLst>
                </a:gridCol>
                <a:gridCol w="1050850">
                  <a:extLst>
                    <a:ext uri="{9D8B030D-6E8A-4147-A177-3AD203B41FA5}">
                      <a16:colId xmlns:a16="http://schemas.microsoft.com/office/drawing/2014/main" val="3889725127"/>
                    </a:ext>
                  </a:extLst>
                </a:gridCol>
              </a:tblGrid>
              <a:tr h="279400">
                <a:tc>
                  <a:txBody>
                    <a:bodyPr/>
                    <a:lstStyle/>
                    <a:p>
                      <a:pPr algn="ctr" fontAlgn="b">
                        <a:buNone/>
                      </a:pPr>
                      <a:r>
                        <a:rPr lang="en-GB" sz="1600" b="1" i="0" u="none" strike="noStrike" dirty="0">
                          <a:solidFill>
                            <a:schemeClr val="bg1"/>
                          </a:solidFill>
                          <a:effectLst/>
                          <a:latin typeface="Aptos Narrow" panose="020B0004020202020204" pitchFamily="34" charset="0"/>
                        </a:rPr>
                        <a:t>status</a:t>
                      </a:r>
                    </a:p>
                  </a:txBody>
                  <a:tcPr marL="9525" marR="9525" marT="9525" marB="0" anchor="b"/>
                </a:tc>
                <a:tc>
                  <a:txBody>
                    <a:bodyPr/>
                    <a:lstStyle/>
                    <a:p>
                      <a:pPr algn="ctr" fontAlgn="b">
                        <a:buNone/>
                      </a:pPr>
                      <a:r>
                        <a:rPr lang="en-GB" sz="1600" u="none" strike="noStrike" dirty="0">
                          <a:effectLst/>
                        </a:rPr>
                        <a:t>n</a:t>
                      </a: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dirty="0">
                          <a:effectLst/>
                        </a:rPr>
                        <a:t>mean </a:t>
                      </a:r>
                      <a:r>
                        <a:rPr lang="en-GB" sz="1600" u="none" strike="noStrike" dirty="0" err="1">
                          <a:effectLst/>
                        </a:rPr>
                        <a:t>fg</a:t>
                      </a:r>
                      <a:r>
                        <a:rPr lang="en-GB" sz="1600" u="none" strike="noStrike" dirty="0">
                          <a:effectLst/>
                        </a:rPr>
                        <a:t>%</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1166702"/>
                  </a:ext>
                </a:extLst>
              </a:tr>
              <a:tr h="279400">
                <a:tc>
                  <a:txBody>
                    <a:bodyPr/>
                    <a:lstStyle/>
                    <a:p>
                      <a:pPr algn="ctr" fontAlgn="b">
                        <a:buNone/>
                      </a:pPr>
                      <a:r>
                        <a:rPr lang="en-GB" sz="1600" u="none" strike="noStrike" dirty="0">
                          <a:effectLst/>
                        </a:rPr>
                        <a:t>starter</a:t>
                      </a: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a:effectLst/>
                        </a:rPr>
                        <a:t>185</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dirty="0">
                          <a:effectLst/>
                        </a:rPr>
                        <a:t>50%</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35602748"/>
                  </a:ext>
                </a:extLst>
              </a:tr>
              <a:tr h="279400">
                <a:tc>
                  <a:txBody>
                    <a:bodyPr/>
                    <a:lstStyle/>
                    <a:p>
                      <a:pPr algn="ctr" fontAlgn="b">
                        <a:buNone/>
                      </a:pPr>
                      <a:r>
                        <a:rPr lang="en-GB" sz="1600" u="none" strike="noStrike" dirty="0">
                          <a:effectLst/>
                        </a:rPr>
                        <a:t>bench</a:t>
                      </a: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a:effectLst/>
                        </a:rPr>
                        <a:t>160</a:t>
                      </a:r>
                      <a:endParaRPr lang="en-GB"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dirty="0">
                          <a:effectLst/>
                        </a:rPr>
                        <a:t>33%</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624733915"/>
                  </a:ext>
                </a:extLst>
              </a:tr>
            </a:tbl>
          </a:graphicData>
        </a:graphic>
      </p:graphicFrame>
      <p:graphicFrame>
        <p:nvGraphicFramePr>
          <p:cNvPr id="8" name="Content Placeholder 7">
            <a:extLst>
              <a:ext uri="{FF2B5EF4-FFF2-40B4-BE49-F238E27FC236}">
                <a16:creationId xmlns:a16="http://schemas.microsoft.com/office/drawing/2014/main" id="{30FBB575-8941-7856-AA53-CAB51E5CA67E}"/>
              </a:ext>
            </a:extLst>
          </p:cNvPr>
          <p:cNvGraphicFramePr>
            <a:graphicFrameLocks noGrp="1"/>
          </p:cNvGraphicFramePr>
          <p:nvPr>
            <p:ph idx="1"/>
            <p:extLst>
              <p:ext uri="{D42A27DB-BD31-4B8C-83A1-F6EECF244321}">
                <p14:modId xmlns:p14="http://schemas.microsoft.com/office/powerpoint/2010/main" val="462749054"/>
              </p:ext>
            </p:extLst>
          </p:nvPr>
        </p:nvGraphicFramePr>
        <p:xfrm>
          <a:off x="6654685" y="2571620"/>
          <a:ext cx="457200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649A836-B700-5C86-C495-407BAC37DD1E}"/>
              </a:ext>
            </a:extLst>
          </p:cNvPr>
          <p:cNvGraphicFramePr>
            <a:graphicFrameLocks/>
          </p:cNvGraphicFramePr>
          <p:nvPr>
            <p:extLst>
              <p:ext uri="{D42A27DB-BD31-4B8C-83A1-F6EECF244321}">
                <p14:modId xmlns:p14="http://schemas.microsoft.com/office/powerpoint/2010/main" val="2541813561"/>
              </p:ext>
            </p:extLst>
          </p:nvPr>
        </p:nvGraphicFramePr>
        <p:xfrm>
          <a:off x="965316" y="2571620"/>
          <a:ext cx="4572000" cy="36576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 9">
            <a:extLst>
              <a:ext uri="{FF2B5EF4-FFF2-40B4-BE49-F238E27FC236}">
                <a16:creationId xmlns:a16="http://schemas.microsoft.com/office/drawing/2014/main" id="{5002B72E-1F54-73D9-CAF0-62EEC2E183C1}"/>
              </a:ext>
            </a:extLst>
          </p:cNvPr>
          <p:cNvGraphicFramePr>
            <a:graphicFrameLocks noGrp="1"/>
          </p:cNvGraphicFramePr>
          <p:nvPr>
            <p:extLst>
              <p:ext uri="{D42A27DB-BD31-4B8C-83A1-F6EECF244321}">
                <p14:modId xmlns:p14="http://schemas.microsoft.com/office/powerpoint/2010/main" val="3994997589"/>
              </p:ext>
            </p:extLst>
          </p:nvPr>
        </p:nvGraphicFramePr>
        <p:xfrm>
          <a:off x="2058091" y="1441461"/>
          <a:ext cx="3003550" cy="558800"/>
        </p:xfrm>
        <a:graphic>
          <a:graphicData uri="http://schemas.openxmlformats.org/drawingml/2006/table">
            <a:tbl>
              <a:tblPr firstRow="1">
                <a:tableStyleId>{5C22544A-7EE6-4342-B048-85BDC9FD1C3A}</a:tableStyleId>
              </a:tblPr>
              <a:tblGrid>
                <a:gridCol w="1023403">
                  <a:extLst>
                    <a:ext uri="{9D8B030D-6E8A-4147-A177-3AD203B41FA5}">
                      <a16:colId xmlns:a16="http://schemas.microsoft.com/office/drawing/2014/main" val="1835663521"/>
                    </a:ext>
                  </a:extLst>
                </a:gridCol>
                <a:gridCol w="929297">
                  <a:extLst>
                    <a:ext uri="{9D8B030D-6E8A-4147-A177-3AD203B41FA5}">
                      <a16:colId xmlns:a16="http://schemas.microsoft.com/office/drawing/2014/main" val="1423955081"/>
                    </a:ext>
                  </a:extLst>
                </a:gridCol>
                <a:gridCol w="1050850">
                  <a:extLst>
                    <a:ext uri="{9D8B030D-6E8A-4147-A177-3AD203B41FA5}">
                      <a16:colId xmlns:a16="http://schemas.microsoft.com/office/drawing/2014/main" val="3889725127"/>
                    </a:ext>
                  </a:extLst>
                </a:gridCol>
              </a:tblGrid>
              <a:tr h="279400">
                <a:tc>
                  <a:txBody>
                    <a:bodyPr/>
                    <a:lstStyle/>
                    <a:p>
                      <a:pPr algn="ctr" fontAlgn="b">
                        <a:buNone/>
                      </a:pPr>
                      <a:endParaRPr lang="en-GB" sz="1600" b="1" i="0" u="none" strike="noStrike" dirty="0">
                        <a:solidFill>
                          <a:schemeClr val="bg1"/>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dirty="0">
                          <a:effectLst/>
                        </a:rPr>
                        <a:t>n</a:t>
                      </a: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u="none" strike="noStrike" dirty="0">
                          <a:effectLst/>
                        </a:rPr>
                        <a:t>mean </a:t>
                      </a:r>
                      <a:r>
                        <a:rPr lang="en-GB" sz="1600" u="none" strike="noStrike" dirty="0" err="1">
                          <a:effectLst/>
                        </a:rPr>
                        <a:t>fg</a:t>
                      </a:r>
                      <a:r>
                        <a:rPr lang="en-GB" sz="1600" u="none" strike="noStrike" dirty="0">
                          <a:effectLst/>
                        </a:rPr>
                        <a:t>%</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1166702"/>
                  </a:ext>
                </a:extLst>
              </a:tr>
              <a:tr h="279400">
                <a:tc>
                  <a:txBody>
                    <a:bodyPr/>
                    <a:lstStyle/>
                    <a:p>
                      <a:pPr algn="ctr" fontAlgn="b">
                        <a:buNone/>
                      </a:pPr>
                      <a:r>
                        <a:rPr lang="en-GB" sz="1600" u="none" strike="noStrike" dirty="0">
                          <a:effectLst/>
                        </a:rPr>
                        <a:t>Full team</a:t>
                      </a:r>
                      <a:endParaRPr lang="en-GB"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buNone/>
                      </a:pPr>
                      <a:r>
                        <a:rPr lang="en-GB" sz="1600" b="0" i="0" u="none" strike="noStrike" dirty="0">
                          <a:solidFill>
                            <a:srgbClr val="000000"/>
                          </a:solidFill>
                          <a:effectLst/>
                          <a:latin typeface="Aptos Narrow" panose="020B0004020202020204" pitchFamily="34" charset="0"/>
                        </a:rPr>
                        <a:t>345</a:t>
                      </a:r>
                    </a:p>
                  </a:txBody>
                  <a:tcPr marL="9525" marR="9525" marT="9525" marB="0" anchor="b"/>
                </a:tc>
                <a:tc>
                  <a:txBody>
                    <a:bodyPr/>
                    <a:lstStyle/>
                    <a:p>
                      <a:pPr algn="ctr" fontAlgn="b">
                        <a:buNone/>
                      </a:pPr>
                      <a:r>
                        <a:rPr lang="en-GB" sz="1600" u="none" strike="noStrike" dirty="0">
                          <a:effectLst/>
                        </a:rPr>
                        <a:t>42.1%</a:t>
                      </a:r>
                      <a:endParaRPr lang="en-GB"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935602748"/>
                  </a:ext>
                </a:extLst>
              </a:tr>
            </a:tbl>
          </a:graphicData>
        </a:graphic>
      </p:graphicFrame>
      <p:sp>
        <p:nvSpPr>
          <p:cNvPr id="11" name="TextBox 10">
            <a:extLst>
              <a:ext uri="{FF2B5EF4-FFF2-40B4-BE49-F238E27FC236}">
                <a16:creationId xmlns:a16="http://schemas.microsoft.com/office/drawing/2014/main" id="{17CEE962-D7E1-D8D0-221C-4FCCE5E9FDD9}"/>
              </a:ext>
            </a:extLst>
          </p:cNvPr>
          <p:cNvSpPr txBox="1"/>
          <p:nvPr/>
        </p:nvSpPr>
        <p:spPr>
          <a:xfrm>
            <a:off x="4883873" y="6431247"/>
            <a:ext cx="2424253" cy="369332"/>
          </a:xfrm>
          <a:prstGeom prst="rect">
            <a:avLst/>
          </a:prstGeom>
          <a:noFill/>
        </p:spPr>
        <p:txBody>
          <a:bodyPr wrap="none" rtlCol="0">
            <a:spAutoFit/>
          </a:bodyPr>
          <a:lstStyle/>
          <a:p>
            <a:r>
              <a:rPr lang="en-US" dirty="0">
                <a:solidFill>
                  <a:srgbClr val="FF0000"/>
                </a:solidFill>
              </a:rPr>
              <a:t>What does this tell us?</a:t>
            </a:r>
          </a:p>
        </p:txBody>
      </p:sp>
    </p:spTree>
    <p:extLst>
      <p:ext uri="{BB962C8B-B14F-4D97-AF65-F5344CB8AC3E}">
        <p14:creationId xmlns:p14="http://schemas.microsoft.com/office/powerpoint/2010/main" val="721438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D0795-F136-E6C0-8146-DDBB00A32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F8247-D1DE-6954-3FD9-C881380043B4}"/>
              </a:ext>
            </a:extLst>
          </p:cNvPr>
          <p:cNvSpPr>
            <a:spLocks noGrp="1"/>
          </p:cNvSpPr>
          <p:nvPr>
            <p:ph type="title"/>
          </p:nvPr>
        </p:nvSpPr>
        <p:spPr/>
        <p:txBody>
          <a:bodyPr>
            <a:normAutofit fontScale="90000"/>
          </a:bodyPr>
          <a:lstStyle/>
          <a:p>
            <a:r>
              <a:rPr lang="en-GB" dirty="0"/>
              <a:t>Bonus: What changes when we compare groups?</a:t>
            </a:r>
            <a:endParaRPr lang="en-US" dirty="0"/>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936D0C87-97CB-B1A7-7549-22B729C91B83}"/>
                  </a:ext>
                </a:extLst>
              </p:cNvPr>
              <p:cNvGraphicFramePr/>
              <p:nvPr>
                <p:extLst>
                  <p:ext uri="{D42A27DB-BD31-4B8C-83A1-F6EECF244321}">
                    <p14:modId xmlns:p14="http://schemas.microsoft.com/office/powerpoint/2010/main" val="900050945"/>
                  </p:ext>
                </p:extLst>
              </p:nvPr>
            </p:nvGraphicFramePr>
            <p:xfrm>
              <a:off x="7482425" y="3762049"/>
              <a:ext cx="4307979" cy="2585754"/>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hart 3">
                <a:extLst>
                  <a:ext uri="{FF2B5EF4-FFF2-40B4-BE49-F238E27FC236}">
                    <a16:creationId xmlns:a16="http://schemas.microsoft.com/office/drawing/2014/main" id="{936D0C87-97CB-B1A7-7549-22B729C91B83}"/>
                  </a:ext>
                </a:extLst>
              </p:cNvPr>
              <p:cNvPicPr>
                <a:picLocks noGrp="1" noRot="1" noChangeAspect="1" noMove="1" noResize="1" noEditPoints="1" noAdjustHandles="1" noChangeArrowheads="1" noChangeShapeType="1"/>
              </p:cNvPicPr>
              <p:nvPr/>
            </p:nvPicPr>
            <p:blipFill>
              <a:blip r:embed="rId4"/>
              <a:stretch>
                <a:fillRect/>
              </a:stretch>
            </p:blipFill>
            <p:spPr>
              <a:xfrm>
                <a:off x="7482425" y="3762049"/>
                <a:ext cx="4307979" cy="2585754"/>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7" name="Chart 6">
                <a:extLst>
                  <a:ext uri="{FF2B5EF4-FFF2-40B4-BE49-F238E27FC236}">
                    <a16:creationId xmlns:a16="http://schemas.microsoft.com/office/drawing/2014/main" id="{3A2343E4-2AA8-E06D-994B-64575A318043}"/>
                  </a:ext>
                </a:extLst>
              </p:cNvPr>
              <p:cNvGraphicFramePr/>
              <p:nvPr>
                <p:extLst>
                  <p:ext uri="{D42A27DB-BD31-4B8C-83A1-F6EECF244321}">
                    <p14:modId xmlns:p14="http://schemas.microsoft.com/office/powerpoint/2010/main" val="179689798"/>
                  </p:ext>
                </p:extLst>
              </p:nvPr>
            </p:nvGraphicFramePr>
            <p:xfrm>
              <a:off x="535141" y="3957425"/>
              <a:ext cx="4174435" cy="2585754"/>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7" name="Chart 6">
                <a:extLst>
                  <a:ext uri="{FF2B5EF4-FFF2-40B4-BE49-F238E27FC236}">
                    <a16:creationId xmlns:a16="http://schemas.microsoft.com/office/drawing/2014/main" id="{3A2343E4-2AA8-E06D-994B-64575A318043}"/>
                  </a:ext>
                </a:extLst>
              </p:cNvPr>
              <p:cNvPicPr>
                <a:picLocks noGrp="1" noRot="1" noChangeAspect="1" noMove="1" noResize="1" noEditPoints="1" noAdjustHandles="1" noChangeArrowheads="1" noChangeShapeType="1"/>
              </p:cNvPicPr>
              <p:nvPr/>
            </p:nvPicPr>
            <p:blipFill>
              <a:blip r:embed="rId6"/>
              <a:stretch>
                <a:fillRect/>
              </a:stretch>
            </p:blipFill>
            <p:spPr>
              <a:xfrm>
                <a:off x="535141" y="3957425"/>
                <a:ext cx="4174435" cy="2585754"/>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0D19115F-8A15-67B5-4BE9-B57064CCD492}"/>
                  </a:ext>
                </a:extLst>
              </p:cNvPr>
              <p:cNvGraphicFramePr/>
              <p:nvPr>
                <p:extLst>
                  <p:ext uri="{D42A27DB-BD31-4B8C-83A1-F6EECF244321}">
                    <p14:modId xmlns:p14="http://schemas.microsoft.com/office/powerpoint/2010/main" val="2845156706"/>
                  </p:ext>
                </p:extLst>
              </p:nvPr>
            </p:nvGraphicFramePr>
            <p:xfrm>
              <a:off x="3069638" y="1215083"/>
              <a:ext cx="6052724" cy="2546966"/>
            </p:xfrm>
            <a:graphic>
              <a:graphicData uri="http://schemas.microsoft.com/office/drawing/2014/chartex">
                <cx:chart xmlns:cx="http://schemas.microsoft.com/office/drawing/2014/chartex" xmlns:r="http://schemas.openxmlformats.org/officeDocument/2006/relationships" r:id="rId7"/>
              </a:graphicData>
            </a:graphic>
          </p:graphicFrame>
        </mc:Choice>
        <mc:Fallback xmlns="">
          <p:pic>
            <p:nvPicPr>
              <p:cNvPr id="5" name="Chart 4">
                <a:extLst>
                  <a:ext uri="{FF2B5EF4-FFF2-40B4-BE49-F238E27FC236}">
                    <a16:creationId xmlns:a16="http://schemas.microsoft.com/office/drawing/2014/main" id="{0D19115F-8A15-67B5-4BE9-B57064CCD492}"/>
                  </a:ext>
                </a:extLst>
              </p:cNvPr>
              <p:cNvPicPr>
                <a:picLocks noGrp="1" noRot="1" noChangeAspect="1" noMove="1" noResize="1" noEditPoints="1" noAdjustHandles="1" noChangeArrowheads="1" noChangeShapeType="1"/>
              </p:cNvPicPr>
              <p:nvPr/>
            </p:nvPicPr>
            <p:blipFill>
              <a:blip r:embed="rId8"/>
              <a:stretch>
                <a:fillRect/>
              </a:stretch>
            </p:blipFill>
            <p:spPr>
              <a:xfrm>
                <a:off x="3069638" y="1215083"/>
                <a:ext cx="6052724" cy="2546966"/>
              </a:xfrm>
              <a:prstGeom prst="rect">
                <a:avLst/>
              </a:prstGeom>
            </p:spPr>
          </p:pic>
        </mc:Fallback>
      </mc:AlternateContent>
      <p:sp>
        <p:nvSpPr>
          <p:cNvPr id="6" name="Bent Up Arrow 5">
            <a:extLst>
              <a:ext uri="{FF2B5EF4-FFF2-40B4-BE49-F238E27FC236}">
                <a16:creationId xmlns:a16="http://schemas.microsoft.com/office/drawing/2014/main" id="{8E95C63A-FA21-DBA3-DCE7-96AB681DAFC1}"/>
              </a:ext>
            </a:extLst>
          </p:cNvPr>
          <p:cNvSpPr/>
          <p:nvPr/>
        </p:nvSpPr>
        <p:spPr>
          <a:xfrm rot="5400000">
            <a:off x="6254866" y="4024015"/>
            <a:ext cx="850392" cy="731520"/>
          </a:xfrm>
          <a:prstGeom prst="bentUpArrow">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Bent Up Arrow 7">
            <a:extLst>
              <a:ext uri="{FF2B5EF4-FFF2-40B4-BE49-F238E27FC236}">
                <a16:creationId xmlns:a16="http://schemas.microsoft.com/office/drawing/2014/main" id="{E20B9322-4FD2-14A2-9F13-1633E445E552}"/>
              </a:ext>
            </a:extLst>
          </p:cNvPr>
          <p:cNvSpPr/>
          <p:nvPr/>
        </p:nvSpPr>
        <p:spPr>
          <a:xfrm rot="5400000" flipV="1">
            <a:off x="5086743" y="4024015"/>
            <a:ext cx="850392" cy="731520"/>
          </a:xfrm>
          <a:prstGeom prst="bentUp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35A611D-5082-CCB5-9415-47D845726CA4}"/>
              </a:ext>
            </a:extLst>
          </p:cNvPr>
          <p:cNvSpPr txBox="1"/>
          <p:nvPr/>
        </p:nvSpPr>
        <p:spPr>
          <a:xfrm>
            <a:off x="4709576" y="6419629"/>
            <a:ext cx="2890856" cy="369332"/>
          </a:xfrm>
          <a:prstGeom prst="rect">
            <a:avLst/>
          </a:prstGeom>
          <a:noFill/>
        </p:spPr>
        <p:txBody>
          <a:bodyPr wrap="none" rtlCol="0">
            <a:spAutoFit/>
          </a:bodyPr>
          <a:lstStyle/>
          <a:p>
            <a:r>
              <a:rPr lang="en-US" dirty="0">
                <a:solidFill>
                  <a:srgbClr val="FF0000"/>
                </a:solidFill>
              </a:rPr>
              <a:t>What else does this reveal?</a:t>
            </a:r>
          </a:p>
        </p:txBody>
      </p:sp>
    </p:spTree>
    <p:extLst>
      <p:ext uri="{BB962C8B-B14F-4D97-AF65-F5344CB8AC3E}">
        <p14:creationId xmlns:p14="http://schemas.microsoft.com/office/powerpoint/2010/main" val="3378053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9933F-96AE-0028-248D-35F5B03EC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368E1-752A-4EEF-08DE-9D3FDDEBB671}"/>
              </a:ext>
            </a:extLst>
          </p:cNvPr>
          <p:cNvSpPr>
            <a:spLocks noGrp="1"/>
          </p:cNvSpPr>
          <p:nvPr>
            <p:ph type="title"/>
          </p:nvPr>
        </p:nvSpPr>
        <p:spPr/>
        <p:txBody>
          <a:bodyPr>
            <a:normAutofit fontScale="90000"/>
          </a:bodyPr>
          <a:lstStyle/>
          <a:p>
            <a:r>
              <a:rPr lang="en-GB" dirty="0"/>
              <a:t>Bonus: What changes when we compare groups?</a:t>
            </a:r>
            <a:endParaRPr lang="en-US" dirty="0"/>
          </a:p>
        </p:txBody>
      </p:sp>
      <mc:AlternateContent xmlns:mc="http://schemas.openxmlformats.org/markup-compatibility/2006" xmlns:cx1="http://schemas.microsoft.com/office/drawing/2015/9/8/chartex">
        <mc:Choice Requires="cx1">
          <p:graphicFrame>
            <p:nvGraphicFramePr>
              <p:cNvPr id="7" name="Chart 6">
                <a:extLst>
                  <a:ext uri="{FF2B5EF4-FFF2-40B4-BE49-F238E27FC236}">
                    <a16:creationId xmlns:a16="http://schemas.microsoft.com/office/drawing/2014/main" id="{1C12D953-99D1-9AC3-59F3-7DD30766D95F}"/>
                  </a:ext>
                </a:extLst>
              </p:cNvPr>
              <p:cNvGraphicFramePr/>
              <p:nvPr/>
            </p:nvGraphicFramePr>
            <p:xfrm>
              <a:off x="535141" y="3957425"/>
              <a:ext cx="4174435" cy="2585754"/>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7" name="Chart 6">
                <a:extLst>
                  <a:ext uri="{FF2B5EF4-FFF2-40B4-BE49-F238E27FC236}">
                    <a16:creationId xmlns:a16="http://schemas.microsoft.com/office/drawing/2014/main" id="{1C12D953-99D1-9AC3-59F3-7DD30766D95F}"/>
                  </a:ext>
                </a:extLst>
              </p:cNvPr>
              <p:cNvPicPr>
                <a:picLocks noGrp="1" noRot="1" noChangeAspect="1" noMove="1" noResize="1" noEditPoints="1" noAdjustHandles="1" noChangeArrowheads="1" noChangeShapeType="1"/>
              </p:cNvPicPr>
              <p:nvPr/>
            </p:nvPicPr>
            <p:blipFill>
              <a:blip r:embed="rId4"/>
              <a:stretch>
                <a:fillRect/>
              </a:stretch>
            </p:blipFill>
            <p:spPr>
              <a:xfrm>
                <a:off x="535141" y="3957425"/>
                <a:ext cx="4174435" cy="2585754"/>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526174EA-4819-D298-FF57-7C4391427EC9}"/>
                  </a:ext>
                </a:extLst>
              </p:cNvPr>
              <p:cNvGraphicFramePr/>
              <p:nvPr/>
            </p:nvGraphicFramePr>
            <p:xfrm>
              <a:off x="3069638" y="1215083"/>
              <a:ext cx="6052724" cy="2546966"/>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5" name="Chart 4">
                <a:extLst>
                  <a:ext uri="{FF2B5EF4-FFF2-40B4-BE49-F238E27FC236}">
                    <a16:creationId xmlns:a16="http://schemas.microsoft.com/office/drawing/2014/main" id="{526174EA-4819-D298-FF57-7C4391427EC9}"/>
                  </a:ext>
                </a:extLst>
              </p:cNvPr>
              <p:cNvPicPr>
                <a:picLocks noGrp="1" noRot="1" noChangeAspect="1" noMove="1" noResize="1" noEditPoints="1" noAdjustHandles="1" noChangeArrowheads="1" noChangeShapeType="1"/>
              </p:cNvPicPr>
              <p:nvPr/>
            </p:nvPicPr>
            <p:blipFill>
              <a:blip r:embed="rId6"/>
              <a:stretch>
                <a:fillRect/>
              </a:stretch>
            </p:blipFill>
            <p:spPr>
              <a:xfrm>
                <a:off x="3069638" y="1215083"/>
                <a:ext cx="6052724" cy="2546966"/>
              </a:xfrm>
              <a:prstGeom prst="rect">
                <a:avLst/>
              </a:prstGeom>
            </p:spPr>
          </p:pic>
        </mc:Fallback>
      </mc:AlternateContent>
      <p:sp>
        <p:nvSpPr>
          <p:cNvPr id="6" name="Bent Up Arrow 5">
            <a:extLst>
              <a:ext uri="{FF2B5EF4-FFF2-40B4-BE49-F238E27FC236}">
                <a16:creationId xmlns:a16="http://schemas.microsoft.com/office/drawing/2014/main" id="{8E1E3EB2-63D9-F820-B7AF-16A0DBDD0D44}"/>
              </a:ext>
            </a:extLst>
          </p:cNvPr>
          <p:cNvSpPr/>
          <p:nvPr/>
        </p:nvSpPr>
        <p:spPr>
          <a:xfrm rot="5400000">
            <a:off x="6254866" y="4024015"/>
            <a:ext cx="850392" cy="731520"/>
          </a:xfrm>
          <a:prstGeom prst="bentUpArrow">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Bent Up Arrow 7">
            <a:extLst>
              <a:ext uri="{FF2B5EF4-FFF2-40B4-BE49-F238E27FC236}">
                <a16:creationId xmlns:a16="http://schemas.microsoft.com/office/drawing/2014/main" id="{F867B00C-0C7A-7A13-D8BF-BC93CD770691}"/>
              </a:ext>
            </a:extLst>
          </p:cNvPr>
          <p:cNvSpPr/>
          <p:nvPr/>
        </p:nvSpPr>
        <p:spPr>
          <a:xfrm rot="5400000" flipV="1">
            <a:off x="5086743" y="4024015"/>
            <a:ext cx="850392" cy="731520"/>
          </a:xfrm>
          <a:prstGeom prst="bentUp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5E579D2-7C49-9FC4-8947-7765A4415C2D}"/>
              </a:ext>
            </a:extLst>
          </p:cNvPr>
          <p:cNvSpPr txBox="1"/>
          <p:nvPr/>
        </p:nvSpPr>
        <p:spPr>
          <a:xfrm>
            <a:off x="4709576" y="6419629"/>
            <a:ext cx="2890856" cy="369332"/>
          </a:xfrm>
          <a:prstGeom prst="rect">
            <a:avLst/>
          </a:prstGeom>
          <a:noFill/>
        </p:spPr>
        <p:txBody>
          <a:bodyPr wrap="none" rtlCol="0">
            <a:spAutoFit/>
          </a:bodyPr>
          <a:lstStyle/>
          <a:p>
            <a:r>
              <a:rPr lang="en-US" dirty="0">
                <a:solidFill>
                  <a:srgbClr val="FF0000"/>
                </a:solidFill>
              </a:rPr>
              <a:t>What else does this reveal?</a:t>
            </a:r>
          </a:p>
        </p:txBody>
      </p:sp>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9D44C680-BC84-9C4A-87B3-05EA72228C5A}"/>
                  </a:ext>
                </a:extLst>
              </p:cNvPr>
              <p:cNvGraphicFramePr/>
              <p:nvPr>
                <p:extLst>
                  <p:ext uri="{D42A27DB-BD31-4B8C-83A1-F6EECF244321}">
                    <p14:modId xmlns:p14="http://schemas.microsoft.com/office/powerpoint/2010/main" val="3996677725"/>
                  </p:ext>
                </p:extLst>
              </p:nvPr>
            </p:nvGraphicFramePr>
            <p:xfrm>
              <a:off x="7482424" y="3861333"/>
              <a:ext cx="4174435" cy="2585754"/>
            </p:xfrm>
            <a:graphic>
              <a:graphicData uri="http://schemas.microsoft.com/office/drawing/2014/chartex">
                <cx:chart xmlns:cx="http://schemas.microsoft.com/office/drawing/2014/chartex" xmlns:r="http://schemas.openxmlformats.org/officeDocument/2006/relationships" r:id="rId7"/>
              </a:graphicData>
            </a:graphic>
          </p:graphicFrame>
        </mc:Choice>
        <mc:Fallback xmlns="">
          <p:pic>
            <p:nvPicPr>
              <p:cNvPr id="3" name="Chart 2">
                <a:extLst>
                  <a:ext uri="{FF2B5EF4-FFF2-40B4-BE49-F238E27FC236}">
                    <a16:creationId xmlns:a16="http://schemas.microsoft.com/office/drawing/2014/main" id="{9D44C680-BC84-9C4A-87B3-05EA72228C5A}"/>
                  </a:ext>
                </a:extLst>
              </p:cNvPr>
              <p:cNvPicPr>
                <a:picLocks noGrp="1" noRot="1" noChangeAspect="1" noMove="1" noResize="1" noEditPoints="1" noAdjustHandles="1" noChangeArrowheads="1" noChangeShapeType="1"/>
              </p:cNvPicPr>
              <p:nvPr/>
            </p:nvPicPr>
            <p:blipFill>
              <a:blip r:embed="rId8"/>
              <a:stretch>
                <a:fillRect/>
              </a:stretch>
            </p:blipFill>
            <p:spPr>
              <a:xfrm>
                <a:off x="7482424" y="3861333"/>
                <a:ext cx="4174435" cy="2585754"/>
              </a:xfrm>
              <a:prstGeom prst="rect">
                <a:avLst/>
              </a:prstGeom>
            </p:spPr>
          </p:pic>
        </mc:Fallback>
      </mc:AlternateContent>
    </p:spTree>
    <p:extLst>
      <p:ext uri="{BB962C8B-B14F-4D97-AF65-F5344CB8AC3E}">
        <p14:creationId xmlns:p14="http://schemas.microsoft.com/office/powerpoint/2010/main" val="2868915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A07F9-E15D-FB4D-34EF-1B4008DB1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96BC7-C445-EA07-B04B-BFE374E5E10A}"/>
              </a:ext>
            </a:extLst>
          </p:cNvPr>
          <p:cNvSpPr>
            <a:spLocks noGrp="1"/>
          </p:cNvSpPr>
          <p:nvPr>
            <p:ph type="title"/>
          </p:nvPr>
        </p:nvSpPr>
        <p:spPr/>
        <p:txBody>
          <a:bodyPr>
            <a:normAutofit fontScale="90000"/>
          </a:bodyPr>
          <a:lstStyle/>
          <a:p>
            <a:r>
              <a:rPr lang="en-GB" dirty="0"/>
              <a:t>Bonus: What changes when we compare groups?</a:t>
            </a:r>
            <a:endParaRPr lang="en-US" dirty="0"/>
          </a:p>
        </p:txBody>
      </p:sp>
      <p:sp>
        <p:nvSpPr>
          <p:cNvPr id="3" name="Content Placeholder 2">
            <a:extLst>
              <a:ext uri="{FF2B5EF4-FFF2-40B4-BE49-F238E27FC236}">
                <a16:creationId xmlns:a16="http://schemas.microsoft.com/office/drawing/2014/main" id="{8EB2B797-31D3-0AC6-BDC2-11848F59C7D9}"/>
              </a:ext>
            </a:extLst>
          </p:cNvPr>
          <p:cNvSpPr>
            <a:spLocks noGrp="1"/>
          </p:cNvSpPr>
          <p:nvPr>
            <p:ph idx="1"/>
          </p:nvPr>
        </p:nvSpPr>
        <p:spPr/>
        <p:txBody>
          <a:bodyPr/>
          <a:lstStyle/>
          <a:p>
            <a:r>
              <a:rPr lang="en-GB" dirty="0"/>
              <a:t>Requires additional columns? </a:t>
            </a:r>
          </a:p>
          <a:p>
            <a:r>
              <a:rPr lang="en-GB" dirty="0"/>
              <a:t>Do overall averages hides meaningful differences?</a:t>
            </a:r>
            <a:endParaRPr lang="en-US" dirty="0"/>
          </a:p>
        </p:txBody>
      </p:sp>
    </p:spTree>
    <p:extLst>
      <p:ext uri="{BB962C8B-B14F-4D97-AF65-F5344CB8AC3E}">
        <p14:creationId xmlns:p14="http://schemas.microsoft.com/office/powerpoint/2010/main" val="1502338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ACC4D-FBE7-AEDB-4204-1092C7033EF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40C4D9-EA77-769C-661F-B2EA26318BB0}"/>
              </a:ext>
            </a:extLst>
          </p:cNvPr>
          <p:cNvSpPr>
            <a:spLocks noGrp="1"/>
          </p:cNvSpPr>
          <p:nvPr>
            <p:ph type="sldNum" sz="quarter" idx="11"/>
          </p:nvPr>
        </p:nvSpPr>
        <p:spPr/>
        <p:txBody>
          <a:bodyPr/>
          <a:lstStyle/>
          <a:p>
            <a:fld id="{45C00377-489B-40EC-B059-26BDDD2E89B9}" type="slidenum">
              <a:rPr lang="en-US" smtClean="0"/>
              <a:pPr/>
              <a:t>18</a:t>
            </a:fld>
            <a:endParaRPr lang="en-US"/>
          </a:p>
        </p:txBody>
      </p:sp>
      <p:sp>
        <p:nvSpPr>
          <p:cNvPr id="3" name="Title 1">
            <a:extLst>
              <a:ext uri="{FF2B5EF4-FFF2-40B4-BE49-F238E27FC236}">
                <a16:creationId xmlns:a16="http://schemas.microsoft.com/office/drawing/2014/main" id="{95AE3617-6C6B-5AEB-6A1D-211D261DB179}"/>
              </a:ext>
            </a:extLst>
          </p:cNvPr>
          <p:cNvSpPr txBox="1">
            <a:spLocks/>
          </p:cNvSpPr>
          <p:nvPr/>
        </p:nvSpPr>
        <p:spPr>
          <a:xfrm>
            <a:off x="838200" y="3110401"/>
            <a:ext cx="10515600" cy="637198"/>
          </a:xfrm>
          <a:prstGeom prst="rect">
            <a:avLst/>
          </a:prstGeom>
        </p:spPr>
        <p:txBody>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pPr algn="ctr"/>
            <a:r>
              <a:rPr lang="en-US" b="0" dirty="0"/>
              <a:t>Proportions and relationships</a:t>
            </a:r>
          </a:p>
        </p:txBody>
      </p:sp>
    </p:spTree>
    <p:extLst>
      <p:ext uri="{BB962C8B-B14F-4D97-AF65-F5344CB8AC3E}">
        <p14:creationId xmlns:p14="http://schemas.microsoft.com/office/powerpoint/2010/main" val="3235942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A5944-4C96-A4F8-8DAD-11FD4FE62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30931-1412-EB95-F684-18FC16DC403A}"/>
              </a:ext>
            </a:extLst>
          </p:cNvPr>
          <p:cNvSpPr>
            <a:spLocks noGrp="1"/>
          </p:cNvSpPr>
          <p:nvPr>
            <p:ph type="title"/>
          </p:nvPr>
        </p:nvSpPr>
        <p:spPr/>
        <p:txBody>
          <a:bodyPr/>
          <a:lstStyle/>
          <a:p>
            <a:r>
              <a:rPr lang="en-US" dirty="0"/>
              <a:t>Proportions in sports</a:t>
            </a:r>
          </a:p>
        </p:txBody>
      </p:sp>
      <p:sp>
        <p:nvSpPr>
          <p:cNvPr id="3" name="Content Placeholder 2">
            <a:extLst>
              <a:ext uri="{FF2B5EF4-FFF2-40B4-BE49-F238E27FC236}">
                <a16:creationId xmlns:a16="http://schemas.microsoft.com/office/drawing/2014/main" id="{92D170BA-A679-E3B3-2CDB-6C8ECBF18F6B}"/>
              </a:ext>
            </a:extLst>
          </p:cNvPr>
          <p:cNvSpPr>
            <a:spLocks noGrp="1"/>
          </p:cNvSpPr>
          <p:nvPr>
            <p:ph idx="1"/>
          </p:nvPr>
        </p:nvSpPr>
        <p:spPr/>
        <p:txBody>
          <a:bodyPr/>
          <a:lstStyle/>
          <a:p>
            <a:pPr marL="0" indent="0">
              <a:buNone/>
            </a:pPr>
            <a:r>
              <a:rPr lang="en-GB" b="1" dirty="0"/>
              <a:t>Question:</a:t>
            </a:r>
            <a:endParaRPr lang="en-GB" dirty="0"/>
          </a:p>
          <a:p>
            <a:r>
              <a:rPr lang="en-GB" dirty="0"/>
              <a:t>What proportion of recorded sessions were games, practices, or strength sessions?</a:t>
            </a:r>
          </a:p>
          <a:p>
            <a:r>
              <a:rPr lang="en-GB" dirty="0"/>
              <a:t>What proportion of successful shots were off short pass sequences (&lt; 3 passes)?</a:t>
            </a:r>
          </a:p>
          <a:p>
            <a:r>
              <a:rPr lang="en-US" dirty="0"/>
              <a:t>what proportion of the team improved in their agility test?</a:t>
            </a:r>
          </a:p>
        </p:txBody>
      </p:sp>
    </p:spTree>
    <p:extLst>
      <p:ext uri="{BB962C8B-B14F-4D97-AF65-F5344CB8AC3E}">
        <p14:creationId xmlns:p14="http://schemas.microsoft.com/office/powerpoint/2010/main" val="3476495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377C8-346C-83D1-109E-FC1C46AFE143}"/>
              </a:ext>
            </a:extLst>
          </p:cNvPr>
          <p:cNvSpPr>
            <a:spLocks noGrp="1"/>
          </p:cNvSpPr>
          <p:nvPr>
            <p:ph type="title"/>
          </p:nvPr>
        </p:nvSpPr>
        <p:spPr/>
        <p:txBody>
          <a:bodyPr/>
          <a:lstStyle/>
          <a:p>
            <a:r>
              <a:rPr lang="en-US" dirty="0"/>
              <a:t>Proportions in sports</a:t>
            </a:r>
          </a:p>
        </p:txBody>
      </p:sp>
      <p:sp>
        <p:nvSpPr>
          <p:cNvPr id="3" name="Content Placeholder 2">
            <a:extLst>
              <a:ext uri="{FF2B5EF4-FFF2-40B4-BE49-F238E27FC236}">
                <a16:creationId xmlns:a16="http://schemas.microsoft.com/office/drawing/2014/main" id="{DF81D059-F5DD-2F8D-B24F-112783CB3AFF}"/>
              </a:ext>
            </a:extLst>
          </p:cNvPr>
          <p:cNvSpPr>
            <a:spLocks noGrp="1"/>
          </p:cNvSpPr>
          <p:nvPr>
            <p:ph idx="1"/>
          </p:nvPr>
        </p:nvSpPr>
        <p:spPr/>
        <p:txBody>
          <a:bodyPr/>
          <a:lstStyle/>
          <a:p>
            <a:pPr lvl="0"/>
            <a:r>
              <a:rPr lang="en-GB" dirty="0"/>
              <a:t>A proportion describes a </a:t>
            </a:r>
            <a:r>
              <a:rPr lang="en-GB" b="1" dirty="0"/>
              <a:t>part of a defined whole</a:t>
            </a:r>
            <a:r>
              <a:rPr lang="en-GB" dirty="0"/>
              <a:t>.</a:t>
            </a:r>
          </a:p>
          <a:p>
            <a:pPr lvl="0"/>
            <a:r>
              <a:rPr lang="en-GB" dirty="0"/>
              <a:t>Proportion = number in a category ÷ total number</a:t>
            </a:r>
          </a:p>
        </p:txBody>
      </p:sp>
      <p:pic>
        <p:nvPicPr>
          <p:cNvPr id="4" name="Picture 3">
            <a:extLst>
              <a:ext uri="{FF2B5EF4-FFF2-40B4-BE49-F238E27FC236}">
                <a16:creationId xmlns:a16="http://schemas.microsoft.com/office/drawing/2014/main" id="{202C48FC-44BE-0CA6-C8A5-3F2E2B17B3A9}"/>
              </a:ext>
            </a:extLst>
          </p:cNvPr>
          <p:cNvPicPr>
            <a:picLocks noChangeAspect="1"/>
          </p:cNvPicPr>
          <p:nvPr/>
        </p:nvPicPr>
        <p:blipFill>
          <a:blip r:embed="rId2"/>
          <a:stretch>
            <a:fillRect/>
          </a:stretch>
        </p:blipFill>
        <p:spPr>
          <a:xfrm>
            <a:off x="7118350" y="2462981"/>
            <a:ext cx="4384810" cy="4220086"/>
          </a:xfrm>
          <a:prstGeom prst="rect">
            <a:avLst/>
          </a:prstGeom>
        </p:spPr>
      </p:pic>
      <p:sp>
        <p:nvSpPr>
          <p:cNvPr id="8" name="Content Placeholder 2">
            <a:extLst>
              <a:ext uri="{FF2B5EF4-FFF2-40B4-BE49-F238E27FC236}">
                <a16:creationId xmlns:a16="http://schemas.microsoft.com/office/drawing/2014/main" id="{1D486B41-43E5-C94D-0E0D-7BE0211062F9}"/>
              </a:ext>
            </a:extLst>
          </p:cNvPr>
          <p:cNvSpPr txBox="1">
            <a:spLocks/>
          </p:cNvSpPr>
          <p:nvPr/>
        </p:nvSpPr>
        <p:spPr>
          <a:xfrm>
            <a:off x="838200" y="2462981"/>
            <a:ext cx="6130790" cy="38663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Before calculating: </a:t>
            </a:r>
          </a:p>
          <a:p>
            <a:pPr lvl="1"/>
            <a:r>
              <a:rPr lang="en-GB" b="1" dirty="0"/>
              <a:t>What does one row represent? </a:t>
            </a:r>
          </a:p>
          <a:p>
            <a:pPr lvl="1"/>
            <a:r>
              <a:rPr lang="en-GB" b="1" dirty="0"/>
              <a:t>What counts as the whole?</a:t>
            </a:r>
          </a:p>
          <a:p>
            <a:endParaRPr lang="en-US" dirty="0"/>
          </a:p>
        </p:txBody>
      </p:sp>
      <p:sp>
        <p:nvSpPr>
          <p:cNvPr id="10" name="TextBox 9">
            <a:extLst>
              <a:ext uri="{FF2B5EF4-FFF2-40B4-BE49-F238E27FC236}">
                <a16:creationId xmlns:a16="http://schemas.microsoft.com/office/drawing/2014/main" id="{9ED2DDF4-A338-CD4C-AD3E-3099E9E002B2}"/>
              </a:ext>
            </a:extLst>
          </p:cNvPr>
          <p:cNvSpPr txBox="1"/>
          <p:nvPr/>
        </p:nvSpPr>
        <p:spPr>
          <a:xfrm>
            <a:off x="688840" y="4452670"/>
            <a:ext cx="6098458" cy="1200329"/>
          </a:xfrm>
          <a:prstGeom prst="rect">
            <a:avLst/>
          </a:prstGeom>
          <a:noFill/>
        </p:spPr>
        <p:txBody>
          <a:bodyPr wrap="square">
            <a:spAutoFit/>
          </a:bodyPr>
          <a:lstStyle/>
          <a:p>
            <a:pPr lvl="1"/>
            <a:r>
              <a:rPr lang="en-GB" sz="1800" dirty="0">
                <a:solidFill>
                  <a:srgbClr val="FF0000"/>
                </a:solidFill>
              </a:rPr>
              <a:t>If we wanted to know the proportion of sessions were games, practices, or strength sessions and our data have one row per athlete per session, would counting rows tell us the number of sessions?</a:t>
            </a:r>
          </a:p>
        </p:txBody>
      </p:sp>
    </p:spTree>
    <p:extLst>
      <p:ext uri="{BB962C8B-B14F-4D97-AF65-F5344CB8AC3E}">
        <p14:creationId xmlns:p14="http://schemas.microsoft.com/office/powerpoint/2010/main" val="1523548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EFE07-1833-293C-15EC-FB47DF5FF529}"/>
              </a:ext>
            </a:extLst>
          </p:cNvPr>
          <p:cNvSpPr>
            <a:spLocks noGrp="1"/>
          </p:cNvSpPr>
          <p:nvPr>
            <p:ph type="title"/>
          </p:nvPr>
        </p:nvSpPr>
        <p:spPr/>
        <p:txBody>
          <a:bodyPr/>
          <a:lstStyle/>
          <a:p>
            <a:r>
              <a:rPr lang="en-US" dirty="0"/>
              <a:t>Calculating proportions</a:t>
            </a:r>
          </a:p>
        </p:txBody>
      </p:sp>
      <p:sp>
        <p:nvSpPr>
          <p:cNvPr id="3" name="Content Placeholder 2">
            <a:extLst>
              <a:ext uri="{FF2B5EF4-FFF2-40B4-BE49-F238E27FC236}">
                <a16:creationId xmlns:a16="http://schemas.microsoft.com/office/drawing/2014/main" id="{55ACB6E7-4F7D-D48A-4D72-B05040ADF1C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BC9E972-66CF-B626-22E5-8E96F9DC1385}"/>
              </a:ext>
            </a:extLst>
          </p:cNvPr>
          <p:cNvPicPr>
            <a:picLocks noChangeAspect="1"/>
          </p:cNvPicPr>
          <p:nvPr/>
        </p:nvPicPr>
        <p:blipFill>
          <a:blip r:embed="rId2"/>
          <a:stretch>
            <a:fillRect/>
          </a:stretch>
        </p:blipFill>
        <p:spPr>
          <a:xfrm>
            <a:off x="1130504" y="1699407"/>
            <a:ext cx="4384810" cy="4220086"/>
          </a:xfrm>
          <a:prstGeom prst="rect">
            <a:avLst/>
          </a:prstGeom>
        </p:spPr>
      </p:pic>
      <p:pic>
        <p:nvPicPr>
          <p:cNvPr id="5" name="Picture 4">
            <a:extLst>
              <a:ext uri="{FF2B5EF4-FFF2-40B4-BE49-F238E27FC236}">
                <a16:creationId xmlns:a16="http://schemas.microsoft.com/office/drawing/2014/main" id="{ED7A769C-BFFF-BEF7-24C7-61B7CBDF87AC}"/>
              </a:ext>
            </a:extLst>
          </p:cNvPr>
          <p:cNvPicPr>
            <a:picLocks noChangeAspect="1"/>
          </p:cNvPicPr>
          <p:nvPr/>
        </p:nvPicPr>
        <p:blipFill>
          <a:blip r:embed="rId3"/>
          <a:stretch>
            <a:fillRect/>
          </a:stretch>
        </p:blipFill>
        <p:spPr>
          <a:xfrm>
            <a:off x="6676688" y="2966474"/>
            <a:ext cx="4432300" cy="1397000"/>
          </a:xfrm>
          <a:prstGeom prst="rect">
            <a:avLst/>
          </a:prstGeom>
        </p:spPr>
      </p:pic>
      <p:sp>
        <p:nvSpPr>
          <p:cNvPr id="6" name="Rectangle 5">
            <a:extLst>
              <a:ext uri="{FF2B5EF4-FFF2-40B4-BE49-F238E27FC236}">
                <a16:creationId xmlns:a16="http://schemas.microsoft.com/office/drawing/2014/main" id="{AFA89D50-D555-7D97-B73C-ADB2F1769349}"/>
              </a:ext>
            </a:extLst>
          </p:cNvPr>
          <p:cNvSpPr/>
          <p:nvPr/>
        </p:nvSpPr>
        <p:spPr>
          <a:xfrm>
            <a:off x="2448233" y="1699407"/>
            <a:ext cx="1061884" cy="42200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679BFC0-F4C8-DB92-36B5-1B33BE71152D}"/>
              </a:ext>
            </a:extLst>
          </p:cNvPr>
          <p:cNvSpPr/>
          <p:nvPr/>
        </p:nvSpPr>
        <p:spPr>
          <a:xfrm>
            <a:off x="4671491" y="1692031"/>
            <a:ext cx="864072" cy="42200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0348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AF624-A8E3-5DB4-F033-A18322207649}"/>
              </a:ext>
            </a:extLst>
          </p:cNvPr>
          <p:cNvSpPr>
            <a:spLocks noGrp="1"/>
          </p:cNvSpPr>
          <p:nvPr>
            <p:ph type="title"/>
          </p:nvPr>
        </p:nvSpPr>
        <p:spPr/>
        <p:txBody>
          <a:bodyPr/>
          <a:lstStyle/>
          <a:p>
            <a:r>
              <a:rPr lang="en-GB" dirty="0"/>
              <a:t>Choosing a chart for proportions</a:t>
            </a:r>
            <a:endParaRPr lang="en-US" dirty="0"/>
          </a:p>
        </p:txBody>
      </p:sp>
      <p:sp>
        <p:nvSpPr>
          <p:cNvPr id="3" name="Content Placeholder 2">
            <a:extLst>
              <a:ext uri="{FF2B5EF4-FFF2-40B4-BE49-F238E27FC236}">
                <a16:creationId xmlns:a16="http://schemas.microsoft.com/office/drawing/2014/main" id="{4674E5D6-3571-F5FC-52AD-EEFD47E85BDE}"/>
              </a:ext>
            </a:extLst>
          </p:cNvPr>
          <p:cNvSpPr>
            <a:spLocks noGrp="1"/>
          </p:cNvSpPr>
          <p:nvPr>
            <p:ph idx="1"/>
          </p:nvPr>
        </p:nvSpPr>
        <p:spPr>
          <a:xfrm>
            <a:off x="699319" y="1515680"/>
            <a:ext cx="10515600" cy="4735025"/>
          </a:xfrm>
        </p:spPr>
        <p:txBody>
          <a:bodyPr/>
          <a:lstStyle/>
          <a:p>
            <a:pPr marL="0" indent="0">
              <a:buNone/>
            </a:pPr>
            <a:r>
              <a:rPr lang="en-GB" b="1" dirty="0"/>
              <a:t>Question:</a:t>
            </a:r>
            <a:r>
              <a:rPr lang="en-GB" dirty="0"/>
              <a:t> Which session type was most common?</a:t>
            </a:r>
          </a:p>
          <a:p>
            <a:pPr lvl="0"/>
            <a:r>
              <a:rPr lang="en-GB" dirty="0"/>
              <a:t>Use a </a:t>
            </a:r>
            <a:r>
              <a:rPr lang="en-GB" b="1" dirty="0"/>
              <a:t>bar chart</a:t>
            </a:r>
            <a:r>
              <a:rPr lang="en-GB" dirty="0"/>
              <a:t> to compare categories.</a:t>
            </a:r>
          </a:p>
          <a:p>
            <a:pPr lvl="1"/>
            <a:r>
              <a:rPr lang="en-GB" dirty="0"/>
              <a:t>categories on one axis and counts or percentages on the other.</a:t>
            </a:r>
          </a:p>
          <a:p>
            <a:pPr lvl="1"/>
            <a:r>
              <a:rPr lang="en-GB" dirty="0"/>
              <a:t>Label whether the bars show </a:t>
            </a:r>
            <a:r>
              <a:rPr lang="en-GB" b="1" dirty="0"/>
              <a:t>counts or percentages</a:t>
            </a:r>
            <a:r>
              <a:rPr lang="en-GB" dirty="0"/>
              <a:t>.</a:t>
            </a:r>
          </a:p>
          <a:p>
            <a:endParaRPr lang="en-US" dirty="0"/>
          </a:p>
        </p:txBody>
      </p:sp>
      <p:pic>
        <p:nvPicPr>
          <p:cNvPr id="4" name="Picture 3">
            <a:extLst>
              <a:ext uri="{FF2B5EF4-FFF2-40B4-BE49-F238E27FC236}">
                <a16:creationId xmlns:a16="http://schemas.microsoft.com/office/drawing/2014/main" id="{EAD3C5B1-4F8A-3DD1-FB83-8260119FE5A9}"/>
              </a:ext>
            </a:extLst>
          </p:cNvPr>
          <p:cNvPicPr>
            <a:picLocks noChangeAspect="1"/>
          </p:cNvPicPr>
          <p:nvPr/>
        </p:nvPicPr>
        <p:blipFill>
          <a:blip r:embed="rId2"/>
          <a:stretch>
            <a:fillRect/>
          </a:stretch>
        </p:blipFill>
        <p:spPr>
          <a:xfrm>
            <a:off x="3832123" y="3438396"/>
            <a:ext cx="4249993" cy="3054477"/>
          </a:xfrm>
          <a:prstGeom prst="rect">
            <a:avLst/>
          </a:prstGeom>
        </p:spPr>
      </p:pic>
    </p:spTree>
    <p:extLst>
      <p:ext uri="{BB962C8B-B14F-4D97-AF65-F5344CB8AC3E}">
        <p14:creationId xmlns:p14="http://schemas.microsoft.com/office/powerpoint/2010/main" val="4135251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4501D-3FD4-E380-6CDB-88D103C54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507DD-94B9-8AD4-C201-97F09912E1B9}"/>
              </a:ext>
            </a:extLst>
          </p:cNvPr>
          <p:cNvSpPr>
            <a:spLocks noGrp="1"/>
          </p:cNvSpPr>
          <p:nvPr>
            <p:ph type="title"/>
          </p:nvPr>
        </p:nvSpPr>
        <p:spPr/>
        <p:txBody>
          <a:bodyPr/>
          <a:lstStyle/>
          <a:p>
            <a:r>
              <a:rPr lang="en-GB" dirty="0"/>
              <a:t>Choosing a chart for proportions</a:t>
            </a:r>
            <a:endParaRPr lang="en-US" dirty="0"/>
          </a:p>
        </p:txBody>
      </p:sp>
      <p:sp>
        <p:nvSpPr>
          <p:cNvPr id="3" name="Content Placeholder 2">
            <a:extLst>
              <a:ext uri="{FF2B5EF4-FFF2-40B4-BE49-F238E27FC236}">
                <a16:creationId xmlns:a16="http://schemas.microsoft.com/office/drawing/2014/main" id="{E2165185-98BD-0273-478A-B45F1D5ED7D2}"/>
              </a:ext>
            </a:extLst>
          </p:cNvPr>
          <p:cNvSpPr>
            <a:spLocks noGrp="1"/>
          </p:cNvSpPr>
          <p:nvPr>
            <p:ph idx="1"/>
          </p:nvPr>
        </p:nvSpPr>
        <p:spPr>
          <a:xfrm>
            <a:off x="838200" y="1515680"/>
            <a:ext cx="10515600" cy="4735025"/>
          </a:xfrm>
        </p:spPr>
        <p:txBody>
          <a:bodyPr>
            <a:normAutofit/>
          </a:bodyPr>
          <a:lstStyle/>
          <a:p>
            <a:pPr marL="0" indent="0">
              <a:buNone/>
            </a:pPr>
            <a:r>
              <a:rPr lang="en-GB" b="1" dirty="0"/>
              <a:t>Question:</a:t>
            </a:r>
            <a:r>
              <a:rPr lang="en-GB" dirty="0"/>
              <a:t> How is the load within each session type divided between high intensity and other load?</a:t>
            </a:r>
          </a:p>
          <a:p>
            <a:endParaRPr lang="en-US" dirty="0"/>
          </a:p>
        </p:txBody>
      </p:sp>
      <p:sp>
        <p:nvSpPr>
          <p:cNvPr id="6" name="TextBox 5">
            <a:extLst>
              <a:ext uri="{FF2B5EF4-FFF2-40B4-BE49-F238E27FC236}">
                <a16:creationId xmlns:a16="http://schemas.microsoft.com/office/drawing/2014/main" id="{2100BEE3-5D07-3F3B-6788-485D5349CBA7}"/>
              </a:ext>
            </a:extLst>
          </p:cNvPr>
          <p:cNvSpPr txBox="1"/>
          <p:nvPr/>
        </p:nvSpPr>
        <p:spPr>
          <a:xfrm>
            <a:off x="3046771" y="5780683"/>
            <a:ext cx="6098458" cy="707886"/>
          </a:xfrm>
          <a:prstGeom prst="rect">
            <a:avLst/>
          </a:prstGeom>
          <a:noFill/>
        </p:spPr>
        <p:txBody>
          <a:bodyPr wrap="square">
            <a:spAutoFit/>
          </a:bodyPr>
          <a:lstStyle/>
          <a:p>
            <a:r>
              <a:rPr lang="en-GB" sz="2000" dirty="0">
                <a:solidFill>
                  <a:srgbClr val="FF0000"/>
                </a:solidFill>
              </a:rPr>
              <a:t>Which chart makes total load easier to compare? Which makes high intensity share easier to compare?</a:t>
            </a:r>
          </a:p>
        </p:txBody>
      </p:sp>
      <p:pic>
        <p:nvPicPr>
          <p:cNvPr id="4" name="Picture 3">
            <a:extLst>
              <a:ext uri="{FF2B5EF4-FFF2-40B4-BE49-F238E27FC236}">
                <a16:creationId xmlns:a16="http://schemas.microsoft.com/office/drawing/2014/main" id="{C34A3F6A-20A1-400F-459A-5BCB626C01D9}"/>
              </a:ext>
            </a:extLst>
          </p:cNvPr>
          <p:cNvPicPr>
            <a:picLocks noChangeAspect="1"/>
          </p:cNvPicPr>
          <p:nvPr/>
        </p:nvPicPr>
        <p:blipFill>
          <a:blip r:embed="rId2"/>
          <a:stretch>
            <a:fillRect/>
          </a:stretch>
        </p:blipFill>
        <p:spPr>
          <a:xfrm>
            <a:off x="4992944" y="2552789"/>
            <a:ext cx="3632200" cy="2952750"/>
          </a:xfrm>
          <a:prstGeom prst="rect">
            <a:avLst/>
          </a:prstGeom>
        </p:spPr>
      </p:pic>
      <p:pic>
        <p:nvPicPr>
          <p:cNvPr id="5" name="Picture 4">
            <a:extLst>
              <a:ext uri="{FF2B5EF4-FFF2-40B4-BE49-F238E27FC236}">
                <a16:creationId xmlns:a16="http://schemas.microsoft.com/office/drawing/2014/main" id="{0F628DE3-5933-A0BE-27A0-53051103B3C1}"/>
              </a:ext>
            </a:extLst>
          </p:cNvPr>
          <p:cNvPicPr>
            <a:picLocks noChangeAspect="1"/>
          </p:cNvPicPr>
          <p:nvPr/>
        </p:nvPicPr>
        <p:blipFill>
          <a:blip r:embed="rId3"/>
          <a:stretch>
            <a:fillRect/>
          </a:stretch>
        </p:blipFill>
        <p:spPr>
          <a:xfrm>
            <a:off x="838200" y="2552789"/>
            <a:ext cx="3632201" cy="2952751"/>
          </a:xfrm>
          <a:prstGeom prst="rect">
            <a:avLst/>
          </a:prstGeom>
        </p:spPr>
      </p:pic>
      <p:sp>
        <p:nvSpPr>
          <p:cNvPr id="8" name="TextBox 7">
            <a:extLst>
              <a:ext uri="{FF2B5EF4-FFF2-40B4-BE49-F238E27FC236}">
                <a16:creationId xmlns:a16="http://schemas.microsoft.com/office/drawing/2014/main" id="{B619ED96-A72B-28C9-3DF4-1A943D2D3F67}"/>
              </a:ext>
            </a:extLst>
          </p:cNvPr>
          <p:cNvSpPr txBox="1"/>
          <p:nvPr/>
        </p:nvSpPr>
        <p:spPr>
          <a:xfrm>
            <a:off x="8886415" y="3196287"/>
            <a:ext cx="2989928" cy="1631216"/>
          </a:xfrm>
          <a:prstGeom prst="rect">
            <a:avLst/>
          </a:prstGeom>
          <a:noFill/>
        </p:spPr>
        <p:txBody>
          <a:bodyPr wrap="square">
            <a:spAutoFit/>
          </a:bodyPr>
          <a:lstStyle/>
          <a:p>
            <a:r>
              <a:rPr lang="en-GB" sz="2000" dirty="0"/>
              <a:t>*Each bar represents the average total load per session. Each section show high intensity and other load.</a:t>
            </a:r>
          </a:p>
        </p:txBody>
      </p:sp>
    </p:spTree>
    <p:extLst>
      <p:ext uri="{BB962C8B-B14F-4D97-AF65-F5344CB8AC3E}">
        <p14:creationId xmlns:p14="http://schemas.microsoft.com/office/powerpoint/2010/main" val="2701719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58578-29F6-6E77-9D50-AFD5EF51D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AEE0B-70C1-BAFC-395F-A870E203AA28}"/>
              </a:ext>
            </a:extLst>
          </p:cNvPr>
          <p:cNvSpPr>
            <a:spLocks noGrp="1"/>
          </p:cNvSpPr>
          <p:nvPr>
            <p:ph type="title"/>
          </p:nvPr>
        </p:nvSpPr>
        <p:spPr/>
        <p:txBody>
          <a:bodyPr/>
          <a:lstStyle/>
          <a:p>
            <a:r>
              <a:rPr lang="en-GB" dirty="0"/>
              <a:t>Choosing a chart for proportions</a:t>
            </a:r>
            <a:endParaRPr lang="en-US" dirty="0"/>
          </a:p>
        </p:txBody>
      </p:sp>
      <p:sp>
        <p:nvSpPr>
          <p:cNvPr id="3" name="Content Placeholder 2">
            <a:extLst>
              <a:ext uri="{FF2B5EF4-FFF2-40B4-BE49-F238E27FC236}">
                <a16:creationId xmlns:a16="http://schemas.microsoft.com/office/drawing/2014/main" id="{42BFC012-501F-B290-5884-F3EAAF0EFBBB}"/>
              </a:ext>
            </a:extLst>
          </p:cNvPr>
          <p:cNvSpPr>
            <a:spLocks noGrp="1"/>
          </p:cNvSpPr>
          <p:nvPr>
            <p:ph idx="1"/>
          </p:nvPr>
        </p:nvSpPr>
        <p:spPr>
          <a:xfrm>
            <a:off x="838200" y="1515680"/>
            <a:ext cx="10515600" cy="4735025"/>
          </a:xfrm>
        </p:spPr>
        <p:txBody>
          <a:bodyPr>
            <a:normAutofit/>
          </a:bodyPr>
          <a:lstStyle/>
          <a:p>
            <a:pPr marL="0" indent="0">
              <a:buNone/>
            </a:pPr>
            <a:r>
              <a:rPr lang="en-GB" dirty="0"/>
              <a:t>Question: How is the load within each session type divided between high intensity and other load?</a:t>
            </a:r>
          </a:p>
          <a:p>
            <a:pPr lvl="0"/>
            <a:r>
              <a:rPr lang="en-GB" b="1" dirty="0"/>
              <a:t>Stacked bar chart</a:t>
            </a:r>
            <a:r>
              <a:rPr lang="en-GB" dirty="0"/>
              <a:t> when the parts add up to a meaningful total.</a:t>
            </a:r>
          </a:p>
          <a:p>
            <a:pPr lvl="0"/>
            <a:r>
              <a:rPr lang="en-GB" b="1" dirty="0"/>
              <a:t>100% stacked bar chart </a:t>
            </a:r>
            <a:r>
              <a:rPr lang="en-GB" dirty="0"/>
              <a:t>if the question is about the </a:t>
            </a:r>
            <a:r>
              <a:rPr lang="en-GB" i="1" dirty="0"/>
              <a:t>proportion only</a:t>
            </a:r>
            <a:r>
              <a:rPr lang="en-GB" dirty="0"/>
              <a:t>.</a:t>
            </a:r>
          </a:p>
          <a:p>
            <a:endParaRPr lang="en-US" dirty="0"/>
          </a:p>
        </p:txBody>
      </p:sp>
      <p:pic>
        <p:nvPicPr>
          <p:cNvPr id="7" name="Picture 6">
            <a:extLst>
              <a:ext uri="{FF2B5EF4-FFF2-40B4-BE49-F238E27FC236}">
                <a16:creationId xmlns:a16="http://schemas.microsoft.com/office/drawing/2014/main" id="{BB872755-FD81-9E19-AA5F-5F35D7426DD4}"/>
              </a:ext>
            </a:extLst>
          </p:cNvPr>
          <p:cNvPicPr>
            <a:picLocks noChangeAspect="1"/>
          </p:cNvPicPr>
          <p:nvPr/>
        </p:nvPicPr>
        <p:blipFill>
          <a:blip r:embed="rId2"/>
          <a:stretch>
            <a:fillRect/>
          </a:stretch>
        </p:blipFill>
        <p:spPr>
          <a:xfrm>
            <a:off x="6846732" y="3883192"/>
            <a:ext cx="2825496" cy="2296951"/>
          </a:xfrm>
          <a:prstGeom prst="rect">
            <a:avLst/>
          </a:prstGeom>
        </p:spPr>
      </p:pic>
      <p:pic>
        <p:nvPicPr>
          <p:cNvPr id="8" name="Picture 7">
            <a:extLst>
              <a:ext uri="{FF2B5EF4-FFF2-40B4-BE49-F238E27FC236}">
                <a16:creationId xmlns:a16="http://schemas.microsoft.com/office/drawing/2014/main" id="{F4598D9F-F59B-DE7D-A0C2-87CCB82EF250}"/>
              </a:ext>
            </a:extLst>
          </p:cNvPr>
          <p:cNvPicPr>
            <a:picLocks noChangeAspect="1"/>
          </p:cNvPicPr>
          <p:nvPr/>
        </p:nvPicPr>
        <p:blipFill>
          <a:blip r:embed="rId3"/>
          <a:stretch>
            <a:fillRect/>
          </a:stretch>
        </p:blipFill>
        <p:spPr>
          <a:xfrm>
            <a:off x="2519772" y="3956212"/>
            <a:ext cx="2822473" cy="2294493"/>
          </a:xfrm>
          <a:prstGeom prst="rect">
            <a:avLst/>
          </a:prstGeom>
        </p:spPr>
      </p:pic>
    </p:spTree>
    <p:extLst>
      <p:ext uri="{BB962C8B-B14F-4D97-AF65-F5344CB8AC3E}">
        <p14:creationId xmlns:p14="http://schemas.microsoft.com/office/powerpoint/2010/main" val="1290242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35DF4-BBDB-20FC-C593-4B36CFF24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EAA35-DC78-3067-412A-C5EFEAFBEFF5}"/>
              </a:ext>
            </a:extLst>
          </p:cNvPr>
          <p:cNvSpPr>
            <a:spLocks noGrp="1"/>
          </p:cNvSpPr>
          <p:nvPr>
            <p:ph type="title"/>
          </p:nvPr>
        </p:nvSpPr>
        <p:spPr/>
        <p:txBody>
          <a:bodyPr/>
          <a:lstStyle/>
          <a:p>
            <a:r>
              <a:rPr lang="en-GB" dirty="0"/>
              <a:t>Data for relationships</a:t>
            </a:r>
            <a:endParaRPr lang="en-US" dirty="0"/>
          </a:p>
        </p:txBody>
      </p:sp>
      <p:sp>
        <p:nvSpPr>
          <p:cNvPr id="3" name="Content Placeholder 2">
            <a:extLst>
              <a:ext uri="{FF2B5EF4-FFF2-40B4-BE49-F238E27FC236}">
                <a16:creationId xmlns:a16="http://schemas.microsoft.com/office/drawing/2014/main" id="{737CEFDA-550F-D766-B521-807DA814CA13}"/>
              </a:ext>
            </a:extLst>
          </p:cNvPr>
          <p:cNvSpPr>
            <a:spLocks noGrp="1"/>
          </p:cNvSpPr>
          <p:nvPr>
            <p:ph idx="1"/>
          </p:nvPr>
        </p:nvSpPr>
        <p:spPr/>
        <p:txBody>
          <a:bodyPr/>
          <a:lstStyle/>
          <a:p>
            <a:pPr lvl="0"/>
            <a:r>
              <a:rPr lang="en-GB" dirty="0"/>
              <a:t>We need two </a:t>
            </a:r>
            <a:r>
              <a:rPr lang="en-GB" b="1" dirty="0"/>
              <a:t>numeric variables </a:t>
            </a:r>
            <a:r>
              <a:rPr lang="en-GB" dirty="0"/>
              <a:t>measured on the </a:t>
            </a:r>
            <a:r>
              <a:rPr lang="en-GB" b="1" dirty="0"/>
              <a:t>same observation</a:t>
            </a:r>
            <a:r>
              <a:rPr lang="en-GB" dirty="0"/>
              <a:t>.</a:t>
            </a:r>
          </a:p>
          <a:p>
            <a:pPr lvl="0"/>
            <a:endParaRPr lang="en-GB" dirty="0"/>
          </a:p>
          <a:p>
            <a:endParaRPr lang="en-US" dirty="0"/>
          </a:p>
        </p:txBody>
      </p:sp>
      <p:pic>
        <p:nvPicPr>
          <p:cNvPr id="4" name="Picture 3">
            <a:extLst>
              <a:ext uri="{FF2B5EF4-FFF2-40B4-BE49-F238E27FC236}">
                <a16:creationId xmlns:a16="http://schemas.microsoft.com/office/drawing/2014/main" id="{A947C2BC-7A45-57C4-26E9-3C54C70D84EC}"/>
              </a:ext>
            </a:extLst>
          </p:cNvPr>
          <p:cNvPicPr>
            <a:picLocks noChangeAspect="1"/>
          </p:cNvPicPr>
          <p:nvPr/>
        </p:nvPicPr>
        <p:blipFill>
          <a:blip r:embed="rId2"/>
          <a:stretch>
            <a:fillRect/>
          </a:stretch>
        </p:blipFill>
        <p:spPr>
          <a:xfrm>
            <a:off x="3903595" y="2407330"/>
            <a:ext cx="4384810" cy="4220086"/>
          </a:xfrm>
          <a:prstGeom prst="rect">
            <a:avLst/>
          </a:prstGeom>
        </p:spPr>
      </p:pic>
      <p:sp>
        <p:nvSpPr>
          <p:cNvPr id="5" name="Rectangle 4">
            <a:extLst>
              <a:ext uri="{FF2B5EF4-FFF2-40B4-BE49-F238E27FC236}">
                <a16:creationId xmlns:a16="http://schemas.microsoft.com/office/drawing/2014/main" id="{8513DA79-68C6-3521-E1FA-BC617EE92FD4}"/>
              </a:ext>
            </a:extLst>
          </p:cNvPr>
          <p:cNvSpPr/>
          <p:nvPr/>
        </p:nvSpPr>
        <p:spPr>
          <a:xfrm>
            <a:off x="6371697" y="2407330"/>
            <a:ext cx="1052635" cy="42200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83B9BC9-DE80-A281-619A-09AE39BF5FE6}"/>
              </a:ext>
            </a:extLst>
          </p:cNvPr>
          <p:cNvSpPr/>
          <p:nvPr/>
        </p:nvSpPr>
        <p:spPr>
          <a:xfrm>
            <a:off x="7444582" y="2399954"/>
            <a:ext cx="864072" cy="42200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E668445-FB53-B31F-6A72-272FEF12C2F7}"/>
              </a:ext>
            </a:extLst>
          </p:cNvPr>
          <p:cNvSpPr/>
          <p:nvPr/>
        </p:nvSpPr>
        <p:spPr>
          <a:xfrm>
            <a:off x="3903595" y="2610466"/>
            <a:ext cx="4405059" cy="23597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7122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C4BF6-990C-B175-3D7A-503D9BB24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B0049-70A2-BDAB-D879-BBBF7F0A7A2C}"/>
              </a:ext>
            </a:extLst>
          </p:cNvPr>
          <p:cNvSpPr>
            <a:spLocks noGrp="1"/>
          </p:cNvSpPr>
          <p:nvPr>
            <p:ph type="title"/>
          </p:nvPr>
        </p:nvSpPr>
        <p:spPr/>
        <p:txBody>
          <a:bodyPr/>
          <a:lstStyle/>
          <a:p>
            <a:r>
              <a:rPr lang="en-GB" dirty="0"/>
              <a:t>Visualizing relationships</a:t>
            </a:r>
            <a:endParaRPr lang="en-US" dirty="0"/>
          </a:p>
        </p:txBody>
      </p:sp>
      <p:sp>
        <p:nvSpPr>
          <p:cNvPr id="3" name="Content Placeholder 2">
            <a:extLst>
              <a:ext uri="{FF2B5EF4-FFF2-40B4-BE49-F238E27FC236}">
                <a16:creationId xmlns:a16="http://schemas.microsoft.com/office/drawing/2014/main" id="{228B8A3D-07EA-9285-CEAC-8AAA6CAF86D6}"/>
              </a:ext>
            </a:extLst>
          </p:cNvPr>
          <p:cNvSpPr>
            <a:spLocks noGrp="1"/>
          </p:cNvSpPr>
          <p:nvPr>
            <p:ph idx="1"/>
          </p:nvPr>
        </p:nvSpPr>
        <p:spPr>
          <a:xfrm>
            <a:off x="838200" y="1441938"/>
            <a:ext cx="5474929" cy="4735025"/>
          </a:xfrm>
        </p:spPr>
        <p:txBody>
          <a:bodyPr/>
          <a:lstStyle/>
          <a:p>
            <a:pPr marL="0" lvl="0" indent="0">
              <a:buNone/>
            </a:pPr>
            <a:r>
              <a:rPr lang="en-GB" dirty="0"/>
              <a:t>Scatterplots: </a:t>
            </a:r>
          </a:p>
          <a:p>
            <a:r>
              <a:rPr lang="en-GB" dirty="0"/>
              <a:t>Explanatory variable on the x-axis and the outcome on the y-axis.</a:t>
            </a:r>
          </a:p>
          <a:p>
            <a:pPr lvl="1"/>
            <a:r>
              <a:rPr lang="en-GB" dirty="0"/>
              <a:t>x-axis  = duration </a:t>
            </a:r>
          </a:p>
          <a:p>
            <a:pPr lvl="1"/>
            <a:r>
              <a:rPr lang="en-GB" dirty="0"/>
              <a:t>y-axis = total load </a:t>
            </a:r>
          </a:p>
          <a:p>
            <a:r>
              <a:rPr lang="en-GB" dirty="0"/>
              <a:t>Each point represents one session (or one athlete-session, depending on your data).</a:t>
            </a:r>
          </a:p>
          <a:p>
            <a:endParaRPr lang="en-US" dirty="0"/>
          </a:p>
        </p:txBody>
      </p:sp>
      <p:pic>
        <p:nvPicPr>
          <p:cNvPr id="4" name="Picture 3">
            <a:extLst>
              <a:ext uri="{FF2B5EF4-FFF2-40B4-BE49-F238E27FC236}">
                <a16:creationId xmlns:a16="http://schemas.microsoft.com/office/drawing/2014/main" id="{E43F12F6-C3D1-22D7-8527-964C3363E119}"/>
              </a:ext>
            </a:extLst>
          </p:cNvPr>
          <p:cNvPicPr>
            <a:picLocks noChangeAspect="1"/>
          </p:cNvPicPr>
          <p:nvPr/>
        </p:nvPicPr>
        <p:blipFill>
          <a:blip r:embed="rId2"/>
          <a:stretch>
            <a:fillRect/>
          </a:stretch>
        </p:blipFill>
        <p:spPr>
          <a:xfrm>
            <a:off x="6313129" y="1713477"/>
            <a:ext cx="5156544" cy="4191946"/>
          </a:xfrm>
          <a:prstGeom prst="rect">
            <a:avLst/>
          </a:prstGeom>
        </p:spPr>
      </p:pic>
    </p:spTree>
    <p:extLst>
      <p:ext uri="{BB962C8B-B14F-4D97-AF65-F5344CB8AC3E}">
        <p14:creationId xmlns:p14="http://schemas.microsoft.com/office/powerpoint/2010/main" val="4111472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71F21-26E3-5FE3-0A19-BF0E3A5EDBEB}"/>
              </a:ext>
            </a:extLst>
          </p:cNvPr>
          <p:cNvSpPr>
            <a:spLocks noGrp="1"/>
          </p:cNvSpPr>
          <p:nvPr>
            <p:ph type="title"/>
          </p:nvPr>
        </p:nvSpPr>
        <p:spPr/>
        <p:txBody>
          <a:bodyPr/>
          <a:lstStyle/>
          <a:p>
            <a:r>
              <a:rPr lang="en-GB" dirty="0"/>
              <a:t>Reading a scatterplot</a:t>
            </a:r>
            <a:endParaRPr lang="en-US" dirty="0"/>
          </a:p>
        </p:txBody>
      </p:sp>
      <p:sp>
        <p:nvSpPr>
          <p:cNvPr id="3" name="Content Placeholder 2">
            <a:extLst>
              <a:ext uri="{FF2B5EF4-FFF2-40B4-BE49-F238E27FC236}">
                <a16:creationId xmlns:a16="http://schemas.microsoft.com/office/drawing/2014/main" id="{5F4B548E-8CB3-7A19-84E6-3C31B961E1CD}"/>
              </a:ext>
            </a:extLst>
          </p:cNvPr>
          <p:cNvSpPr>
            <a:spLocks noGrp="1"/>
          </p:cNvSpPr>
          <p:nvPr>
            <p:ph idx="1"/>
          </p:nvPr>
        </p:nvSpPr>
        <p:spPr>
          <a:xfrm>
            <a:off x="5692876" y="1441938"/>
            <a:ext cx="5660923" cy="4735025"/>
          </a:xfrm>
        </p:spPr>
        <p:txBody>
          <a:bodyPr>
            <a:normAutofit fontScale="92500" lnSpcReduction="10000"/>
          </a:bodyPr>
          <a:lstStyle/>
          <a:p>
            <a:pPr marL="0" indent="0">
              <a:buNone/>
            </a:pPr>
            <a:r>
              <a:rPr lang="en-GB" dirty="0"/>
              <a:t>What pattern do you see?</a:t>
            </a:r>
          </a:p>
          <a:p>
            <a:pPr lvl="0"/>
            <a:r>
              <a:rPr lang="en-GB" b="1" dirty="0"/>
              <a:t>Direction:</a:t>
            </a:r>
            <a:r>
              <a:rPr lang="en-GB" dirty="0"/>
              <a:t> </a:t>
            </a:r>
          </a:p>
          <a:p>
            <a:pPr lvl="1"/>
            <a:r>
              <a:rPr lang="en-GB" dirty="0"/>
              <a:t>Do higher values of one variable tend to occur with higher or lower values of the other?</a:t>
            </a:r>
          </a:p>
          <a:p>
            <a:pPr lvl="0"/>
            <a:r>
              <a:rPr lang="en-GB" b="1" dirty="0"/>
              <a:t>Shape:</a:t>
            </a:r>
            <a:r>
              <a:rPr lang="en-GB" dirty="0"/>
              <a:t> </a:t>
            </a:r>
          </a:p>
          <a:p>
            <a:pPr lvl="1"/>
            <a:r>
              <a:rPr lang="en-GB" dirty="0"/>
              <a:t>Is the pattern roughly straight, curved, or unclear?</a:t>
            </a:r>
          </a:p>
          <a:p>
            <a:pPr lvl="0"/>
            <a:r>
              <a:rPr lang="en-GB" b="1" dirty="0"/>
              <a:t>Spread:</a:t>
            </a:r>
            <a:r>
              <a:rPr lang="en-GB" dirty="0"/>
              <a:t> </a:t>
            </a:r>
          </a:p>
          <a:p>
            <a:pPr lvl="1"/>
            <a:r>
              <a:rPr lang="en-GB" dirty="0"/>
              <a:t>How closely do the points follow the pattern?</a:t>
            </a:r>
          </a:p>
          <a:p>
            <a:pPr lvl="0"/>
            <a:r>
              <a:rPr lang="en-GB" b="1" dirty="0"/>
              <a:t>Unusual points or groups:</a:t>
            </a:r>
            <a:r>
              <a:rPr lang="en-GB" dirty="0"/>
              <a:t> </a:t>
            </a:r>
          </a:p>
          <a:p>
            <a:pPr lvl="1"/>
            <a:r>
              <a:rPr lang="en-GB" dirty="0"/>
              <a:t>Is anything worth a closer look?</a:t>
            </a:r>
          </a:p>
          <a:p>
            <a:endParaRPr lang="en-US" dirty="0"/>
          </a:p>
        </p:txBody>
      </p:sp>
      <p:pic>
        <p:nvPicPr>
          <p:cNvPr id="5" name="Picture 4">
            <a:extLst>
              <a:ext uri="{FF2B5EF4-FFF2-40B4-BE49-F238E27FC236}">
                <a16:creationId xmlns:a16="http://schemas.microsoft.com/office/drawing/2014/main" id="{213FB326-41FA-0620-3459-D6D944C21ADA}"/>
              </a:ext>
            </a:extLst>
          </p:cNvPr>
          <p:cNvPicPr>
            <a:picLocks noChangeAspect="1"/>
          </p:cNvPicPr>
          <p:nvPr/>
        </p:nvPicPr>
        <p:blipFill>
          <a:blip r:embed="rId3"/>
          <a:stretch>
            <a:fillRect/>
          </a:stretch>
        </p:blipFill>
        <p:spPr>
          <a:xfrm>
            <a:off x="384278" y="1713477"/>
            <a:ext cx="5156544" cy="4191946"/>
          </a:xfrm>
          <a:prstGeom prst="rect">
            <a:avLst/>
          </a:prstGeom>
        </p:spPr>
      </p:pic>
    </p:spTree>
    <p:extLst>
      <p:ext uri="{BB962C8B-B14F-4D97-AF65-F5344CB8AC3E}">
        <p14:creationId xmlns:p14="http://schemas.microsoft.com/office/powerpoint/2010/main" val="4249993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404F-54CE-6E44-6C7F-D2AFE399AEC9}"/>
              </a:ext>
            </a:extLst>
          </p:cNvPr>
          <p:cNvSpPr>
            <a:spLocks noGrp="1"/>
          </p:cNvSpPr>
          <p:nvPr>
            <p:ph type="title"/>
          </p:nvPr>
        </p:nvSpPr>
        <p:spPr/>
        <p:txBody>
          <a:bodyPr/>
          <a:lstStyle/>
          <a:p>
            <a:r>
              <a:rPr lang="en-GB" dirty="0"/>
              <a:t>Interpreting graphs</a:t>
            </a:r>
            <a:endParaRPr lang="en-US" dirty="0"/>
          </a:p>
        </p:txBody>
      </p:sp>
      <p:sp>
        <p:nvSpPr>
          <p:cNvPr id="3" name="Content Placeholder 2">
            <a:extLst>
              <a:ext uri="{FF2B5EF4-FFF2-40B4-BE49-F238E27FC236}">
                <a16:creationId xmlns:a16="http://schemas.microsoft.com/office/drawing/2014/main" id="{C7B18C41-0BB5-E5A9-082C-9B4DCAF49FF9}"/>
              </a:ext>
            </a:extLst>
          </p:cNvPr>
          <p:cNvSpPr>
            <a:spLocks noGrp="1"/>
          </p:cNvSpPr>
          <p:nvPr>
            <p:ph idx="1"/>
          </p:nvPr>
        </p:nvSpPr>
        <p:spPr/>
        <p:txBody>
          <a:bodyPr/>
          <a:lstStyle/>
          <a:p>
            <a:pPr marL="0" indent="0">
              <a:buNone/>
            </a:pPr>
            <a:r>
              <a:rPr lang="en-GB" dirty="0"/>
              <a:t>Observation: </a:t>
            </a:r>
          </a:p>
          <a:p>
            <a:r>
              <a:rPr lang="en-GB" dirty="0"/>
              <a:t>Longer sessions tended to have greater total load.</a:t>
            </a:r>
          </a:p>
        </p:txBody>
      </p:sp>
      <p:pic>
        <p:nvPicPr>
          <p:cNvPr id="4" name="Picture 3">
            <a:extLst>
              <a:ext uri="{FF2B5EF4-FFF2-40B4-BE49-F238E27FC236}">
                <a16:creationId xmlns:a16="http://schemas.microsoft.com/office/drawing/2014/main" id="{3396D9A2-2F45-5210-07EE-B3F5765AAACC}"/>
              </a:ext>
            </a:extLst>
          </p:cNvPr>
          <p:cNvPicPr>
            <a:picLocks noChangeAspect="1"/>
          </p:cNvPicPr>
          <p:nvPr/>
        </p:nvPicPr>
        <p:blipFill>
          <a:blip r:embed="rId2"/>
          <a:stretch>
            <a:fillRect/>
          </a:stretch>
        </p:blipFill>
        <p:spPr>
          <a:xfrm>
            <a:off x="7640929" y="2856882"/>
            <a:ext cx="4285944" cy="3484203"/>
          </a:xfrm>
          <a:prstGeom prst="rect">
            <a:avLst/>
          </a:prstGeom>
        </p:spPr>
      </p:pic>
      <p:sp>
        <p:nvSpPr>
          <p:cNvPr id="5" name="Content Placeholder 2">
            <a:extLst>
              <a:ext uri="{FF2B5EF4-FFF2-40B4-BE49-F238E27FC236}">
                <a16:creationId xmlns:a16="http://schemas.microsoft.com/office/drawing/2014/main" id="{AEC181B1-D6B8-7C52-E19D-D549FB5F8DB1}"/>
              </a:ext>
            </a:extLst>
          </p:cNvPr>
          <p:cNvSpPr txBox="1">
            <a:spLocks/>
          </p:cNvSpPr>
          <p:nvPr/>
        </p:nvSpPr>
        <p:spPr>
          <a:xfrm>
            <a:off x="838200" y="2856882"/>
            <a:ext cx="6802729" cy="34842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Questions the graph alone cannot answer:</a:t>
            </a:r>
          </a:p>
          <a:p>
            <a:r>
              <a:rPr lang="en-GB" dirty="0"/>
              <a:t>Were those sessions more </a:t>
            </a:r>
            <a:r>
              <a:rPr lang="en-GB" b="1" dirty="0"/>
              <a:t>intense</a:t>
            </a:r>
            <a:r>
              <a:rPr lang="en-GB" dirty="0"/>
              <a:t>, or simply longer?</a:t>
            </a:r>
          </a:p>
          <a:p>
            <a:r>
              <a:rPr lang="en-GB" dirty="0"/>
              <a:t>Does duration itself explain the pattern?</a:t>
            </a:r>
          </a:p>
          <a:p>
            <a:r>
              <a:rPr lang="en-GB" dirty="0"/>
              <a:t>Would the same pattern appear within each session type?</a:t>
            </a:r>
          </a:p>
          <a:p>
            <a:endParaRPr lang="en-US" dirty="0"/>
          </a:p>
        </p:txBody>
      </p:sp>
    </p:spTree>
    <p:extLst>
      <p:ext uri="{BB962C8B-B14F-4D97-AF65-F5344CB8AC3E}">
        <p14:creationId xmlns:p14="http://schemas.microsoft.com/office/powerpoint/2010/main" val="2230046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2F8A3-C5A0-AE5F-83A1-83746D5F206A}"/>
              </a:ext>
            </a:extLst>
          </p:cNvPr>
          <p:cNvSpPr>
            <a:spLocks noGrp="1"/>
          </p:cNvSpPr>
          <p:nvPr>
            <p:ph type="title"/>
          </p:nvPr>
        </p:nvSpPr>
        <p:spPr/>
        <p:txBody>
          <a:bodyPr/>
          <a:lstStyle/>
          <a:p>
            <a:r>
              <a:rPr lang="en-US" dirty="0"/>
              <a:t>Comparing groups</a:t>
            </a:r>
          </a:p>
        </p:txBody>
      </p:sp>
      <p:sp>
        <p:nvSpPr>
          <p:cNvPr id="3" name="Content Placeholder 2">
            <a:extLst>
              <a:ext uri="{FF2B5EF4-FFF2-40B4-BE49-F238E27FC236}">
                <a16:creationId xmlns:a16="http://schemas.microsoft.com/office/drawing/2014/main" id="{57972908-1C34-50D0-F144-0420B69D70D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4618523-7FF2-E83C-3EA1-CF45ED5661D7}"/>
              </a:ext>
            </a:extLst>
          </p:cNvPr>
          <p:cNvPicPr>
            <a:picLocks noChangeAspect="1"/>
          </p:cNvPicPr>
          <p:nvPr/>
        </p:nvPicPr>
        <p:blipFill>
          <a:blip r:embed="rId2"/>
          <a:stretch>
            <a:fillRect/>
          </a:stretch>
        </p:blipFill>
        <p:spPr>
          <a:xfrm>
            <a:off x="6654901" y="1931858"/>
            <a:ext cx="4285944" cy="3484203"/>
          </a:xfrm>
          <a:prstGeom prst="rect">
            <a:avLst/>
          </a:prstGeom>
        </p:spPr>
      </p:pic>
      <p:pic>
        <p:nvPicPr>
          <p:cNvPr id="5" name="Picture 4">
            <a:extLst>
              <a:ext uri="{FF2B5EF4-FFF2-40B4-BE49-F238E27FC236}">
                <a16:creationId xmlns:a16="http://schemas.microsoft.com/office/drawing/2014/main" id="{8D104FF1-A1B2-DF67-DAD3-13A01494FD88}"/>
              </a:ext>
            </a:extLst>
          </p:cNvPr>
          <p:cNvPicPr>
            <a:picLocks noChangeAspect="1"/>
          </p:cNvPicPr>
          <p:nvPr/>
        </p:nvPicPr>
        <p:blipFill>
          <a:blip r:embed="rId3"/>
          <a:stretch>
            <a:fillRect/>
          </a:stretch>
        </p:blipFill>
        <p:spPr>
          <a:xfrm>
            <a:off x="1103671" y="1931858"/>
            <a:ext cx="4285944" cy="3484203"/>
          </a:xfrm>
          <a:prstGeom prst="rect">
            <a:avLst/>
          </a:prstGeom>
        </p:spPr>
      </p:pic>
    </p:spTree>
    <p:extLst>
      <p:ext uri="{BB962C8B-B14F-4D97-AF65-F5344CB8AC3E}">
        <p14:creationId xmlns:p14="http://schemas.microsoft.com/office/powerpoint/2010/main" val="596732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69BE-B427-AD17-F40D-9FBDC7F49D29}"/>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062C6377-8128-3C14-E606-5E51175DBEF6}"/>
              </a:ext>
            </a:extLst>
          </p:cNvPr>
          <p:cNvSpPr>
            <a:spLocks noGrp="1"/>
          </p:cNvSpPr>
          <p:nvPr>
            <p:ph idx="1"/>
          </p:nvPr>
        </p:nvSpPr>
        <p:spPr/>
        <p:txBody>
          <a:bodyPr>
            <a:normAutofit/>
          </a:bodyPr>
          <a:lstStyle/>
          <a:p>
            <a:pPr lvl="0"/>
            <a:r>
              <a:rPr lang="en-GB" dirty="0"/>
              <a:t>Workflow: Start with the question, inspect the data, choose a graph, then interpret it.</a:t>
            </a:r>
          </a:p>
          <a:p>
            <a:pPr lvl="0"/>
            <a:r>
              <a:rPr lang="en-GB" dirty="0"/>
              <a:t>Proportions: Define the whole before calculating or graphing its parts.</a:t>
            </a:r>
          </a:p>
          <a:p>
            <a:pPr lvl="0"/>
            <a:r>
              <a:rPr lang="en-GB" dirty="0"/>
              <a:t>Relationships: Use a scatterplot to see how two numeric variables vary together. Describe the pattern before explaining it.</a:t>
            </a:r>
          </a:p>
          <a:p>
            <a:pPr lvl="1"/>
            <a:endParaRPr lang="en-GB" dirty="0"/>
          </a:p>
          <a:p>
            <a:pPr marL="0" indent="0">
              <a:buNone/>
            </a:pPr>
            <a:r>
              <a:rPr lang="en-GB" dirty="0"/>
              <a:t>Next time</a:t>
            </a:r>
          </a:p>
          <a:p>
            <a:r>
              <a:rPr lang="en-GB" dirty="0"/>
              <a:t>Exam review: Bring questions from the lectures and case studies.</a:t>
            </a:r>
          </a:p>
        </p:txBody>
      </p:sp>
    </p:spTree>
    <p:extLst>
      <p:ext uri="{BB962C8B-B14F-4D97-AF65-F5344CB8AC3E}">
        <p14:creationId xmlns:p14="http://schemas.microsoft.com/office/powerpoint/2010/main" val="1104664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2515</TotalTime>
  <Words>2281</Words>
  <Application>Microsoft Macintosh PowerPoint</Application>
  <PresentationFormat>Widescreen</PresentationFormat>
  <Paragraphs>1054</Paragraphs>
  <Slides>30</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Aptos Narrow</vt:lpstr>
      <vt:lpstr>Arial</vt:lpstr>
      <vt:lpstr>Wingdings</vt:lpstr>
      <vt:lpstr>Office Theme</vt:lpstr>
      <vt:lpstr>Proportions and relationships</vt:lpstr>
      <vt:lpstr>PowerPoint Presentation</vt:lpstr>
      <vt:lpstr>Workflow </vt:lpstr>
      <vt:lpstr>What am I looking at?</vt:lpstr>
      <vt:lpstr>Which values answer the question?</vt:lpstr>
      <vt:lpstr>Inspecting data</vt:lpstr>
      <vt:lpstr>Which graph answers this question?</vt:lpstr>
      <vt:lpstr>Making the histogram</vt:lpstr>
      <vt:lpstr>Making the histogram</vt:lpstr>
      <vt:lpstr>What does the distribution tell us?</vt:lpstr>
      <vt:lpstr>What does the distribution tell us?</vt:lpstr>
      <vt:lpstr>Bonus: What changes when we compare groups?</vt:lpstr>
      <vt:lpstr>Bonus: What changes when we compare groups?</vt:lpstr>
      <vt:lpstr>Bonus: What changes when we compare groups?</vt:lpstr>
      <vt:lpstr>Bonus: What changes when we compare groups?</vt:lpstr>
      <vt:lpstr>Bonus: What changes when we compare groups?</vt:lpstr>
      <vt:lpstr>Bonus: What changes when we compare groups?</vt:lpstr>
      <vt:lpstr>PowerPoint Presentation</vt:lpstr>
      <vt:lpstr>Proportions in sports</vt:lpstr>
      <vt:lpstr>Proportions in sports</vt:lpstr>
      <vt:lpstr>Calculating proportions</vt:lpstr>
      <vt:lpstr>Choosing a chart for proportions</vt:lpstr>
      <vt:lpstr>Choosing a chart for proportions</vt:lpstr>
      <vt:lpstr>Choosing a chart for proportions</vt:lpstr>
      <vt:lpstr>Data for relationships</vt:lpstr>
      <vt:lpstr>Visualizing relationships</vt:lpstr>
      <vt:lpstr>Reading a scatterplot</vt:lpstr>
      <vt:lpstr>Interpreting graphs</vt:lpstr>
      <vt:lpstr>Comparing groups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Onishi, Saryu</dc:creator>
  <cp:lastModifiedBy>Onishi, Saryu</cp:lastModifiedBy>
  <cp:revision>47</cp:revision>
  <dcterms:created xsi:type="dcterms:W3CDTF">2026-08-17T13:48:23Z</dcterms:created>
  <dcterms:modified xsi:type="dcterms:W3CDTF">2026-09-29T20:52:23Z</dcterms:modified>
</cp:coreProperties>
</file>