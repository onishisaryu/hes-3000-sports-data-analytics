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415" r:id="rId3"/>
    <p:sldId id="417" r:id="rId4"/>
    <p:sldId id="416" r:id="rId5"/>
    <p:sldId id="418" r:id="rId6"/>
    <p:sldId id="419" r:id="rId7"/>
    <p:sldId id="4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78493" autoAdjust="0"/>
  </p:normalViewPr>
  <p:slideViewPr>
    <p:cSldViewPr snapToGrid="0">
      <p:cViewPr varScale="1">
        <p:scale>
          <a:sx n="98" d="100"/>
          <a:sy n="98" d="100"/>
        </p:scale>
        <p:origin x="1024" y="192"/>
      </p:cViewPr>
      <p:guideLst/>
    </p:cSldViewPr>
  </p:slideViewPr>
  <p:outlineViewPr>
    <p:cViewPr>
      <p:scale>
        <a:sx n="33" d="100"/>
        <a:sy n="33" d="100"/>
      </p:scale>
      <p:origin x="0" y="-286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30" d="100"/>
        <a:sy n="130" d="100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0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Performance Profile </a:t>
            </a:r>
            <a:r>
              <a:rPr lang="en-GB" sz="4800" dirty="0">
                <a:sym typeface="Wingdings" pitchFamily="2" charset="2"/>
              </a:rPr>
              <a:t></a:t>
            </a:r>
            <a:r>
              <a:rPr lang="en-GB" sz="4800" dirty="0"/>
              <a:t> </a:t>
            </a:r>
            <a:r>
              <a:rPr lang="en-GB" sz="4800"/>
              <a:t>Scouting Decision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AAC0-805A-BC35-56A0-0D754A39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384F52-C548-3559-2551-A697E5C142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1310" y="1441450"/>
          <a:ext cx="9389379" cy="47355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9793">
                  <a:extLst>
                    <a:ext uri="{9D8B030D-6E8A-4147-A177-3AD203B41FA5}">
                      <a16:colId xmlns:a16="http://schemas.microsoft.com/office/drawing/2014/main" val="2082558114"/>
                    </a:ext>
                  </a:extLst>
                </a:gridCol>
                <a:gridCol w="3129793">
                  <a:extLst>
                    <a:ext uri="{9D8B030D-6E8A-4147-A177-3AD203B41FA5}">
                      <a16:colId xmlns:a16="http://schemas.microsoft.com/office/drawing/2014/main" val="1732109000"/>
                    </a:ext>
                  </a:extLst>
                </a:gridCol>
                <a:gridCol w="3129793">
                  <a:extLst>
                    <a:ext uri="{9D8B030D-6E8A-4147-A177-3AD203B41FA5}">
                      <a16:colId xmlns:a16="http://schemas.microsoft.com/office/drawing/2014/main" val="854269572"/>
                    </a:ext>
                  </a:extLst>
                </a:gridCol>
              </a:tblGrid>
              <a:tr h="326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Time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Topic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Teaching approach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4088729647"/>
                  </a:ext>
                </a:extLst>
              </a:tr>
              <a:tr h="81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0–8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Revisit the opening decision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Ask whether the athlete profiles changed students’ original selections.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565343640"/>
                  </a:ext>
                </a:extLst>
              </a:tr>
              <a:tr h="571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8–20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Performance is multidimensional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Discuss role, team needs, trade-offs, and minimum requirements.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3528162046"/>
                  </a:ext>
                </a:extLst>
              </a:tr>
              <a:tr h="81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20–30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Building a weighted score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Demonstrate a simple score using consistently oriented percentiles.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1216411388"/>
                  </a:ext>
                </a:extLst>
              </a:tr>
              <a:tr h="81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30–48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Scouting committee activity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Groups receive different recruitment briefs, select weights, and choose an athlete.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3515650773"/>
                  </a:ext>
                </a:extLst>
              </a:tr>
              <a:tr h="571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48–57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Challenge the decision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Change the weights and compare selections across groups.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742707798"/>
                  </a:ext>
                </a:extLst>
              </a:tr>
              <a:tr h="81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57–60 min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Exit recommendation</a:t>
                      </a:r>
                    </a:p>
                  </a:txBody>
                  <a:tcPr marL="81647" marR="81647" marT="40823" marB="408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Students recommend an athlete and identify one uncertainty that could change their decision.</a:t>
                      </a:r>
                    </a:p>
                  </a:txBody>
                  <a:tcPr marL="81647" marR="81647" marT="40823" marB="40823" anchor="ctr"/>
                </a:tc>
                <a:extLst>
                  <a:ext uri="{0D108BD9-81ED-4DB2-BD59-A6C34878D82A}">
                    <a16:rowId xmlns:a16="http://schemas.microsoft.com/office/drawing/2014/main" val="185390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8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F273-69B3-FA81-718C-77BBBE1A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we recruiting this athlete to do?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6C12-B59A-4D6E-681F-E3C12DC96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Divide into groups:</a:t>
            </a:r>
          </a:p>
          <a:p>
            <a:pPr lvl="1"/>
            <a:r>
              <a:rPr lang="en-GB" dirty="0"/>
              <a:t>Team A needs a perimeter shooter.</a:t>
            </a:r>
          </a:p>
          <a:p>
            <a:pPr lvl="1"/>
            <a:r>
              <a:rPr lang="en-GB" dirty="0"/>
              <a:t>Team B needs a primary ball handler.</a:t>
            </a:r>
          </a:p>
          <a:p>
            <a:pPr lvl="1"/>
            <a:r>
              <a:rPr lang="en-GB" dirty="0"/>
              <a:t>Team C needs an athletic developmental prospect.</a:t>
            </a:r>
          </a:p>
          <a:p>
            <a:pPr lvl="1"/>
            <a:endParaRPr lang="en-GB" dirty="0"/>
          </a:p>
          <a:p>
            <a:r>
              <a:rPr lang="en-GB" dirty="0"/>
              <a:t>Which athlete did you select?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5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CE9A-CDBF-48F7-70FE-EE6ED0B9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weighted score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7D88D-159F-7131-271D-5CCFFE5D9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simple weighted score: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represents a performance percentile, with higher always representing better performance</a:t>
                </a:r>
              </a:p>
              <a:p>
                <a:r>
                  <a:rPr lang="en-GB" dirty="0"/>
                  <a:t>weights sum to 1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7D88D-159F-7131-271D-5CCFFE5D9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5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B71A9-3B3A-E579-C61D-33F38DC2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8EE2-52A1-2593-57D7-1B38C1589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most valuable discussion is </a:t>
            </a:r>
            <a:r>
              <a:rPr lang="en-GB" b="1" dirty="0"/>
              <a:t>how to choose the weights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Role and team needs:</a:t>
            </a:r>
            <a:r>
              <a:rPr lang="en-GB" dirty="0"/>
              <a:t> What qualities does the athlete need to contribute?</a:t>
            </a:r>
          </a:p>
          <a:p>
            <a:pPr lvl="1"/>
            <a:r>
              <a:rPr lang="en-GB" b="1" dirty="0"/>
              <a:t>Sport knowledge:</a:t>
            </a:r>
            <a:r>
              <a:rPr lang="en-GB" dirty="0"/>
              <a:t> What do coaches and scouts consider relevant, and why?</a:t>
            </a:r>
          </a:p>
          <a:p>
            <a:pPr lvl="1"/>
            <a:r>
              <a:rPr lang="en-GB" b="1" dirty="0"/>
              <a:t>Evidence:</a:t>
            </a:r>
            <a:r>
              <a:rPr lang="en-GB" dirty="0"/>
              <a:t> Do these measures help predict the outcome we care about?</a:t>
            </a:r>
          </a:p>
          <a:p>
            <a:pPr lvl="1"/>
            <a:r>
              <a:rPr lang="en-GB" b="1" dirty="0"/>
              <a:t>Measurement quality:</a:t>
            </a:r>
            <a:r>
              <a:rPr lang="en-GB" dirty="0"/>
              <a:t> Is the apparent strength based on reliable testing and enough observations?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0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223B-9CF3-43C4-66E0-D5E2FA2A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2A738-1444-9F13-373F-CAC5459C3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Their recruitment goal.</a:t>
            </a:r>
          </a:p>
          <a:p>
            <a:pPr lvl="0"/>
            <a:r>
              <a:rPr lang="en-GB" dirty="0"/>
              <a:t>Their selected metrics and weights.</a:t>
            </a:r>
          </a:p>
          <a:p>
            <a:pPr lvl="0"/>
            <a:r>
              <a:rPr lang="en-GB" dirty="0"/>
              <a:t>Their preferred athlete.</a:t>
            </a:r>
          </a:p>
          <a:p>
            <a:pPr lvl="0"/>
            <a:r>
              <a:rPr lang="en-GB" dirty="0"/>
              <a:t>Whether that choice changes under equal weights or a plausible alternative.</a:t>
            </a:r>
          </a:p>
          <a:p>
            <a:pPr lvl="0"/>
            <a:r>
              <a:rPr lang="en-GB" dirty="0"/>
              <a:t>One additional piece of information they would request before recruiting.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48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6BF2-C500-C05C-0A2A-D8490960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standard?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96C7-5F75-EEA7-07B0-CC1C205A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minimum requirements</a:t>
            </a:r>
            <a:r>
              <a:rPr lang="en-GB" dirty="0"/>
              <a:t>. A weighted average allows strengths to compensate for weaknesses, but that may be inappropriate for some roles. A team might require a minimum shooting standard before comparing the remaining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341</Words>
  <Application>Microsoft Macintosh PowerPoint</Application>
  <PresentationFormat>Widescreen</PresentationFormat>
  <Paragraphs>55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Performance Profile  Scouting Decision</vt:lpstr>
      <vt:lpstr>Plan</vt:lpstr>
      <vt:lpstr>What are we recruiting this athlete to do?</vt:lpstr>
      <vt:lpstr>weighted score</vt:lpstr>
      <vt:lpstr>Choosing the weights</vt:lpstr>
      <vt:lpstr>Revisiting activity</vt:lpstr>
      <vt:lpstr>Minimum standard?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70</cp:revision>
  <dcterms:created xsi:type="dcterms:W3CDTF">2026-08-17T13:48:23Z</dcterms:created>
  <dcterms:modified xsi:type="dcterms:W3CDTF">2026-10-21T19:50:16Z</dcterms:modified>
</cp:coreProperties>
</file>