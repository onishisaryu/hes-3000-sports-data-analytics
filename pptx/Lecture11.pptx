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420" r:id="rId3"/>
    <p:sldId id="410" r:id="rId4"/>
    <p:sldId id="366" r:id="rId5"/>
    <p:sldId id="428" r:id="rId6"/>
    <p:sldId id="401" r:id="rId7"/>
    <p:sldId id="398" r:id="rId8"/>
    <p:sldId id="413" r:id="rId9"/>
    <p:sldId id="416" r:id="rId10"/>
    <p:sldId id="419" r:id="rId11"/>
    <p:sldId id="429" r:id="rId12"/>
    <p:sldId id="402" r:id="rId13"/>
    <p:sldId id="399" r:id="rId14"/>
    <p:sldId id="412" r:id="rId15"/>
    <p:sldId id="417" r:id="rId16"/>
    <p:sldId id="423" r:id="rId17"/>
    <p:sldId id="422" r:id="rId18"/>
    <p:sldId id="424" r:id="rId19"/>
    <p:sldId id="425" r:id="rId20"/>
    <p:sldId id="427" r:id="rId21"/>
    <p:sldId id="430" r:id="rId22"/>
    <p:sldId id="418" r:id="rId23"/>
    <p:sldId id="426" r:id="rId24"/>
    <p:sldId id="396" r:id="rId25"/>
    <p:sldId id="404" r:id="rId26"/>
    <p:sldId id="41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04"/>
    <p:restoredTop sz="78493" autoAdjust="0"/>
  </p:normalViewPr>
  <p:slideViewPr>
    <p:cSldViewPr snapToGrid="0">
      <p:cViewPr varScale="1">
        <p:scale>
          <a:sx n="98" d="100"/>
          <a:sy n="98" d="100"/>
        </p:scale>
        <p:origin x="1024" y="192"/>
      </p:cViewPr>
      <p:guideLst/>
    </p:cSldViewPr>
  </p:slideViewPr>
  <p:outlineViewPr>
    <p:cViewPr>
      <p:scale>
        <a:sx n="33" d="100"/>
        <a:sy n="33" d="100"/>
      </p:scale>
      <p:origin x="0" y="-28664"/>
    </p:cViewPr>
  </p:outlineViewPr>
  <p:notesTextViewPr>
    <p:cViewPr>
      <p:scale>
        <a:sx n="1" d="1"/>
        <a:sy n="1" d="1"/>
      </p:scale>
      <p:origin x="0" y="0"/>
    </p:cViewPr>
  </p:notesTextViewPr>
  <p:sorterViewPr>
    <p:cViewPr varScale="1">
      <p:scale>
        <a:sx n="130" d="100"/>
        <a:sy n="130" d="100"/>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a:t>
            </a:fld>
            <a:endParaRPr lang="en-US"/>
          </a:p>
        </p:txBody>
      </p:sp>
    </p:spTree>
    <p:extLst>
      <p:ext uri="{BB962C8B-B14F-4D97-AF65-F5344CB8AC3E}">
        <p14:creationId xmlns:p14="http://schemas.microsoft.com/office/powerpoint/2010/main" val="2290135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3</a:t>
            </a:fld>
            <a:endParaRPr lang="en-US"/>
          </a:p>
        </p:txBody>
      </p:sp>
    </p:spTree>
    <p:extLst>
      <p:ext uri="{BB962C8B-B14F-4D97-AF65-F5344CB8AC3E}">
        <p14:creationId xmlns:p14="http://schemas.microsoft.com/office/powerpoint/2010/main" val="33257441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4</a:t>
            </a:fld>
            <a:endParaRPr lang="en-US"/>
          </a:p>
        </p:txBody>
      </p:sp>
    </p:spTree>
    <p:extLst>
      <p:ext uri="{BB962C8B-B14F-4D97-AF65-F5344CB8AC3E}">
        <p14:creationId xmlns:p14="http://schemas.microsoft.com/office/powerpoint/2010/main" val="16211998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40431-ED20-021C-BC93-5AAA45A83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B00F-5982-0508-8DC8-3208A062C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B052B-05FF-6810-AA15-845630568C8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26BAEB6-4E58-D0B2-A4FD-9A9F054313E5}"/>
              </a:ext>
            </a:extLst>
          </p:cNvPr>
          <p:cNvSpPr>
            <a:spLocks noGrp="1"/>
          </p:cNvSpPr>
          <p:nvPr>
            <p:ph type="sldNum" sz="quarter" idx="5"/>
          </p:nvPr>
        </p:nvSpPr>
        <p:spPr/>
        <p:txBody>
          <a:bodyPr/>
          <a:lstStyle/>
          <a:p>
            <a:fld id="{117D17FD-8842-8E4F-8C3E-EC8B634B2D5A}" type="slidenum">
              <a:rPr lang="en-US" smtClean="0"/>
              <a:t>5</a:t>
            </a:fld>
            <a:endParaRPr lang="en-US"/>
          </a:p>
        </p:txBody>
      </p:sp>
    </p:spTree>
    <p:extLst>
      <p:ext uri="{BB962C8B-B14F-4D97-AF65-F5344CB8AC3E}">
        <p14:creationId xmlns:p14="http://schemas.microsoft.com/office/powerpoint/2010/main" val="2265766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863E2-A521-DEA7-E317-32402477C2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FEE3-48FB-9FF2-3CE0-000B6B7AA6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C83E7-D787-0088-EE8C-DEFCAD3C8EA6}"/>
              </a:ext>
            </a:extLst>
          </p:cNvPr>
          <p:cNvSpPr>
            <a:spLocks noGrp="1"/>
          </p:cNvSpPr>
          <p:nvPr>
            <p:ph type="body" idx="1"/>
          </p:nvPr>
        </p:nvSpPr>
        <p:spPr/>
        <p:txBody>
          <a:bodyPr/>
          <a:lstStyle/>
          <a:p>
            <a:pPr lvl="0" rtl="0"/>
            <a:r>
              <a:rPr lang="en-GB" b="1" dirty="0"/>
              <a:t>Mean vs. median decision-making</a:t>
            </a:r>
            <a:r>
              <a:rPr lang="en-GB" dirty="0"/>
              <a:t> (most frequent, and conceptually foundational)</a:t>
            </a:r>
          </a:p>
          <a:p>
            <a:pPr lvl="0" rtl="0"/>
            <a:r>
              <a:rPr lang="en-GB" b="1" dirty="0"/>
              <a:t>Graph selection and matching to variable type</a:t>
            </a:r>
            <a:endParaRPr lang="en-GB" dirty="0"/>
          </a:p>
          <a:p>
            <a:pPr lvl="0" rtl="0"/>
            <a:r>
              <a:rPr lang="en-GB" b="1" dirty="0"/>
              <a:t>Describing a distribution in words</a:t>
            </a:r>
            <a:endParaRPr lang="en-GB" dirty="0"/>
          </a:p>
          <a:p>
            <a:pPr lvl="0" rtl="0"/>
            <a:r>
              <a:rPr lang="en-GB" b="1" dirty="0"/>
              <a:t>Excel selection and formula demo</a:t>
            </a:r>
            <a:r>
              <a:rPr lang="en-GB" dirty="0"/>
              <a:t> (quick and practical)</a:t>
            </a:r>
          </a:p>
        </p:txBody>
      </p:sp>
      <p:sp>
        <p:nvSpPr>
          <p:cNvPr id="4" name="Slide Number Placeholder 3">
            <a:extLst>
              <a:ext uri="{FF2B5EF4-FFF2-40B4-BE49-F238E27FC236}">
                <a16:creationId xmlns:a16="http://schemas.microsoft.com/office/drawing/2014/main" id="{30AA957D-DBB9-4182-BF79-BAD97ED7CB18}"/>
              </a:ext>
            </a:extLst>
          </p:cNvPr>
          <p:cNvSpPr>
            <a:spLocks noGrp="1"/>
          </p:cNvSpPr>
          <p:nvPr>
            <p:ph type="sldNum" sz="quarter" idx="5"/>
          </p:nvPr>
        </p:nvSpPr>
        <p:spPr/>
        <p:txBody>
          <a:bodyPr/>
          <a:lstStyle/>
          <a:p>
            <a:fld id="{1560C251-82B7-4253-A774-38D73C276BCE}" type="slidenum">
              <a:rPr lang="en-US" smtClean="0"/>
              <a:t>6</a:t>
            </a:fld>
            <a:endParaRPr lang="en-US"/>
          </a:p>
        </p:txBody>
      </p:sp>
    </p:spTree>
    <p:extLst>
      <p:ext uri="{BB962C8B-B14F-4D97-AF65-F5344CB8AC3E}">
        <p14:creationId xmlns:p14="http://schemas.microsoft.com/office/powerpoint/2010/main" val="6046517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7</a:t>
            </a:fld>
            <a:endParaRPr lang="en-US"/>
          </a:p>
        </p:txBody>
      </p:sp>
    </p:spTree>
    <p:extLst>
      <p:ext uri="{BB962C8B-B14F-4D97-AF65-F5344CB8AC3E}">
        <p14:creationId xmlns:p14="http://schemas.microsoft.com/office/powerpoint/2010/main" val="24303319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8</a:t>
            </a:fld>
            <a:endParaRPr lang="en-US"/>
          </a:p>
        </p:txBody>
      </p:sp>
    </p:spTree>
    <p:extLst>
      <p:ext uri="{BB962C8B-B14F-4D97-AF65-F5344CB8AC3E}">
        <p14:creationId xmlns:p14="http://schemas.microsoft.com/office/powerpoint/2010/main" val="30626273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excel does this…</a:t>
            </a:r>
          </a:p>
        </p:txBody>
      </p:sp>
      <p:sp>
        <p:nvSpPr>
          <p:cNvPr id="4" name="Slide Number Placeholder 3"/>
          <p:cNvSpPr>
            <a:spLocks noGrp="1"/>
          </p:cNvSpPr>
          <p:nvPr>
            <p:ph type="sldNum" sz="quarter" idx="5"/>
          </p:nvPr>
        </p:nvSpPr>
        <p:spPr/>
        <p:txBody>
          <a:bodyPr/>
          <a:lstStyle/>
          <a:p>
            <a:fld id="{117D17FD-8842-8E4F-8C3E-EC8B634B2D5A}" type="slidenum">
              <a:rPr lang="en-US" smtClean="0"/>
              <a:t>9</a:t>
            </a:fld>
            <a:endParaRPr lang="en-US"/>
          </a:p>
        </p:txBody>
      </p:sp>
    </p:spTree>
    <p:extLst>
      <p:ext uri="{BB962C8B-B14F-4D97-AF65-F5344CB8AC3E}">
        <p14:creationId xmlns:p14="http://schemas.microsoft.com/office/powerpoint/2010/main" val="40429206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84A53-A1DC-42CB-D0C5-F1C78E78F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0E20BF-3B39-CD8B-CADD-3046499AE1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A0EA0A-A56A-6891-8720-4824E83AEDB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5185331-3A19-B849-BB88-0A20397C0760}"/>
              </a:ext>
            </a:extLst>
          </p:cNvPr>
          <p:cNvSpPr>
            <a:spLocks noGrp="1"/>
          </p:cNvSpPr>
          <p:nvPr>
            <p:ph type="sldNum" sz="quarter" idx="5"/>
          </p:nvPr>
        </p:nvSpPr>
        <p:spPr/>
        <p:txBody>
          <a:bodyPr/>
          <a:lstStyle/>
          <a:p>
            <a:fld id="{117D17FD-8842-8E4F-8C3E-EC8B634B2D5A}" type="slidenum">
              <a:rPr lang="en-US" smtClean="0"/>
              <a:t>10</a:t>
            </a:fld>
            <a:endParaRPr lang="en-US"/>
          </a:p>
        </p:txBody>
      </p:sp>
    </p:spTree>
    <p:extLst>
      <p:ext uri="{BB962C8B-B14F-4D97-AF65-F5344CB8AC3E}">
        <p14:creationId xmlns:p14="http://schemas.microsoft.com/office/powerpoint/2010/main" val="125351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D62E2-754A-D67C-8217-738F860D8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D56F61-7DEC-6086-68A8-10AAF4DEE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AF9FF1-09CC-AAA9-641C-93CBFB603ACD}"/>
              </a:ext>
            </a:extLst>
          </p:cNvPr>
          <p:cNvSpPr>
            <a:spLocks noGrp="1"/>
          </p:cNvSpPr>
          <p:nvPr>
            <p:ph type="body" idx="1"/>
          </p:nvPr>
        </p:nvSpPr>
        <p:spPr/>
        <p:txBody>
          <a:bodyPr/>
          <a:lstStyle/>
          <a:p>
            <a:pPr lvl="0" rtl="0"/>
            <a:r>
              <a:rPr lang="en-GB" b="1" dirty="0"/>
              <a:t>Mean vs. median decision-making</a:t>
            </a:r>
            <a:r>
              <a:rPr lang="en-GB" dirty="0"/>
              <a:t> (most frequent, and conceptually foundational)</a:t>
            </a:r>
          </a:p>
          <a:p>
            <a:pPr lvl="0" rtl="0"/>
            <a:r>
              <a:rPr lang="en-GB" b="1" dirty="0"/>
              <a:t>Graph selection and matching to variable type</a:t>
            </a:r>
            <a:endParaRPr lang="en-GB" dirty="0"/>
          </a:p>
          <a:p>
            <a:pPr lvl="0" rtl="0"/>
            <a:r>
              <a:rPr lang="en-GB" b="1" dirty="0"/>
              <a:t>Describing a distribution in words</a:t>
            </a:r>
            <a:endParaRPr lang="en-GB" dirty="0"/>
          </a:p>
          <a:p>
            <a:pPr lvl="0" rtl="0"/>
            <a:r>
              <a:rPr lang="en-GB" b="1" dirty="0"/>
              <a:t>Excel selection and formula demo</a:t>
            </a:r>
            <a:r>
              <a:rPr lang="en-GB" dirty="0"/>
              <a:t> (quick and practical)</a:t>
            </a:r>
          </a:p>
        </p:txBody>
      </p:sp>
      <p:sp>
        <p:nvSpPr>
          <p:cNvPr id="4" name="Slide Number Placeholder 3">
            <a:extLst>
              <a:ext uri="{FF2B5EF4-FFF2-40B4-BE49-F238E27FC236}">
                <a16:creationId xmlns:a16="http://schemas.microsoft.com/office/drawing/2014/main" id="{11F90F8E-7AF7-C2E2-3197-E5009F78C28E}"/>
              </a:ext>
            </a:extLst>
          </p:cNvPr>
          <p:cNvSpPr>
            <a:spLocks noGrp="1"/>
          </p:cNvSpPr>
          <p:nvPr>
            <p:ph type="sldNum" sz="quarter" idx="5"/>
          </p:nvPr>
        </p:nvSpPr>
        <p:spPr/>
        <p:txBody>
          <a:bodyPr/>
          <a:lstStyle/>
          <a:p>
            <a:fld id="{1560C251-82B7-4253-A774-38D73C276BCE}" type="slidenum">
              <a:rPr lang="en-US" smtClean="0"/>
              <a:t>12</a:t>
            </a:fld>
            <a:endParaRPr lang="en-US"/>
          </a:p>
        </p:txBody>
      </p:sp>
    </p:spTree>
    <p:extLst>
      <p:ext uri="{BB962C8B-B14F-4D97-AF65-F5344CB8AC3E}">
        <p14:creationId xmlns:p14="http://schemas.microsoft.com/office/powerpoint/2010/main" val="32360945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If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=0.7</m:t>
                    </m:r>
                  </m:oMath>
                </a14:m>
                <a:r>
                  <a:rPr lang="en-GB" dirty="0"/>
                  <a:t>,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a:latin typeface="Cambria Math" panose="02040503050406030204" pitchFamily="18" charset="0"/>
                          </a:rPr>
                          <m:t>2</m:t>
                        </m:r>
                      </m:sup>
                    </m:sSup>
                    <m:r>
                      <a:rPr lang="en-US">
                        <a:latin typeface="Cambria Math" panose="02040503050406030204" pitchFamily="18" charset="0"/>
                      </a:rPr>
                      <m:t>=0.49</m:t>
                    </m:r>
                  </m:oMath>
                </a14:m>
                <a:r>
                  <a:rPr lang="en-GB" dirty="0"/>
                  <a:t>, our model only explains </a:t>
                </a:r>
                <a:r>
                  <a:rPr lang="en-GB" b="1" dirty="0"/>
                  <a:t>49%</a:t>
                </a:r>
                <a:r>
                  <a:rPr lang="en-GB" dirty="0"/>
                  <a:t> of the variation. Over half of what is happening on the court/field is driven by factors our model completely ignores. </a:t>
                </a:r>
              </a:p>
              <a:p>
                <a:endParaRPr lang="en-US" dirty="0"/>
              </a:p>
            </p:txBody>
          </p:sp>
        </mc:Choice>
        <mc:Fallback xmlns="">
          <p:sp>
            <p:nvSpPr>
              <p:cNvPr id="3" name="Notes Placeholder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If </a:t>
                </a:r>
                <a:r>
                  <a:rPr lang="en-US" i="0">
                    <a:latin typeface="Cambria Math" panose="02040503050406030204" pitchFamily="18" charset="0"/>
                  </a:rPr>
                  <a:t>𝑟=0.7</a:t>
                </a:r>
                <a:r>
                  <a:rPr lang="en-GB" dirty="0"/>
                  <a:t>, </a:t>
                </a:r>
                <a:r>
                  <a:rPr lang="en-US" i="0">
                    <a:latin typeface="Cambria Math" panose="02040503050406030204" pitchFamily="18" charset="0"/>
                  </a:rPr>
                  <a:t>𝑟^2=0.49</a:t>
                </a:r>
                <a:r>
                  <a:rPr lang="en-GB" dirty="0"/>
                  <a:t>, our model only explains </a:t>
                </a:r>
                <a:r>
                  <a:rPr lang="en-GB" b="1" dirty="0"/>
                  <a:t>49%</a:t>
                </a:r>
                <a:r>
                  <a:rPr lang="en-GB" dirty="0"/>
                  <a:t> of the variation. Over half of what is happening on the court/field is driven by factors our model completely ignores. </a:t>
                </a:r>
              </a:p>
              <a:p>
                <a:endParaRPr lang="en-US" dirty="0"/>
              </a:p>
            </p:txBody>
          </p:sp>
        </mc:Fallback>
      </mc:AlternateContent>
      <p:sp>
        <p:nvSpPr>
          <p:cNvPr id="4" name="Slide Number Placeholder 3"/>
          <p:cNvSpPr>
            <a:spLocks noGrp="1"/>
          </p:cNvSpPr>
          <p:nvPr>
            <p:ph type="sldNum" sz="quarter" idx="5"/>
          </p:nvPr>
        </p:nvSpPr>
        <p:spPr/>
        <p:txBody>
          <a:bodyPr/>
          <a:lstStyle/>
          <a:p>
            <a:fld id="{117D17FD-8842-8E4F-8C3E-EC8B634B2D5A}" type="slidenum">
              <a:rPr lang="en-US" smtClean="0"/>
              <a:t>13</a:t>
            </a:fld>
            <a:endParaRPr lang="en-US"/>
          </a:p>
        </p:txBody>
      </p:sp>
    </p:spTree>
    <p:extLst>
      <p:ext uri="{BB962C8B-B14F-4D97-AF65-F5344CB8AC3E}">
        <p14:creationId xmlns:p14="http://schemas.microsoft.com/office/powerpoint/2010/main" val="13696939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14</a:t>
            </a:fld>
            <a:endParaRPr lang="en-US"/>
          </a:p>
        </p:txBody>
      </p:sp>
    </p:spTree>
    <p:extLst>
      <p:ext uri="{BB962C8B-B14F-4D97-AF65-F5344CB8AC3E}">
        <p14:creationId xmlns:p14="http://schemas.microsoft.com/office/powerpoint/2010/main" val="1122013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15</a:t>
            </a:fld>
            <a:endParaRPr lang="en-US"/>
          </a:p>
        </p:txBody>
      </p:sp>
    </p:spTree>
    <p:extLst>
      <p:ext uri="{BB962C8B-B14F-4D97-AF65-F5344CB8AC3E}">
        <p14:creationId xmlns:p14="http://schemas.microsoft.com/office/powerpoint/2010/main" val="31776916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16</a:t>
            </a:fld>
            <a:endParaRPr lang="en-US"/>
          </a:p>
        </p:txBody>
      </p:sp>
    </p:spTree>
    <p:extLst>
      <p:ext uri="{BB962C8B-B14F-4D97-AF65-F5344CB8AC3E}">
        <p14:creationId xmlns:p14="http://schemas.microsoft.com/office/powerpoint/2010/main" val="352200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17</a:t>
            </a:fld>
            <a:endParaRPr lang="en-US"/>
          </a:p>
        </p:txBody>
      </p:sp>
    </p:spTree>
    <p:extLst>
      <p:ext uri="{BB962C8B-B14F-4D97-AF65-F5344CB8AC3E}">
        <p14:creationId xmlns:p14="http://schemas.microsoft.com/office/powerpoint/2010/main" val="42122749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18</a:t>
            </a:fld>
            <a:endParaRPr lang="en-US"/>
          </a:p>
        </p:txBody>
      </p:sp>
    </p:spTree>
    <p:extLst>
      <p:ext uri="{BB962C8B-B14F-4D97-AF65-F5344CB8AC3E}">
        <p14:creationId xmlns:p14="http://schemas.microsoft.com/office/powerpoint/2010/main" val="25055547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19</a:t>
            </a:fld>
            <a:endParaRPr lang="en-US"/>
          </a:p>
        </p:txBody>
      </p:sp>
    </p:spTree>
    <p:extLst>
      <p:ext uri="{BB962C8B-B14F-4D97-AF65-F5344CB8AC3E}">
        <p14:creationId xmlns:p14="http://schemas.microsoft.com/office/powerpoint/2010/main" val="406017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22</a:t>
            </a:fld>
            <a:endParaRPr lang="en-US"/>
          </a:p>
        </p:txBody>
      </p:sp>
    </p:spTree>
    <p:extLst>
      <p:ext uri="{BB962C8B-B14F-4D97-AF65-F5344CB8AC3E}">
        <p14:creationId xmlns:p14="http://schemas.microsoft.com/office/powerpoint/2010/main" val="23254328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24</a:t>
            </a:fld>
            <a:endParaRPr lang="en-US"/>
          </a:p>
        </p:txBody>
      </p:sp>
    </p:spTree>
    <p:extLst>
      <p:ext uri="{BB962C8B-B14F-4D97-AF65-F5344CB8AC3E}">
        <p14:creationId xmlns:p14="http://schemas.microsoft.com/office/powerpoint/2010/main" val="22926001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25</a:t>
            </a:fld>
            <a:endParaRPr lang="en-US"/>
          </a:p>
        </p:txBody>
      </p:sp>
    </p:spTree>
    <p:extLst>
      <p:ext uri="{BB962C8B-B14F-4D97-AF65-F5344CB8AC3E}">
        <p14:creationId xmlns:p14="http://schemas.microsoft.com/office/powerpoint/2010/main" val="12603246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26</a:t>
            </a:fld>
            <a:endParaRPr lang="en-US"/>
          </a:p>
        </p:txBody>
      </p:sp>
    </p:spTree>
    <p:extLst>
      <p:ext uri="{BB962C8B-B14F-4D97-AF65-F5344CB8AC3E}">
        <p14:creationId xmlns:p14="http://schemas.microsoft.com/office/powerpoint/2010/main" val="2782704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10/20/26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10/20/26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a:t>Evaluating Predictions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E5F45-1B12-B673-5DC4-B1EB20EF1782}"/>
              </a:ext>
            </a:extLst>
          </p:cNvPr>
          <p:cNvSpPr>
            <a:spLocks noGrp="1"/>
          </p:cNvSpPr>
          <p:nvPr>
            <p:ph type="title"/>
          </p:nvPr>
        </p:nvSpPr>
        <p:spPr/>
        <p:txBody>
          <a:bodyPr/>
          <a:lstStyle/>
          <a:p>
            <a:r>
              <a:rPr lang="en-GB" dirty="0"/>
              <a:t>What We Can Do Already</a:t>
            </a:r>
            <a:endParaRPr lang="en-US" dirty="0"/>
          </a:p>
        </p:txBody>
      </p:sp>
      <p:sp>
        <p:nvSpPr>
          <p:cNvPr id="3" name="Content Placeholder 2">
            <a:extLst>
              <a:ext uri="{FF2B5EF4-FFF2-40B4-BE49-F238E27FC236}">
                <a16:creationId xmlns:a16="http://schemas.microsoft.com/office/drawing/2014/main" id="{B337DD85-7FE0-BE73-4DFF-58D5BF5575D0}"/>
              </a:ext>
            </a:extLst>
          </p:cNvPr>
          <p:cNvSpPr>
            <a:spLocks noGrp="1"/>
          </p:cNvSpPr>
          <p:nvPr>
            <p:ph idx="1"/>
          </p:nvPr>
        </p:nvSpPr>
        <p:spPr/>
        <p:txBody>
          <a:bodyPr/>
          <a:lstStyle/>
          <a:p>
            <a:pPr lvl="0"/>
            <a:r>
              <a:rPr lang="en-GB" dirty="0"/>
              <a:t>Choose variables and create a scatterplot.</a:t>
            </a:r>
          </a:p>
          <a:p>
            <a:pPr lvl="0"/>
            <a:r>
              <a:rPr lang="en-GB" dirty="0"/>
              <a:t>Describe the direction and strength of a relationship.</a:t>
            </a:r>
          </a:p>
          <a:p>
            <a:pPr lvl="0"/>
            <a:r>
              <a:rPr lang="en-GB" dirty="0"/>
              <a:t>Use a trendline equation to make a prediction.</a:t>
            </a:r>
          </a:p>
          <a:p>
            <a:endParaRPr lang="en-US" dirty="0"/>
          </a:p>
        </p:txBody>
      </p:sp>
    </p:spTree>
    <p:extLst>
      <p:ext uri="{BB962C8B-B14F-4D97-AF65-F5344CB8AC3E}">
        <p14:creationId xmlns:p14="http://schemas.microsoft.com/office/powerpoint/2010/main" val="1052683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58D0A-9352-4AA3-6CD3-1EBBFADD581E}"/>
              </a:ext>
            </a:extLst>
          </p:cNvPr>
          <p:cNvSpPr>
            <a:spLocks noGrp="1"/>
          </p:cNvSpPr>
          <p:nvPr>
            <p:ph type="title"/>
          </p:nvPr>
        </p:nvSpPr>
        <p:spPr/>
        <p:txBody>
          <a:bodyPr/>
          <a:lstStyle/>
          <a:p>
            <a:r>
              <a:rPr lang="en-US" dirty="0"/>
              <a:t>Review: Correlation vs Prediction</a:t>
            </a:r>
          </a:p>
        </p:txBody>
      </p:sp>
      <p:sp>
        <p:nvSpPr>
          <p:cNvPr id="3" name="Content Placeholder 2">
            <a:extLst>
              <a:ext uri="{FF2B5EF4-FFF2-40B4-BE49-F238E27FC236}">
                <a16:creationId xmlns:a16="http://schemas.microsoft.com/office/drawing/2014/main" id="{93EFB4CD-5E03-5F04-E0E5-BF90FDC21F5E}"/>
              </a:ext>
            </a:extLst>
          </p:cNvPr>
          <p:cNvSpPr>
            <a:spLocks noGrp="1"/>
          </p:cNvSpPr>
          <p:nvPr>
            <p:ph idx="1"/>
          </p:nvPr>
        </p:nvSpPr>
        <p:spPr/>
        <p:txBody>
          <a:bodyPr/>
          <a:lstStyle/>
          <a:p>
            <a:r>
              <a:rPr lang="en-US" dirty="0"/>
              <a:t>Correlation: How strongly do the variables move together in a linear pattern?</a:t>
            </a:r>
          </a:p>
          <a:p>
            <a:r>
              <a:rPr lang="en-US" dirty="0"/>
              <a:t>Regression: What outcome does the fitted line predict for a given input?</a:t>
            </a:r>
          </a:p>
          <a:p>
            <a:endParaRPr lang="en-US" dirty="0"/>
          </a:p>
          <a:p>
            <a:r>
              <a:rPr lang="en-US" dirty="0"/>
              <a:t>Correlation is symmetrical, prediction is directional</a:t>
            </a:r>
          </a:p>
        </p:txBody>
      </p:sp>
    </p:spTree>
    <p:extLst>
      <p:ext uri="{BB962C8B-B14F-4D97-AF65-F5344CB8AC3E}">
        <p14:creationId xmlns:p14="http://schemas.microsoft.com/office/powerpoint/2010/main" val="55967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3ED5F-9CC6-A209-CC91-A3402F9B4862}"/>
              </a:ext>
            </a:extLst>
          </p:cNvPr>
          <p:cNvSpPr>
            <a:spLocks noGrp="1"/>
          </p:cNvSpPr>
          <p:nvPr>
            <p:ph type="title"/>
          </p:nvPr>
        </p:nvSpPr>
        <p:spPr/>
        <p:txBody>
          <a:bodyPr>
            <a:normAutofit/>
          </a:bodyPr>
          <a:lstStyle/>
          <a:p>
            <a:r>
              <a:rPr lang="en-GB" dirty="0"/>
              <a:t>Prediction Has a Direction</a:t>
            </a:r>
            <a:endParaRPr lang="en-US" dirty="0"/>
          </a:p>
        </p:txBody>
      </p:sp>
      <p:sp>
        <p:nvSpPr>
          <p:cNvPr id="3" name="Content Placeholder 2">
            <a:extLst>
              <a:ext uri="{FF2B5EF4-FFF2-40B4-BE49-F238E27FC236}">
                <a16:creationId xmlns:a16="http://schemas.microsoft.com/office/drawing/2014/main" id="{33789277-A54C-600B-5D1B-CC6FA5A75AA3}"/>
              </a:ext>
            </a:extLst>
          </p:cNvPr>
          <p:cNvSpPr>
            <a:spLocks noGrp="1"/>
          </p:cNvSpPr>
          <p:nvPr>
            <p:ph idx="1"/>
          </p:nvPr>
        </p:nvSpPr>
        <p:spPr/>
        <p:txBody>
          <a:bodyPr>
            <a:normAutofit/>
          </a:bodyPr>
          <a:lstStyle/>
          <a:p>
            <a:pPr marL="0" lvl="0" indent="0">
              <a:buNone/>
            </a:pPr>
            <a:r>
              <a:rPr lang="en-GB" b="1" dirty="0"/>
              <a:t>Outcome ~ Predictor</a:t>
            </a:r>
          </a:p>
          <a:p>
            <a:r>
              <a:rPr lang="en-GB" dirty="0"/>
              <a:t>Outcome on the y, predictor on the x.</a:t>
            </a:r>
          </a:p>
          <a:p>
            <a:r>
              <a:rPr lang="en-GB" dirty="0"/>
              <a:t>Do these two models answer the same question?</a:t>
            </a:r>
          </a:p>
          <a:p>
            <a:pPr lvl="1"/>
            <a:r>
              <a:rPr lang="en-GB" dirty="0"/>
              <a:t>points ~ fouls</a:t>
            </a:r>
          </a:p>
          <a:p>
            <a:pPr lvl="1"/>
            <a:r>
              <a:rPr lang="en-GB" dirty="0"/>
              <a:t>fouls ~ points</a:t>
            </a:r>
          </a:p>
          <a:p>
            <a:r>
              <a:rPr lang="en-GB" b="1" u="sng" dirty="0"/>
              <a:t>Why</a:t>
            </a:r>
            <a:r>
              <a:rPr lang="en-GB" dirty="0"/>
              <a:t> would you expect them to be related?</a:t>
            </a:r>
          </a:p>
          <a:p>
            <a:pPr lvl="1"/>
            <a:r>
              <a:rPr lang="en-US" dirty="0"/>
              <a:t>points ~ assists</a:t>
            </a:r>
          </a:p>
          <a:p>
            <a:pPr lvl="2"/>
            <a:r>
              <a:rPr lang="en-US" dirty="0"/>
              <a:t>Can describe how assists relate to points</a:t>
            </a:r>
          </a:p>
          <a:p>
            <a:pPr lvl="2"/>
            <a:r>
              <a:rPr lang="en-US" dirty="0"/>
              <a:t>Cannot be used to conclude more passing = more points</a:t>
            </a:r>
          </a:p>
        </p:txBody>
      </p:sp>
    </p:spTree>
    <p:extLst>
      <p:ext uri="{BB962C8B-B14F-4D97-AF65-F5344CB8AC3E}">
        <p14:creationId xmlns:p14="http://schemas.microsoft.com/office/powerpoint/2010/main" val="235406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D9EEA-D05C-BD78-74EE-783FFD69D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3C546-B30A-DD64-9B57-FA9C1BCCA8CA}"/>
              </a:ext>
            </a:extLst>
          </p:cNvPr>
          <p:cNvSpPr>
            <a:spLocks noGrp="1"/>
          </p:cNvSpPr>
          <p:nvPr>
            <p:ph type="title"/>
          </p:nvPr>
        </p:nvSpPr>
        <p:spPr/>
        <p:txBody>
          <a:bodyPr>
            <a:normAutofit/>
          </a:bodyPr>
          <a:lstStyle/>
          <a:p>
            <a:r>
              <a:rPr lang="en-GB" dirty="0"/>
              <a:t>Prediction Has a Direction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11CC80A-73DA-B3DC-CEA2-628F3D00B47E}"/>
                  </a:ext>
                </a:extLst>
              </p:cNvPr>
              <p:cNvSpPr>
                <a:spLocks noGrp="1"/>
              </p:cNvSpPr>
              <p:nvPr>
                <p:ph idx="1"/>
              </p:nvPr>
            </p:nvSpPr>
            <p:spPr/>
            <p:txBody>
              <a:bodyPr>
                <a:normAutofit/>
              </a:bodyPr>
              <a:lstStyle/>
              <a:p>
                <a:pPr marL="0" lvl="0" indent="0">
                  <a:buNone/>
                </a:pPr>
                <a:r>
                  <a:rPr lang="en-GB" b="1" dirty="0"/>
                  <a:t>Outcome ~ Predictor</a:t>
                </a:r>
                <a:endParaRPr lang="en-GB" dirty="0"/>
              </a:p>
              <a:p>
                <a:pPr lvl="0"/>
                <a:r>
                  <a:rPr lang="en-GB" dirty="0"/>
                  <a:t>To test the direction, use this: </a:t>
                </a:r>
                <a:r>
                  <a:rPr lang="en-GB" i="1" dirty="0"/>
                  <a:t>"We are using [ </a:t>
                </a:r>
                <a14:m>
                  <m:oMath xmlns:m="http://schemas.openxmlformats.org/officeDocument/2006/math">
                    <m:r>
                      <a:rPr lang="en-US" i="1">
                        <a:latin typeface="Cambria Math" panose="02040503050406030204" pitchFamily="18" charset="0"/>
                      </a:rPr>
                      <m:t>𝑋</m:t>
                    </m:r>
                  </m:oMath>
                </a14:m>
                <a:r>
                  <a:rPr lang="en-GB" i="1" dirty="0"/>
                  <a:t>] to predict [ </a:t>
                </a:r>
                <a14:m>
                  <m:oMath xmlns:m="http://schemas.openxmlformats.org/officeDocument/2006/math">
                    <m:r>
                      <a:rPr lang="en-US" i="1">
                        <a:latin typeface="Cambria Math" panose="02040503050406030204" pitchFamily="18" charset="0"/>
                      </a:rPr>
                      <m:t>𝑌</m:t>
                    </m:r>
                  </m:oMath>
                </a14:m>
                <a:r>
                  <a:rPr lang="en-GB" i="1" dirty="0"/>
                  <a:t>]."</a:t>
                </a:r>
                <a:r>
                  <a:rPr lang="en-GB" dirty="0"/>
                  <a:t> </a:t>
                </a:r>
              </a:p>
              <a:p>
                <a:pPr lvl="1"/>
                <a:r>
                  <a:rPr lang="en-GB" dirty="0"/>
                  <a:t>Ask yourself: Does it make sense?</a:t>
                </a:r>
              </a:p>
            </p:txBody>
          </p:sp>
        </mc:Choice>
        <mc:Fallback xmlns="">
          <p:sp>
            <p:nvSpPr>
              <p:cNvPr id="3" name="Content Placeholder 2">
                <a:extLst>
                  <a:ext uri="{FF2B5EF4-FFF2-40B4-BE49-F238E27FC236}">
                    <a16:creationId xmlns:a16="http://schemas.microsoft.com/office/drawing/2014/main" id="{C11CC80A-73DA-B3DC-CEA2-628F3D00B47E}"/>
                  </a:ext>
                </a:extLst>
              </p:cNvPr>
              <p:cNvSpPr>
                <a:spLocks noGrp="1" noRot="1" noChangeAspect="1" noMove="1" noResize="1" noEditPoints="1" noAdjustHandles="1" noChangeArrowheads="1" noChangeShapeType="1" noTextEdit="1"/>
              </p:cNvSpPr>
              <p:nvPr>
                <p:ph idx="1"/>
              </p:nvPr>
            </p:nvSpPr>
            <p:spPr>
              <a:blipFill>
                <a:blip r:embed="rId3"/>
                <a:stretch>
                  <a:fillRect l="-1206" t="-2139"/>
                </a:stretch>
              </a:blipFill>
            </p:spPr>
            <p:txBody>
              <a:bodyPr/>
              <a:lstStyle/>
              <a:p>
                <a:r>
                  <a:rPr lang="en-US">
                    <a:noFill/>
                  </a:rPr>
                  <a:t> </a:t>
                </a:r>
              </a:p>
            </p:txBody>
          </p:sp>
        </mc:Fallback>
      </mc:AlternateContent>
    </p:spTree>
    <p:extLst>
      <p:ext uri="{BB962C8B-B14F-4D97-AF65-F5344CB8AC3E}">
        <p14:creationId xmlns:p14="http://schemas.microsoft.com/office/powerpoint/2010/main" val="2925628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8EF43-2371-1A30-A981-28FD7ABF089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5EFECE-F3E8-9B2D-3A2F-B9808243F507}"/>
              </a:ext>
            </a:extLst>
          </p:cNvPr>
          <p:cNvSpPr>
            <a:spLocks noGrp="1"/>
          </p:cNvSpPr>
          <p:nvPr>
            <p:ph type="sldNum" sz="quarter" idx="11"/>
          </p:nvPr>
        </p:nvSpPr>
        <p:spPr/>
        <p:txBody>
          <a:bodyPr/>
          <a:lstStyle/>
          <a:p>
            <a:fld id="{45C00377-489B-40EC-B059-26BDDD2E89B9}" type="slidenum">
              <a:rPr lang="en-US" smtClean="0"/>
              <a:pPr/>
              <a:t>6</a:t>
            </a:fld>
            <a:endParaRPr lang="en-US"/>
          </a:p>
        </p:txBody>
      </p:sp>
      <p:sp>
        <p:nvSpPr>
          <p:cNvPr id="3" name="Title 1">
            <a:extLst>
              <a:ext uri="{FF2B5EF4-FFF2-40B4-BE49-F238E27FC236}">
                <a16:creationId xmlns:a16="http://schemas.microsoft.com/office/drawing/2014/main" id="{2E7F8DDD-0512-1CB3-6632-709EDDF6E181}"/>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cap="none" dirty="0"/>
              <a:t>Trend line vs regression</a:t>
            </a:r>
          </a:p>
        </p:txBody>
      </p:sp>
    </p:spTree>
    <p:extLst>
      <p:ext uri="{BB962C8B-B14F-4D97-AF65-F5344CB8AC3E}">
        <p14:creationId xmlns:p14="http://schemas.microsoft.com/office/powerpoint/2010/main" val="41437155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756C3-D1EA-CF29-2ED9-AD0982155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748D91-9626-50E7-A7D5-29B538F93B32}"/>
              </a:ext>
            </a:extLst>
          </p:cNvPr>
          <p:cNvSpPr>
            <a:spLocks noGrp="1"/>
          </p:cNvSpPr>
          <p:nvPr>
            <p:ph type="title"/>
          </p:nvPr>
        </p:nvSpPr>
        <p:spPr/>
        <p:txBody>
          <a:bodyPr>
            <a:normAutofit/>
          </a:bodyPr>
          <a:lstStyle/>
          <a:p>
            <a:r>
              <a:rPr lang="en-GB" dirty="0"/>
              <a:t>Trend Lines vs. Regressions</a:t>
            </a:r>
            <a:endParaRPr lang="en-US" dirty="0"/>
          </a:p>
        </p:txBody>
      </p:sp>
      <p:sp>
        <p:nvSpPr>
          <p:cNvPr id="3" name="Content Placeholder 2">
            <a:extLst>
              <a:ext uri="{FF2B5EF4-FFF2-40B4-BE49-F238E27FC236}">
                <a16:creationId xmlns:a16="http://schemas.microsoft.com/office/drawing/2014/main" id="{6F8E28E1-9D88-3B65-D0B7-453C47AD8FAA}"/>
              </a:ext>
            </a:extLst>
          </p:cNvPr>
          <p:cNvSpPr>
            <a:spLocks noGrp="1"/>
          </p:cNvSpPr>
          <p:nvPr>
            <p:ph idx="1"/>
          </p:nvPr>
        </p:nvSpPr>
        <p:spPr/>
        <p:txBody>
          <a:bodyPr>
            <a:normAutofit/>
          </a:bodyPr>
          <a:lstStyle/>
          <a:p>
            <a:r>
              <a:rPr lang="en-GB" dirty="0"/>
              <a:t>A trend line is NOT the same as a predictive model, It is a descriptive </a:t>
            </a:r>
            <a:r>
              <a:rPr lang="en-GB" b="1" dirty="0"/>
              <a:t>visual summary</a:t>
            </a:r>
            <a:r>
              <a:rPr lang="en-GB" dirty="0"/>
              <a:t> of the pattern. </a:t>
            </a:r>
          </a:p>
          <a:p>
            <a:r>
              <a:rPr lang="en-GB" dirty="0"/>
              <a:t>A regression model (simple linear regression) uses a </a:t>
            </a:r>
            <a:r>
              <a:rPr lang="en-GB" b="1" dirty="0"/>
              <a:t>statistical method</a:t>
            </a:r>
            <a:r>
              <a:rPr lang="en-GB" dirty="0"/>
              <a:t>.</a:t>
            </a:r>
          </a:p>
          <a:p>
            <a:endParaRPr lang="en-GB" b="1" dirty="0"/>
          </a:p>
        </p:txBody>
      </p:sp>
      <p:pic>
        <p:nvPicPr>
          <p:cNvPr id="4" name="Picture 3">
            <a:extLst>
              <a:ext uri="{FF2B5EF4-FFF2-40B4-BE49-F238E27FC236}">
                <a16:creationId xmlns:a16="http://schemas.microsoft.com/office/drawing/2014/main" id="{539ED799-7BA1-4503-6A45-6FBDA0DE5A3B}"/>
              </a:ext>
            </a:extLst>
          </p:cNvPr>
          <p:cNvPicPr>
            <a:picLocks noChangeAspect="1"/>
          </p:cNvPicPr>
          <p:nvPr/>
        </p:nvPicPr>
        <p:blipFill>
          <a:blip r:embed="rId3"/>
          <a:stretch>
            <a:fillRect/>
          </a:stretch>
        </p:blipFill>
        <p:spPr>
          <a:xfrm>
            <a:off x="7119257" y="3429000"/>
            <a:ext cx="3313398" cy="2912085"/>
          </a:xfrm>
          <a:prstGeom prst="rect">
            <a:avLst/>
          </a:prstGeom>
        </p:spPr>
      </p:pic>
      <p:pic>
        <p:nvPicPr>
          <p:cNvPr id="5" name="Picture 4">
            <a:extLst>
              <a:ext uri="{FF2B5EF4-FFF2-40B4-BE49-F238E27FC236}">
                <a16:creationId xmlns:a16="http://schemas.microsoft.com/office/drawing/2014/main" id="{2D5FB1D7-2FB4-0D12-8775-DDC3CF1038A5}"/>
              </a:ext>
            </a:extLst>
          </p:cNvPr>
          <p:cNvPicPr>
            <a:picLocks noChangeAspect="1"/>
          </p:cNvPicPr>
          <p:nvPr/>
        </p:nvPicPr>
        <p:blipFill>
          <a:blip r:embed="rId4"/>
          <a:stretch>
            <a:fillRect/>
          </a:stretch>
        </p:blipFill>
        <p:spPr>
          <a:xfrm>
            <a:off x="1759345" y="3428999"/>
            <a:ext cx="3313399" cy="2912085"/>
          </a:xfrm>
          <a:prstGeom prst="rect">
            <a:avLst/>
          </a:prstGeom>
        </p:spPr>
      </p:pic>
      <p:cxnSp>
        <p:nvCxnSpPr>
          <p:cNvPr id="7" name="Straight Connector 6">
            <a:extLst>
              <a:ext uri="{FF2B5EF4-FFF2-40B4-BE49-F238E27FC236}">
                <a16:creationId xmlns:a16="http://schemas.microsoft.com/office/drawing/2014/main" id="{CDDFC4A6-F67E-AFEB-BE87-F2E209706454}"/>
              </a:ext>
            </a:extLst>
          </p:cNvPr>
          <p:cNvCxnSpPr/>
          <p:nvPr/>
        </p:nvCxnSpPr>
        <p:spPr>
          <a:xfrm>
            <a:off x="2207623" y="3931920"/>
            <a:ext cx="2560320" cy="1776549"/>
          </a:xfrm>
          <a:prstGeom prst="line">
            <a:avLst/>
          </a:prstGeom>
          <a:ln w="28575">
            <a:prstDash val="sys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83464C2-D268-2537-F882-5572E1382DFD}"/>
                  </a:ext>
                </a:extLst>
              </p:cNvPr>
              <p:cNvSpPr txBox="1"/>
              <p:nvPr/>
            </p:nvSpPr>
            <p:spPr>
              <a:xfrm>
                <a:off x="5675077" y="4358529"/>
                <a:ext cx="637623" cy="923330"/>
              </a:xfrm>
              <a:prstGeom prst="rect">
                <a:avLst/>
              </a:prstGeom>
              <a:noFill/>
            </p:spPr>
            <p:txBody>
              <a:bodyPr wrap="square" lIns="0" tIns="0" rIns="0" bIns="0" rtlCol="0">
                <a:spAutoFit/>
              </a:bodyPr>
              <a:lstStyle/>
              <a:p>
                <a:pPr/>
                <a14:m>
                  <m:oMathPara xmlns:m="http://schemas.openxmlformats.org/officeDocument/2006/math">
                    <m:oMath>
                      <m:r>
                        <a:rPr lang="en-US" sz="6000" i="1" smtClean="0">
                          <a:latin typeface="Cambria Math" panose="02040503050406030204" pitchFamily="18" charset="0"/>
                          <a:ea typeface="Cambria Math" panose="02040503050406030204" pitchFamily="18" charset="0"/>
                        </a:rPr>
                        <m:t>≠</m:t>
                      </m:r>
                    </m:oMath>
                  </m:oMathPara>
                </a14:m>
                <a:endParaRPr lang="en-US" sz="6000" dirty="0"/>
              </a:p>
            </p:txBody>
          </p:sp>
        </mc:Choice>
        <mc:Fallback xmlns="">
          <p:sp>
            <p:nvSpPr>
              <p:cNvPr id="8" name="TextBox 7">
                <a:extLst>
                  <a:ext uri="{FF2B5EF4-FFF2-40B4-BE49-F238E27FC236}">
                    <a16:creationId xmlns:a16="http://schemas.microsoft.com/office/drawing/2014/main" id="{B83464C2-D268-2537-F882-5572E1382DFD}"/>
                  </a:ext>
                </a:extLst>
              </p:cNvPr>
              <p:cNvSpPr txBox="1">
                <a:spLocks noRot="1" noChangeAspect="1" noMove="1" noResize="1" noEditPoints="1" noAdjustHandles="1" noChangeArrowheads="1" noChangeShapeType="1" noTextEdit="1"/>
              </p:cNvSpPr>
              <p:nvPr/>
            </p:nvSpPr>
            <p:spPr>
              <a:xfrm>
                <a:off x="5675077" y="4358529"/>
                <a:ext cx="637623" cy="923330"/>
              </a:xfrm>
              <a:prstGeom prst="rect">
                <a:avLst/>
              </a:prstGeom>
              <a:blipFill>
                <a:blip r:embed="rId5"/>
                <a:stretch>
                  <a:fillRect l="-28846" r="-28846" b="-4110"/>
                </a:stretch>
              </a:blipFill>
            </p:spPr>
            <p:txBody>
              <a:bodyPr/>
              <a:lstStyle/>
              <a:p>
                <a:r>
                  <a:rPr lang="en-US">
                    <a:noFill/>
                  </a:rPr>
                  <a:t> </a:t>
                </a:r>
              </a:p>
            </p:txBody>
          </p:sp>
        </mc:Fallback>
      </mc:AlternateContent>
    </p:spTree>
    <p:extLst>
      <p:ext uri="{BB962C8B-B14F-4D97-AF65-F5344CB8AC3E}">
        <p14:creationId xmlns:p14="http://schemas.microsoft.com/office/powerpoint/2010/main" val="431497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2" presetClass="entr" presetSubtype="4"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p:tgtEl>
                                          <p:spTgt spid="7"/>
                                        </p:tgtEl>
                                        <p:attrNameLst>
                                          <p:attrName>ppt_y</p:attrName>
                                        </p:attrNameLst>
                                      </p:cBhvr>
                                      <p:tavLst>
                                        <p:tav tm="0">
                                          <p:val>
                                            <p:strVal val="#ppt_y+#ppt_h*1.125000"/>
                                          </p:val>
                                        </p:tav>
                                        <p:tav tm="100000">
                                          <p:val>
                                            <p:strVal val="#ppt_y"/>
                                          </p:val>
                                        </p:tav>
                                      </p:tavLst>
                                    </p:anim>
                                    <p:animEffect transition="in" filter="wipe(up)">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4ADAB-17CA-0933-5F8F-BA08F49BF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A2BB06-3732-8C7F-6BFE-41E824FDC3F6}"/>
              </a:ext>
            </a:extLst>
          </p:cNvPr>
          <p:cNvSpPr>
            <a:spLocks noGrp="1"/>
          </p:cNvSpPr>
          <p:nvPr>
            <p:ph type="title"/>
          </p:nvPr>
        </p:nvSpPr>
        <p:spPr/>
        <p:txBody>
          <a:bodyPr>
            <a:normAutofit/>
          </a:bodyPr>
          <a:lstStyle/>
          <a:p>
            <a:r>
              <a:rPr lang="en-GB" dirty="0"/>
              <a:t>Trend Lines vs. Regressions</a:t>
            </a:r>
            <a:endParaRPr lang="en-US" dirty="0"/>
          </a:p>
        </p:txBody>
      </p:sp>
      <p:sp>
        <p:nvSpPr>
          <p:cNvPr id="3" name="Content Placeholder 2">
            <a:extLst>
              <a:ext uri="{FF2B5EF4-FFF2-40B4-BE49-F238E27FC236}">
                <a16:creationId xmlns:a16="http://schemas.microsoft.com/office/drawing/2014/main" id="{1653CB0E-58ED-EB59-A60C-EAEF7AC83E51}"/>
              </a:ext>
            </a:extLst>
          </p:cNvPr>
          <p:cNvSpPr>
            <a:spLocks noGrp="1"/>
          </p:cNvSpPr>
          <p:nvPr>
            <p:ph idx="1"/>
          </p:nvPr>
        </p:nvSpPr>
        <p:spPr/>
        <p:txBody>
          <a:bodyPr>
            <a:normAutofit/>
          </a:bodyPr>
          <a:lstStyle/>
          <a:p>
            <a:r>
              <a:rPr lang="en-GB" dirty="0"/>
              <a:t>A trend line is NOT the same as a predictive model, It is a descriptive </a:t>
            </a:r>
            <a:r>
              <a:rPr lang="en-GB" b="1" dirty="0"/>
              <a:t>visual summary</a:t>
            </a:r>
            <a:r>
              <a:rPr lang="en-GB" dirty="0"/>
              <a:t> of the pattern. </a:t>
            </a:r>
          </a:p>
          <a:p>
            <a:r>
              <a:rPr lang="en-GB" dirty="0"/>
              <a:t>A regression model (simple linear regression) uses a </a:t>
            </a:r>
            <a:r>
              <a:rPr lang="en-GB" b="1" dirty="0"/>
              <a:t>statistical method</a:t>
            </a:r>
            <a:r>
              <a:rPr lang="en-GB" dirty="0"/>
              <a:t>.</a:t>
            </a:r>
          </a:p>
          <a:p>
            <a:endParaRPr lang="en-GB" b="1" dirty="0"/>
          </a:p>
          <a:p>
            <a:pPr marL="0" lvl="0" indent="0" algn="ctr">
              <a:buNone/>
            </a:pPr>
            <a:r>
              <a:rPr lang="en-GB" b="1" dirty="0"/>
              <a:t>BUT</a:t>
            </a:r>
          </a:p>
          <a:p>
            <a:pPr marL="0" lvl="0" indent="0">
              <a:buNone/>
            </a:pPr>
            <a:endParaRPr lang="en-GB" b="1" dirty="0"/>
          </a:p>
          <a:p>
            <a:pPr lvl="0"/>
            <a:r>
              <a:rPr lang="en-GB" dirty="0"/>
              <a:t>Excel’s linear trendline uses statistical methods to fit the trend line by </a:t>
            </a:r>
            <a:r>
              <a:rPr lang="en-GB" b="1" dirty="0"/>
              <a:t>minimizing the residual</a:t>
            </a:r>
          </a:p>
          <a:p>
            <a:pPr lvl="0"/>
            <a:r>
              <a:rPr lang="en-GB" dirty="0"/>
              <a:t>The displayed equation lets us calculate predicted outcomes.</a:t>
            </a:r>
          </a:p>
          <a:p>
            <a:pPr lvl="0"/>
            <a:endParaRPr lang="en-GB" dirty="0"/>
          </a:p>
        </p:txBody>
      </p:sp>
    </p:spTree>
    <p:extLst>
      <p:ext uri="{BB962C8B-B14F-4D97-AF65-F5344CB8AC3E}">
        <p14:creationId xmlns:p14="http://schemas.microsoft.com/office/powerpoint/2010/main" val="1959641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56A6A-3E6A-FD02-9CBE-6115BA7F2DF6}"/>
              </a:ext>
            </a:extLst>
          </p:cNvPr>
          <p:cNvSpPr>
            <a:spLocks noGrp="1"/>
          </p:cNvSpPr>
          <p:nvPr>
            <p:ph type="title"/>
          </p:nvPr>
        </p:nvSpPr>
        <p:spPr/>
        <p:txBody>
          <a:bodyPr/>
          <a:lstStyle/>
          <a:p>
            <a:r>
              <a:rPr lang="en-GB" dirty="0"/>
              <a:t>Minimizing the residuals</a:t>
            </a:r>
            <a:endParaRPr lang="en-US" dirty="0"/>
          </a:p>
        </p:txBody>
      </p:sp>
      <p:sp>
        <p:nvSpPr>
          <p:cNvPr id="3" name="Content Placeholder 2">
            <a:extLst>
              <a:ext uri="{FF2B5EF4-FFF2-40B4-BE49-F238E27FC236}">
                <a16:creationId xmlns:a16="http://schemas.microsoft.com/office/drawing/2014/main" id="{DAD80B86-7FCF-1C00-B205-868FA8D5065D}"/>
              </a:ext>
            </a:extLst>
          </p:cNvPr>
          <p:cNvSpPr>
            <a:spLocks noGrp="1"/>
          </p:cNvSpPr>
          <p:nvPr>
            <p:ph idx="1"/>
          </p:nvPr>
        </p:nvSpPr>
        <p:spPr/>
        <p:txBody>
          <a:bodyPr/>
          <a:lstStyle/>
          <a:p>
            <a:pPr marL="0" lvl="0" indent="0" algn="ctr">
              <a:buNone/>
            </a:pPr>
            <a:r>
              <a:rPr lang="en-GB" dirty="0"/>
              <a:t>Residual = Actual – Predicted</a:t>
            </a:r>
          </a:p>
          <a:p>
            <a:pPr marL="0" lvl="0" indent="0" algn="ctr">
              <a:buNone/>
            </a:pPr>
            <a:endParaRPr lang="en-GB" dirty="0"/>
          </a:p>
          <a:p>
            <a:pPr lvl="0"/>
            <a:r>
              <a:rPr lang="en-GB" b="1" dirty="0"/>
              <a:t>Positive:</a:t>
            </a:r>
            <a:r>
              <a:rPr lang="en-GB" dirty="0"/>
              <a:t> Actual outcome is above the prediction.</a:t>
            </a:r>
          </a:p>
          <a:p>
            <a:pPr lvl="0"/>
            <a:r>
              <a:rPr lang="en-GB" b="1" dirty="0"/>
              <a:t>Negative:</a:t>
            </a:r>
            <a:r>
              <a:rPr lang="en-GB" dirty="0"/>
              <a:t> Actual outcome is below the prediction.</a:t>
            </a:r>
          </a:p>
          <a:p>
            <a:pPr lvl="0"/>
            <a:endParaRPr lang="en-GB" dirty="0"/>
          </a:p>
          <a:p>
            <a:r>
              <a:rPr lang="en-GB" b="1" dirty="0"/>
              <a:t>Example:</a:t>
            </a:r>
          </a:p>
          <a:p>
            <a:pPr lvl="1"/>
            <a:r>
              <a:rPr lang="en-GB" dirty="0"/>
              <a:t>Predicted wins = 43</a:t>
            </a:r>
          </a:p>
          <a:p>
            <a:pPr lvl="1"/>
            <a:r>
              <a:rPr lang="en-GB" dirty="0"/>
              <a:t>Actual wins = 48</a:t>
            </a:r>
          </a:p>
          <a:p>
            <a:pPr lvl="1"/>
            <a:r>
              <a:rPr lang="en-GB" b="1" dirty="0"/>
              <a:t>Residual = +5 wins</a:t>
            </a:r>
            <a:endParaRPr lang="en-GB" dirty="0"/>
          </a:p>
          <a:p>
            <a:endParaRPr lang="en-US" dirty="0"/>
          </a:p>
        </p:txBody>
      </p:sp>
      <p:pic>
        <p:nvPicPr>
          <p:cNvPr id="4" name="Picture 3" descr="Ordinary Least Squares">
            <a:extLst>
              <a:ext uri="{FF2B5EF4-FFF2-40B4-BE49-F238E27FC236}">
                <a16:creationId xmlns:a16="http://schemas.microsoft.com/office/drawing/2014/main" id="{67DE030A-41C3-CF05-91AA-FBB3A7D40092}"/>
              </a:ext>
            </a:extLst>
          </p:cNvPr>
          <p:cNvPicPr>
            <a:picLocks noChangeAspect="1"/>
          </p:cNvPicPr>
          <p:nvPr/>
        </p:nvPicPr>
        <p:blipFill>
          <a:blip r:embed="rId3"/>
          <a:srcRect r="47815"/>
          <a:stretch>
            <a:fillRect/>
          </a:stretch>
        </p:blipFill>
        <p:spPr>
          <a:xfrm>
            <a:off x="6658791" y="3655975"/>
            <a:ext cx="3552009" cy="2836899"/>
          </a:xfrm>
          <a:prstGeom prst="rect">
            <a:avLst/>
          </a:prstGeom>
        </p:spPr>
      </p:pic>
    </p:spTree>
    <p:extLst>
      <p:ext uri="{BB962C8B-B14F-4D97-AF65-F5344CB8AC3E}">
        <p14:creationId xmlns:p14="http://schemas.microsoft.com/office/powerpoint/2010/main" val="3188084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780E6-31EB-5EFF-529C-C6A9A6151E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BFE99-E482-2F2E-3AA2-46BFF972B948}"/>
              </a:ext>
            </a:extLst>
          </p:cNvPr>
          <p:cNvSpPr>
            <a:spLocks noGrp="1"/>
          </p:cNvSpPr>
          <p:nvPr>
            <p:ph type="title"/>
          </p:nvPr>
        </p:nvSpPr>
        <p:spPr/>
        <p:txBody>
          <a:bodyPr>
            <a:normAutofit/>
          </a:bodyPr>
          <a:lstStyle/>
          <a:p>
            <a:r>
              <a:rPr lang="en-GB" dirty="0"/>
              <a:t>OLS Regressions</a:t>
            </a:r>
            <a:endParaRPr lang="en-US" dirty="0"/>
          </a:p>
        </p:txBody>
      </p:sp>
      <p:sp>
        <p:nvSpPr>
          <p:cNvPr id="3" name="Content Placeholder 2">
            <a:extLst>
              <a:ext uri="{FF2B5EF4-FFF2-40B4-BE49-F238E27FC236}">
                <a16:creationId xmlns:a16="http://schemas.microsoft.com/office/drawing/2014/main" id="{7DD0A584-095C-4E20-C711-61DC93723A44}"/>
              </a:ext>
            </a:extLst>
          </p:cNvPr>
          <p:cNvSpPr>
            <a:spLocks noGrp="1"/>
          </p:cNvSpPr>
          <p:nvPr>
            <p:ph idx="1"/>
          </p:nvPr>
        </p:nvSpPr>
        <p:spPr/>
        <p:txBody>
          <a:bodyPr>
            <a:normAutofit/>
          </a:bodyPr>
          <a:lstStyle/>
          <a:p>
            <a:pPr lvl="0"/>
            <a:r>
              <a:rPr lang="en-GB" dirty="0"/>
              <a:t>Ordinary Least Squares (OLS) chooses the slope and intercept that minimize the </a:t>
            </a:r>
            <a:r>
              <a:rPr lang="en-GB" b="1" dirty="0"/>
              <a:t>sum of squared residuals</a:t>
            </a:r>
            <a:r>
              <a:rPr lang="en-GB" dirty="0"/>
              <a:t>.</a:t>
            </a:r>
          </a:p>
        </p:txBody>
      </p:sp>
      <p:pic>
        <p:nvPicPr>
          <p:cNvPr id="4" name="Picture 3" descr="Ordinary Least Squares">
            <a:extLst>
              <a:ext uri="{FF2B5EF4-FFF2-40B4-BE49-F238E27FC236}">
                <a16:creationId xmlns:a16="http://schemas.microsoft.com/office/drawing/2014/main" id="{0EBA6671-550B-549C-2DF1-CD3A4F053B6E}"/>
              </a:ext>
            </a:extLst>
          </p:cNvPr>
          <p:cNvPicPr>
            <a:picLocks noChangeAspect="1"/>
          </p:cNvPicPr>
          <p:nvPr/>
        </p:nvPicPr>
        <p:blipFill>
          <a:blip r:embed="rId3"/>
          <a:stretch>
            <a:fillRect/>
          </a:stretch>
        </p:blipFill>
        <p:spPr>
          <a:xfrm>
            <a:off x="2209800" y="2937526"/>
            <a:ext cx="7772400" cy="3239437"/>
          </a:xfrm>
          <a:prstGeom prst="rect">
            <a:avLst/>
          </a:prstGeom>
        </p:spPr>
      </p:pic>
    </p:spTree>
    <p:extLst>
      <p:ext uri="{BB962C8B-B14F-4D97-AF65-F5344CB8AC3E}">
        <p14:creationId xmlns:p14="http://schemas.microsoft.com/office/powerpoint/2010/main" val="1864179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CA7AC-34F6-02D5-4E76-734BD294BB91}"/>
              </a:ext>
            </a:extLst>
          </p:cNvPr>
          <p:cNvSpPr>
            <a:spLocks noGrp="1"/>
          </p:cNvSpPr>
          <p:nvPr>
            <p:ph type="title"/>
          </p:nvPr>
        </p:nvSpPr>
        <p:spPr/>
        <p:txBody>
          <a:bodyPr/>
          <a:lstStyle/>
          <a:p>
            <a:r>
              <a:rPr lang="en-US" dirty="0"/>
              <a:t>Case Study 3, Bonus pt 1</a:t>
            </a:r>
          </a:p>
        </p:txBody>
      </p:sp>
      <p:sp>
        <p:nvSpPr>
          <p:cNvPr id="3" name="Content Placeholder 2">
            <a:extLst>
              <a:ext uri="{FF2B5EF4-FFF2-40B4-BE49-F238E27FC236}">
                <a16:creationId xmlns:a16="http://schemas.microsoft.com/office/drawing/2014/main" id="{8C65D152-9BA3-2C8D-879E-D3334BAAAFA1}"/>
              </a:ext>
            </a:extLst>
          </p:cNvPr>
          <p:cNvSpPr>
            <a:spLocks noGrp="1"/>
          </p:cNvSpPr>
          <p:nvPr>
            <p:ph idx="1"/>
          </p:nvPr>
        </p:nvSpPr>
        <p:spPr/>
        <p:txBody>
          <a:bodyPr/>
          <a:lstStyle/>
          <a:p>
            <a:r>
              <a:rPr lang="en-GB" dirty="0"/>
              <a:t>Identify one team whose actual y value is noticeably higher or lower than the model predicts.</a:t>
            </a:r>
          </a:p>
          <a:p>
            <a:endParaRPr lang="en-US" dirty="0"/>
          </a:p>
        </p:txBody>
      </p:sp>
      <p:pic>
        <p:nvPicPr>
          <p:cNvPr id="4" name="Picture 3" descr="Ordinary Least Squares">
            <a:extLst>
              <a:ext uri="{FF2B5EF4-FFF2-40B4-BE49-F238E27FC236}">
                <a16:creationId xmlns:a16="http://schemas.microsoft.com/office/drawing/2014/main" id="{4B8B928F-88AB-5C6A-09D9-E75D2C210BC8}"/>
              </a:ext>
            </a:extLst>
          </p:cNvPr>
          <p:cNvPicPr>
            <a:picLocks noChangeAspect="1"/>
          </p:cNvPicPr>
          <p:nvPr/>
        </p:nvPicPr>
        <p:blipFill>
          <a:blip r:embed="rId2"/>
          <a:srcRect r="47815"/>
          <a:stretch>
            <a:fillRect/>
          </a:stretch>
        </p:blipFill>
        <p:spPr>
          <a:xfrm>
            <a:off x="4072345" y="2976706"/>
            <a:ext cx="3552009" cy="2836899"/>
          </a:xfrm>
          <a:prstGeom prst="rect">
            <a:avLst/>
          </a:prstGeom>
        </p:spPr>
      </p:pic>
    </p:spTree>
    <p:extLst>
      <p:ext uri="{BB962C8B-B14F-4D97-AF65-F5344CB8AC3E}">
        <p14:creationId xmlns:p14="http://schemas.microsoft.com/office/powerpoint/2010/main" val="904317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5A3D8-E524-C496-ABBD-7C3156351AF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BFC01A-D881-D3C2-8DBD-20E30DE111A3}"/>
              </a:ext>
            </a:extLst>
          </p:cNvPr>
          <p:cNvSpPr>
            <a:spLocks noGrp="1"/>
          </p:cNvSpPr>
          <p:nvPr>
            <p:ph type="sldNum" sz="quarter" idx="11"/>
          </p:nvPr>
        </p:nvSpPr>
        <p:spPr/>
        <p:txBody>
          <a:bodyPr/>
          <a:lstStyle/>
          <a:p>
            <a:fld id="{45C00377-489B-40EC-B059-26BDDD2E89B9}" type="slidenum">
              <a:rPr lang="en-US" smtClean="0"/>
              <a:pPr/>
              <a:t>12</a:t>
            </a:fld>
            <a:endParaRPr lang="en-US"/>
          </a:p>
        </p:txBody>
      </p:sp>
      <p:sp>
        <p:nvSpPr>
          <p:cNvPr id="3" name="Title 1">
            <a:extLst>
              <a:ext uri="{FF2B5EF4-FFF2-40B4-BE49-F238E27FC236}">
                <a16:creationId xmlns:a16="http://schemas.microsoft.com/office/drawing/2014/main" id="{37A19A4C-5490-A09B-4998-F962B44FAC9D}"/>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cap="none" dirty="0"/>
              <a:t>Correlation vs Determination</a:t>
            </a:r>
          </a:p>
        </p:txBody>
      </p:sp>
    </p:spTree>
    <p:extLst>
      <p:ext uri="{BB962C8B-B14F-4D97-AF65-F5344CB8AC3E}">
        <p14:creationId xmlns:p14="http://schemas.microsoft.com/office/powerpoint/2010/main" val="3689162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B85F6EC-178A-1E9F-78FE-B7154FB09DF7}"/>
                  </a:ext>
                </a:extLst>
              </p:cNvPr>
              <p:cNvSpPr>
                <a:spLocks noGrp="1"/>
              </p:cNvSpPr>
              <p:nvPr>
                <p:ph type="title"/>
              </p:nvPr>
            </p:nvSpPr>
            <p:spPr/>
            <p:txBody>
              <a:bodyPr/>
              <a:lstStyle/>
              <a:p>
                <a:r>
                  <a:rPr lang="en-GB" dirty="0"/>
                  <a:t>Point of Confusion: </a:t>
                </a:r>
                <a14:m>
                  <m:oMath xmlns:m="http://schemas.openxmlformats.org/officeDocument/2006/math">
                    <m:r>
                      <a:rPr lang="en-US" i="1">
                        <a:latin typeface="Cambria Math" panose="02040503050406030204" pitchFamily="18" charset="0"/>
                      </a:rPr>
                      <m:t>𝑟</m:t>
                    </m:r>
                    <m:r>
                      <a:rPr lang="en-GB" b="0" i="0" smtClean="0">
                        <a:latin typeface="Cambria Math" panose="02040503050406030204" pitchFamily="18" charset="0"/>
                      </a:rPr>
                      <m:t> </m:t>
                    </m:r>
                    <m:r>
                      <m:rPr>
                        <m:sty m:val="p"/>
                      </m:rPr>
                      <a:rPr lang="en-GB" b="0" i="0" smtClean="0">
                        <a:latin typeface="Cambria Math" panose="02040503050406030204" pitchFamily="18" charset="0"/>
                      </a:rPr>
                      <m:t>vs</m:t>
                    </m:r>
                    <m:r>
                      <a:rPr lang="en-GB"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a:latin typeface="Cambria Math" panose="02040503050406030204" pitchFamily="18" charset="0"/>
                          </a:rPr>
                          <m:t>2</m:t>
                        </m:r>
                      </m:sup>
                    </m:sSup>
                  </m:oMath>
                </a14:m>
                <a:endParaRPr lang="en-US" dirty="0"/>
              </a:p>
            </p:txBody>
          </p:sp>
        </mc:Choice>
        <mc:Fallback xmlns="">
          <p:sp>
            <p:nvSpPr>
              <p:cNvPr id="2" name="Title 1">
                <a:extLst>
                  <a:ext uri="{FF2B5EF4-FFF2-40B4-BE49-F238E27FC236}">
                    <a16:creationId xmlns:a16="http://schemas.microsoft.com/office/drawing/2014/main" id="{8B85F6EC-178A-1E9F-78FE-B7154FB09DF7}"/>
                  </a:ext>
                </a:extLst>
              </p:cNvPr>
              <p:cNvSpPr>
                <a:spLocks noGrp="1" noRot="1" noChangeAspect="1" noMove="1" noResize="1" noEditPoints="1" noAdjustHandles="1" noChangeArrowheads="1" noChangeShapeType="1" noTextEdit="1"/>
              </p:cNvSpPr>
              <p:nvPr>
                <p:ph type="title"/>
              </p:nvPr>
            </p:nvSpPr>
            <p:spPr>
              <a:blipFill>
                <a:blip r:embed="rId3"/>
                <a:stretch>
                  <a:fillRect l="-2413" t="-8219" b="-20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83651C-6387-2E0A-9C68-CF13C45B98E8}"/>
                  </a:ext>
                </a:extLst>
              </p:cNvPr>
              <p:cNvSpPr>
                <a:spLocks noGrp="1"/>
              </p:cNvSpPr>
              <p:nvPr>
                <p:ph idx="1"/>
              </p:nvPr>
            </p:nvSpPr>
            <p:spPr/>
            <p:txBody>
              <a:bodyPr>
                <a:normAutofit/>
              </a:bodyPr>
              <a:lstStyle/>
              <a:p>
                <a:pPr marL="0" lvl="0" indent="0">
                  <a:buNone/>
                </a:pPr>
                <a:r>
                  <a:rPr lang="en-GB" b="1" dirty="0"/>
                  <a:t>The Correlation Coefficient (</a:t>
                </a:r>
                <a14:m>
                  <m:oMath xmlns:m="http://schemas.openxmlformats.org/officeDocument/2006/math">
                    <m:r>
                      <a:rPr lang="en-US" i="1">
                        <a:latin typeface="Cambria Math" panose="02040503050406030204" pitchFamily="18" charset="0"/>
                      </a:rPr>
                      <m:t>𝑟</m:t>
                    </m:r>
                  </m:oMath>
                </a14:m>
                <a:r>
                  <a:rPr lang="en-GB" b="1" dirty="0"/>
                  <a:t>):</a:t>
                </a:r>
                <a:r>
                  <a:rPr lang="en-GB" dirty="0"/>
                  <a:t> </a:t>
                </a:r>
              </a:p>
              <a:p>
                <a:pPr lvl="0"/>
                <a14:m>
                  <m:oMath xmlns:m="http://schemas.openxmlformats.org/officeDocument/2006/math">
                    <m:r>
                      <a:rPr lang="en-US" i="1">
                        <a:latin typeface="Cambria Math" panose="02040503050406030204" pitchFamily="18" charset="0"/>
                      </a:rPr>
                      <m:t>𝑟</m:t>
                    </m:r>
                  </m:oMath>
                </a14:m>
                <a:r>
                  <a:rPr lang="en-GB" dirty="0"/>
                  <a:t> tells us the </a:t>
                </a:r>
                <a:r>
                  <a:rPr lang="en-GB" i="1" dirty="0"/>
                  <a:t>strength and direction</a:t>
                </a:r>
                <a:r>
                  <a:rPr lang="en-GB" dirty="0"/>
                  <a:t> of a linear relationship </a:t>
                </a:r>
              </a:p>
              <a:p>
                <a:pPr lvl="0"/>
                <a:endParaRPr lang="en-GB" dirty="0"/>
              </a:p>
              <a:p>
                <a:pPr marL="0" lvl="0" indent="0">
                  <a:buNone/>
                </a:pPr>
                <a:r>
                  <a:rPr lang="en-GB" b="1" dirty="0"/>
                  <a:t>The Coefficient of Determination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smtClean="0">
                            <a:latin typeface="Cambria Math" panose="02040503050406030204" pitchFamily="18" charset="0"/>
                          </a:rPr>
                          <m:t>2</m:t>
                        </m:r>
                      </m:sup>
                    </m:sSup>
                  </m:oMath>
                </a14:m>
                <a:r>
                  <a:rPr lang="en-GB" b="1" dirty="0"/>
                  <a:t>):</a:t>
                </a:r>
                <a:r>
                  <a:rPr lang="en-GB" dirty="0"/>
                  <a:t> </a:t>
                </a:r>
              </a:p>
              <a:p>
                <a:pPr lvl="0"/>
                <a:r>
                  <a:rPr lang="en-GB" dirty="0"/>
                  <a:t>Describes the proportion of variation in the outcome accounted for by the fitted model.</a:t>
                </a:r>
              </a:p>
              <a:p>
                <a:r>
                  <a:rPr lang="en-GB" dirty="0"/>
                  <a:t>R² does not show whether the relationship is positive or negative.</a:t>
                </a:r>
              </a:p>
              <a:p>
                <a:pPr lvl="0"/>
                <a:r>
                  <a:rPr lang="en-GB" u="sng" dirty="0"/>
                  <a:t>For simple OLS regression</a:t>
                </a:r>
                <a:r>
                  <a:rPr lang="en-GB" dirty="0"/>
                  <a:t> with an intercept, </a:t>
                </a:r>
                <a:r>
                  <a:rPr lang="en-GB" b="1" dirty="0"/>
                  <a:t>R² = r²</a:t>
                </a:r>
                <a:r>
                  <a:rPr lang="en-GB" dirty="0"/>
                  <a:t>.</a:t>
                </a:r>
              </a:p>
            </p:txBody>
          </p:sp>
        </mc:Choice>
        <mc:Fallback xmlns="">
          <p:sp>
            <p:nvSpPr>
              <p:cNvPr id="3" name="Content Placeholder 2">
                <a:extLst>
                  <a:ext uri="{FF2B5EF4-FFF2-40B4-BE49-F238E27FC236}">
                    <a16:creationId xmlns:a16="http://schemas.microsoft.com/office/drawing/2014/main" id="{1983651C-6387-2E0A-9C68-CF13C45B98E8}"/>
                  </a:ext>
                </a:extLst>
              </p:cNvPr>
              <p:cNvSpPr>
                <a:spLocks noGrp="1" noRot="1" noChangeAspect="1" noMove="1" noResize="1" noEditPoints="1" noAdjustHandles="1" noChangeArrowheads="1" noChangeShapeType="1" noTextEdit="1"/>
              </p:cNvSpPr>
              <p:nvPr>
                <p:ph idx="1"/>
              </p:nvPr>
            </p:nvSpPr>
            <p:spPr>
              <a:blipFill>
                <a:blip r:embed="rId4"/>
                <a:stretch>
                  <a:fillRect l="-1206" t="-2139"/>
                </a:stretch>
              </a:blipFill>
            </p:spPr>
            <p:txBody>
              <a:bodyPr/>
              <a:lstStyle/>
              <a:p>
                <a:r>
                  <a:rPr lang="en-US">
                    <a:noFill/>
                  </a:rPr>
                  <a:t> </a:t>
                </a:r>
              </a:p>
            </p:txBody>
          </p:sp>
        </mc:Fallback>
      </mc:AlternateContent>
    </p:spTree>
    <p:extLst>
      <p:ext uri="{BB962C8B-B14F-4D97-AF65-F5344CB8AC3E}">
        <p14:creationId xmlns:p14="http://schemas.microsoft.com/office/powerpoint/2010/main" val="1250466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2DF63F2-6FEA-D979-ECF4-533E4C17824D}"/>
                  </a:ext>
                </a:extLst>
              </p:cNvPr>
              <p:cNvSpPr>
                <a:spLocks noGrp="1"/>
              </p:cNvSpPr>
              <p:nvPr>
                <p:ph type="title"/>
              </p:nvPr>
            </p:nvSpPr>
            <p:spPr/>
            <p:txBody>
              <a:bodyPr/>
              <a:lstStyle/>
              <a:p>
                <a:r>
                  <a:rPr lang="en-US" dirty="0"/>
                  <a:t>Interpreting </a:t>
                </a:r>
                <a14:m>
                  <m:oMath xmlns:m="http://schemas.openxmlformats.org/officeDocument/2006/math">
                    <m:r>
                      <a:rPr lang="en-US" i="1">
                        <a:latin typeface="Cambria Math" panose="02040503050406030204" pitchFamily="18" charset="0"/>
                      </a:rPr>
                      <m:t>𝑟</m:t>
                    </m:r>
                    <m:r>
                      <a:rPr lang="en-GB">
                        <a:latin typeface="Cambria Math" panose="02040503050406030204" pitchFamily="18" charset="0"/>
                      </a:rPr>
                      <m:t> </m:t>
                    </m:r>
                    <m:r>
                      <m:rPr>
                        <m:sty m:val="p"/>
                      </m:rPr>
                      <a:rPr lang="en-GB">
                        <a:latin typeface="Cambria Math" panose="02040503050406030204" pitchFamily="18" charset="0"/>
                      </a:rPr>
                      <m:t>vs</m:t>
                    </m:r>
                    <m:r>
                      <a:rPr lang="en-GB">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a:latin typeface="Cambria Math" panose="02040503050406030204" pitchFamily="18" charset="0"/>
                          </a:rPr>
                          <m:t>2</m:t>
                        </m:r>
                      </m:sup>
                    </m:sSup>
                  </m:oMath>
                </a14:m>
                <a:endParaRPr lang="en-US" dirty="0"/>
              </a:p>
            </p:txBody>
          </p:sp>
        </mc:Choice>
        <mc:Fallback xmlns="">
          <p:sp>
            <p:nvSpPr>
              <p:cNvPr id="2" name="Title 1">
                <a:extLst>
                  <a:ext uri="{FF2B5EF4-FFF2-40B4-BE49-F238E27FC236}">
                    <a16:creationId xmlns:a16="http://schemas.microsoft.com/office/drawing/2014/main" id="{22DF63F2-6FEA-D979-ECF4-533E4C17824D}"/>
                  </a:ext>
                </a:extLst>
              </p:cNvPr>
              <p:cNvSpPr>
                <a:spLocks noGrp="1" noRot="1" noChangeAspect="1" noMove="1" noResize="1" noEditPoints="1" noAdjustHandles="1" noChangeArrowheads="1" noChangeShapeType="1" noTextEdit="1"/>
              </p:cNvSpPr>
              <p:nvPr>
                <p:ph type="title"/>
              </p:nvPr>
            </p:nvSpPr>
            <p:spPr>
              <a:blipFill>
                <a:blip r:embed="rId3"/>
                <a:stretch>
                  <a:fillRect l="-2413" t="-8219" b="-20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E92983-7D45-F5B4-87E2-74370F682421}"/>
                  </a:ext>
                </a:extLst>
              </p:cNvPr>
              <p:cNvSpPr>
                <a:spLocks noGrp="1"/>
              </p:cNvSpPr>
              <p:nvPr>
                <p:ph idx="1"/>
              </p:nvPr>
            </p:nvSpPr>
            <p:spPr/>
            <p:txBody>
              <a:bodyPr/>
              <a:lstStyle/>
              <a:p>
                <a:pPr marL="0" indent="0">
                  <a:lnSpc>
                    <a:spcPct val="100000"/>
                  </a:lnSpc>
                  <a:spcBef>
                    <a:spcPts val="0"/>
                  </a:spcBef>
                  <a:buNone/>
                  <a:defRPr/>
                </a:pPr>
                <a:r>
                  <a:rPr lang="en-GB" dirty="0"/>
                  <a:t>If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=0.7</m:t>
                    </m:r>
                  </m:oMath>
                </a14:m>
                <a:r>
                  <a:rPr lang="en-GB"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a:latin typeface="Cambria Math" panose="02040503050406030204" pitchFamily="18" charset="0"/>
                          </a:rPr>
                          <m:t>2</m:t>
                        </m:r>
                      </m:sup>
                    </m:sSup>
                    <m:r>
                      <a:rPr lang="en-US">
                        <a:latin typeface="Cambria Math" panose="02040503050406030204" pitchFamily="18" charset="0"/>
                      </a:rPr>
                      <m:t>=0.49</m:t>
                    </m:r>
                  </m:oMath>
                </a14:m>
                <a:r>
                  <a:rPr lang="en-GB" dirty="0"/>
                  <a:t>, </a:t>
                </a:r>
              </a:p>
              <a:p>
                <a:pPr>
                  <a:spcBef>
                    <a:spcPts val="0"/>
                  </a:spcBef>
                  <a:defRPr/>
                </a:pPr>
                <a:endParaRPr lang="en-GB" dirty="0"/>
              </a:p>
              <a:p>
                <a:pPr>
                  <a:spcBef>
                    <a:spcPts val="0"/>
                  </a:spcBef>
                  <a:defRPr/>
                </a:pPr>
                <a:r>
                  <a:rPr lang="en-GB" dirty="0"/>
                  <a:t>The r value tells us the variables have a positive linear relationship.</a:t>
                </a:r>
              </a:p>
              <a:p>
                <a:pPr>
                  <a:lnSpc>
                    <a:spcPct val="100000"/>
                  </a:lnSpc>
                  <a:spcBef>
                    <a:spcPts val="0"/>
                  </a:spcBef>
                  <a:defRPr/>
                </a:pPr>
                <a:r>
                  <a:rPr lang="en-GB" dirty="0"/>
                  <a:t>The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a:latin typeface="Cambria Math" panose="02040503050406030204" pitchFamily="18" charset="0"/>
                          </a:rPr>
                          <m:t>2</m:t>
                        </m:r>
                      </m:sup>
                    </m:sSup>
                  </m:oMath>
                </a14:m>
                <a:r>
                  <a:rPr lang="en-GB" dirty="0"/>
                  <a:t> value tells us the model explains </a:t>
                </a:r>
                <a:r>
                  <a:rPr lang="en-GB" b="1" dirty="0"/>
                  <a:t>49%</a:t>
                </a:r>
                <a:r>
                  <a:rPr lang="en-GB" dirty="0"/>
                  <a:t> of the variation. </a:t>
                </a:r>
              </a:p>
              <a:p>
                <a:pPr lvl="1">
                  <a:spcBef>
                    <a:spcPts val="0"/>
                  </a:spcBef>
                  <a:defRPr/>
                </a:pPr>
                <a:r>
                  <a:rPr lang="en-GB" dirty="0"/>
                  <a:t>The remaining 51% is not accounted for by this fitted model. </a:t>
                </a:r>
              </a:p>
              <a:p>
                <a:pPr lvl="1">
                  <a:spcBef>
                    <a:spcPts val="0"/>
                  </a:spcBef>
                  <a:defRPr/>
                </a:pPr>
                <a:endParaRPr lang="en-GB" dirty="0"/>
              </a:p>
              <a:p>
                <a:pPr>
                  <a:spcBef>
                    <a:spcPts val="0"/>
                  </a:spcBef>
                  <a:defRPr/>
                </a:pPr>
                <a:r>
                  <a:rPr lang="en-GB" b="1" dirty="0"/>
                  <a:t>This does not mean:</a:t>
                </a:r>
                <a:endParaRPr lang="en-GB" dirty="0"/>
              </a:p>
              <a:p>
                <a:pPr lvl="1"/>
                <a:r>
                  <a:rPr lang="en-GB" dirty="0"/>
                  <a:t>Predictions are “49% accurate.”</a:t>
                </a:r>
              </a:p>
              <a:p>
                <a:pPr lvl="1"/>
                <a:r>
                  <a:rPr lang="en-GB" dirty="0"/>
                  <a:t>The predictor causes 49% of the outcome.</a:t>
                </a:r>
              </a:p>
              <a:p>
                <a:pPr>
                  <a:lnSpc>
                    <a:spcPct val="100000"/>
                  </a:lnSpc>
                  <a:spcBef>
                    <a:spcPts val="0"/>
                  </a:spcBef>
                  <a:defRPr/>
                </a:pPr>
                <a:endParaRPr lang="en-GB" dirty="0"/>
              </a:p>
            </p:txBody>
          </p:sp>
        </mc:Choice>
        <mc:Fallback xmlns="">
          <p:sp>
            <p:nvSpPr>
              <p:cNvPr id="3" name="Content Placeholder 2">
                <a:extLst>
                  <a:ext uri="{FF2B5EF4-FFF2-40B4-BE49-F238E27FC236}">
                    <a16:creationId xmlns:a16="http://schemas.microsoft.com/office/drawing/2014/main" id="{65E92983-7D45-F5B4-87E2-74370F682421}"/>
                  </a:ext>
                </a:extLst>
              </p:cNvPr>
              <p:cNvSpPr>
                <a:spLocks noGrp="1" noRot="1" noChangeAspect="1" noMove="1" noResize="1" noEditPoints="1" noAdjustHandles="1" noChangeArrowheads="1" noChangeShapeType="1" noTextEdit="1"/>
              </p:cNvSpPr>
              <p:nvPr>
                <p:ph idx="1"/>
              </p:nvPr>
            </p:nvSpPr>
            <p:spPr>
              <a:blipFill>
                <a:blip r:embed="rId4"/>
                <a:stretch>
                  <a:fillRect l="-1206" t="-1337"/>
                </a:stretch>
              </a:blipFill>
            </p:spPr>
            <p:txBody>
              <a:bodyPr/>
              <a:lstStyle/>
              <a:p>
                <a:r>
                  <a:rPr lang="en-US">
                    <a:noFill/>
                  </a:rPr>
                  <a:t> </a:t>
                </a:r>
              </a:p>
            </p:txBody>
          </p:sp>
        </mc:Fallback>
      </mc:AlternateContent>
    </p:spTree>
    <p:extLst>
      <p:ext uri="{BB962C8B-B14F-4D97-AF65-F5344CB8AC3E}">
        <p14:creationId xmlns:p14="http://schemas.microsoft.com/office/powerpoint/2010/main" val="2722206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913FF-3922-BF57-FDE2-896D81371C1F}"/>
              </a:ext>
            </a:extLst>
          </p:cNvPr>
          <p:cNvSpPr>
            <a:spLocks noGrp="1"/>
          </p:cNvSpPr>
          <p:nvPr>
            <p:ph type="title"/>
          </p:nvPr>
        </p:nvSpPr>
        <p:spPr/>
        <p:txBody>
          <a:bodyPr/>
          <a:lstStyle/>
          <a:p>
            <a:r>
              <a:rPr lang="en-GB" dirty="0"/>
              <a:t>Putting it all together</a:t>
            </a:r>
            <a:endParaRPr lang="en-US" dirty="0"/>
          </a:p>
        </p:txBody>
      </p:sp>
      <p:sp>
        <p:nvSpPr>
          <p:cNvPr id="3" name="Content Placeholder 2">
            <a:extLst>
              <a:ext uri="{FF2B5EF4-FFF2-40B4-BE49-F238E27FC236}">
                <a16:creationId xmlns:a16="http://schemas.microsoft.com/office/drawing/2014/main" id="{358973B7-9D14-096B-9B85-E0258F4DC5D3}"/>
              </a:ext>
            </a:extLst>
          </p:cNvPr>
          <p:cNvSpPr>
            <a:spLocks noGrp="1"/>
          </p:cNvSpPr>
          <p:nvPr>
            <p:ph idx="1"/>
          </p:nvPr>
        </p:nvSpPr>
        <p:spPr/>
        <p:txBody>
          <a:bodyPr/>
          <a:lstStyle/>
          <a:p>
            <a:pPr lvl="0"/>
            <a:r>
              <a:rPr lang="en-GB" b="1" dirty="0"/>
              <a:t>Direction:</a:t>
            </a:r>
            <a:r>
              <a:rPr lang="en-GB" dirty="0"/>
              <a:t> What are we predicting, and from what?</a:t>
            </a:r>
          </a:p>
          <a:p>
            <a:pPr lvl="0"/>
            <a:r>
              <a:rPr lang="en-GB" b="1" dirty="0"/>
              <a:t>r:</a:t>
            </a:r>
            <a:r>
              <a:rPr lang="en-GB" dirty="0"/>
              <a:t> How strong is the linear relationship?</a:t>
            </a:r>
          </a:p>
          <a:p>
            <a:pPr lvl="0"/>
            <a:r>
              <a:rPr lang="en-GB" b="1" dirty="0"/>
              <a:t>Slope:</a:t>
            </a:r>
            <a:r>
              <a:rPr lang="en-GB" dirty="0"/>
              <a:t> How does the predicted outcome change as x increases?</a:t>
            </a:r>
          </a:p>
          <a:p>
            <a:pPr lvl="0"/>
            <a:r>
              <a:rPr lang="en-GB" b="1" dirty="0"/>
              <a:t>R²:</a:t>
            </a:r>
            <a:r>
              <a:rPr lang="en-GB" dirty="0"/>
              <a:t> How much variation does the model account for?</a:t>
            </a:r>
          </a:p>
          <a:p>
            <a:pPr lvl="0"/>
            <a:r>
              <a:rPr lang="en-GB" b="1" dirty="0"/>
              <a:t>Prediction:</a:t>
            </a:r>
            <a:r>
              <a:rPr lang="en-GB" dirty="0"/>
              <a:t> What outcome does the equation give for a chosen x-value?</a:t>
            </a:r>
          </a:p>
        </p:txBody>
      </p:sp>
    </p:spTree>
    <p:extLst>
      <p:ext uri="{BB962C8B-B14F-4D97-AF65-F5344CB8AC3E}">
        <p14:creationId xmlns:p14="http://schemas.microsoft.com/office/powerpoint/2010/main" val="1705550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88AAE3D-B4B7-F3FD-33D6-07152E8386E5}"/>
              </a:ext>
            </a:extLst>
          </p:cNvPr>
          <p:cNvSpPr>
            <a:spLocks noGrp="1"/>
          </p:cNvSpPr>
          <p:nvPr>
            <p:ph type="title"/>
          </p:nvPr>
        </p:nvSpPr>
        <p:spPr/>
        <p:txBody>
          <a:bodyPr/>
          <a:lstStyle/>
          <a:p>
            <a:r>
              <a:rPr lang="en-US" dirty="0"/>
              <a:t>Uncertainty in Predictions</a:t>
            </a:r>
          </a:p>
        </p:txBody>
      </p:sp>
      <p:sp>
        <p:nvSpPr>
          <p:cNvPr id="5" name="Text Placeholder 4">
            <a:extLst>
              <a:ext uri="{FF2B5EF4-FFF2-40B4-BE49-F238E27FC236}">
                <a16:creationId xmlns:a16="http://schemas.microsoft.com/office/drawing/2014/main" id="{2C1AF43A-E8CC-D728-4E23-30BD10707904}"/>
              </a:ext>
            </a:extLst>
          </p:cNvPr>
          <p:cNvSpPr>
            <a:spLocks noGrp="1"/>
          </p:cNvSpPr>
          <p:nvPr>
            <p:ph type="body" idx="1"/>
          </p:nvPr>
        </p:nvSpPr>
        <p:spPr/>
        <p:txBody>
          <a:bodyPr/>
          <a:lstStyle/>
          <a:p>
            <a:r>
              <a:rPr lang="en-US" dirty="0"/>
              <a:t>Common limitation to analysis</a:t>
            </a:r>
          </a:p>
        </p:txBody>
      </p:sp>
    </p:spTree>
    <p:extLst>
      <p:ext uri="{BB962C8B-B14F-4D97-AF65-F5344CB8AC3E}">
        <p14:creationId xmlns:p14="http://schemas.microsoft.com/office/powerpoint/2010/main" val="18679236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ED86-F215-1755-4311-DF23C6C52CB8}"/>
              </a:ext>
            </a:extLst>
          </p:cNvPr>
          <p:cNvSpPr>
            <a:spLocks noGrp="1"/>
          </p:cNvSpPr>
          <p:nvPr>
            <p:ph type="title"/>
          </p:nvPr>
        </p:nvSpPr>
        <p:spPr/>
        <p:txBody>
          <a:bodyPr/>
          <a:lstStyle/>
          <a:p>
            <a:r>
              <a:rPr lang="en-GB" dirty="0"/>
              <a:t>Sample Size</a:t>
            </a:r>
            <a:endParaRPr lang="en-US" dirty="0"/>
          </a:p>
        </p:txBody>
      </p:sp>
      <p:sp>
        <p:nvSpPr>
          <p:cNvPr id="3" name="Content Placeholder 2">
            <a:extLst>
              <a:ext uri="{FF2B5EF4-FFF2-40B4-BE49-F238E27FC236}">
                <a16:creationId xmlns:a16="http://schemas.microsoft.com/office/drawing/2014/main" id="{D576D364-1466-574E-A4A6-E1363685BC9D}"/>
              </a:ext>
            </a:extLst>
          </p:cNvPr>
          <p:cNvSpPr>
            <a:spLocks noGrp="1"/>
          </p:cNvSpPr>
          <p:nvPr>
            <p:ph idx="1"/>
          </p:nvPr>
        </p:nvSpPr>
        <p:spPr/>
        <p:txBody>
          <a:bodyPr/>
          <a:lstStyle/>
          <a:p>
            <a:r>
              <a:rPr lang="en-GB" dirty="0"/>
              <a:t>In sports, sample sizes can tiny (for team level analysis, n can be 8~12)</a:t>
            </a:r>
          </a:p>
          <a:p>
            <a:r>
              <a:rPr lang="en-GB" dirty="0"/>
              <a:t>In small samples, one outlier can have a large influence a trendline</a:t>
            </a:r>
          </a:p>
          <a:p>
            <a:r>
              <a:rPr lang="en-GB" dirty="0"/>
              <a:t>More observations generally help us estimate the relationship more reliably, but sample size alone does not guarantee useful predictions.</a:t>
            </a:r>
          </a:p>
        </p:txBody>
      </p:sp>
      <p:pic>
        <p:nvPicPr>
          <p:cNvPr id="4" name="Picture 3" descr="The ultimate guide to correctly calculating A/B testing sample size and  test duration">
            <a:extLst>
              <a:ext uri="{FF2B5EF4-FFF2-40B4-BE49-F238E27FC236}">
                <a16:creationId xmlns:a16="http://schemas.microsoft.com/office/drawing/2014/main" id="{555BEA2A-E70B-EEAD-5A6C-CC8157D5C800}"/>
              </a:ext>
            </a:extLst>
          </p:cNvPr>
          <p:cNvPicPr>
            <a:picLocks noChangeAspect="1"/>
          </p:cNvPicPr>
          <p:nvPr/>
        </p:nvPicPr>
        <p:blipFill>
          <a:blip r:embed="rId3"/>
          <a:stretch>
            <a:fillRect/>
          </a:stretch>
        </p:blipFill>
        <p:spPr>
          <a:xfrm>
            <a:off x="4106659" y="4371974"/>
            <a:ext cx="3978681" cy="2120900"/>
          </a:xfrm>
          <a:prstGeom prst="rect">
            <a:avLst/>
          </a:prstGeom>
        </p:spPr>
      </p:pic>
    </p:spTree>
    <p:extLst>
      <p:ext uri="{BB962C8B-B14F-4D97-AF65-F5344CB8AC3E}">
        <p14:creationId xmlns:p14="http://schemas.microsoft.com/office/powerpoint/2010/main" val="2274943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7E9F2-D9F8-6FD4-7160-507EC6FE6F0D}"/>
              </a:ext>
            </a:extLst>
          </p:cNvPr>
          <p:cNvSpPr>
            <a:spLocks noGrp="1"/>
          </p:cNvSpPr>
          <p:nvPr>
            <p:ph type="title"/>
          </p:nvPr>
        </p:nvSpPr>
        <p:spPr/>
        <p:txBody>
          <a:bodyPr/>
          <a:lstStyle/>
          <a:p>
            <a:r>
              <a:rPr lang="en-GB" dirty="0"/>
              <a:t>Generalizability</a:t>
            </a:r>
            <a:endParaRPr lang="en-US" dirty="0"/>
          </a:p>
        </p:txBody>
      </p:sp>
      <p:sp>
        <p:nvSpPr>
          <p:cNvPr id="3" name="Content Placeholder 2">
            <a:extLst>
              <a:ext uri="{FF2B5EF4-FFF2-40B4-BE49-F238E27FC236}">
                <a16:creationId xmlns:a16="http://schemas.microsoft.com/office/drawing/2014/main" id="{6EDCEFA3-9B1F-0362-5708-C81716BF8AD6}"/>
              </a:ext>
            </a:extLst>
          </p:cNvPr>
          <p:cNvSpPr>
            <a:spLocks noGrp="1"/>
          </p:cNvSpPr>
          <p:nvPr>
            <p:ph idx="1"/>
          </p:nvPr>
        </p:nvSpPr>
        <p:spPr/>
        <p:txBody>
          <a:bodyPr>
            <a:normAutofit/>
          </a:bodyPr>
          <a:lstStyle/>
          <a:p>
            <a:pPr lvl="0"/>
            <a:r>
              <a:rPr lang="en-GB" dirty="0"/>
              <a:t>Models are most defensible when applied to athletes and situations similar to those in the original data.</a:t>
            </a:r>
          </a:p>
          <a:p>
            <a:pPr lvl="1"/>
            <a:endParaRPr lang="en-GB" dirty="0"/>
          </a:p>
          <a:p>
            <a:pPr lvl="1"/>
            <a:r>
              <a:rPr lang="en-GB" b="1" dirty="0"/>
              <a:t>Population</a:t>
            </a:r>
            <a:r>
              <a:rPr lang="en-GB" dirty="0"/>
              <a:t>: A model developed with elite male sprinters may not perform well for youth female distance runners.</a:t>
            </a:r>
          </a:p>
          <a:p>
            <a:pPr lvl="1"/>
            <a:endParaRPr lang="en-GB" dirty="0"/>
          </a:p>
          <a:p>
            <a:pPr lvl="1"/>
            <a:r>
              <a:rPr lang="en-GB" b="1" dirty="0"/>
              <a:t>Extrapolation</a:t>
            </a:r>
            <a:r>
              <a:rPr lang="en-GB" dirty="0"/>
              <a:t>: Predicting for a 36-inch jump when the observed range was 15–28 inches extends beyond the evidence.</a:t>
            </a:r>
          </a:p>
          <a:p>
            <a:pPr lvl="1"/>
            <a:endParaRPr lang="en-GB" dirty="0"/>
          </a:p>
          <a:p>
            <a:pPr lvl="1"/>
            <a:r>
              <a:rPr lang="en-GB" b="1" dirty="0"/>
              <a:t>Context</a:t>
            </a:r>
            <a:r>
              <a:rPr lang="en-GB" dirty="0"/>
              <a:t>: Relationships measured on a laboratory treadmill may differ during outdoor competition.</a:t>
            </a:r>
          </a:p>
        </p:txBody>
      </p:sp>
      <p:sp>
        <p:nvSpPr>
          <p:cNvPr id="4" name="TextBox 3">
            <a:extLst>
              <a:ext uri="{FF2B5EF4-FFF2-40B4-BE49-F238E27FC236}">
                <a16:creationId xmlns:a16="http://schemas.microsoft.com/office/drawing/2014/main" id="{8B78069A-82D7-9E0A-777E-5A390F3DF46B}"/>
              </a:ext>
            </a:extLst>
          </p:cNvPr>
          <p:cNvSpPr txBox="1"/>
          <p:nvPr/>
        </p:nvSpPr>
        <p:spPr>
          <a:xfrm>
            <a:off x="3775236" y="5971753"/>
            <a:ext cx="4641527" cy="369332"/>
          </a:xfrm>
          <a:prstGeom prst="rect">
            <a:avLst/>
          </a:prstGeom>
          <a:noFill/>
        </p:spPr>
        <p:txBody>
          <a:bodyPr wrap="none" rtlCol="0">
            <a:spAutoFit/>
          </a:bodyPr>
          <a:lstStyle/>
          <a:p>
            <a:r>
              <a:rPr lang="en-US" dirty="0">
                <a:solidFill>
                  <a:srgbClr val="FF0000"/>
                </a:solidFill>
              </a:rPr>
              <a:t>What is the specific context for case study 3?</a:t>
            </a:r>
          </a:p>
        </p:txBody>
      </p:sp>
    </p:spTree>
    <p:extLst>
      <p:ext uri="{BB962C8B-B14F-4D97-AF65-F5344CB8AC3E}">
        <p14:creationId xmlns:p14="http://schemas.microsoft.com/office/powerpoint/2010/main" val="71880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CC506-2B44-B98B-C4ED-A923D4E2FD71}"/>
              </a:ext>
            </a:extLst>
          </p:cNvPr>
          <p:cNvSpPr>
            <a:spLocks noGrp="1"/>
          </p:cNvSpPr>
          <p:nvPr>
            <p:ph type="title"/>
          </p:nvPr>
        </p:nvSpPr>
        <p:spPr/>
        <p:txBody>
          <a:bodyPr/>
          <a:lstStyle/>
          <a:p>
            <a:r>
              <a:rPr lang="en-GB" dirty="0"/>
              <a:t>Overfitting</a:t>
            </a:r>
            <a:endParaRPr lang="en-US" dirty="0"/>
          </a:p>
        </p:txBody>
      </p:sp>
      <p:sp>
        <p:nvSpPr>
          <p:cNvPr id="3" name="Content Placeholder 2">
            <a:extLst>
              <a:ext uri="{FF2B5EF4-FFF2-40B4-BE49-F238E27FC236}">
                <a16:creationId xmlns:a16="http://schemas.microsoft.com/office/drawing/2014/main" id="{5445A5B9-F2FD-33C4-7FEF-53C9CE3D22BA}"/>
              </a:ext>
            </a:extLst>
          </p:cNvPr>
          <p:cNvSpPr>
            <a:spLocks noGrp="1"/>
          </p:cNvSpPr>
          <p:nvPr>
            <p:ph idx="1"/>
          </p:nvPr>
        </p:nvSpPr>
        <p:spPr/>
        <p:txBody>
          <a:bodyPr/>
          <a:lstStyle/>
          <a:p>
            <a:pPr lvl="0"/>
            <a:r>
              <a:rPr lang="en-GB" dirty="0"/>
              <a:t>Underfitting: Model is too simple</a:t>
            </a:r>
          </a:p>
          <a:p>
            <a:pPr lvl="1"/>
            <a:r>
              <a:rPr lang="en-GB" dirty="0"/>
              <a:t>Misses the true trend.</a:t>
            </a:r>
          </a:p>
          <a:p>
            <a:pPr lvl="0"/>
            <a:r>
              <a:rPr lang="en-GB" dirty="0"/>
              <a:t>Good Fit: Captures the core underlying athletic pattern (the </a:t>
            </a:r>
            <a:r>
              <a:rPr lang="en-GB" i="1" dirty="0"/>
              <a:t>signal</a:t>
            </a:r>
            <a:r>
              <a:rPr lang="en-GB" dirty="0"/>
              <a:t>).</a:t>
            </a:r>
          </a:p>
          <a:p>
            <a:pPr lvl="0"/>
            <a:r>
              <a:rPr lang="en-GB" dirty="0"/>
              <a:t>Overfitting: Model fits every tiny detail (the </a:t>
            </a:r>
            <a:r>
              <a:rPr lang="en-GB" i="1" dirty="0"/>
              <a:t>noise</a:t>
            </a:r>
            <a:r>
              <a:rPr lang="en-GB" dirty="0"/>
              <a:t>)</a:t>
            </a:r>
            <a:endParaRPr lang="en-US" dirty="0"/>
          </a:p>
          <a:p>
            <a:pPr lvl="1"/>
            <a:r>
              <a:rPr lang="en-GB" dirty="0"/>
              <a:t>Fits existing data very closely, but may predict new observations poorly.</a:t>
            </a:r>
            <a:endParaRPr lang="en-US" dirty="0"/>
          </a:p>
        </p:txBody>
      </p:sp>
      <p:pic>
        <p:nvPicPr>
          <p:cNvPr id="5" name="Picture 4" descr="https://docs.aws.amazon.com/images/machine-learning/latest/dg/images/mlconcepts_image5.png">
            <a:extLst>
              <a:ext uri="{FF2B5EF4-FFF2-40B4-BE49-F238E27FC236}">
                <a16:creationId xmlns:a16="http://schemas.microsoft.com/office/drawing/2014/main" id="{C509DAF0-C19A-B00E-9CDA-C83C8F695F2F}"/>
              </a:ext>
            </a:extLst>
          </p:cNvPr>
          <p:cNvPicPr>
            <a:picLocks noChangeAspect="1"/>
          </p:cNvPicPr>
          <p:nvPr/>
        </p:nvPicPr>
        <p:blipFill>
          <a:blip r:embed="rId3"/>
          <a:stretch>
            <a:fillRect/>
          </a:stretch>
        </p:blipFill>
        <p:spPr>
          <a:xfrm>
            <a:off x="3276405" y="4237073"/>
            <a:ext cx="5639189" cy="1705973"/>
          </a:xfrm>
          <a:prstGeom prst="rect">
            <a:avLst/>
          </a:prstGeom>
        </p:spPr>
      </p:pic>
      <p:sp>
        <p:nvSpPr>
          <p:cNvPr id="6" name="TextBox 5">
            <a:extLst>
              <a:ext uri="{FF2B5EF4-FFF2-40B4-BE49-F238E27FC236}">
                <a16:creationId xmlns:a16="http://schemas.microsoft.com/office/drawing/2014/main" id="{C308A462-08D4-BF90-F44D-5F44CFD37EC8}"/>
              </a:ext>
            </a:extLst>
          </p:cNvPr>
          <p:cNvSpPr txBox="1"/>
          <p:nvPr/>
        </p:nvSpPr>
        <p:spPr>
          <a:xfrm>
            <a:off x="6991156" y="5943046"/>
            <a:ext cx="1924438" cy="369332"/>
          </a:xfrm>
          <a:prstGeom prst="rect">
            <a:avLst/>
          </a:prstGeom>
          <a:noFill/>
        </p:spPr>
        <p:txBody>
          <a:bodyPr wrap="none" rtlCol="0">
            <a:spAutoFit/>
          </a:bodyPr>
          <a:lstStyle/>
          <a:p>
            <a:r>
              <a:rPr lang="en-US" dirty="0"/>
              <a:t>More is not better</a:t>
            </a:r>
          </a:p>
        </p:txBody>
      </p:sp>
    </p:spTree>
    <p:extLst>
      <p:ext uri="{BB962C8B-B14F-4D97-AF65-F5344CB8AC3E}">
        <p14:creationId xmlns:p14="http://schemas.microsoft.com/office/powerpoint/2010/main" val="1020991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26A2F-FF37-3F3E-852A-E5ECF4A9179E}"/>
              </a:ext>
            </a:extLst>
          </p:cNvPr>
          <p:cNvSpPr>
            <a:spLocks noGrp="1"/>
          </p:cNvSpPr>
          <p:nvPr>
            <p:ph type="title"/>
          </p:nvPr>
        </p:nvSpPr>
        <p:spPr/>
        <p:txBody>
          <a:bodyPr/>
          <a:lstStyle/>
          <a:p>
            <a:r>
              <a:rPr lang="en-US" dirty="0"/>
              <a:t>Other contributing factors</a:t>
            </a:r>
          </a:p>
        </p:txBody>
      </p:sp>
      <p:sp>
        <p:nvSpPr>
          <p:cNvPr id="3" name="Content Placeholder 2">
            <a:extLst>
              <a:ext uri="{FF2B5EF4-FFF2-40B4-BE49-F238E27FC236}">
                <a16:creationId xmlns:a16="http://schemas.microsoft.com/office/drawing/2014/main" id="{7D61A0B2-2326-1991-8C9C-C08594FCE02E}"/>
              </a:ext>
            </a:extLst>
          </p:cNvPr>
          <p:cNvSpPr>
            <a:spLocks noGrp="1"/>
          </p:cNvSpPr>
          <p:nvPr>
            <p:ph idx="1"/>
          </p:nvPr>
        </p:nvSpPr>
        <p:spPr/>
        <p:txBody>
          <a:bodyPr/>
          <a:lstStyle/>
          <a:p>
            <a:pPr marL="0" indent="0">
              <a:buNone/>
            </a:pPr>
            <a:r>
              <a:rPr lang="en-GB" dirty="0"/>
              <a:t>A single predictor will not capture everything related to the outcome. </a:t>
            </a:r>
          </a:p>
          <a:p>
            <a:r>
              <a:rPr lang="en-GB" dirty="0"/>
              <a:t>Eg: payroll may help predict wins, but injuries, player availability, and coaching may also matter.</a:t>
            </a:r>
            <a:endParaRPr lang="en-US" dirty="0"/>
          </a:p>
        </p:txBody>
      </p:sp>
      <p:sp>
        <p:nvSpPr>
          <p:cNvPr id="4" name="Oval 3">
            <a:extLst>
              <a:ext uri="{FF2B5EF4-FFF2-40B4-BE49-F238E27FC236}">
                <a16:creationId xmlns:a16="http://schemas.microsoft.com/office/drawing/2014/main" id="{7149C4EA-5B0F-2245-66D7-559EDC66D972}"/>
              </a:ext>
            </a:extLst>
          </p:cNvPr>
          <p:cNvSpPr/>
          <p:nvPr/>
        </p:nvSpPr>
        <p:spPr>
          <a:xfrm>
            <a:off x="3733800" y="3644900"/>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A</a:t>
            </a:r>
          </a:p>
        </p:txBody>
      </p:sp>
      <p:sp>
        <p:nvSpPr>
          <p:cNvPr id="5" name="Oval 4">
            <a:extLst>
              <a:ext uri="{FF2B5EF4-FFF2-40B4-BE49-F238E27FC236}">
                <a16:creationId xmlns:a16="http://schemas.microsoft.com/office/drawing/2014/main" id="{6FDCDD86-C45D-3F5B-0072-D3EA91BC86E1}"/>
              </a:ext>
            </a:extLst>
          </p:cNvPr>
          <p:cNvSpPr/>
          <p:nvPr/>
        </p:nvSpPr>
        <p:spPr>
          <a:xfrm>
            <a:off x="3733800" y="4593431"/>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B</a:t>
            </a:r>
          </a:p>
        </p:txBody>
      </p:sp>
      <p:sp>
        <p:nvSpPr>
          <p:cNvPr id="6" name="Oval 5">
            <a:extLst>
              <a:ext uri="{FF2B5EF4-FFF2-40B4-BE49-F238E27FC236}">
                <a16:creationId xmlns:a16="http://schemas.microsoft.com/office/drawing/2014/main" id="{DBAAB113-35F1-4854-7962-310264EB1E55}"/>
              </a:ext>
            </a:extLst>
          </p:cNvPr>
          <p:cNvSpPr/>
          <p:nvPr/>
        </p:nvSpPr>
        <p:spPr>
          <a:xfrm>
            <a:off x="3733800" y="5482829"/>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C</a:t>
            </a:r>
          </a:p>
        </p:txBody>
      </p:sp>
      <p:sp>
        <p:nvSpPr>
          <p:cNvPr id="7" name="Right Arrow 6">
            <a:extLst>
              <a:ext uri="{FF2B5EF4-FFF2-40B4-BE49-F238E27FC236}">
                <a16:creationId xmlns:a16="http://schemas.microsoft.com/office/drawing/2014/main" id="{AD8CD5F9-BBD6-0240-8E13-859D07417219}"/>
              </a:ext>
            </a:extLst>
          </p:cNvPr>
          <p:cNvSpPr/>
          <p:nvPr/>
        </p:nvSpPr>
        <p:spPr>
          <a:xfrm>
            <a:off x="5473192" y="4642199"/>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65F25541-4406-C88A-07C2-59F1DBDFC071}"/>
              </a:ext>
            </a:extLst>
          </p:cNvPr>
          <p:cNvSpPr/>
          <p:nvPr/>
        </p:nvSpPr>
        <p:spPr>
          <a:xfrm rot="1304208">
            <a:off x="5523364" y="3896703"/>
            <a:ext cx="1112922"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6E896C67-6814-1DD2-7836-D2E94E477ECA}"/>
              </a:ext>
            </a:extLst>
          </p:cNvPr>
          <p:cNvSpPr/>
          <p:nvPr/>
        </p:nvSpPr>
        <p:spPr>
          <a:xfrm rot="19869131">
            <a:off x="5513967" y="5334489"/>
            <a:ext cx="122709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0353C01-1B94-300F-E03E-EBDE806D0002}"/>
              </a:ext>
            </a:extLst>
          </p:cNvPr>
          <p:cNvSpPr/>
          <p:nvPr/>
        </p:nvSpPr>
        <p:spPr>
          <a:xfrm>
            <a:off x="6781840" y="4553518"/>
            <a:ext cx="1625559"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Outcome</a:t>
            </a:r>
          </a:p>
        </p:txBody>
      </p:sp>
    </p:spTree>
    <p:extLst>
      <p:ext uri="{BB962C8B-B14F-4D97-AF65-F5344CB8AC3E}">
        <p14:creationId xmlns:p14="http://schemas.microsoft.com/office/powerpoint/2010/main" val="2418592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FC984-1D7A-EB1F-C4F4-01D71DAED0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F93F55-36B4-FC05-2214-C663DD8D9AB5}"/>
              </a:ext>
            </a:extLst>
          </p:cNvPr>
          <p:cNvSpPr>
            <a:spLocks noGrp="1"/>
          </p:cNvSpPr>
          <p:nvPr>
            <p:ph type="title"/>
          </p:nvPr>
        </p:nvSpPr>
        <p:spPr/>
        <p:txBody>
          <a:bodyPr/>
          <a:lstStyle/>
          <a:p>
            <a:r>
              <a:rPr lang="en-US" dirty="0"/>
              <a:t>Case Study 3, Bonus pt </a:t>
            </a:r>
          </a:p>
        </p:txBody>
      </p:sp>
      <p:sp>
        <p:nvSpPr>
          <p:cNvPr id="3" name="Content Placeholder 2">
            <a:extLst>
              <a:ext uri="{FF2B5EF4-FFF2-40B4-BE49-F238E27FC236}">
                <a16:creationId xmlns:a16="http://schemas.microsoft.com/office/drawing/2014/main" id="{433BA00F-CEA4-F25C-CC01-41C4C2C36AD9}"/>
              </a:ext>
            </a:extLst>
          </p:cNvPr>
          <p:cNvSpPr>
            <a:spLocks noGrp="1"/>
          </p:cNvSpPr>
          <p:nvPr>
            <p:ph idx="1"/>
          </p:nvPr>
        </p:nvSpPr>
        <p:spPr/>
        <p:txBody>
          <a:bodyPr/>
          <a:lstStyle/>
          <a:p>
            <a:r>
              <a:rPr lang="en-GB" dirty="0"/>
              <a:t>What are two other factors or variables that your model does not account for that could help explain this team’s performance? Briefly explain how each might contribute to the difference between its actual and predicted performance.</a:t>
            </a:r>
          </a:p>
          <a:p>
            <a:endParaRPr lang="en-US" dirty="0"/>
          </a:p>
        </p:txBody>
      </p:sp>
      <p:sp>
        <p:nvSpPr>
          <p:cNvPr id="5" name="Oval 4">
            <a:extLst>
              <a:ext uri="{FF2B5EF4-FFF2-40B4-BE49-F238E27FC236}">
                <a16:creationId xmlns:a16="http://schemas.microsoft.com/office/drawing/2014/main" id="{20CED372-7122-8826-6D1E-205591A21A64}"/>
              </a:ext>
            </a:extLst>
          </p:cNvPr>
          <p:cNvSpPr/>
          <p:nvPr/>
        </p:nvSpPr>
        <p:spPr>
          <a:xfrm>
            <a:off x="3733800" y="3644900"/>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A</a:t>
            </a:r>
          </a:p>
        </p:txBody>
      </p:sp>
      <p:sp>
        <p:nvSpPr>
          <p:cNvPr id="6" name="Oval 5">
            <a:extLst>
              <a:ext uri="{FF2B5EF4-FFF2-40B4-BE49-F238E27FC236}">
                <a16:creationId xmlns:a16="http://schemas.microsoft.com/office/drawing/2014/main" id="{C81709C1-A253-FE6D-93A2-2924851C5B48}"/>
              </a:ext>
            </a:extLst>
          </p:cNvPr>
          <p:cNvSpPr/>
          <p:nvPr/>
        </p:nvSpPr>
        <p:spPr>
          <a:xfrm>
            <a:off x="3733800" y="4593431"/>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B</a:t>
            </a:r>
          </a:p>
        </p:txBody>
      </p:sp>
      <p:sp>
        <p:nvSpPr>
          <p:cNvPr id="7" name="Oval 6">
            <a:extLst>
              <a:ext uri="{FF2B5EF4-FFF2-40B4-BE49-F238E27FC236}">
                <a16:creationId xmlns:a16="http://schemas.microsoft.com/office/drawing/2014/main" id="{3D8D44FC-A754-BFF2-C8C8-E169E7CC9901}"/>
              </a:ext>
            </a:extLst>
          </p:cNvPr>
          <p:cNvSpPr/>
          <p:nvPr/>
        </p:nvSpPr>
        <p:spPr>
          <a:xfrm>
            <a:off x="3733800" y="5482829"/>
            <a:ext cx="1485900"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C</a:t>
            </a:r>
          </a:p>
        </p:txBody>
      </p:sp>
      <p:sp>
        <p:nvSpPr>
          <p:cNvPr id="8" name="Right Arrow 7">
            <a:extLst>
              <a:ext uri="{FF2B5EF4-FFF2-40B4-BE49-F238E27FC236}">
                <a16:creationId xmlns:a16="http://schemas.microsoft.com/office/drawing/2014/main" id="{F43AED74-A7AC-94A0-F3CF-B1DDDDCB05B0}"/>
              </a:ext>
            </a:extLst>
          </p:cNvPr>
          <p:cNvSpPr/>
          <p:nvPr/>
        </p:nvSpPr>
        <p:spPr>
          <a:xfrm>
            <a:off x="5473192" y="4642199"/>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538FDB97-83BF-D617-B382-8E5ACF530ED1}"/>
              </a:ext>
            </a:extLst>
          </p:cNvPr>
          <p:cNvSpPr/>
          <p:nvPr/>
        </p:nvSpPr>
        <p:spPr>
          <a:xfrm rot="1304208">
            <a:off x="5523364" y="3896703"/>
            <a:ext cx="1112922"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D6DAA723-6060-96D9-6295-0443ADA964C7}"/>
              </a:ext>
            </a:extLst>
          </p:cNvPr>
          <p:cNvSpPr/>
          <p:nvPr/>
        </p:nvSpPr>
        <p:spPr>
          <a:xfrm rot="19869131">
            <a:off x="5513967" y="5334489"/>
            <a:ext cx="122709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D731942-5475-A33C-00A8-2BA0339FC3AA}"/>
              </a:ext>
            </a:extLst>
          </p:cNvPr>
          <p:cNvSpPr/>
          <p:nvPr/>
        </p:nvSpPr>
        <p:spPr>
          <a:xfrm>
            <a:off x="6781840" y="4553518"/>
            <a:ext cx="1625559" cy="533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Wins</a:t>
            </a:r>
          </a:p>
        </p:txBody>
      </p:sp>
    </p:spTree>
    <p:extLst>
      <p:ext uri="{BB962C8B-B14F-4D97-AF65-F5344CB8AC3E}">
        <p14:creationId xmlns:p14="http://schemas.microsoft.com/office/powerpoint/2010/main" val="17293271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B1BC6-7D13-8E8E-4494-512D5C51F2ED}"/>
              </a:ext>
            </a:extLst>
          </p:cNvPr>
          <p:cNvSpPr>
            <a:spLocks noGrp="1"/>
          </p:cNvSpPr>
          <p:nvPr>
            <p:ph type="title"/>
          </p:nvPr>
        </p:nvSpPr>
        <p:spPr/>
        <p:txBody>
          <a:bodyPr/>
          <a:lstStyle/>
          <a:p>
            <a:r>
              <a:rPr lang="en-GB" dirty="0"/>
              <a:t>Check Before Using the Model</a:t>
            </a:r>
            <a:endParaRPr lang="en-US" dirty="0"/>
          </a:p>
        </p:txBody>
      </p:sp>
      <p:sp>
        <p:nvSpPr>
          <p:cNvPr id="3" name="Content Placeholder 2">
            <a:extLst>
              <a:ext uri="{FF2B5EF4-FFF2-40B4-BE49-F238E27FC236}">
                <a16:creationId xmlns:a16="http://schemas.microsoft.com/office/drawing/2014/main" id="{EB8A2D60-39ED-32C4-E1BB-1A7CB194F807}"/>
              </a:ext>
            </a:extLst>
          </p:cNvPr>
          <p:cNvSpPr>
            <a:spLocks noGrp="1"/>
          </p:cNvSpPr>
          <p:nvPr>
            <p:ph idx="1"/>
          </p:nvPr>
        </p:nvSpPr>
        <p:spPr/>
        <p:txBody>
          <a:bodyPr/>
          <a:lstStyle/>
          <a:p>
            <a:pPr lvl="0"/>
            <a:r>
              <a:rPr lang="en-GB" dirty="0"/>
              <a:t>Does the prediction answer our question?</a:t>
            </a:r>
          </a:p>
          <a:p>
            <a:pPr lvl="0"/>
            <a:r>
              <a:rPr lang="en-GB" dirty="0"/>
              <a:t>Does a straight line reasonably describe the pattern?</a:t>
            </a:r>
          </a:p>
          <a:p>
            <a:pPr lvl="0"/>
            <a:r>
              <a:rPr lang="en-GB" dirty="0"/>
              <a:t>How widely do observations scatter around the line?</a:t>
            </a:r>
          </a:p>
          <a:p>
            <a:pPr lvl="0"/>
            <a:r>
              <a:rPr lang="en-GB" dirty="0"/>
              <a:t>Are we applying it to a comparable athlete or situation?</a:t>
            </a:r>
          </a:p>
          <a:p>
            <a:pPr lvl="0"/>
            <a:r>
              <a:rPr lang="en-GB" dirty="0"/>
              <a:t>Is the input within the range represented in our data?</a:t>
            </a:r>
          </a:p>
        </p:txBody>
      </p:sp>
    </p:spTree>
    <p:extLst>
      <p:ext uri="{BB962C8B-B14F-4D97-AF65-F5344CB8AC3E}">
        <p14:creationId xmlns:p14="http://schemas.microsoft.com/office/powerpoint/2010/main" val="2004306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2A9E-C829-5818-7F6F-9AEBF4E749CE}"/>
              </a:ext>
            </a:extLst>
          </p:cNvPr>
          <p:cNvSpPr>
            <a:spLocks noGrp="1"/>
          </p:cNvSpPr>
          <p:nvPr>
            <p:ph type="title"/>
          </p:nvPr>
        </p:nvSpPr>
        <p:spPr/>
        <p:txBody>
          <a:bodyPr/>
          <a:lstStyle/>
          <a:p>
            <a:r>
              <a:rPr lang="en-GB" dirty="0"/>
              <a:t>Application: What Does Your Analysis Justify?</a:t>
            </a:r>
            <a:endParaRPr lang="en-US" dirty="0"/>
          </a:p>
        </p:txBody>
      </p:sp>
      <p:sp>
        <p:nvSpPr>
          <p:cNvPr id="3" name="Content Placeholder 2">
            <a:extLst>
              <a:ext uri="{FF2B5EF4-FFF2-40B4-BE49-F238E27FC236}">
                <a16:creationId xmlns:a16="http://schemas.microsoft.com/office/drawing/2014/main" id="{24456CAF-778A-4F62-AF97-A2C29EC7A192}"/>
              </a:ext>
            </a:extLst>
          </p:cNvPr>
          <p:cNvSpPr>
            <a:spLocks noGrp="1"/>
          </p:cNvSpPr>
          <p:nvPr>
            <p:ph idx="1"/>
          </p:nvPr>
        </p:nvSpPr>
        <p:spPr/>
        <p:txBody>
          <a:bodyPr/>
          <a:lstStyle/>
          <a:p>
            <a:pPr marL="0" indent="0">
              <a:buNone/>
            </a:pPr>
            <a:r>
              <a:rPr lang="en-GB" dirty="0"/>
              <a:t>Think back to the model you created in case study 3 and complete the following:</a:t>
            </a:r>
          </a:p>
          <a:p>
            <a:pPr marL="0" indent="0">
              <a:buNone/>
            </a:pPr>
            <a:endParaRPr lang="en-GB" dirty="0"/>
          </a:p>
          <a:p>
            <a:pPr marL="457200" lvl="1" indent="0">
              <a:buNone/>
            </a:pPr>
            <a:r>
              <a:rPr lang="en-GB" dirty="0"/>
              <a:t>We used </a:t>
            </a:r>
            <a:r>
              <a:rPr lang="en-GB" b="1" dirty="0"/>
              <a:t>[predictor]</a:t>
            </a:r>
            <a:r>
              <a:rPr lang="en-GB" dirty="0"/>
              <a:t> to predict </a:t>
            </a:r>
            <a:r>
              <a:rPr lang="en-GB" b="1" dirty="0"/>
              <a:t>[outcome]</a:t>
            </a:r>
            <a:r>
              <a:rPr lang="en-GB" dirty="0"/>
              <a:t>. The relationship was </a:t>
            </a:r>
            <a:r>
              <a:rPr lang="en-GB" b="1" dirty="0"/>
              <a:t>[direction and strength]</a:t>
            </a:r>
            <a:r>
              <a:rPr lang="en-GB" dirty="0"/>
              <a:t>, with r = </a:t>
            </a:r>
            <a:r>
              <a:rPr lang="en-GB" b="1" dirty="0"/>
              <a:t>[value]</a:t>
            </a:r>
            <a:r>
              <a:rPr lang="en-GB" dirty="0"/>
              <a:t>. The model accounted for </a:t>
            </a:r>
            <a:r>
              <a:rPr lang="en-GB" b="1" dirty="0"/>
              <a:t>[percentage]%</a:t>
            </a:r>
            <a:r>
              <a:rPr lang="en-GB" dirty="0"/>
              <a:t> of the variation in </a:t>
            </a:r>
            <a:r>
              <a:rPr lang="en-GB" b="1" dirty="0"/>
              <a:t>[outcome]</a:t>
            </a:r>
            <a:r>
              <a:rPr lang="en-GB" dirty="0"/>
              <a:t>. </a:t>
            </a:r>
          </a:p>
          <a:p>
            <a:pPr marL="457200" lvl="1" indent="0">
              <a:buNone/>
            </a:pPr>
            <a:r>
              <a:rPr lang="en-GB" dirty="0"/>
              <a:t>For </a:t>
            </a:r>
            <a:r>
              <a:rPr lang="en-GB" b="1" dirty="0"/>
              <a:t>[chosen input]</a:t>
            </a:r>
            <a:r>
              <a:rPr lang="en-GB" dirty="0"/>
              <a:t>, the model predicted </a:t>
            </a:r>
            <a:r>
              <a:rPr lang="en-GB" b="1" dirty="0"/>
              <a:t>[outcome value and units]</a:t>
            </a:r>
            <a:r>
              <a:rPr lang="en-GB" dirty="0"/>
              <a:t>. One consideration when using this prediction is </a:t>
            </a:r>
            <a:r>
              <a:rPr lang="en-GB" b="1" dirty="0"/>
              <a:t>[relevant limitation]</a:t>
            </a:r>
            <a:r>
              <a:rPr lang="en-GB" dirty="0"/>
              <a:t>.</a:t>
            </a:r>
          </a:p>
          <a:p>
            <a:endParaRPr lang="en-US" dirty="0"/>
          </a:p>
        </p:txBody>
      </p:sp>
    </p:spTree>
    <p:extLst>
      <p:ext uri="{BB962C8B-B14F-4D97-AF65-F5344CB8AC3E}">
        <p14:creationId xmlns:p14="http://schemas.microsoft.com/office/powerpoint/2010/main" val="19455200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569BE-B427-AD17-F40D-9FBDC7F49D29}"/>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062C6377-8128-3C14-E606-5E51175DBEF6}"/>
              </a:ext>
            </a:extLst>
          </p:cNvPr>
          <p:cNvSpPr>
            <a:spLocks noGrp="1"/>
          </p:cNvSpPr>
          <p:nvPr>
            <p:ph idx="1"/>
          </p:nvPr>
        </p:nvSpPr>
        <p:spPr/>
        <p:txBody>
          <a:bodyPr>
            <a:normAutofit/>
          </a:bodyPr>
          <a:lstStyle/>
          <a:p>
            <a:pPr lvl="0"/>
            <a:r>
              <a:rPr lang="en-GB" dirty="0"/>
              <a:t>Prediction direction: Define what we predict and what we use to predict it.</a:t>
            </a:r>
          </a:p>
          <a:p>
            <a:pPr lvl="0"/>
            <a:r>
              <a:rPr lang="en-GB" dirty="0"/>
              <a:t>OLS and residuals: Fit the line and describe its misses.</a:t>
            </a:r>
          </a:p>
          <a:p>
            <a:pPr lvl="0"/>
            <a:r>
              <a:rPr lang="en-GB" dirty="0"/>
              <a:t>r and R²: Describe linear association and variation accounted for.</a:t>
            </a:r>
          </a:p>
          <a:p>
            <a:pPr lvl="0"/>
            <a:r>
              <a:rPr lang="en-GB" dirty="0"/>
              <a:t>Using the model: Consider the sample, data range, and sporting context.</a:t>
            </a:r>
          </a:p>
          <a:p>
            <a:endParaRPr lang="en-GB" dirty="0"/>
          </a:p>
        </p:txBody>
      </p:sp>
    </p:spTree>
    <p:extLst>
      <p:ext uri="{BB962C8B-B14F-4D97-AF65-F5344CB8AC3E}">
        <p14:creationId xmlns:p14="http://schemas.microsoft.com/office/powerpoint/2010/main" val="1104664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32D18-60A4-BFF9-C558-66378F2E8F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C82D0-82CC-A232-2A04-5865AFA2A8BF}"/>
              </a:ext>
            </a:extLst>
          </p:cNvPr>
          <p:cNvSpPr>
            <a:spLocks noGrp="1"/>
          </p:cNvSpPr>
          <p:nvPr>
            <p:ph type="title"/>
          </p:nvPr>
        </p:nvSpPr>
        <p:spPr/>
        <p:txBody>
          <a:bodyPr>
            <a:normAutofit/>
          </a:bodyPr>
          <a:lstStyle/>
          <a:p>
            <a:r>
              <a:rPr lang="en-GB" dirty="0"/>
              <a:t>Understanding the Metrics</a:t>
            </a:r>
            <a:endParaRPr lang="en-US" dirty="0"/>
          </a:p>
        </p:txBody>
      </p:sp>
      <p:sp>
        <p:nvSpPr>
          <p:cNvPr id="3" name="Content Placeholder 2">
            <a:extLst>
              <a:ext uri="{FF2B5EF4-FFF2-40B4-BE49-F238E27FC236}">
                <a16:creationId xmlns:a16="http://schemas.microsoft.com/office/drawing/2014/main" id="{89BA692C-C410-230A-D1F4-6E7EEB8DBE91}"/>
              </a:ext>
            </a:extLst>
          </p:cNvPr>
          <p:cNvSpPr>
            <a:spLocks noGrp="1"/>
          </p:cNvSpPr>
          <p:nvPr>
            <p:ph idx="1"/>
          </p:nvPr>
        </p:nvSpPr>
        <p:spPr/>
        <p:txBody>
          <a:bodyPr/>
          <a:lstStyle/>
          <a:p>
            <a:pPr lvl="0"/>
            <a:r>
              <a:rPr lang="en-GB" dirty="0"/>
              <a:t>Eg: Points ~ Assists </a:t>
            </a:r>
          </a:p>
          <a:p>
            <a:pPr lvl="1"/>
            <a:r>
              <a:rPr lang="en-GB" dirty="0"/>
              <a:t>An assist is credited when a pass directly leads to a made basket.</a:t>
            </a:r>
          </a:p>
          <a:p>
            <a:pPr lvl="2"/>
            <a:r>
              <a:rPr lang="en-GB" dirty="0">
                <a:sym typeface="Wingdings" pitchFamily="2" charset="2"/>
              </a:rPr>
              <a:t>assist = pass | score</a:t>
            </a:r>
            <a:endParaRPr lang="en-GB" dirty="0"/>
          </a:p>
          <a:p>
            <a:pPr lvl="1"/>
            <a:r>
              <a:rPr lang="en-GB" dirty="0"/>
              <a:t>A relationship is expected.</a:t>
            </a:r>
          </a:p>
          <a:p>
            <a:pPr lvl="1"/>
            <a:r>
              <a:rPr lang="en-GB" dirty="0"/>
              <a:t>Understanding how metrics are defined helps us interpret their relationship.</a:t>
            </a:r>
          </a:p>
        </p:txBody>
      </p:sp>
      <p:sp>
        <p:nvSpPr>
          <p:cNvPr id="4" name="TextBox 3">
            <a:extLst>
              <a:ext uri="{FF2B5EF4-FFF2-40B4-BE49-F238E27FC236}">
                <a16:creationId xmlns:a16="http://schemas.microsoft.com/office/drawing/2014/main" id="{BE625693-73E9-E651-A6C8-28A9B3F8FFDC}"/>
              </a:ext>
            </a:extLst>
          </p:cNvPr>
          <p:cNvSpPr txBox="1"/>
          <p:nvPr/>
        </p:nvSpPr>
        <p:spPr>
          <a:xfrm>
            <a:off x="2352635" y="5807631"/>
            <a:ext cx="7486730" cy="369332"/>
          </a:xfrm>
          <a:prstGeom prst="rect">
            <a:avLst/>
          </a:prstGeom>
          <a:noFill/>
        </p:spPr>
        <p:txBody>
          <a:bodyPr wrap="none" rtlCol="0">
            <a:spAutoFit/>
          </a:bodyPr>
          <a:lstStyle/>
          <a:p>
            <a:r>
              <a:rPr lang="en-US" dirty="0">
                <a:solidFill>
                  <a:srgbClr val="FF0000"/>
                </a:solidFill>
              </a:rPr>
              <a:t>This is why it is important to understand the metrics (data dictionary helps)</a:t>
            </a:r>
          </a:p>
        </p:txBody>
      </p:sp>
      <p:sp>
        <p:nvSpPr>
          <p:cNvPr id="6" name="TextBox 5">
            <a:extLst>
              <a:ext uri="{FF2B5EF4-FFF2-40B4-BE49-F238E27FC236}">
                <a16:creationId xmlns:a16="http://schemas.microsoft.com/office/drawing/2014/main" id="{5C451271-8AAA-178A-321F-D2A3458A1DCD}"/>
              </a:ext>
            </a:extLst>
          </p:cNvPr>
          <p:cNvSpPr txBox="1"/>
          <p:nvPr/>
        </p:nvSpPr>
        <p:spPr>
          <a:xfrm>
            <a:off x="2352635" y="4319788"/>
            <a:ext cx="7486730" cy="830997"/>
          </a:xfrm>
          <a:prstGeom prst="rect">
            <a:avLst/>
          </a:prstGeom>
          <a:noFill/>
        </p:spPr>
        <p:txBody>
          <a:bodyPr wrap="square">
            <a:spAutoFit/>
          </a:bodyPr>
          <a:lstStyle/>
          <a:p>
            <a:pPr algn="ctr"/>
            <a:r>
              <a:rPr lang="en-GB" sz="2400" dirty="0"/>
              <a:t>Does this relationship show that making more passes will increase scoring?</a:t>
            </a:r>
            <a:endParaRPr lang="en-GB" sz="2400" dirty="0">
              <a:sym typeface="Wingdings" pitchFamily="2" charset="2"/>
            </a:endParaRPr>
          </a:p>
        </p:txBody>
      </p:sp>
    </p:spTree>
    <p:extLst>
      <p:ext uri="{BB962C8B-B14F-4D97-AF65-F5344CB8AC3E}">
        <p14:creationId xmlns:p14="http://schemas.microsoft.com/office/powerpoint/2010/main" val="2561515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6AAC0-805A-BC35-56A0-0D754A3970B1}"/>
              </a:ext>
            </a:extLst>
          </p:cNvPr>
          <p:cNvSpPr>
            <a:spLocks noGrp="1"/>
          </p:cNvSpPr>
          <p:nvPr>
            <p:ph type="title"/>
          </p:nvPr>
        </p:nvSpPr>
        <p:spPr/>
        <p:txBody>
          <a:bodyPr/>
          <a:lstStyle/>
          <a:p>
            <a:r>
              <a:rPr lang="en-US" dirty="0"/>
              <a:t>Testing the Model</a:t>
            </a:r>
          </a:p>
        </p:txBody>
      </p:sp>
      <p:sp>
        <p:nvSpPr>
          <p:cNvPr id="3" name="Content Placeholder 2">
            <a:extLst>
              <a:ext uri="{FF2B5EF4-FFF2-40B4-BE49-F238E27FC236}">
                <a16:creationId xmlns:a16="http://schemas.microsoft.com/office/drawing/2014/main" id="{DEBF15A1-7C05-457C-C0EE-A8452FB01E7F}"/>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9965887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4998</TotalTime>
  <Words>1273</Words>
  <Application>Microsoft Macintosh PowerPoint</Application>
  <PresentationFormat>Widescreen</PresentationFormat>
  <Paragraphs>172</Paragraphs>
  <Slides>26</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Cambria Math</vt:lpstr>
      <vt:lpstr>Wingdings</vt:lpstr>
      <vt:lpstr>Office Theme</vt:lpstr>
      <vt:lpstr>Evaluating Predictions</vt:lpstr>
      <vt:lpstr>What We Can Do Already</vt:lpstr>
      <vt:lpstr>Review: Correlation vs Prediction</vt:lpstr>
      <vt:lpstr>Prediction Has a Direction</vt:lpstr>
      <vt:lpstr>Prediction Has a Direction</vt:lpstr>
      <vt:lpstr>PowerPoint Presentation</vt:lpstr>
      <vt:lpstr>Trend Lines vs. Regressions</vt:lpstr>
      <vt:lpstr>Trend Lines vs. Regressions</vt:lpstr>
      <vt:lpstr>Minimizing the residuals</vt:lpstr>
      <vt:lpstr>OLS Regressions</vt:lpstr>
      <vt:lpstr>Case Study 3, Bonus pt 1</vt:lpstr>
      <vt:lpstr>PowerPoint Presentation</vt:lpstr>
      <vt:lpstr>Point of Confusion: r vs R^2</vt:lpstr>
      <vt:lpstr>Interpreting r vs R^2</vt:lpstr>
      <vt:lpstr>Putting it all together</vt:lpstr>
      <vt:lpstr>Uncertainty in Predictions</vt:lpstr>
      <vt:lpstr>Sample Size</vt:lpstr>
      <vt:lpstr>Generalizability</vt:lpstr>
      <vt:lpstr>Overfitting</vt:lpstr>
      <vt:lpstr>Other contributing factors</vt:lpstr>
      <vt:lpstr>Case Study 3, Bonus pt </vt:lpstr>
      <vt:lpstr>Check Before Using the Model</vt:lpstr>
      <vt:lpstr>Application: What Does Your Analysis Justify?</vt:lpstr>
      <vt:lpstr>Summary</vt:lpstr>
      <vt:lpstr>Understanding the Metrics</vt:lpstr>
      <vt:lpstr>Testing the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Intern, Performance</cp:lastModifiedBy>
  <cp:revision>68</cp:revision>
  <dcterms:created xsi:type="dcterms:W3CDTF">2026-08-17T13:48:23Z</dcterms:created>
  <dcterms:modified xsi:type="dcterms:W3CDTF">2026-10-20T20:00:03Z</dcterms:modified>
</cp:coreProperties>
</file>