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77" r:id="rId4"/>
    <p:sldId id="260" r:id="rId5"/>
    <p:sldId id="259" r:id="rId6"/>
    <p:sldId id="278" r:id="rId7"/>
    <p:sldId id="261" r:id="rId8"/>
    <p:sldId id="262" r:id="rId9"/>
    <p:sldId id="267" r:id="rId10"/>
    <p:sldId id="279" r:id="rId11"/>
    <p:sldId id="265" r:id="rId12"/>
    <p:sldId id="280" r:id="rId13"/>
    <p:sldId id="282" r:id="rId14"/>
    <p:sldId id="283" r:id="rId15"/>
    <p:sldId id="291" r:id="rId16"/>
    <p:sldId id="257" r:id="rId17"/>
    <p:sldId id="290" r:id="rId18"/>
    <p:sldId id="284" r:id="rId19"/>
    <p:sldId id="285" r:id="rId20"/>
    <p:sldId id="286" r:id="rId21"/>
    <p:sldId id="287" r:id="rId22"/>
    <p:sldId id="269" r:id="rId23"/>
    <p:sldId id="289" r:id="rId24"/>
    <p:sldId id="268" r:id="rId25"/>
    <p:sldId id="27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613"/>
    <p:restoredTop sz="77192" autoAdjust="0"/>
  </p:normalViewPr>
  <p:slideViewPr>
    <p:cSldViewPr snapToGrid="0">
      <p:cViewPr varScale="1">
        <p:scale>
          <a:sx n="78" d="100"/>
          <a:sy n="78" d="100"/>
        </p:scale>
        <p:origin x="17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33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8D184-EE02-F047-9A48-A3F90DE615D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CF1AF-8744-D944-BF40-14B423B0A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4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Conclusions can be altered by emotion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Data driven insights cuts through this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Large samples: Humans can't reliably remember and process large amounts of information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Precise measurement: 96 mph not "pretty fast“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Complex interactions: Too many variables for intuition (e.g., lineup combinations)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Removing bias: Objective measurement vs. subjective impressions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873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“Reep fallacy” of </a:t>
            </a:r>
            <a:r>
              <a:rPr lang="en-US" dirty="0" err="1"/>
              <a:t>analysing</a:t>
            </a:r>
            <a:r>
              <a:rPr lang="en-US" dirty="0"/>
              <a:t> only successful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CF1AF-8744-D944-BF40-14B423B0A6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10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and access is main. Others include … buy in, inertia,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CF1AF-8744-D944-BF40-14B423B0A6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80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As data became larger and more complex, analysis has shifted from manual methods to methods that can more effectively process, visualize, and model them.</a:t>
            </a:r>
            <a:endParaRPr lang="en-GB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CF1AF-8744-D944-BF40-14B423B0A6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12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jpardis.medium.com/?source=post_page---byline--074fc2435b07---------------------------------------" TargetMode="External"/><Relationship Id="rId2" Type="http://schemas.openxmlformats.org/officeDocument/2006/relationships/hyperlink" Target="https://djpardis.medium.com/revisiting-moneyball-074fc2435b0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Evolution of Sports Analytics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DFC2-9A93-82A5-F36E-EC2E7C63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Exercise: The Box Score Blind Spot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55F98-BC30-8ACC-5ACC-AE9E4DB7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3266"/>
            <a:ext cx="10515600" cy="3223698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Pair &amp; Share: </a:t>
            </a:r>
          </a:p>
          <a:p>
            <a:pPr lvl="1"/>
            <a:r>
              <a:rPr lang="en-GB" i="1" dirty="0"/>
              <a:t>What is something a traditional box score completely hides that modern tracking might reveals?</a:t>
            </a:r>
            <a:endParaRPr lang="en-GB" dirty="0"/>
          </a:p>
          <a:p>
            <a:pPr lvl="2"/>
            <a:r>
              <a:rPr lang="en-GB" dirty="0"/>
              <a:t>Shot quality and defensive pressure?</a:t>
            </a:r>
          </a:p>
          <a:p>
            <a:pPr lvl="2"/>
            <a:r>
              <a:rPr lang="en-GB" dirty="0"/>
              <a:t>Physical workload and fatigue accumulation?</a:t>
            </a:r>
          </a:p>
          <a:p>
            <a:pPr lvl="2"/>
            <a:r>
              <a:rPr lang="en-GB" dirty="0"/>
              <a:t>Spacing impact when off the ball?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F9FF09-E521-EA6A-818F-85A4F1A22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26048"/>
              </p:ext>
            </p:extLst>
          </p:nvPr>
        </p:nvGraphicFramePr>
        <p:xfrm>
          <a:off x="1689101" y="1982568"/>
          <a:ext cx="881379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114">
                  <a:extLst>
                    <a:ext uri="{9D8B030D-6E8A-4147-A177-3AD203B41FA5}">
                      <a16:colId xmlns:a16="http://schemas.microsoft.com/office/drawing/2014/main" val="2193826968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595690686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1156797430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3301045484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1384021310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664837290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1738672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Rebounds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572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730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45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520-F007-23A8-4025-D55EBA0D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leverage data for decision making?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693FA-EFA3-DDA9-BDC2-0891FBDCF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Bias: </a:t>
            </a:r>
          </a:p>
          <a:p>
            <a:pPr lvl="1"/>
            <a:r>
              <a:rPr lang="en-US" dirty="0"/>
              <a:t>Memory &amp; perception are unreliable</a:t>
            </a:r>
          </a:p>
          <a:p>
            <a:r>
              <a:rPr lang="en-US" dirty="0"/>
              <a:t>Scale: </a:t>
            </a:r>
          </a:p>
          <a:p>
            <a:pPr lvl="1"/>
            <a:r>
              <a:rPr lang="en-US" dirty="0"/>
              <a:t>Humans can’t track large samples</a:t>
            </a:r>
          </a:p>
          <a:p>
            <a:r>
              <a:rPr lang="en-US" dirty="0"/>
              <a:t>Precision: </a:t>
            </a:r>
          </a:p>
          <a:p>
            <a:pPr lvl="1"/>
            <a:r>
              <a:rPr lang="en-US" dirty="0"/>
              <a:t>96 mph ≠ “pretty fast”</a:t>
            </a:r>
          </a:p>
          <a:p>
            <a:r>
              <a:rPr lang="en-US" dirty="0"/>
              <a:t>Complexity: </a:t>
            </a:r>
          </a:p>
          <a:p>
            <a:pPr lvl="1"/>
            <a:r>
              <a:rPr lang="en-US" dirty="0"/>
              <a:t>Too many interacting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13B7-F9CB-5BD0-B31D-C9BBE956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6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17817-E14F-F219-0B1A-8AA0F424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Beginning of Sports Analytics</a:t>
            </a:r>
          </a:p>
        </p:txBody>
      </p:sp>
      <p:pic>
        <p:nvPicPr>
          <p:cNvPr id="8" name="Content Placeholder 7" descr="A Pictorial Retrospective of Baseball: Part 7, the 1850s | by John Thorn |  Our Game">
            <a:extLst>
              <a:ext uri="{FF2B5EF4-FFF2-40B4-BE49-F238E27FC236}">
                <a16:creationId xmlns:a16="http://schemas.microsoft.com/office/drawing/2014/main" id="{32C5E694-64AF-9A67-E53C-F99A17748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792" y="1441450"/>
            <a:ext cx="7292416" cy="473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6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371F-8EB9-B1CB-16FD-4D5028B7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Measurement (and Analysis)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5CA5-808E-4EF7-ED49-60145BDC8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Mid-1800s–1960s</a:t>
            </a:r>
          </a:p>
          <a:p>
            <a:pPr lvl="0"/>
            <a:r>
              <a:rPr lang="en-GB" dirty="0"/>
              <a:t>Sports began turning performance into </a:t>
            </a:r>
            <a:r>
              <a:rPr lang="en-GB" b="1" dirty="0"/>
              <a:t>recorded information</a:t>
            </a:r>
            <a:r>
              <a:rPr lang="en-GB" dirty="0"/>
              <a:t>.</a:t>
            </a:r>
          </a:p>
          <a:p>
            <a:r>
              <a:rPr lang="en-GB" dirty="0"/>
              <a:t>Data collection was manual, limited, and primarily descriptive.</a:t>
            </a:r>
          </a:p>
          <a:p>
            <a:r>
              <a:rPr lang="en-GB" dirty="0"/>
              <a:t>Scouting remained largely observational and qualitative.</a:t>
            </a:r>
          </a:p>
          <a:p>
            <a:endParaRPr lang="en-GB" dirty="0"/>
          </a:p>
          <a:p>
            <a:r>
              <a:rPr lang="en-GB" dirty="0"/>
              <a:t>Limitations:</a:t>
            </a:r>
            <a:endParaRPr lang="en-GB" b="1" dirty="0"/>
          </a:p>
          <a:p>
            <a:pPr lvl="1"/>
            <a:r>
              <a:rPr lang="en-GB" dirty="0"/>
              <a:t>Box scores capture the </a:t>
            </a:r>
            <a:r>
              <a:rPr lang="en-GB" i="1" dirty="0"/>
              <a:t>what</a:t>
            </a:r>
            <a:r>
              <a:rPr lang="en-GB" dirty="0"/>
              <a:t> but entirely miss the how and why (i.e., context) – think back to opening exercise</a:t>
            </a:r>
          </a:p>
          <a:p>
            <a:pPr lvl="1"/>
            <a:r>
              <a:rPr lang="en-GB" dirty="0"/>
              <a:t>High susceptibility to </a:t>
            </a:r>
            <a:r>
              <a:rPr lang="en-GB" b="1" dirty="0"/>
              <a:t>confirmation bias</a:t>
            </a:r>
            <a:r>
              <a:rPr lang="en-GB" dirty="0"/>
              <a:t> and </a:t>
            </a:r>
            <a:r>
              <a:rPr lang="en-GB" b="1" dirty="0"/>
              <a:t>overgeneralization </a:t>
            </a:r>
            <a:r>
              <a:rPr lang="en-GB" dirty="0"/>
              <a:t>from small samples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47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A872-1C09-453E-236A-561D67EA1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8FF1-7CDE-166F-3590-5898493A9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Measurement (and Analysis)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40031-5A7B-2D7F-48CC-7F9B1B7D2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364" y="1441938"/>
            <a:ext cx="7303435" cy="4735025"/>
          </a:xfrm>
        </p:spPr>
        <p:txBody>
          <a:bodyPr/>
          <a:lstStyle/>
          <a:p>
            <a:pPr lvl="0"/>
            <a:r>
              <a:rPr lang="en-GB" b="1" dirty="0"/>
              <a:t>Henry Chadwick: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Helped standardize the baseball box score.</a:t>
            </a:r>
          </a:p>
          <a:p>
            <a:pPr lvl="0"/>
            <a:r>
              <a:rPr lang="en-GB" b="1" dirty="0"/>
              <a:t>Harvey Pollack: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Expanded the statistics recorded in basketball.</a:t>
            </a:r>
          </a:p>
          <a:p>
            <a:pPr lvl="0"/>
            <a:r>
              <a:rPr lang="en-GB" b="1" dirty="0"/>
              <a:t>Charles Reep: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Manually coded actions and passing sequences in soccer.</a:t>
            </a:r>
          </a:p>
          <a:p>
            <a:pPr lvl="1"/>
            <a:r>
              <a:rPr lang="en-GB" dirty="0"/>
              <a:t>Advocated for the long ball strategy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DE1791-5A7A-3E84-C81F-BF341568E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36" y="1327509"/>
            <a:ext cx="3355675" cy="210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 Thorold Charles Reep (1904-2002) - Source:  The Sun  ">
            <a:extLst>
              <a:ext uri="{FF2B5EF4-FFF2-40B4-BE49-F238E27FC236}">
                <a16:creationId xmlns:a16="http://schemas.microsoft.com/office/drawing/2014/main" id="{E9C21E3D-C39A-3922-2FD4-40A9DCC16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09450"/>
            <a:ext cx="2641270" cy="213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2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CB5B-9908-17FF-3740-3BAF2BD4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Challenging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E0BA-A49C-C3A2-CEE4-15DFC387E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1960s–1990s</a:t>
            </a:r>
          </a:p>
          <a:p>
            <a:pPr lvl="0"/>
            <a:r>
              <a:rPr lang="en-GB" dirty="0"/>
              <a:t>Analysts began questioning accepted beliefs and whether traditional statistics actually measured performance.</a:t>
            </a:r>
          </a:p>
          <a:p>
            <a:pPr lvl="1"/>
            <a:endParaRPr lang="en-GB" dirty="0"/>
          </a:p>
          <a:p>
            <a:pPr lvl="0"/>
            <a:r>
              <a:rPr lang="en-GB" dirty="0"/>
              <a:t>Greater emphasis on efficiency/rates, context, and contribution.</a:t>
            </a:r>
          </a:p>
          <a:p>
            <a:pPr lvl="1"/>
            <a:endParaRPr lang="en-GB" dirty="0"/>
          </a:p>
          <a:p>
            <a:pPr lvl="0"/>
            <a:r>
              <a:rPr lang="en-GB" dirty="0"/>
              <a:t>Analysis began moving from recording outcomes to evaluating decisions.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53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3170-FE53-47E0-1A1B-F4BD49D7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Challenging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1B5E1-E192-CCEA-4081-97831FB65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640" y="1441938"/>
            <a:ext cx="6358160" cy="473502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Earnshaw Cook: </a:t>
            </a:r>
          </a:p>
          <a:p>
            <a:pPr lvl="1"/>
            <a:r>
              <a:rPr lang="en-GB" dirty="0"/>
              <a:t>Applied mathematical analysis to baseball strategy.</a:t>
            </a:r>
          </a:p>
          <a:p>
            <a:pPr lvl="0"/>
            <a:r>
              <a:rPr lang="en-GB" dirty="0"/>
              <a:t>Bill James: </a:t>
            </a:r>
          </a:p>
          <a:p>
            <a:pPr lvl="1"/>
            <a:r>
              <a:rPr lang="en-GB" dirty="0"/>
              <a:t>Challenged traditional measures and popularized sabermetrics.</a:t>
            </a:r>
          </a:p>
          <a:p>
            <a:pPr lvl="0"/>
            <a:r>
              <a:rPr lang="en-GB" dirty="0"/>
              <a:t>Pete Palmer: </a:t>
            </a:r>
          </a:p>
          <a:p>
            <a:pPr lvl="1"/>
            <a:r>
              <a:rPr lang="en-GB" dirty="0"/>
              <a:t>Developed methods for estimating runs and player value.</a:t>
            </a:r>
          </a:p>
        </p:txBody>
      </p:sp>
      <p:pic>
        <p:nvPicPr>
          <p:cNvPr id="5" name="Picture 4" descr="Earnshaw Cook and Scoring Index (DX)">
            <a:extLst>
              <a:ext uri="{FF2B5EF4-FFF2-40B4-BE49-F238E27FC236}">
                <a16:creationId xmlns:a16="http://schemas.microsoft.com/office/drawing/2014/main" id="{B0B3AED0-6A3A-C63C-507C-C8A57F805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18" y="1592264"/>
            <a:ext cx="2233144" cy="2762800"/>
          </a:xfrm>
          <a:prstGeom prst="rect">
            <a:avLst/>
          </a:prstGeom>
        </p:spPr>
      </p:pic>
      <p:pic>
        <p:nvPicPr>
          <p:cNvPr id="6" name="Picture 4" descr="Does anyone know where I can find the self-published versions of Bill James'  Baseball Abstracts? : r/baseball">
            <a:extLst>
              <a:ext uri="{FF2B5EF4-FFF2-40B4-BE49-F238E27FC236}">
                <a16:creationId xmlns:a16="http://schemas.microsoft.com/office/drawing/2014/main" id="{DD97FEEA-6145-CCF2-9255-75A09DCA6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41" b="99414" l="10000" r="90000">
                        <a14:foregroundMark x1="43750" y1="29308" x2="60938" y2="34115"/>
                        <a14:foregroundMark x1="60938" y1="34115" x2="42031" y2="35170"/>
                        <a14:foregroundMark x1="42031" y1="35170" x2="51563" y2="31184"/>
                        <a14:foregroundMark x1="53750" y1="36460" x2="37969" y2="41970"/>
                        <a14:foregroundMark x1="37969" y1="41970" x2="52500" y2="47714"/>
                        <a14:foregroundMark x1="52500" y1="47714" x2="51875" y2="36460"/>
                        <a14:foregroundMark x1="51875" y1="36460" x2="51875" y2="36460"/>
                        <a14:foregroundMark x1="48750" y1="40445" x2="47656" y2="40211"/>
                        <a14:foregroundMark x1="87188" y1="68347" x2="86875" y2="93552"/>
                        <a14:foregroundMark x1="86875" y1="93552" x2="44063" y2="99414"/>
                        <a14:foregroundMark x1="44063" y1="99414" x2="22656" y2="99414"/>
                        <a14:foregroundMark x1="22656" y1="99414" x2="15313" y2="85580"/>
                        <a14:foregroundMark x1="15313" y1="85580" x2="16563" y2="80539"/>
                        <a14:foregroundMark x1="78438" y1="16295" x2="64375" y2="6682"/>
                        <a14:foregroundMark x1="64375" y1="6682" x2="18438" y2="8441"/>
                        <a14:foregroundMark x1="18438" y1="8441" x2="17969" y2="15592"/>
                        <a14:foregroundMark x1="55156" y1="21336" x2="50156" y2="21336"/>
                        <a14:foregroundMark x1="44531" y1="19578" x2="41719" y2="19578"/>
                        <a14:foregroundMark x1="16094" y1="36811" x2="15156" y2="44549"/>
                        <a14:foregroundMark x1="18750" y1="23564" x2="15781" y2="28253"/>
                        <a14:foregroundMark x1="17500" y1="22978" x2="15781" y2="253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36" y="2872209"/>
            <a:ext cx="2479331" cy="330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95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9328-63E7-F283-786D-C9341805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analytics still limited?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3BF0E-3CFE-EF87-2E46-64D11545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12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4C53-AD77-2792-466D-699BAAA2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Digital Measurement Revolution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8E0A-C1A5-D848-8E81-8BD954081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1990s–2000s</a:t>
            </a:r>
          </a:p>
          <a:p>
            <a:pPr lvl="0"/>
            <a:r>
              <a:rPr lang="en-GB" dirty="0"/>
              <a:t>New technologies dramatically expanded the volume, frequency, and detail of sports data.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Optical tracking, video analysis, and spatial tracking captured performance beyond traditional statistics.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Movement and physiological responses could increasingly be measured continuously.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15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CDDF-29A0-DBD6-E375-089B8697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Digital Measurement Revolution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F487-E8D2-0FAC-0523-22B66DA5B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examples of technologies that increased data in your sport?</a:t>
            </a:r>
          </a:p>
        </p:txBody>
      </p:sp>
    </p:spTree>
    <p:extLst>
      <p:ext uri="{BB962C8B-B14F-4D97-AF65-F5344CB8AC3E}">
        <p14:creationId xmlns:p14="http://schemas.microsoft.com/office/powerpoint/2010/main" val="2501267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8E19-A6D5-6B24-B0EC-2B231B8F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Digital Measurement Revolution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0B0D5-4DF0-AE3E-D37A-149153854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Polar:</a:t>
            </a:r>
            <a:r>
              <a:rPr lang="en-GB" dirty="0"/>
              <a:t> Portable heart-rate monitoring.</a:t>
            </a:r>
          </a:p>
          <a:p>
            <a:pPr lvl="0"/>
            <a:r>
              <a:rPr lang="en-GB" b="1" dirty="0"/>
              <a:t>Garmin</a:t>
            </a:r>
            <a:r>
              <a:rPr lang="en-GB" dirty="0"/>
              <a:t>: Wearable GPS live distance and pace numbers.</a:t>
            </a:r>
          </a:p>
          <a:p>
            <a:pPr lvl="0"/>
            <a:r>
              <a:rPr lang="en-GB" b="1" dirty="0"/>
              <a:t>Catapult:</a:t>
            </a:r>
            <a:r>
              <a:rPr lang="en-GB" dirty="0"/>
              <a:t> Spatial tracking systems for team sports</a:t>
            </a:r>
          </a:p>
          <a:p>
            <a:pPr lvl="0"/>
            <a:r>
              <a:rPr lang="en-GB" b="1" dirty="0" err="1"/>
              <a:t>TrackMan</a:t>
            </a:r>
            <a:r>
              <a:rPr lang="en-GB" b="1" dirty="0"/>
              <a:t>:</a:t>
            </a:r>
            <a:r>
              <a:rPr lang="en-GB" dirty="0"/>
              <a:t> Radar-based ball and object tracking.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F902B-F490-11EE-8B5D-FCDA5DF1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58" y="4058325"/>
            <a:ext cx="2118638" cy="2118638"/>
          </a:xfrm>
          <a:prstGeom prst="rect">
            <a:avLst/>
          </a:prstGeom>
        </p:spPr>
      </p:pic>
      <p:pic>
        <p:nvPicPr>
          <p:cNvPr id="5" name="Picture 4" descr="Trackman Portable B1: Key Metrics for Pitching and Hitting">
            <a:extLst>
              <a:ext uri="{FF2B5EF4-FFF2-40B4-BE49-F238E27FC236}">
                <a16:creationId xmlns:a16="http://schemas.microsoft.com/office/drawing/2014/main" id="{19C35A81-6C0E-D42D-551B-CA4639D05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116" y="3894203"/>
            <a:ext cx="2490284" cy="2282760"/>
          </a:xfrm>
          <a:prstGeom prst="rect">
            <a:avLst/>
          </a:prstGeom>
        </p:spPr>
      </p:pic>
      <p:pic>
        <p:nvPicPr>
          <p:cNvPr id="7" name="Picture 6" descr="Baker Mayfield">
            <a:extLst>
              <a:ext uri="{FF2B5EF4-FFF2-40B4-BE49-F238E27FC236}">
                <a16:creationId xmlns:a16="http://schemas.microsoft.com/office/drawing/2014/main" id="{0C6CD73A-7F33-D96E-587F-73D927ED5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393" y="3641828"/>
            <a:ext cx="2951631" cy="295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37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E974-749D-26A9-250D-CC361846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6BDDC-AD2D-8A97-0565-9D24C034C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2000s–Present</a:t>
            </a:r>
          </a:p>
          <a:p>
            <a:r>
              <a:rPr lang="en-US" dirty="0"/>
              <a:t>Analytics moved from isolated outsiders toward front offices, coaching staffs, and dedicated departments.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Analytics became integrated across scouting, strategy, athlete performance, and sports medicine.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3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10D3-14BB-B940-8BC0-66A58C05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810-D007-8517-B35C-3A4AC4C3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533AC-F25C-0956-D57D-B340BB3EF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7806690" cy="4735025"/>
          </a:xfrm>
        </p:spPr>
        <p:txBody>
          <a:bodyPr/>
          <a:lstStyle/>
          <a:p>
            <a:r>
              <a:rPr lang="en-US" dirty="0"/>
              <a:t>Billy Beane and Paul </a:t>
            </a:r>
            <a:r>
              <a:rPr lang="en-US" dirty="0" err="1"/>
              <a:t>DePodesta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Applied sabermetric ideas to player acquisition and roster construction in Oakland.</a:t>
            </a:r>
          </a:p>
          <a:p>
            <a:r>
              <a:rPr lang="en-US" dirty="0"/>
              <a:t>Daryl Morey</a:t>
            </a:r>
          </a:p>
          <a:p>
            <a:pPr lvl="1"/>
            <a:r>
              <a:rPr lang="en-US" dirty="0"/>
              <a:t>Built an analytically driven basketball operation around efficiency, probabilities, and decision-making.</a:t>
            </a:r>
          </a:p>
          <a:p>
            <a:r>
              <a:rPr lang="en-US" dirty="0"/>
              <a:t>Kirk Goldsberry</a:t>
            </a:r>
          </a:p>
          <a:p>
            <a:pPr lvl="1"/>
            <a:r>
              <a:rPr lang="en-US" dirty="0"/>
              <a:t>Used spatial data and visualization to transform how basketball shooting and defensive performance were understood.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3E34C-A376-9B12-C1DC-B60415A5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890" y="819800"/>
            <a:ext cx="2708910" cy="18059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33F4BB-25A9-3CFC-4C85-AD95B28AC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7977" y="2891246"/>
            <a:ext cx="2659292" cy="1533525"/>
          </a:xfrm>
          <a:prstGeom prst="rect">
            <a:avLst/>
          </a:prstGeom>
        </p:spPr>
      </p:pic>
      <p:pic>
        <p:nvPicPr>
          <p:cNvPr id="6" name="Picture 5" descr="10 Questions With Grantland Writer And Penn Stater Kirk Goldsberry">
            <a:extLst>
              <a:ext uri="{FF2B5EF4-FFF2-40B4-BE49-F238E27FC236}">
                <a16:creationId xmlns:a16="http://schemas.microsoft.com/office/drawing/2014/main" id="{2352BDD5-072F-B4AF-7BFE-5D2080D54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8443" y="4690277"/>
            <a:ext cx="2727856" cy="177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4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A14A-2B64-CE43-3867-BE1FE5240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of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FE86-2758-D75F-F9FF-29A95C21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Manual</a:t>
            </a:r>
          </a:p>
          <a:p>
            <a:pPr lvl="1"/>
            <a:r>
              <a:rPr lang="en-GB" dirty="0"/>
              <a:t>Pen, paper, tally sheets, film notation</a:t>
            </a:r>
          </a:p>
          <a:p>
            <a:pPr lvl="1"/>
            <a:r>
              <a:rPr lang="en-GB" dirty="0"/>
              <a:t>Record and summarize a limited number of events</a:t>
            </a:r>
          </a:p>
          <a:p>
            <a:r>
              <a:rPr lang="en-GB" dirty="0"/>
              <a:t>Computational</a:t>
            </a:r>
          </a:p>
          <a:p>
            <a:pPr lvl="1"/>
            <a:r>
              <a:rPr lang="en-GB" dirty="0"/>
              <a:t>Spreadsheets, databases, statistical software</a:t>
            </a:r>
          </a:p>
          <a:p>
            <a:pPr lvl="1"/>
            <a:r>
              <a:rPr lang="en-GB" dirty="0"/>
              <a:t>Store larger datasets, calculate efficiently, and compare patterns</a:t>
            </a:r>
          </a:p>
          <a:p>
            <a:r>
              <a:rPr lang="en-GB" dirty="0"/>
              <a:t>Programmatic</a:t>
            </a:r>
          </a:p>
          <a:p>
            <a:pPr lvl="1"/>
            <a:r>
              <a:rPr lang="en-GB" dirty="0"/>
              <a:t>R/Python, cloud computing, machine learning</a:t>
            </a:r>
          </a:p>
          <a:p>
            <a:pPr lvl="1"/>
            <a:r>
              <a:rPr lang="en-GB" dirty="0"/>
              <a:t>Automate workflows, integrate multiple data sources, and model complex outcomes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9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8926-31C0-7A3A-D4C5-8469F2C4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Paradigm Shift: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9C09-0664-9687-E3AA-352CB4AB2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The Traditional Mindset: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Heavy reliance on expert intuition, scouting lore, and decades of visual confirmation.</a:t>
            </a:r>
          </a:p>
          <a:p>
            <a:pPr lvl="1"/>
            <a:r>
              <a:rPr lang="en-GB" dirty="0"/>
              <a:t>The "gut feeling" approach to training and game planning.</a:t>
            </a:r>
          </a:p>
          <a:p>
            <a:pPr lvl="1"/>
            <a:endParaRPr lang="en-GB" dirty="0"/>
          </a:p>
          <a:p>
            <a:pPr lvl="0"/>
            <a:r>
              <a:rPr lang="en-GB" b="1" dirty="0"/>
              <a:t>Analytics Approach: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Uncovering hidden patterns that human cognitive biases naturally filter out or miss.</a:t>
            </a:r>
          </a:p>
          <a:p>
            <a:pPr lvl="1"/>
            <a:r>
              <a:rPr lang="en-GB" dirty="0"/>
              <a:t>Data doesn't replace the eye test; it </a:t>
            </a:r>
            <a:r>
              <a:rPr lang="en-GB" b="1" dirty="0"/>
              <a:t>calibrates and enhances</a:t>
            </a:r>
            <a:r>
              <a:rPr lang="en-GB" dirty="0"/>
              <a:t> it.</a:t>
            </a:r>
          </a:p>
          <a:p>
            <a:pPr lvl="1"/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9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6510-D7BD-CC61-4901-BAEC0CC0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Evolution of Sports Analytics through </a:t>
            </a:r>
            <a:r>
              <a:rPr lang="en-GB" i="1" dirty="0"/>
              <a:t>Moneyball</a:t>
            </a:r>
            <a:endParaRPr lang="en-US" i="1" dirty="0"/>
          </a:p>
        </p:txBody>
      </p:sp>
      <p:pic>
        <p:nvPicPr>
          <p:cNvPr id="4" name="Picture 2" descr="Cover of the book Moneyball, showing a closeup of a baseball player’s hand holding a baseball.">
            <a:extLst>
              <a:ext uri="{FF2B5EF4-FFF2-40B4-BE49-F238E27FC236}">
                <a16:creationId xmlns:a16="http://schemas.microsoft.com/office/drawing/2014/main" id="{106E10FE-1511-C90F-992E-AC76818161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055" y="1441450"/>
            <a:ext cx="3153889" cy="473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443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F101-58B5-2887-7322-07CAB849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Billie Bean and the A’s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2720-1AD0-3F1A-F0C4-E415A6D2B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8500599" cy="473502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1. Challenging the Traditional Measures</a:t>
            </a:r>
          </a:p>
          <a:p>
            <a:pPr lvl="1"/>
            <a:r>
              <a:rPr lang="en-GB" dirty="0"/>
              <a:t>Batting average (BA) was traditionally treated as a central measure of offensive performance.</a:t>
            </a:r>
          </a:p>
          <a:p>
            <a:pPr lvl="2"/>
            <a:r>
              <a:rPr lang="en-GB" dirty="0"/>
              <a:t>It captured hits but ignored other ways a player could reach base.</a:t>
            </a:r>
          </a:p>
          <a:p>
            <a:pPr lvl="2"/>
            <a:endParaRPr lang="en-GB" dirty="0"/>
          </a:p>
          <a:p>
            <a:pPr lvl="1"/>
            <a:r>
              <a:rPr lang="en-GB" b="1" dirty="0"/>
              <a:t>Bill James </a:t>
            </a:r>
            <a:r>
              <a:rPr lang="en-GB" dirty="0"/>
              <a:t>questioned whether conventional statistics accurately represented player value.</a:t>
            </a:r>
          </a:p>
          <a:p>
            <a:pPr lvl="2"/>
            <a:r>
              <a:rPr lang="en-GB" dirty="0"/>
              <a:t>Measures such as on-base percentage (OBP) helped shift attention toward the production of runs rather than traditional reputation.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7F942-25F5-C202-ECCF-434DBEB2203A}"/>
              </a:ext>
            </a:extLst>
          </p:cNvPr>
          <p:cNvSpPr txBox="1"/>
          <p:nvPr/>
        </p:nvSpPr>
        <p:spPr>
          <a:xfrm>
            <a:off x="1122406" y="5523426"/>
            <a:ext cx="1023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FF0000"/>
                </a:solidFill>
                <a:effectLst/>
                <a:latin typeface="+mn-lt"/>
              </a:rPr>
              <a:t>The first shift was not more data. It was questioning what the existing data actually measured.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" name="Picture 4" descr="Does anyone know where I can find the self-published versions of Bill James'  Baseball Abstracts? : r/baseball">
            <a:extLst>
              <a:ext uri="{FF2B5EF4-FFF2-40B4-BE49-F238E27FC236}">
                <a16:creationId xmlns:a16="http://schemas.microsoft.com/office/drawing/2014/main" id="{8F7DFD8C-6EF6-FB4A-F17C-759E3AE1D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41" b="99414" l="10000" r="90000">
                        <a14:foregroundMark x1="43750" y1="29308" x2="60938" y2="34115"/>
                        <a14:foregroundMark x1="60938" y1="34115" x2="42031" y2="35170"/>
                        <a14:foregroundMark x1="42031" y1="35170" x2="51563" y2="31184"/>
                        <a14:foregroundMark x1="53750" y1="36460" x2="37969" y2="41970"/>
                        <a14:foregroundMark x1="37969" y1="41970" x2="52500" y2="47714"/>
                        <a14:foregroundMark x1="52500" y1="47714" x2="51875" y2="36460"/>
                        <a14:foregroundMark x1="51875" y1="36460" x2="51875" y2="36460"/>
                        <a14:foregroundMark x1="48750" y1="40445" x2="47656" y2="40211"/>
                        <a14:foregroundMark x1="87188" y1="68347" x2="86875" y2="93552"/>
                        <a14:foregroundMark x1="86875" y1="93552" x2="44063" y2="99414"/>
                        <a14:foregroundMark x1="44063" y1="99414" x2="22656" y2="99414"/>
                        <a14:foregroundMark x1="22656" y1="99414" x2="15313" y2="85580"/>
                        <a14:foregroundMark x1="15313" y1="85580" x2="16563" y2="80539"/>
                        <a14:foregroundMark x1="78438" y1="16295" x2="64375" y2="6682"/>
                        <a14:foregroundMark x1="64375" y1="6682" x2="18438" y2="8441"/>
                        <a14:foregroundMark x1="18438" y1="8441" x2="17969" y2="15592"/>
                        <a14:foregroundMark x1="55156" y1="21336" x2="50156" y2="21336"/>
                        <a14:foregroundMark x1="44531" y1="19578" x2="41719" y2="19578"/>
                        <a14:foregroundMark x1="16094" y1="36811" x2="15156" y2="44549"/>
                        <a14:foregroundMark x1="18750" y1="23564" x2="15781" y2="28253"/>
                        <a14:foregroundMark x1="17500" y1="22978" x2="15781" y2="253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799" y="1579503"/>
            <a:ext cx="2479331" cy="330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58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D865-B6D7-3A90-B68D-C88152CD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Analysis to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7F0F1-7029-BD0B-2AA7-17A7652F0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2. The Oakland A's Put the Philosophy to Work</a:t>
            </a:r>
          </a:p>
          <a:p>
            <a:pPr lvl="1"/>
            <a:r>
              <a:rPr lang="en-GB" dirty="0"/>
              <a:t>The A's needed to build a competitive roster under substantial payroll constraints.</a:t>
            </a:r>
          </a:p>
          <a:p>
            <a:pPr lvl="1"/>
            <a:r>
              <a:rPr lang="en-GB" dirty="0"/>
              <a:t>Billy Beane, Paul </a:t>
            </a:r>
            <a:r>
              <a:rPr lang="en-GB" dirty="0" err="1"/>
              <a:t>DePodesta</a:t>
            </a:r>
            <a:r>
              <a:rPr lang="en-GB" dirty="0"/>
              <a:t>, and the Oakland front office looked for skills that contributed to winning but were undervalued by the player market.</a:t>
            </a:r>
          </a:p>
          <a:p>
            <a:pPr lvl="2"/>
            <a:r>
              <a:rPr lang="en-GB" dirty="0"/>
              <a:t>Eg: OBP</a:t>
            </a:r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B9CBD4-E4F1-F1E7-BAA8-9080334EE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5" y="3429000"/>
            <a:ext cx="4835571" cy="318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01A7-C3E1-6543-4E7E-E15F70DA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Happens When Everyone Catches Up?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8CD8A-6972-1F76-3E7A-E229716E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3. From Competitive Advantage to Widespread Adoption</a:t>
            </a:r>
          </a:p>
          <a:p>
            <a:pPr lvl="1"/>
            <a:r>
              <a:rPr lang="en-GB" dirty="0"/>
              <a:t>A’s demonstrated analytical methods could reveal market inefficiencies.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Other organizations expanded their own analytics capabilities.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Previously undervalued skills became more widely recognized </a:t>
            </a:r>
          </a:p>
          <a:p>
            <a:pPr lvl="2"/>
            <a:r>
              <a:rPr lang="en-GB" dirty="0"/>
              <a:t>(and the skill became appropriately priced)</a:t>
            </a:r>
          </a:p>
          <a:p>
            <a:pPr lvl="2"/>
            <a:r>
              <a:rPr lang="en-GB" b="1" dirty="0"/>
              <a:t>Competitive advantage </a:t>
            </a:r>
            <a:r>
              <a:rPr lang="en-GB" dirty="0"/>
              <a:t>of OBP disappeared.</a:t>
            </a:r>
          </a:p>
        </p:txBody>
      </p:sp>
    </p:spTree>
    <p:extLst>
      <p:ext uri="{BB962C8B-B14F-4D97-AF65-F5344CB8AC3E}">
        <p14:creationId xmlns:p14="http://schemas.microsoft.com/office/powerpoint/2010/main" val="303654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7C94-CFAC-93C2-E14C-57DCA177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Beyond </a:t>
            </a:r>
            <a:r>
              <a:rPr lang="en-GB" i="1" dirty="0"/>
              <a:t>Moneyball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0EFA5-8792-08F9-5012-C91773A40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6404429" cy="473502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4. The Analytical Frontier Keeps Moving</a:t>
            </a:r>
          </a:p>
          <a:p>
            <a:pPr lvl="1"/>
            <a:r>
              <a:rPr lang="en-GB" dirty="0"/>
              <a:t>Modern analytics extends far beyond box scores and any single “advanced” statistic.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Competitive advantage increasingly depends on asking better questions, </a:t>
            </a:r>
            <a:r>
              <a:rPr lang="en-GB" b="1" dirty="0"/>
              <a:t>domain expertise</a:t>
            </a:r>
            <a:r>
              <a:rPr lang="en-GB" dirty="0"/>
              <a:t>,  and effective </a:t>
            </a:r>
            <a:r>
              <a:rPr lang="en-GB" b="1" dirty="0"/>
              <a:t>communication</a:t>
            </a:r>
            <a:r>
              <a:rPr lang="en-GB" dirty="0"/>
              <a:t> / </a:t>
            </a:r>
            <a:r>
              <a:rPr lang="en-GB" b="1" dirty="0"/>
              <a:t>implementation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pic>
        <p:nvPicPr>
          <p:cNvPr id="4" name="Picture 3" descr="MIT Sloan Sports Analytics Conference | Sports Analytics, Business, &amp;  Technology.">
            <a:extLst>
              <a:ext uri="{FF2B5EF4-FFF2-40B4-BE49-F238E27FC236}">
                <a16:creationId xmlns:a16="http://schemas.microsoft.com/office/drawing/2014/main" id="{A36BBB0E-7A71-D048-657E-B25E6E253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207" y="2096040"/>
            <a:ext cx="4227241" cy="309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0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4A9F-BEA2-0A56-8DED-BA72C91B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Modern Sports Analytics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7F0A6-90B9-9DE0-F578-AF97E314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dirty="0"/>
              <a:t>Performance analytics is now specialized into several “domains”:</a:t>
            </a:r>
          </a:p>
          <a:p>
            <a:pPr lvl="0"/>
            <a:r>
              <a:rPr lang="en-GB" dirty="0"/>
              <a:t>Scouting &amp; Talent Evaluation</a:t>
            </a:r>
          </a:p>
          <a:p>
            <a:pPr lvl="1"/>
            <a:r>
              <a:rPr lang="en-GB" dirty="0"/>
              <a:t>Objective profiling, tracking performance trajectories, and building predictive models for athlete recruitment.</a:t>
            </a:r>
          </a:p>
          <a:p>
            <a:pPr lvl="0"/>
            <a:r>
              <a:rPr lang="en-GB" dirty="0"/>
              <a:t>Athlete Tracking </a:t>
            </a:r>
          </a:p>
          <a:p>
            <a:pPr lvl="1"/>
            <a:r>
              <a:rPr lang="en-GB" dirty="0"/>
              <a:t>Monitoring training and physical condition to manage training stress and prevent injuries.</a:t>
            </a:r>
          </a:p>
          <a:p>
            <a:pPr lvl="0"/>
            <a:r>
              <a:rPr lang="en-GB" dirty="0"/>
              <a:t>Strategy &amp; Tactical Optimization</a:t>
            </a:r>
          </a:p>
          <a:p>
            <a:pPr lvl="1"/>
            <a:r>
              <a:rPr lang="en-GB" dirty="0"/>
              <a:t>Leveraging situational probabilities and spatial efficiency to guide play-calling, defensive alignment, and game plans.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1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EEC4-C9B3-9411-ECE9-4DDC03A3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&amp; Looking Ahead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C1DF2-DDB5-6555-97CB-D1B4F7241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Key Takeaway:</a:t>
            </a:r>
            <a:r>
              <a:rPr lang="en-GB" dirty="0"/>
              <a:t> Sport analytics continually evolves as new questions, data, technologies, and methods reshape how performance is understood and decisions are made.</a:t>
            </a:r>
          </a:p>
          <a:p>
            <a:pPr lvl="0"/>
            <a:r>
              <a:rPr lang="en-GB" b="1" dirty="0"/>
              <a:t>Next Class: </a:t>
            </a:r>
            <a:r>
              <a:rPr lang="en-GB" dirty="0"/>
              <a:t>Overview of the three domains (Tracking, Scouting, Strategy) and how data changes sports decisions.</a:t>
            </a:r>
          </a:p>
          <a:p>
            <a:pPr lvl="0"/>
            <a:r>
              <a:rPr lang="en-GB" b="1" dirty="0"/>
              <a:t>For Next Time:</a:t>
            </a:r>
            <a:r>
              <a:rPr lang="en-GB" dirty="0"/>
              <a:t> Think about a specific sports decision you've seen coaches make that you'd like to </a:t>
            </a:r>
            <a:r>
              <a:rPr lang="en-GB" dirty="0" err="1"/>
              <a:t>analyze</a:t>
            </a:r>
            <a:r>
              <a:rPr lang="en-GB" dirty="0"/>
              <a:t> with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560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FFCD-A6D7-1A74-9C69-2EC99B6B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Challenges &amp; Cultural Friction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396EC-4609-2FC2-21B9-A6593D7E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Cognitive Biases:</a:t>
            </a:r>
          </a:p>
          <a:p>
            <a:pPr lvl="1"/>
            <a:r>
              <a:rPr lang="en-GB" dirty="0"/>
              <a:t>Overcoming the "hot hand" fallacy, </a:t>
            </a:r>
            <a:r>
              <a:rPr lang="en-GB" b="1" dirty="0"/>
              <a:t>outcome bias</a:t>
            </a:r>
            <a:r>
              <a:rPr lang="en-GB" dirty="0"/>
              <a:t>, and selective memory.</a:t>
            </a:r>
          </a:p>
          <a:p>
            <a:pPr lvl="0"/>
            <a:r>
              <a:rPr lang="en-GB" dirty="0"/>
              <a:t>Signal vs. Noise:</a:t>
            </a:r>
          </a:p>
          <a:p>
            <a:pPr lvl="1"/>
            <a:r>
              <a:rPr lang="en-GB" dirty="0"/>
              <a:t>Avoiding data overload. Not everything that can be measured matters, and not everything that matters can be easily measured.</a:t>
            </a:r>
          </a:p>
          <a:p>
            <a:pPr lvl="0"/>
            <a:r>
              <a:rPr lang="en-GB" dirty="0"/>
              <a:t>The Human Element:</a:t>
            </a:r>
          </a:p>
          <a:p>
            <a:pPr lvl="1"/>
            <a:r>
              <a:rPr lang="en-GB" dirty="0"/>
              <a:t>Analytics is only as powerful as its implementation on the ground.</a:t>
            </a:r>
          </a:p>
          <a:p>
            <a:pPr lvl="1"/>
            <a:r>
              <a:rPr lang="en-GB" dirty="0"/>
              <a:t>Pushing past cultural resistance from traditional coaches, staff, and athletes.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529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C62E-5986-B48B-6BA5-692F731A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Moneyball: The art of winning an unfair game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C866B-3ED2-68D3-4C36-BAF372DD1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hlinkClick r:id="rId2"/>
              </a:rPr>
              <a:t>Revisiting Moneyball</a:t>
            </a:r>
            <a:r>
              <a:rPr lang="en-GB" b="1" dirty="0"/>
              <a:t> by </a:t>
            </a:r>
            <a:r>
              <a:rPr lang="en-GB" dirty="0">
                <a:hlinkClick r:id="rId3"/>
              </a:rPr>
              <a:t>Pardis Noorzad</a:t>
            </a:r>
            <a:endParaRPr lang="en-GB" b="1" dirty="0"/>
          </a:p>
          <a:p>
            <a:pPr lvl="1"/>
            <a:r>
              <a:rPr lang="en-GB" i="1" dirty="0"/>
              <a:t>What specific problem were the A’s trying to solve?</a:t>
            </a:r>
          </a:p>
          <a:p>
            <a:pPr lvl="1"/>
            <a:r>
              <a:rPr lang="en-GB" i="1" dirty="0"/>
              <a:t>How did they use data to solve it?</a:t>
            </a:r>
          </a:p>
          <a:p>
            <a:pPr lvl="1"/>
            <a:r>
              <a:rPr lang="en-GB" i="1" dirty="0"/>
              <a:t>How did analytics impact the scouting job?</a:t>
            </a:r>
          </a:p>
          <a:p>
            <a:pPr lvl="1"/>
            <a:r>
              <a:rPr lang="en-GB" i="1" dirty="0"/>
              <a:t>How has baseball analytics changed since?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65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1259</Words>
  <Application>Microsoft Macintosh PowerPoint</Application>
  <PresentationFormat>Widescreen</PresentationFormat>
  <Paragraphs>176</Paragraphs>
  <Slides>25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Evolution of Sports Analytics</vt:lpstr>
      <vt:lpstr>Exercise: The Box Score Blind Spot</vt:lpstr>
      <vt:lpstr>Why leverage data for decision making?</vt:lpstr>
      <vt:lpstr>Beginning of Sports Analytics</vt:lpstr>
      <vt:lpstr>Analog Measurement (and Analysis)</vt:lpstr>
      <vt:lpstr>Analog Measurement (and Analysis)</vt:lpstr>
      <vt:lpstr>Challenging Conventional Wisdom</vt:lpstr>
      <vt:lpstr>Challenging Conventional Wisdom</vt:lpstr>
      <vt:lpstr>Why was analytics still limited?</vt:lpstr>
      <vt:lpstr>Digital Measurement Revolution</vt:lpstr>
      <vt:lpstr>Digital Measurement Revolution</vt:lpstr>
      <vt:lpstr>Digital Measurement Revolution</vt:lpstr>
      <vt:lpstr>Modern Performance Analytics</vt:lpstr>
      <vt:lpstr>Modern Performance Analytics</vt:lpstr>
      <vt:lpstr>Tools of Performance Analytics</vt:lpstr>
      <vt:lpstr>The Paradigm Shift:</vt:lpstr>
      <vt:lpstr>Evolution of Sports Analytics through Moneyball</vt:lpstr>
      <vt:lpstr>Before Billie Bean and the A’s</vt:lpstr>
      <vt:lpstr>Analysis to Implementation</vt:lpstr>
      <vt:lpstr>What Happens When Everyone Catches Up?</vt:lpstr>
      <vt:lpstr>Beyond Moneyball</vt:lpstr>
      <vt:lpstr>The Modern Sports Analytics Landscape</vt:lpstr>
      <vt:lpstr>Summary &amp; Looking Ahead</vt:lpstr>
      <vt:lpstr>Challenges &amp; Cultural Friction</vt:lpstr>
      <vt:lpstr>Moneyball: The art of winning an unfair game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13</cp:revision>
  <dcterms:created xsi:type="dcterms:W3CDTF">2026-08-17T13:48:23Z</dcterms:created>
  <dcterms:modified xsi:type="dcterms:W3CDTF">2026-08-28T13:54:03Z</dcterms:modified>
</cp:coreProperties>
</file>