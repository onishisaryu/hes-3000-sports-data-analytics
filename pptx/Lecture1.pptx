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7" r:id="rId4"/>
    <p:sldId id="260" r:id="rId5"/>
    <p:sldId id="259" r:id="rId6"/>
    <p:sldId id="262" r:id="rId7"/>
    <p:sldId id="261" r:id="rId8"/>
    <p:sldId id="267" r:id="rId9"/>
    <p:sldId id="265" r:id="rId10"/>
    <p:sldId id="266" r:id="rId11"/>
    <p:sldId id="263" r:id="rId12"/>
    <p:sldId id="269" r:id="rId13"/>
    <p:sldId id="268" r:id="rId14"/>
    <p:sldId id="27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C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264"/>
    <p:restoredTop sz="94589"/>
  </p:normalViewPr>
  <p:slideViewPr>
    <p:cSldViewPr snapToGrid="0">
      <p:cViewPr varScale="1">
        <p:scale>
          <a:sx n="108" d="100"/>
          <a:sy n="108" d="100"/>
        </p:scale>
        <p:origin x="216" y="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78C46-97B5-06A6-FCEF-1A1F72D6F7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05156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D3A6AC-3ACF-3E00-27EA-CDC21E0D0C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3602038"/>
            <a:ext cx="10515599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D74E7-FB50-6453-FBC4-4FF2059E7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EC381-9EAC-65CA-E2D4-E9753C63F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85E49-459E-7153-8DCA-00BFA12DD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44AAB-14A7-7BCA-3837-4F570792F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DB745-E89B-BA25-707B-D3F4B483C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A29DF3-7131-344B-BE29-3470A6E4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9C8A0-82E3-D43A-B433-03BD0E8A1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C3461-EED3-DA55-3A67-403D2D4F6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94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DEF06-5D11-579D-7B22-EDF525B07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F87EE-121E-981D-94B0-7DD81A760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09C7F-68AA-F83B-0CC2-643C7451C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BFDF23-F262-A143-3D94-2E03C5E80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1BCC86-AF79-D336-B20B-1E34423D7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671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E23E6-4994-ADDB-53EF-33DAC6204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1385E-3FBA-00D8-820B-01457DE095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400107-976D-189B-D5B8-F3309A029F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421288-007A-64D1-177C-EC493AB35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8BDC7E-1ED0-A64E-B741-2BD6DCC16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110B18-79B2-CA9A-54E7-8E270EA6C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113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DBA0C-D408-C89D-A5A4-EE49BFEF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C15059-44C0-5CAB-DD62-331CAEACC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210DA-60F4-E204-139F-488557C3A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C6D382-4432-4F54-9B2C-18EA1D3502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0DFF74-3B74-1F87-68E5-7C63462383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3D8442-0A79-241F-AD71-72BAE0874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BD044B-09B6-F478-2B54-1F154135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518B98-54E9-0248-CDC2-25F053D11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298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8611-FF70-0739-AB12-3A0D4D68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6340F8-BFC2-15DC-7097-138E7417B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87FFF2-E8C5-FBDB-D95A-12987FF75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02AAC0-7C6B-411F-8B27-54187B087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40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C24E59-43B1-B0E4-7BB5-449B4E620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DB2FC-A612-3F77-71B9-89F90F23E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EA5C7-5EFB-A99C-8686-6EB2C8FCF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173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6815E-33A2-36BD-141A-20E6987BF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EB718-3207-923E-BB2A-3A6A8B97C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8BF2C-0530-D542-CEA1-66680DF2CF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246F5-476E-F02E-8D52-52095AD76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CBF9F-FEBA-A17C-67EF-779BF6982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091D5-A6B8-C1A9-58A4-732980B56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34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F53C8-34AC-4EC3-9EF2-7646130C5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95296B-D06F-EC13-3B4B-D0804D56A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C15AD4-D0C4-4B3F-01A9-C4EB16F15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85DC77-4EA3-68F2-C1B1-3B61F9D48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28E95B-5416-3489-B8F3-9294F9EAD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31B0D-A406-6B24-1768-98B5238CC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462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7492E-5097-4D4A-B212-B9541B6D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2B2462-C37E-9A16-D9B2-03FE3550DC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5E3E0-2253-2E4B-C45D-9DD87541E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8D6ED-F324-5EA4-EBC1-32D8A8A80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26162-D880-6B17-AFBB-2555E585E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8128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7EF97A-4C14-3B96-B570-63221FE42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1FCF3E-3E21-12E5-F093-CD2EBC62CD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EB50E-0940-C414-1C80-43A1C4CBF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34562-A92B-8D3C-4A79-2489A9975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47ADD3-AF08-2898-D3BF-4768616B3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510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C7E355-A6C3-ABB7-5FB3-07B7718D6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2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BE3536-C253-FE9A-75A8-6625508B8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41938"/>
            <a:ext cx="10515600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7838E-35A9-F96A-354A-AE0FF3F85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F61C71-767E-B84C-BFB3-7B18856D27F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CBC5A-10F1-AA57-C7EC-9CDC8A53A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EEC1130-6658-3CAB-3F94-0FA0AAB844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207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jpardis.medium.com/?source=post_page---byline--074fc2435b07---------------------------------------" TargetMode="External"/><Relationship Id="rId2" Type="http://schemas.openxmlformats.org/officeDocument/2006/relationships/hyperlink" Target="https://djpardis.medium.com/revisiting-moneyball-074fc2435b07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9270D-14C3-FED3-E83A-AD4E36EC7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Evolution of Sports Analytics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03FB66-255C-9B0B-8F15-F85AACB34C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Saryu Onishi</a:t>
            </a:r>
          </a:p>
          <a:p>
            <a:r>
              <a:rPr lang="en-GB" dirty="0"/>
              <a:t>HES 3000-002, Sport Performance Analytics</a:t>
            </a:r>
          </a:p>
        </p:txBody>
      </p:sp>
    </p:spTree>
    <p:extLst>
      <p:ext uri="{BB962C8B-B14F-4D97-AF65-F5344CB8AC3E}">
        <p14:creationId xmlns:p14="http://schemas.microsoft.com/office/powerpoint/2010/main" val="3294273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BDFC2-9A93-82A5-F36E-EC2E7C634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Exercise: The Box Score Blind Spot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55F98-BC30-8ACC-5ACC-AE9E4DB7AB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429000"/>
            <a:ext cx="10515600" cy="2747963"/>
          </a:xfrm>
        </p:spPr>
        <p:txBody>
          <a:bodyPr/>
          <a:lstStyle/>
          <a:p>
            <a:pPr lvl="0"/>
            <a:r>
              <a:rPr lang="en-GB" dirty="0"/>
              <a:t>Pair &amp; Share (5 mins): </a:t>
            </a:r>
            <a:r>
              <a:rPr lang="en-GB" i="1" dirty="0"/>
              <a:t>What is something a traditional box score completely hides that modern tracking might reveals?</a:t>
            </a:r>
            <a:endParaRPr lang="en-GB" dirty="0"/>
          </a:p>
          <a:p>
            <a:pPr lvl="0"/>
            <a:r>
              <a:rPr lang="en-GB" dirty="0"/>
              <a:t>What did the box score miss?</a:t>
            </a:r>
          </a:p>
          <a:p>
            <a:pPr lvl="1"/>
            <a:r>
              <a:rPr lang="en-GB" dirty="0"/>
              <a:t>Shot quality and defensive pressure?</a:t>
            </a:r>
          </a:p>
          <a:p>
            <a:pPr lvl="1"/>
            <a:r>
              <a:rPr lang="en-GB" dirty="0"/>
              <a:t>Physical workload and fatigue accumulation?</a:t>
            </a:r>
          </a:p>
          <a:p>
            <a:pPr lvl="1"/>
            <a:r>
              <a:rPr lang="en-GB" dirty="0"/>
              <a:t>Spacing impact when off the ball?</a:t>
            </a:r>
          </a:p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7F9FF09-E521-EA6A-818F-85A4F1A22E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5726048"/>
              </p:ext>
            </p:extLst>
          </p:nvPr>
        </p:nvGraphicFramePr>
        <p:xfrm>
          <a:off x="1689101" y="1982568"/>
          <a:ext cx="881379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9114">
                  <a:extLst>
                    <a:ext uri="{9D8B030D-6E8A-4147-A177-3AD203B41FA5}">
                      <a16:colId xmlns:a16="http://schemas.microsoft.com/office/drawing/2014/main" val="2193826968"/>
                    </a:ext>
                  </a:extLst>
                </a:gridCol>
                <a:gridCol w="1259114">
                  <a:extLst>
                    <a:ext uri="{9D8B030D-6E8A-4147-A177-3AD203B41FA5}">
                      <a16:colId xmlns:a16="http://schemas.microsoft.com/office/drawing/2014/main" val="595690686"/>
                    </a:ext>
                  </a:extLst>
                </a:gridCol>
                <a:gridCol w="1259114">
                  <a:extLst>
                    <a:ext uri="{9D8B030D-6E8A-4147-A177-3AD203B41FA5}">
                      <a16:colId xmlns:a16="http://schemas.microsoft.com/office/drawing/2014/main" val="1156797430"/>
                    </a:ext>
                  </a:extLst>
                </a:gridCol>
                <a:gridCol w="1259114">
                  <a:extLst>
                    <a:ext uri="{9D8B030D-6E8A-4147-A177-3AD203B41FA5}">
                      <a16:colId xmlns:a16="http://schemas.microsoft.com/office/drawing/2014/main" val="3301045484"/>
                    </a:ext>
                  </a:extLst>
                </a:gridCol>
                <a:gridCol w="1259114">
                  <a:extLst>
                    <a:ext uri="{9D8B030D-6E8A-4147-A177-3AD203B41FA5}">
                      <a16:colId xmlns:a16="http://schemas.microsoft.com/office/drawing/2014/main" val="1384021310"/>
                    </a:ext>
                  </a:extLst>
                </a:gridCol>
                <a:gridCol w="1259114">
                  <a:extLst>
                    <a:ext uri="{9D8B030D-6E8A-4147-A177-3AD203B41FA5}">
                      <a16:colId xmlns:a16="http://schemas.microsoft.com/office/drawing/2014/main" val="664837290"/>
                    </a:ext>
                  </a:extLst>
                </a:gridCol>
                <a:gridCol w="1259114">
                  <a:extLst>
                    <a:ext uri="{9D8B030D-6E8A-4147-A177-3AD203B41FA5}">
                      <a16:colId xmlns:a16="http://schemas.microsoft.com/office/drawing/2014/main" val="17386727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Rebounds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Assists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95725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Player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9/22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2/8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37303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24599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48926-31C0-7A3A-D4C5-8469F2C46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The Paradigm Shift: Eye Test vs. Data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D69C09-0664-9687-E3AA-352CB4AB28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b="1" dirty="0"/>
              <a:t>The Traditional Mindset: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Heavy reliance on expert intuition, scouting lore, and decades of visual confirmation.</a:t>
            </a:r>
          </a:p>
          <a:p>
            <a:pPr lvl="1"/>
            <a:r>
              <a:rPr lang="en-GB" dirty="0"/>
              <a:t>The "gut feeling" approach to training and game planning.</a:t>
            </a:r>
          </a:p>
          <a:p>
            <a:pPr lvl="0"/>
            <a:r>
              <a:rPr lang="en-GB" b="1" dirty="0"/>
              <a:t>The Modern Reality: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Data doesn't replace the eye test; it </a:t>
            </a:r>
            <a:r>
              <a:rPr lang="en-GB" b="1" dirty="0"/>
              <a:t>calibrates and enhances</a:t>
            </a:r>
            <a:r>
              <a:rPr lang="en-GB" dirty="0"/>
              <a:t> it.</a:t>
            </a:r>
          </a:p>
          <a:p>
            <a:pPr lvl="1"/>
            <a:r>
              <a:rPr lang="en-GB" dirty="0"/>
              <a:t>Uncovering hidden patterns that human cognitive biases naturally filter out or miss.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71986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17817-E14F-F219-0B1A-8AA0F4242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Analog Measurement and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5290BB-5C5E-C7D9-90C6-E6BB1A7769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50364" y="1441938"/>
            <a:ext cx="7303435" cy="4735025"/>
          </a:xfrm>
        </p:spPr>
        <p:txBody>
          <a:bodyPr/>
          <a:lstStyle/>
          <a:p>
            <a:r>
              <a:rPr lang="en-US" dirty="0"/>
              <a:t>1859: Henry Chadwick</a:t>
            </a:r>
          </a:p>
          <a:p>
            <a:pPr lvl="1"/>
            <a:r>
              <a:rPr lang="en-US" dirty="0"/>
              <a:t>Invented the modern box score by quantifying hits, runs, and errors</a:t>
            </a:r>
          </a:p>
          <a:p>
            <a:pPr lvl="1"/>
            <a:r>
              <a:rPr lang="en-US" dirty="0"/>
              <a:t>Foundational for systematics talent evaluation.</a:t>
            </a:r>
          </a:p>
          <a:p>
            <a:r>
              <a:rPr lang="en-US" dirty="0"/>
              <a:t>1950: Charles Reep</a:t>
            </a:r>
          </a:p>
          <a:p>
            <a:pPr lvl="1"/>
            <a:r>
              <a:rPr lang="en-GB" dirty="0" err="1"/>
              <a:t>Cataloged</a:t>
            </a:r>
            <a:r>
              <a:rPr lang="en-GB" dirty="0"/>
              <a:t> every pass and shot across 2,500+ matches over a 45-year span.</a:t>
            </a:r>
          </a:p>
          <a:p>
            <a:pPr lvl="1"/>
            <a:r>
              <a:rPr lang="en-US" dirty="0"/>
              <a:t>Concluded that most goals came from three or fewer passes, leading to the infamous "Long Ball</a:t>
            </a:r>
            <a:r>
              <a:rPr lang="en-US"/>
              <a:t>" Strategy </a:t>
            </a:r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FDEBBC0-9F21-7502-FE9A-EF2AF4E410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936" y="1327509"/>
            <a:ext cx="3355675" cy="21014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 Thorold Charles Reep (1904-2002) - Source:  The Sun  ">
            <a:extLst>
              <a:ext uri="{FF2B5EF4-FFF2-40B4-BE49-F238E27FC236}">
                <a16:creationId xmlns:a16="http://schemas.microsoft.com/office/drawing/2014/main" id="{3C8371F9-0687-390A-E8A0-170FD5387E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039295"/>
            <a:ext cx="2641270" cy="2137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1638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6371F-8EB9-B1CB-16FD-4D5028B78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The Traditional Era (Pre-1970s)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C5CA5-808E-4EF7-ED49-60145BDC8C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Characteristics:</a:t>
            </a:r>
          </a:p>
          <a:p>
            <a:pPr lvl="1"/>
            <a:r>
              <a:rPr lang="en-US" dirty="0"/>
              <a:t>Performance was evaluated through observation, memory, and counting</a:t>
            </a:r>
            <a:endParaRPr lang="en-GB" dirty="0"/>
          </a:p>
          <a:p>
            <a:pPr lvl="2"/>
            <a:r>
              <a:rPr lang="en-GB" dirty="0"/>
              <a:t>Heavily reliant on </a:t>
            </a:r>
            <a:r>
              <a:rPr lang="en-GB" u="sng" dirty="0"/>
              <a:t>basic</a:t>
            </a:r>
            <a:r>
              <a:rPr lang="en-GB" dirty="0"/>
              <a:t> box scores (BA, PPG, completion percentages).</a:t>
            </a:r>
          </a:p>
          <a:p>
            <a:pPr lvl="2"/>
            <a:r>
              <a:rPr lang="en-GB" dirty="0"/>
              <a:t>Anecdotal scouting reports and qualitative grading systems.</a:t>
            </a:r>
          </a:p>
          <a:p>
            <a:pPr lvl="2"/>
            <a:endParaRPr lang="en-GB" dirty="0"/>
          </a:p>
          <a:p>
            <a:r>
              <a:rPr lang="en-GB" dirty="0"/>
              <a:t>Limitations:</a:t>
            </a:r>
          </a:p>
          <a:p>
            <a:pPr lvl="1"/>
            <a:r>
              <a:rPr lang="en-GB" dirty="0"/>
              <a:t>Box scores capture the </a:t>
            </a:r>
            <a:r>
              <a:rPr lang="en-GB" i="1" dirty="0"/>
              <a:t>what</a:t>
            </a:r>
            <a:r>
              <a:rPr lang="en-GB" dirty="0"/>
              <a:t> but entirely miss the how and why (i.e., context).</a:t>
            </a:r>
          </a:p>
          <a:p>
            <a:pPr lvl="1"/>
            <a:r>
              <a:rPr lang="en-GB" dirty="0"/>
              <a:t>High susceptibility to </a:t>
            </a:r>
            <a:r>
              <a:rPr lang="en-GB" b="1" dirty="0"/>
              <a:t>confirmation bias </a:t>
            </a:r>
            <a:r>
              <a:rPr lang="en-GB" dirty="0"/>
              <a:t>and small-sample-size </a:t>
            </a:r>
            <a:r>
              <a:rPr lang="en-GB" dirty="0" err="1"/>
              <a:t>theater</a:t>
            </a:r>
            <a:r>
              <a:rPr lang="en-GB" dirty="0"/>
              <a:t>.</a:t>
            </a:r>
          </a:p>
          <a:p>
            <a:endParaRPr lang="en-GB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4775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633170-FE53-47E0-1A1B-F4BD49D71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Pioneers of Sports Analytics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1B5E1-E192-CCEA-4081-97831FB65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1950s: Paul Brown</a:t>
            </a:r>
          </a:p>
          <a:p>
            <a:pPr lvl="1"/>
            <a:r>
              <a:rPr lang="en-US" dirty="0"/>
              <a:t>First to use game film for scouting and opponent analysis. (amongst many other innovations)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Developed a system for evaluating college players that became the blueprint for the modern NFL Draft. </a:t>
            </a:r>
          </a:p>
          <a:p>
            <a:r>
              <a:rPr lang="en-US" dirty="0"/>
              <a:t>1977: Bill James</a:t>
            </a:r>
          </a:p>
          <a:p>
            <a:pPr lvl="1"/>
            <a:r>
              <a:rPr lang="en-US" dirty="0"/>
              <a:t>He coined the term "Sabermetrics" and published the </a:t>
            </a:r>
            <a:r>
              <a:rPr lang="en-US" i="1" dirty="0"/>
              <a:t>Baseball Abstract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Challenged conventional metrics that valued the wrong skills, working largely outside the establishment. 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en-US" dirty="0"/>
              <a:t>1984: Davey Johnson</a:t>
            </a:r>
          </a:p>
          <a:p>
            <a:pPr lvl="1"/>
            <a:r>
              <a:rPr lang="en-US" dirty="0"/>
              <a:t>used a computer to run simulations for gameplay strategy, optimizing lineups and understanding opponent tendencies</a:t>
            </a:r>
          </a:p>
        </p:txBody>
      </p:sp>
    </p:spTree>
    <p:extLst>
      <p:ext uri="{BB962C8B-B14F-4D97-AF65-F5344CB8AC3E}">
        <p14:creationId xmlns:p14="http://schemas.microsoft.com/office/powerpoint/2010/main" val="31559531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5CB5B-9908-17FF-3740-3BAF2BD4F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The Statistical Awakening (1970s–2000s)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7E0BA-A49C-C3A2-CEE4-15DFC387EE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Characteristics:</a:t>
            </a:r>
          </a:p>
          <a:p>
            <a:pPr lvl="1"/>
            <a:r>
              <a:rPr lang="en-GB" dirty="0"/>
              <a:t>Independent pioneers digging beneath standard box scores to find true indicators of success (e.g., Bill James and Sabermetrics).</a:t>
            </a:r>
          </a:p>
          <a:p>
            <a:pPr lvl="1"/>
            <a:r>
              <a:rPr lang="en-GB" dirty="0"/>
              <a:t>Shift toward efficiency ratings and adjusted metrics rather than raw counting stats.</a:t>
            </a:r>
          </a:p>
          <a:p>
            <a:pPr lvl="0"/>
            <a:r>
              <a:rPr lang="en-GB" dirty="0"/>
              <a:t>The </a:t>
            </a:r>
            <a:r>
              <a:rPr lang="en-GB" i="1" dirty="0"/>
              <a:t>Moneyball</a:t>
            </a:r>
            <a:r>
              <a:rPr lang="en-GB" dirty="0"/>
              <a:t> Effect:</a:t>
            </a:r>
          </a:p>
          <a:p>
            <a:pPr lvl="1"/>
            <a:r>
              <a:rPr lang="en-GB" dirty="0"/>
              <a:t>Popularized the framework of exploiting market inefficiencies.</a:t>
            </a:r>
          </a:p>
          <a:p>
            <a:pPr lvl="1"/>
            <a:r>
              <a:rPr lang="en-GB" dirty="0"/>
              <a:t>Proved that analytical frameworks could compete with (and often beat) massive financial budgets.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75330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F9328-63E7-F283-786D-C9341805D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was analytics still limited?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83BF0E-3CFE-EF87-2E46-64D11545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availability</a:t>
            </a:r>
          </a:p>
        </p:txBody>
      </p:sp>
    </p:spTree>
    <p:extLst>
      <p:ext uri="{BB962C8B-B14F-4D97-AF65-F5344CB8AC3E}">
        <p14:creationId xmlns:p14="http://schemas.microsoft.com/office/powerpoint/2010/main" val="21971202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CCDDF-29A0-DBD6-E375-089B8697D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Tracking and wearable technology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2AF487-E8D2-0FAC-0523-22B66DA5B6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are some examples of technologies that increased analytics in your sport?</a:t>
            </a:r>
          </a:p>
        </p:txBody>
      </p:sp>
    </p:spTree>
    <p:extLst>
      <p:ext uri="{BB962C8B-B14F-4D97-AF65-F5344CB8AC3E}">
        <p14:creationId xmlns:p14="http://schemas.microsoft.com/office/powerpoint/2010/main" val="25012677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0815F-37BE-9B21-58EA-EC5293EB4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Tracking and wearable technology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955DCA-8299-BBBA-BA3D-B515EF929A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1978: Seppo </a:t>
            </a:r>
            <a:r>
              <a:rPr lang="en-US" dirty="0" err="1"/>
              <a:t>Säynäjäkangas</a:t>
            </a:r>
            <a:r>
              <a:rPr lang="en-US" dirty="0"/>
              <a:t> (Polar)</a:t>
            </a:r>
          </a:p>
          <a:p>
            <a:pPr lvl="1"/>
            <a:r>
              <a:rPr lang="en-US" dirty="0"/>
              <a:t>filed the first wireless heart rate monitor patent</a:t>
            </a:r>
          </a:p>
          <a:p>
            <a:pPr lvl="1"/>
            <a:r>
              <a:rPr lang="en-US" dirty="0"/>
              <a:t>marking the beginning of portable physiological monitoring in sports</a:t>
            </a:r>
          </a:p>
          <a:p>
            <a:r>
              <a:rPr lang="en-US" dirty="0"/>
              <a:t>2003: Gary Burrell &amp; Min Kao (Garmin)</a:t>
            </a:r>
          </a:p>
          <a:p>
            <a:pPr lvl="1"/>
            <a:r>
              <a:rPr lang="en-US" dirty="0"/>
              <a:t>Brought GPS technology to the masses.</a:t>
            </a:r>
          </a:p>
          <a:p>
            <a:r>
              <a:rPr lang="en-US" dirty="0"/>
              <a:t>2003: Trackman </a:t>
            </a:r>
          </a:p>
          <a:p>
            <a:pPr lvl="1"/>
            <a:r>
              <a:rPr lang="en-US" dirty="0"/>
              <a:t>Began as a golf start up aimed at measuring ball ballistics</a:t>
            </a:r>
          </a:p>
          <a:p>
            <a:pPr lvl="1"/>
            <a:r>
              <a:rPr lang="en-US" dirty="0"/>
              <a:t>Opened a baseball division in 2008</a:t>
            </a:r>
          </a:p>
          <a:p>
            <a:r>
              <a:rPr lang="en-US" dirty="0"/>
              <a:t>2006: Catapult</a:t>
            </a:r>
          </a:p>
          <a:p>
            <a:pPr lvl="1"/>
            <a:r>
              <a:rPr lang="en-US" dirty="0"/>
              <a:t>Commercialized team oriented wearable GPS technology based on research by founders and Australian Institute of Sport (AIS)</a:t>
            </a:r>
          </a:p>
          <a:p>
            <a:pPr lvl="1"/>
            <a:r>
              <a:rPr lang="en-US" dirty="0"/>
              <a:t>Enabled coaches to track player distances and movement data across team</a:t>
            </a:r>
          </a:p>
        </p:txBody>
      </p:sp>
    </p:spTree>
    <p:extLst>
      <p:ext uri="{BB962C8B-B14F-4D97-AF65-F5344CB8AC3E}">
        <p14:creationId xmlns:p14="http://schemas.microsoft.com/office/powerpoint/2010/main" val="37922050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008B9-3618-4FDF-3962-5D649CBF6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The Tracking &amp; Wearables Revolution (2010s - 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9D9779-4C7F-B80E-1D55-FC5858125E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Characteristics:</a:t>
            </a:r>
          </a:p>
          <a:p>
            <a:pPr lvl="1"/>
            <a:r>
              <a:rPr lang="en-GB" dirty="0"/>
              <a:t>Proliferation of optical tracking cameras (</a:t>
            </a:r>
            <a:r>
              <a:rPr lang="en-GB" dirty="0" err="1"/>
              <a:t>SportVU</a:t>
            </a:r>
            <a:r>
              <a:rPr lang="en-GB" dirty="0"/>
              <a:t>, Hawk-Eye) and internal/external physical load monitors (GPS, Catapult, accelerometers).</a:t>
            </a:r>
          </a:p>
          <a:p>
            <a:pPr lvl="1"/>
            <a:r>
              <a:rPr lang="en-GB" dirty="0"/>
              <a:t>Real-time tracking of spatial data, player velocity, and biomechanical stress.</a:t>
            </a:r>
          </a:p>
          <a:p>
            <a:pPr lvl="0"/>
            <a:r>
              <a:rPr lang="en-GB" dirty="0"/>
              <a:t>The Shift:</a:t>
            </a:r>
          </a:p>
          <a:p>
            <a:pPr lvl="1"/>
            <a:r>
              <a:rPr lang="en-GB" dirty="0"/>
              <a:t>Moving from macro-level game summaries to micro-level movement data.</a:t>
            </a:r>
          </a:p>
          <a:p>
            <a:pPr lvl="1"/>
            <a:r>
              <a:rPr lang="en-GB" dirty="0"/>
              <a:t>Quantifying fatigue and workload before soft-tissue injuries manifest.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623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94A9F-BEA2-0A56-8DED-BA72C91B7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Three Pillars of Sport Performance Analytics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47F0A6-90B9-9DE0-F578-AF97E31438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Scouting &amp; Talent Evaluation</a:t>
            </a:r>
          </a:p>
          <a:p>
            <a:pPr lvl="1"/>
            <a:r>
              <a:rPr lang="en-GB" dirty="0"/>
              <a:t>Objective profiling, tracking performance trajectories, and building predictive models for athlete recruitment.</a:t>
            </a:r>
          </a:p>
          <a:p>
            <a:pPr lvl="0"/>
            <a:r>
              <a:rPr lang="en-GB" dirty="0"/>
              <a:t>Athlete Tracking (Physical &amp; Spatial)</a:t>
            </a:r>
          </a:p>
          <a:p>
            <a:pPr lvl="1"/>
            <a:r>
              <a:rPr lang="en-GB" dirty="0"/>
              <a:t>Monitoring external load (distance, acceleration) and internal load (heart rate, RPE) to manage training stress and prevent injuries.</a:t>
            </a:r>
          </a:p>
          <a:p>
            <a:pPr lvl="0"/>
            <a:r>
              <a:rPr lang="en-GB" dirty="0"/>
              <a:t>Strategy &amp; Tactical Optimization</a:t>
            </a:r>
          </a:p>
          <a:p>
            <a:pPr lvl="1"/>
            <a:r>
              <a:rPr lang="en-GB" dirty="0"/>
              <a:t>Leveraging situational probabilities and spatial efficiency to guide play-calling, defensive alignment, and game plans.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47176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FFFCD-A6D7-1A74-9C69-2EC99B6B2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Challenges &amp; Cultural Friction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396EC-4609-2FC2-21B9-A6593D7EC2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Cognitive Biases:</a:t>
            </a:r>
          </a:p>
          <a:p>
            <a:pPr lvl="1"/>
            <a:r>
              <a:rPr lang="en-GB" dirty="0"/>
              <a:t>Overcoming the "hot hand" fallacy, </a:t>
            </a:r>
            <a:r>
              <a:rPr lang="en-GB" b="1" dirty="0"/>
              <a:t>outcome bias</a:t>
            </a:r>
            <a:r>
              <a:rPr lang="en-GB" dirty="0"/>
              <a:t>, and selective memory.</a:t>
            </a:r>
          </a:p>
          <a:p>
            <a:pPr lvl="0"/>
            <a:r>
              <a:rPr lang="en-GB" dirty="0"/>
              <a:t>Signal vs. Noise:</a:t>
            </a:r>
          </a:p>
          <a:p>
            <a:pPr lvl="1"/>
            <a:r>
              <a:rPr lang="en-GB" dirty="0"/>
              <a:t>Avoiding data overload. Not everything that can be measured matters, and not everything that matters can be easily measured.</a:t>
            </a:r>
          </a:p>
          <a:p>
            <a:pPr lvl="0"/>
            <a:r>
              <a:rPr lang="en-GB" dirty="0"/>
              <a:t>The Human Element:</a:t>
            </a:r>
          </a:p>
          <a:p>
            <a:pPr lvl="1"/>
            <a:r>
              <a:rPr lang="en-GB" dirty="0"/>
              <a:t>Analytics is only as powerful as its implementation on the ground.</a:t>
            </a:r>
          </a:p>
          <a:p>
            <a:pPr lvl="1"/>
            <a:r>
              <a:rPr lang="en-GB" dirty="0"/>
              <a:t>Pushing past cultural resistance from traditional coaches, staff, and athletes.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75299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EC62E-5986-B48B-6BA5-692F731A5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Moneyball: The art of winning an unfair game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AC866B-3ED2-68D3-4C36-BAF372DD1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>
                <a:hlinkClick r:id="rId2"/>
              </a:rPr>
              <a:t>Revisiting Moneyball</a:t>
            </a:r>
            <a:r>
              <a:rPr lang="en-GB" b="1" dirty="0"/>
              <a:t> by </a:t>
            </a:r>
            <a:r>
              <a:rPr lang="en-GB" dirty="0">
                <a:hlinkClick r:id="rId3"/>
              </a:rPr>
              <a:t>Pardis Noorzad</a:t>
            </a:r>
            <a:endParaRPr lang="en-GB" b="1" dirty="0"/>
          </a:p>
          <a:p>
            <a:pPr lvl="1"/>
            <a:r>
              <a:rPr lang="en-GB" i="1" dirty="0"/>
              <a:t>What specific problem were the A’s trying to solve?</a:t>
            </a:r>
          </a:p>
          <a:p>
            <a:pPr lvl="1"/>
            <a:r>
              <a:rPr lang="en-GB" i="1" dirty="0"/>
              <a:t>How did they use data to solve it?</a:t>
            </a:r>
          </a:p>
          <a:p>
            <a:pPr lvl="1"/>
            <a:r>
              <a:rPr lang="en-GB" i="1" dirty="0"/>
              <a:t>How did analytics impact the scouting job?</a:t>
            </a:r>
          </a:p>
          <a:p>
            <a:pPr lvl="1"/>
            <a:r>
              <a:rPr lang="en-GB" i="1" dirty="0"/>
              <a:t>How has baseball analytics changed since?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96578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309</TotalTime>
  <Words>851</Words>
  <Application>Microsoft Macintosh PowerPoint</Application>
  <PresentationFormat>Widescreen</PresentationFormat>
  <Paragraphs>105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Evolution of Sports Analytics</vt:lpstr>
      <vt:lpstr>Exercise: The Box Score Blind Spot</vt:lpstr>
      <vt:lpstr>The Paradigm Shift: Eye Test vs. Data</vt:lpstr>
      <vt:lpstr>Analog Measurement and Analysis</vt:lpstr>
      <vt:lpstr>The Traditional Era (Pre-1970s)</vt:lpstr>
      <vt:lpstr>Pioneers of Sports Analytics</vt:lpstr>
      <vt:lpstr>The Statistical Awakening (1970s–2000s)</vt:lpstr>
      <vt:lpstr>Why was analytics still limited?</vt:lpstr>
      <vt:lpstr>Tracking and wearable technology</vt:lpstr>
      <vt:lpstr>Tracking and wearable technology</vt:lpstr>
      <vt:lpstr>The Tracking &amp; Wearables Revolution (2010s - )</vt:lpstr>
      <vt:lpstr>Three Pillars of Sport Performance Analytics</vt:lpstr>
      <vt:lpstr>Challenges &amp; Cultural Friction</vt:lpstr>
      <vt:lpstr>Moneyball: The art of winning an unfair game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Onishi, Saryu</dc:creator>
  <cp:lastModifiedBy>Onishi, Saryu</cp:lastModifiedBy>
  <cp:revision>4</cp:revision>
  <dcterms:created xsi:type="dcterms:W3CDTF">2026-08-17T13:48:23Z</dcterms:created>
  <dcterms:modified xsi:type="dcterms:W3CDTF">2026-08-19T22:21:32Z</dcterms:modified>
</cp:coreProperties>
</file>