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309" r:id="rId3"/>
    <p:sldId id="310" r:id="rId4"/>
    <p:sldId id="308" r:id="rId5"/>
    <p:sldId id="336" r:id="rId6"/>
    <p:sldId id="317" r:id="rId7"/>
    <p:sldId id="338" r:id="rId8"/>
    <p:sldId id="339" r:id="rId9"/>
    <p:sldId id="337" r:id="rId10"/>
    <p:sldId id="355" r:id="rId11"/>
    <p:sldId id="350" r:id="rId12"/>
    <p:sldId id="340" r:id="rId13"/>
    <p:sldId id="356" r:id="rId14"/>
    <p:sldId id="362" r:id="rId15"/>
    <p:sldId id="357" r:id="rId16"/>
    <p:sldId id="295" r:id="rId17"/>
    <p:sldId id="343" r:id="rId18"/>
    <p:sldId id="358" r:id="rId19"/>
    <p:sldId id="359" r:id="rId20"/>
    <p:sldId id="360" r:id="rId21"/>
    <p:sldId id="361" r:id="rId22"/>
    <p:sldId id="363" r:id="rId23"/>
    <p:sldId id="364" r:id="rId24"/>
    <p:sldId id="365" r:id="rId25"/>
    <p:sldId id="366" r:id="rId26"/>
    <p:sldId id="368" r:id="rId27"/>
    <p:sldId id="321" r:id="rId28"/>
    <p:sldId id="367" r:id="rId29"/>
    <p:sldId id="370" r:id="rId30"/>
    <p:sldId id="329" r:id="rId31"/>
    <p:sldId id="353" r:id="rId32"/>
    <p:sldId id="301" r:id="rId33"/>
    <p:sldId id="369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C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8BA75F-BB6E-9F18-1648-74F52ADBFB50}" v="317" dt="2026-09-14T21:32:23.5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5"/>
    <p:restoredTop sz="78492" autoAdjust="0"/>
  </p:normalViewPr>
  <p:slideViewPr>
    <p:cSldViewPr snapToGrid="0">
      <p:cViewPr varScale="1">
        <p:scale>
          <a:sx n="97" d="100"/>
          <a:sy n="97" d="100"/>
        </p:scale>
        <p:origin x="108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ishi, Saryu" userId="S::saryu@ou.edu::24ec4854-0e9b-4cd9-95b4-b9d15917116b" providerId="AD" clId="Web-{D68BA75F-BB6E-9F18-1648-74F52ADBFB50}"/>
    <pc:docChg chg="addSld modSld">
      <pc:chgData name="Onishi, Saryu" userId="S::saryu@ou.edu::24ec4854-0e9b-4cd9-95b4-b9d15917116b" providerId="AD" clId="Web-{D68BA75F-BB6E-9F18-1648-74F52ADBFB50}" dt="2026-09-14T21:32:21.071" v="322"/>
      <pc:docMkLst>
        <pc:docMk/>
      </pc:docMkLst>
      <pc:sldChg chg="modSp">
        <pc:chgData name="Onishi, Saryu" userId="S::saryu@ou.edu::24ec4854-0e9b-4cd9-95b4-b9d15917116b" providerId="AD" clId="Web-{D68BA75F-BB6E-9F18-1648-74F52ADBFB50}" dt="2026-09-14T21:23:01.601" v="188" actId="20577"/>
        <pc:sldMkLst>
          <pc:docMk/>
          <pc:sldMk cId="2206692154" sldId="301"/>
        </pc:sldMkLst>
        <pc:spChg chg="mod">
          <ac:chgData name="Onishi, Saryu" userId="S::saryu@ou.edu::24ec4854-0e9b-4cd9-95b4-b9d15917116b" providerId="AD" clId="Web-{D68BA75F-BB6E-9F18-1648-74F52ADBFB50}" dt="2026-09-14T21:23:01.601" v="188" actId="20577"/>
          <ac:spMkLst>
            <pc:docMk/>
            <pc:sldMk cId="2206692154" sldId="301"/>
            <ac:spMk id="3" creationId="{B7781857-C6C4-CF29-7D9F-C7FCD74ECA0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16:29.569" v="91" actId="20577"/>
        <pc:sldMkLst>
          <pc:docMk/>
          <pc:sldMk cId="404022894" sldId="309"/>
        </pc:sldMkLst>
        <pc:spChg chg="mod">
          <ac:chgData name="Onishi, Saryu" userId="S::saryu@ou.edu::24ec4854-0e9b-4cd9-95b4-b9d15917116b" providerId="AD" clId="Web-{D68BA75F-BB6E-9F18-1648-74F52ADBFB50}" dt="2026-09-14T21:16:29.569" v="91" actId="20577"/>
          <ac:spMkLst>
            <pc:docMk/>
            <pc:sldMk cId="404022894" sldId="309"/>
            <ac:spMk id="3" creationId="{51729538-923D-458B-77DC-2E172E5670ED}"/>
          </ac:spMkLst>
        </pc:spChg>
      </pc:sldChg>
      <pc:sldChg chg="modSp">
        <pc:chgData name="Onishi, Saryu" userId="S::saryu@ou.edu::24ec4854-0e9b-4cd9-95b4-b9d15917116b" providerId="AD" clId="Web-{D68BA75F-BB6E-9F18-1648-74F52ADBFB50}" dt="2026-09-14T21:07:36.208" v="9" actId="1076"/>
        <pc:sldMkLst>
          <pc:docMk/>
          <pc:sldMk cId="2375312425" sldId="341"/>
        </pc:sldMkLst>
        <pc:spChg chg="mod">
          <ac:chgData name="Onishi, Saryu" userId="S::saryu@ou.edu::24ec4854-0e9b-4cd9-95b4-b9d15917116b" providerId="AD" clId="Web-{D68BA75F-BB6E-9F18-1648-74F52ADBFB50}" dt="2026-09-14T21:07:32.817" v="8" actId="20577"/>
          <ac:spMkLst>
            <pc:docMk/>
            <pc:sldMk cId="2375312425" sldId="341"/>
            <ac:spMk id="3" creationId="{81DA9FF1-2CFE-687B-73EB-63D88B461873}"/>
          </ac:spMkLst>
        </pc:spChg>
        <pc:spChg chg="mod">
          <ac:chgData name="Onishi, Saryu" userId="S::saryu@ou.edu::24ec4854-0e9b-4cd9-95b4-b9d15917116b" providerId="AD" clId="Web-{D68BA75F-BB6E-9F18-1648-74F52ADBFB50}" dt="2026-09-14T21:07:36.208" v="9" actId="1076"/>
          <ac:spMkLst>
            <pc:docMk/>
            <pc:sldMk cId="2375312425" sldId="341"/>
            <ac:spMk id="5" creationId="{6F87B829-A4B6-1F78-9DA5-137B29194ED2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4:18.789" v="206" actId="20577"/>
        <pc:sldMkLst>
          <pc:docMk/>
          <pc:sldMk cId="2874847518" sldId="354"/>
        </pc:sldMkLst>
        <pc:spChg chg="mod">
          <ac:chgData name="Onishi, Saryu" userId="S::saryu@ou.edu::24ec4854-0e9b-4cd9-95b4-b9d15917116b" providerId="AD" clId="Web-{D68BA75F-BB6E-9F18-1648-74F52ADBFB50}" dt="2026-09-14T21:15:16.819" v="74" actId="20577"/>
          <ac:spMkLst>
            <pc:docMk/>
            <pc:sldMk cId="2874847518" sldId="354"/>
            <ac:spMk id="2" creationId="{B112D2BE-C4C4-4D20-846C-3EF3A9972AED}"/>
          </ac:spMkLst>
        </pc:spChg>
        <pc:spChg chg="mod">
          <ac:chgData name="Onishi, Saryu" userId="S::saryu@ou.edu::24ec4854-0e9b-4cd9-95b4-b9d15917116b" providerId="AD" clId="Web-{D68BA75F-BB6E-9F18-1648-74F52ADBFB50}" dt="2026-09-14T21:24:18.789" v="206" actId="20577"/>
          <ac:spMkLst>
            <pc:docMk/>
            <pc:sldMk cId="2874847518" sldId="354"/>
            <ac:spMk id="3" creationId="{D45FD767-E1AA-9C8B-849F-6E11EB3CB6C0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39.194" v="127" actId="20577"/>
        <pc:sldMkLst>
          <pc:docMk/>
          <pc:sldMk cId="809028509" sldId="355"/>
        </pc:sldMkLst>
        <pc:spChg chg="mod">
          <ac:chgData name="Onishi, Saryu" userId="S::saryu@ou.edu::24ec4854-0e9b-4cd9-95b4-b9d15917116b" providerId="AD" clId="Web-{D68BA75F-BB6E-9F18-1648-74F52ADBFB50}" dt="2026-09-14T21:17:39.194" v="127" actId="20577"/>
          <ac:spMkLst>
            <pc:docMk/>
            <pc:sldMk cId="809028509" sldId="355"/>
            <ac:spMk id="2" creationId="{9B3B2596-FD5F-03B2-820D-4B9F36FB3D0A}"/>
          </ac:spMkLst>
        </pc:spChg>
        <pc:spChg chg="mod">
          <ac:chgData name="Onishi, Saryu" userId="S::saryu@ou.edu::24ec4854-0e9b-4cd9-95b4-b9d15917116b" providerId="AD" clId="Web-{D68BA75F-BB6E-9F18-1648-74F52ADBFB50}" dt="2026-09-14T21:17:17.678" v="121" actId="20577"/>
          <ac:spMkLst>
            <pc:docMk/>
            <pc:sldMk cId="809028509" sldId="355"/>
            <ac:spMk id="3" creationId="{FAB2016C-BC61-0A1A-E451-7B3E637EF84A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17:57.460" v="132" actId="20577"/>
        <pc:sldMkLst>
          <pc:docMk/>
          <pc:sldMk cId="4290967881" sldId="356"/>
        </pc:sldMkLst>
        <pc:spChg chg="mod">
          <ac:chgData name="Onishi, Saryu" userId="S::saryu@ou.edu::24ec4854-0e9b-4cd9-95b4-b9d15917116b" providerId="AD" clId="Web-{D68BA75F-BB6E-9F18-1648-74F52ADBFB50}" dt="2026-09-14T21:17:53.944" v="130" actId="20577"/>
          <ac:spMkLst>
            <pc:docMk/>
            <pc:sldMk cId="4290967881" sldId="356"/>
            <ac:spMk id="2" creationId="{E2FA18D7-28B2-133F-662F-90CC8F55869B}"/>
          </ac:spMkLst>
        </pc:spChg>
        <pc:spChg chg="mod">
          <ac:chgData name="Onishi, Saryu" userId="S::saryu@ou.edu::24ec4854-0e9b-4cd9-95b4-b9d15917116b" providerId="AD" clId="Web-{D68BA75F-BB6E-9F18-1648-74F52ADBFB50}" dt="2026-09-14T21:17:57.460" v="132" actId="20577"/>
          <ac:spMkLst>
            <pc:docMk/>
            <pc:sldMk cId="4290967881" sldId="356"/>
            <ac:spMk id="3" creationId="{C603F302-AE7F-8CE3-9FC5-7C9203D4C4E2}"/>
          </ac:spMkLst>
        </pc:spChg>
      </pc:sldChg>
      <pc:sldChg chg="modSp add replId">
        <pc:chgData name="Onishi, Saryu" userId="S::saryu@ou.edu::24ec4854-0e9b-4cd9-95b4-b9d15917116b" providerId="AD" clId="Web-{D68BA75F-BB6E-9F18-1648-74F52ADBFB50}" dt="2026-09-14T21:18:30.835" v="139" actId="20577"/>
        <pc:sldMkLst>
          <pc:docMk/>
          <pc:sldMk cId="1767871761" sldId="357"/>
        </pc:sldMkLst>
        <pc:spChg chg="mod">
          <ac:chgData name="Onishi, Saryu" userId="S::saryu@ou.edu::24ec4854-0e9b-4cd9-95b4-b9d15917116b" providerId="AD" clId="Web-{D68BA75F-BB6E-9F18-1648-74F52ADBFB50}" dt="2026-09-14T21:18:30.835" v="139" actId="20577"/>
          <ac:spMkLst>
            <pc:docMk/>
            <pc:sldMk cId="1767871761" sldId="357"/>
            <ac:spMk id="3" creationId="{F328F1A0-F2E2-C4F6-63D0-F385C2C08D80}"/>
          </ac:spMkLst>
        </pc:spChg>
      </pc:sldChg>
      <pc:sldChg chg="add mod replId modShow">
        <pc:chgData name="Onishi, Saryu" userId="S::saryu@ou.edu::24ec4854-0e9b-4cd9-95b4-b9d15917116b" providerId="AD" clId="Web-{D68BA75F-BB6E-9F18-1648-74F52ADBFB50}" dt="2026-09-14T21:24:20.117" v="207"/>
        <pc:sldMkLst>
          <pc:docMk/>
          <pc:sldMk cId="2995389737" sldId="358"/>
        </pc:sldMkLst>
      </pc:sldChg>
      <pc:sldChg chg="modSp add replId">
        <pc:chgData name="Onishi, Saryu" userId="S::saryu@ou.edu::24ec4854-0e9b-4cd9-95b4-b9d15917116b" providerId="AD" clId="Web-{D68BA75F-BB6E-9F18-1648-74F52ADBFB50}" dt="2026-09-14T21:25:34.258" v="214" actId="20577"/>
        <pc:sldMkLst>
          <pc:docMk/>
          <pc:sldMk cId="1243830769" sldId="359"/>
        </pc:sldMkLst>
        <pc:spChg chg="mod">
          <ac:chgData name="Onishi, Saryu" userId="S::saryu@ou.edu::24ec4854-0e9b-4cd9-95b4-b9d15917116b" providerId="AD" clId="Web-{D68BA75F-BB6E-9F18-1648-74F52ADBFB50}" dt="2026-09-14T21:25:34.258" v="214" actId="20577"/>
          <ac:spMkLst>
            <pc:docMk/>
            <pc:sldMk cId="1243830769" sldId="359"/>
            <ac:spMk id="3" creationId="{451547EC-8C64-0100-020D-0D8510686817}"/>
          </ac:spMkLst>
        </pc:spChg>
      </pc:sldChg>
      <pc:sldChg chg="modSp new">
        <pc:chgData name="Onishi, Saryu" userId="S::saryu@ou.edu::24ec4854-0e9b-4cd9-95b4-b9d15917116b" providerId="AD" clId="Web-{D68BA75F-BB6E-9F18-1648-74F52ADBFB50}" dt="2026-09-14T21:26:53.070" v="229" actId="20577"/>
        <pc:sldMkLst>
          <pc:docMk/>
          <pc:sldMk cId="2381630488" sldId="360"/>
        </pc:sldMkLst>
        <pc:spChg chg="mod">
          <ac:chgData name="Onishi, Saryu" userId="S::saryu@ou.edu::24ec4854-0e9b-4cd9-95b4-b9d15917116b" providerId="AD" clId="Web-{D68BA75F-BB6E-9F18-1648-74F52ADBFB50}" dt="2026-09-14T21:26:53.070" v="229" actId="20577"/>
          <ac:spMkLst>
            <pc:docMk/>
            <pc:sldMk cId="2381630488" sldId="360"/>
            <ac:spMk id="3" creationId="{573F9774-8134-A9A4-DA1E-3A021D0E75A4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28:09.180" v="264"/>
        <pc:sldMkLst>
          <pc:docMk/>
          <pc:sldMk cId="1486169029" sldId="361"/>
        </pc:sldMkLst>
        <pc:spChg chg="mod">
          <ac:chgData name="Onishi, Saryu" userId="S::saryu@ou.edu::24ec4854-0e9b-4cd9-95b4-b9d15917116b" providerId="AD" clId="Web-{D68BA75F-BB6E-9F18-1648-74F52ADBFB50}" dt="2026-09-14T21:27:11.758" v="238" actId="20577"/>
          <ac:spMkLst>
            <pc:docMk/>
            <pc:sldMk cId="1486169029" sldId="361"/>
            <ac:spMk id="2" creationId="{519443A2-C56F-F6DF-D387-0E48376C5816}"/>
          </ac:spMkLst>
        </pc:spChg>
        <pc:spChg chg="mod">
          <ac:chgData name="Onishi, Saryu" userId="S::saryu@ou.edu::24ec4854-0e9b-4cd9-95b4-b9d15917116b" providerId="AD" clId="Web-{D68BA75F-BB6E-9F18-1648-74F52ADBFB50}" dt="2026-09-14T21:27:21.649" v="246" actId="20577"/>
          <ac:spMkLst>
            <pc:docMk/>
            <pc:sldMk cId="1486169029" sldId="361"/>
            <ac:spMk id="3" creationId="{B4660DEF-0C6D-4352-D4C1-3F9EDC657A6D}"/>
          </ac:spMkLst>
        </pc:spChg>
        <pc:spChg chg="add mod">
          <ac:chgData name="Onishi, Saryu" userId="S::saryu@ou.edu::24ec4854-0e9b-4cd9-95b4-b9d15917116b" providerId="AD" clId="Web-{D68BA75F-BB6E-9F18-1648-74F52ADBFB50}" dt="2026-09-14T21:28:09.180" v="264"/>
          <ac:spMkLst>
            <pc:docMk/>
            <pc:sldMk cId="1486169029" sldId="361"/>
            <ac:spMk id="4" creationId="{ADEF0CF4-9F0B-9BCC-D6D4-49A532E4AD93}"/>
          </ac:spMkLst>
        </pc:spChg>
      </pc:sldChg>
      <pc:sldChg chg="addSp modSp new">
        <pc:chgData name="Onishi, Saryu" userId="S::saryu@ou.edu::24ec4854-0e9b-4cd9-95b4-b9d15917116b" providerId="AD" clId="Web-{D68BA75F-BB6E-9F18-1648-74F52ADBFB50}" dt="2026-09-14T21:32:21.071" v="322"/>
        <pc:sldMkLst>
          <pc:docMk/>
          <pc:sldMk cId="2995797760" sldId="362"/>
        </pc:sldMkLst>
        <pc:spChg chg="mod">
          <ac:chgData name="Onishi, Saryu" userId="S::saryu@ou.edu::24ec4854-0e9b-4cd9-95b4-b9d15917116b" providerId="AD" clId="Web-{D68BA75F-BB6E-9F18-1648-74F52ADBFB50}" dt="2026-09-14T21:28:52.883" v="278" actId="20577"/>
          <ac:spMkLst>
            <pc:docMk/>
            <pc:sldMk cId="2995797760" sldId="362"/>
            <ac:spMk id="2" creationId="{79865F0B-0A66-FF8B-3F5C-3BDD7AF304A8}"/>
          </ac:spMkLst>
        </pc:spChg>
        <pc:spChg chg="mod">
          <ac:chgData name="Onishi, Saryu" userId="S::saryu@ou.edu::24ec4854-0e9b-4cd9-95b4-b9d15917116b" providerId="AD" clId="Web-{D68BA75F-BB6E-9F18-1648-74F52ADBFB50}" dt="2026-09-14T21:32:16.696" v="320" actId="20577"/>
          <ac:spMkLst>
            <pc:docMk/>
            <pc:sldMk cId="2995797760" sldId="362"/>
            <ac:spMk id="3" creationId="{44203125-B9A9-9921-B918-608635B0F058}"/>
          </ac:spMkLst>
        </pc:spChg>
        <pc:graphicFrameChg chg="add mod modGraphic">
          <ac:chgData name="Onishi, Saryu" userId="S::saryu@ou.edu::24ec4854-0e9b-4cd9-95b4-b9d15917116b" providerId="AD" clId="Web-{D68BA75F-BB6E-9F18-1648-74F52ADBFB50}" dt="2026-09-14T21:32:21.071" v="322"/>
          <ac:graphicFrameMkLst>
            <pc:docMk/>
            <pc:sldMk cId="2995797760" sldId="362"/>
            <ac:graphicFrameMk id="5" creationId="{0EB1E87E-8339-EF70-96ED-F6952968322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95A223-E7C9-A243-9A70-FE01E1A1DD65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D17FD-8842-8E4F-8C3E-EC8B634B2D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7D17FD-8842-8E4F-8C3E-EC8B634B2D5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458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Sports data visualization is described as an increasingly important research direction </a:t>
            </a:r>
          </a:p>
          <a:p>
            <a:pPr defTabSz="933237">
              <a:defRPr/>
            </a:pPr>
            <a:r>
              <a:rPr lang="en-US" dirty="0"/>
              <a:t>Visual processing happens faster than numerical processing—critical for time-sensitive sports decisions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072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played the most minutes?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96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B4E96-4A87-9651-4CD9-FA8083508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EC0C6-CB5A-C8B8-39B1-C0AACF0A0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C6ADA-9396-4DC6-FD40-C4E2450E5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Sports data visualization is described as an increasingly important research direction </a:t>
            </a:r>
          </a:p>
          <a:p>
            <a:pPr defTabSz="933237">
              <a:defRPr/>
            </a:pPr>
            <a:r>
              <a:rPr lang="en-US" dirty="0"/>
              <a:t>Visual processing happens faster than numerical processing—critical for time-sensitive sports decisions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9DB87-F834-03FF-B60F-AEAE9AAA4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487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5C9E3-D352-AB7A-605E-6EE20B3F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06669-C670-CEE1-714C-2EE073A2C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022BCE-89E9-4FDB-C23B-BACE6AE62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to flag athletes who played more than 1500 minutes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81E58C-F037-9D4E-7106-E01E54416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458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properties your brain processes in &lt;200-250 milliseconds You see them </a:t>
            </a:r>
            <a:r>
              <a:rPr lang="en-US" i="1" dirty="0"/>
              <a:t>instantly</a:t>
            </a:r>
            <a:r>
              <a:rPr lang="en-US" dirty="0"/>
              <a:t> without conscious effort </a:t>
            </a:r>
          </a:p>
          <a:p>
            <a:r>
              <a:rPr lang="en-US" dirty="0"/>
              <a:t>Happens before you "think" about what you're looking at </a:t>
            </a:r>
          </a:p>
          <a:p>
            <a:r>
              <a:rPr lang="en-US" dirty="0"/>
              <a:t>Critical for dashboards, in-game analytics, quick decision-making</a:t>
            </a:r>
          </a:p>
          <a:p>
            <a:endParaRPr lang="en-US" dirty="0"/>
          </a:p>
          <a:p>
            <a:r>
              <a:rPr lang="en-US" dirty="0"/>
              <a:t>Spatial: </a:t>
            </a:r>
          </a:p>
          <a:p>
            <a:pPr marL="174982" indent="-174982">
              <a:buFontTx/>
              <a:buChar char="-"/>
            </a:pPr>
            <a:r>
              <a:rPr lang="en-US" dirty="0"/>
              <a:t>length, </a:t>
            </a:r>
          </a:p>
          <a:p>
            <a:pPr marL="174982" indent="-174982">
              <a:buFontTx/>
              <a:buChar char="-"/>
            </a:pPr>
            <a:r>
              <a:rPr lang="en-US" dirty="0"/>
              <a:t>width, </a:t>
            </a:r>
          </a:p>
          <a:p>
            <a:pPr marL="174982" indent="-174982">
              <a:buFontTx/>
              <a:buChar char="-"/>
            </a:pPr>
            <a:r>
              <a:rPr lang="en-US" dirty="0"/>
              <a:t>orientation, </a:t>
            </a:r>
          </a:p>
          <a:p>
            <a:pPr marL="174982" indent="-174982" defTabSz="933237">
              <a:buFontTx/>
              <a:buChar char="-"/>
              <a:defRPr/>
            </a:pPr>
            <a:r>
              <a:rPr lang="en-US" dirty="0"/>
              <a:t>enclosure</a:t>
            </a:r>
          </a:p>
          <a:p>
            <a:pPr marL="174982" indent="-174982">
              <a:buFontTx/>
              <a:buChar char="-"/>
            </a:pPr>
            <a:r>
              <a:rPr lang="en-US" dirty="0"/>
              <a:t>position, </a:t>
            </a:r>
          </a:p>
          <a:p>
            <a:pPr marL="174982" indent="-174982">
              <a:buFontTx/>
              <a:buChar char="-"/>
            </a:pPr>
            <a:r>
              <a:rPr lang="en-US" dirty="0"/>
              <a:t>grouping, </a:t>
            </a:r>
          </a:p>
          <a:p>
            <a:r>
              <a:rPr lang="en-US" dirty="0"/>
              <a:t>Size </a:t>
            </a:r>
          </a:p>
          <a:p>
            <a:r>
              <a:rPr lang="en-US" dirty="0"/>
              <a:t>Shape</a:t>
            </a:r>
          </a:p>
          <a:p>
            <a:pPr defTabSz="933237">
              <a:defRPr/>
            </a:pPr>
            <a:r>
              <a:rPr lang="en-US" dirty="0"/>
              <a:t>Color: </a:t>
            </a:r>
          </a:p>
          <a:p>
            <a:pPr marL="174982" indent="-174982" defTabSz="933237">
              <a:buFontTx/>
              <a:buChar char="-"/>
              <a:defRPr/>
            </a:pPr>
            <a:r>
              <a:rPr lang="en-US" dirty="0"/>
              <a:t>hue</a:t>
            </a:r>
          </a:p>
          <a:p>
            <a:pPr marL="174982" indent="-174982" defTabSz="933237">
              <a:buFontTx/>
              <a:buChar char="-"/>
              <a:defRPr/>
            </a:pPr>
            <a:r>
              <a:rPr lang="en-US" dirty="0"/>
              <a:t>intensity</a:t>
            </a:r>
          </a:p>
          <a:p>
            <a:r>
              <a:rPr lang="en-US" dirty="0"/>
              <a:t>Motion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3105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3E853-6F6E-9410-27B4-8AE11456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F36CE-A04F-01F9-4114-E3ED559BBB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02955B-0D5F-84B5-77D0-3AAEBAB0E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 properties your brain processes in &lt;200-250 milliseconds You see them </a:t>
            </a:r>
            <a:r>
              <a:rPr lang="en-US" i="1" dirty="0"/>
              <a:t>instantly</a:t>
            </a:r>
            <a:r>
              <a:rPr lang="en-US" dirty="0"/>
              <a:t> without conscious effort </a:t>
            </a:r>
          </a:p>
          <a:p>
            <a:r>
              <a:rPr lang="en-US" dirty="0"/>
              <a:t>Happens before you "think" about what you're looking at </a:t>
            </a:r>
          </a:p>
          <a:p>
            <a:r>
              <a:rPr lang="en-US" dirty="0"/>
              <a:t>Critical for dashboards, in-game analytics, quick decision-making</a:t>
            </a:r>
          </a:p>
          <a:p>
            <a:endParaRPr lang="en-US" dirty="0"/>
          </a:p>
          <a:p>
            <a:r>
              <a:rPr lang="en-US" dirty="0"/>
              <a:t>Spatial: </a:t>
            </a:r>
          </a:p>
          <a:p>
            <a:pPr marL="174982" indent="-174982">
              <a:buFontTx/>
              <a:buChar char="-"/>
            </a:pPr>
            <a:r>
              <a:rPr lang="en-US" dirty="0"/>
              <a:t>length, </a:t>
            </a:r>
          </a:p>
          <a:p>
            <a:pPr marL="174982" indent="-174982">
              <a:buFontTx/>
              <a:buChar char="-"/>
            </a:pPr>
            <a:r>
              <a:rPr lang="en-US" dirty="0"/>
              <a:t>width, </a:t>
            </a:r>
          </a:p>
          <a:p>
            <a:pPr marL="174982" indent="-174982">
              <a:buFontTx/>
              <a:buChar char="-"/>
            </a:pPr>
            <a:r>
              <a:rPr lang="en-US" dirty="0"/>
              <a:t>orientation, </a:t>
            </a:r>
          </a:p>
          <a:p>
            <a:pPr marL="174982" indent="-174982" defTabSz="933237">
              <a:buFontTx/>
              <a:buChar char="-"/>
              <a:defRPr/>
            </a:pPr>
            <a:r>
              <a:rPr lang="en-US" dirty="0"/>
              <a:t>enclosure</a:t>
            </a:r>
          </a:p>
          <a:p>
            <a:pPr marL="174982" indent="-174982">
              <a:buFontTx/>
              <a:buChar char="-"/>
            </a:pPr>
            <a:r>
              <a:rPr lang="en-US" dirty="0"/>
              <a:t>position, </a:t>
            </a:r>
          </a:p>
          <a:p>
            <a:pPr marL="174982" indent="-174982">
              <a:buFontTx/>
              <a:buChar char="-"/>
            </a:pPr>
            <a:r>
              <a:rPr lang="en-US" dirty="0"/>
              <a:t>grouping, </a:t>
            </a:r>
          </a:p>
          <a:p>
            <a:r>
              <a:rPr lang="en-US" dirty="0"/>
              <a:t>Size </a:t>
            </a:r>
          </a:p>
          <a:p>
            <a:r>
              <a:rPr lang="en-US" dirty="0"/>
              <a:t>Shape</a:t>
            </a:r>
          </a:p>
          <a:p>
            <a:pPr defTabSz="933237">
              <a:defRPr/>
            </a:pPr>
            <a:r>
              <a:rPr lang="en-US" dirty="0"/>
              <a:t>Color: </a:t>
            </a:r>
          </a:p>
          <a:p>
            <a:pPr marL="174982" indent="-174982" defTabSz="933237">
              <a:buFontTx/>
              <a:buChar char="-"/>
              <a:defRPr/>
            </a:pPr>
            <a:r>
              <a:rPr lang="en-US" dirty="0"/>
              <a:t>hue</a:t>
            </a:r>
          </a:p>
          <a:p>
            <a:pPr marL="174982" indent="-174982" defTabSz="933237">
              <a:buFontTx/>
              <a:buChar char="-"/>
              <a:defRPr/>
            </a:pPr>
            <a:r>
              <a:rPr lang="en-US" dirty="0"/>
              <a:t>intensity</a:t>
            </a:r>
          </a:p>
          <a:p>
            <a:r>
              <a:rPr lang="en-US" dirty="0"/>
              <a:t>Motion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E7492-DE9B-6E16-494B-D66428354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3063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Chart types section</a:t>
            </a:r>
            <a:r>
              <a:rPr lang="en-GB" dirty="0"/>
              <a:t> → 10-15 slides (show the chart type + sports application for each)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60C251-82B7-4253-A774-38D73C276BCE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914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8C46-97B5-06A6-FCEF-1A1F72D6F7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10515600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3A6AC-3ACF-3E00-27EA-CDC21E0D0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3602038"/>
            <a:ext cx="105155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D74E7-FB50-6453-FBC4-4FF2059E7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EC381-9EAC-65CA-E2D4-E9753C63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85E49-459E-7153-8DCA-00BFA12D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5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44AAB-14A7-7BCA-3837-4F570792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B745-E89B-BA25-707B-D3F4B483C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29DF3-7131-344B-BE29-3470A6E4A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9C8A0-82E3-D43A-B433-03BD0E8A1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C3461-EED3-DA55-3A67-403D2D4F6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EF06-5D11-579D-7B22-EDF525B07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F87EE-121E-981D-94B0-7DD81A76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09C7F-68AA-F83B-0CC2-643C7451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FDF23-F262-A143-3D94-2E03C5E80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BCC86-AF79-D336-B20B-1E34423D7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E23E6-4994-ADDB-53EF-33DAC6204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1385E-3FBA-00D8-820B-01457DE09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00107-976D-189B-D5B8-F3309A029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21288-007A-64D1-177C-EC493AB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BDC7E-1ED0-A64E-B741-2BD6DCC16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10B18-79B2-CA9A-54E7-8E270EA6C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13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DBA0C-D408-C89D-A5A4-EE49BFEFE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5059-44C0-5CAB-DD62-331CAEACC2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8210DA-60F4-E204-139F-488557C3A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6D382-4432-4F54-9B2C-18EA1D3502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DFF74-3B74-1F87-68E5-7C6346238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D8442-0A79-241F-AD71-72BAE087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BD044B-09B6-F478-2B54-1F154135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518B98-54E9-0248-CDC2-25F053D11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9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98611-FF70-0739-AB12-3A0D4D688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6340F8-BFC2-15DC-7097-138E7417B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7FFF2-E8C5-FBDB-D95A-12987FF7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02AAC0-7C6B-411F-8B27-54187B08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840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C24E59-43B1-B0E4-7BB5-449B4E620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9DB2FC-A612-3F77-71B9-89F90F23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EA5C7-5EFB-A99C-8686-6EB2C8FC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7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815E-33A2-36BD-141A-20E6987BF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EB718-3207-923E-BB2A-3A6A8B97C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8BF2C-0530-D542-CEA1-66680DF2CF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46F5-476E-F02E-8D52-52095AD76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CBF9F-FEBA-A17C-67EF-779BF6982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091D5-A6B8-C1A9-58A4-732980B56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346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F53C8-34AC-4EC3-9EF2-7646130C5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95296B-D06F-EC13-3B4B-D0804D56A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15AD4-D0C4-4B3F-01A9-C4EB16F15D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85DC77-4EA3-68F2-C1B1-3B61F9D4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28E95B-5416-3489-B8F3-9294F9EAD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31B0D-A406-6B24-1768-98B5238CC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6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7492E-5097-4D4A-B212-B9541B6D3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B2462-C37E-9A16-D9B2-03FE3550DC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E3E0-2253-2E4B-C45D-9DD87541E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8D6ED-F324-5EA4-EBC1-32D8A8A8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6162-D880-6B17-AFBB-2555E585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1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7EF97A-4C14-3B96-B570-63221FE42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FCF3E-3E21-12E5-F093-CD2EBC62CD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EB50E-0940-C414-1C80-43A1C4CBF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61C71-767E-B84C-BFB3-7B18856D27F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34562-A92B-8D3C-4A79-2489A997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7ADD3-AF08-2898-D3BF-4768616B3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510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7E355-A6C3-ABB7-5FB3-07B7718D6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26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E3536-C253-FE9A-75A8-6625508B8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1938"/>
            <a:ext cx="10515600" cy="47350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7838E-35A9-F96A-354A-AE0FF3F8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F61C71-767E-B84C-BFB3-7B18856D27F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CBC5A-10F1-AA57-C7EC-9CDC8A53A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CEFD2-39D4-B845-AAFB-DDCB2780168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EC1130-6658-3CAB-3F94-0FA0AAB84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207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lssoccer.com/players/kai-wagner" TargetMode="External"/><Relationship Id="rId13" Type="http://schemas.openxmlformats.org/officeDocument/2006/relationships/hyperlink" Target="https://www.mlssoccer.com/players/jovan-lukic" TargetMode="External"/><Relationship Id="rId18" Type="http://schemas.openxmlformats.org/officeDocument/2006/relationships/hyperlink" Target="https://www.mlssoccer.com/players/ian-glavinovich" TargetMode="External"/><Relationship Id="rId26" Type="http://schemas.openxmlformats.org/officeDocument/2006/relationships/hyperlink" Target="https://www.mlssoccer.com/players/sal-olivas" TargetMode="External"/><Relationship Id="rId3" Type="http://schemas.openxmlformats.org/officeDocument/2006/relationships/hyperlink" Target="https://www.mlssoccer.com/players/tai-baribo" TargetMode="External"/><Relationship Id="rId21" Type="http://schemas.openxmlformats.org/officeDocument/2006/relationships/hyperlink" Target="https://www.mlssoccer.com/players/neil-pierre" TargetMode="External"/><Relationship Id="rId7" Type="http://schemas.openxmlformats.org/officeDocument/2006/relationships/hyperlink" Target="https://www.mlssoccer.com/players/danley-jean-jacques" TargetMode="External"/><Relationship Id="rId12" Type="http://schemas.openxmlformats.org/officeDocument/2006/relationships/hyperlink" Target="https://www.mlssoccer.com/players/daniel-gazdag" TargetMode="External"/><Relationship Id="rId17" Type="http://schemas.openxmlformats.org/officeDocument/2006/relationships/hyperlink" Target="https://www.mlssoccer.com/players/francis-westfield" TargetMode="External"/><Relationship Id="rId25" Type="http://schemas.openxmlformats.org/officeDocument/2006/relationships/hyperlink" Target="https://www.mlssoccer.com/players/jeremy-rafanello" TargetMode="External"/><Relationship Id="rId2" Type="http://schemas.openxmlformats.org/officeDocument/2006/relationships/notesSlide" Target="../notesSlides/notesSlide3.xml"/><Relationship Id="rId16" Type="http://schemas.openxmlformats.org/officeDocument/2006/relationships/hyperlink" Target="https://www.mlssoccer.com/players/jakob-glesnes" TargetMode="External"/><Relationship Id="rId20" Type="http://schemas.openxmlformats.org/officeDocument/2006/relationships/hyperlink" Target="https://www.mlssoccer.com/players/jesus-bueno" TargetMode="External"/><Relationship Id="rId29" Type="http://schemas.openxmlformats.org/officeDocument/2006/relationships/hyperlink" Target="https://www.mlssoccer.com/players/edward-davi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lssoccer.com/players/indiana-vassilev" TargetMode="External"/><Relationship Id="rId11" Type="http://schemas.openxmlformats.org/officeDocument/2006/relationships/hyperlink" Target="https://www.mlssoccer.com/players/milan-iloski" TargetMode="External"/><Relationship Id="rId24" Type="http://schemas.openxmlformats.org/officeDocument/2006/relationships/hyperlink" Target="https://www.mlssoccer.com/players/cavan-sullivan" TargetMode="External"/><Relationship Id="rId5" Type="http://schemas.openxmlformats.org/officeDocument/2006/relationships/hyperlink" Target="https://www.mlssoccer.com/players/mikael-uhre" TargetMode="External"/><Relationship Id="rId15" Type="http://schemas.openxmlformats.org/officeDocument/2006/relationships/hyperlink" Target="https://www.mlssoccer.com/players/alejandro-bedoya" TargetMode="External"/><Relationship Id="rId23" Type="http://schemas.openxmlformats.org/officeDocument/2006/relationships/hyperlink" Target="https://www.mlssoccer.com/players/olivier-mbaizo" TargetMode="External"/><Relationship Id="rId28" Type="http://schemas.openxmlformats.org/officeDocument/2006/relationships/hyperlink" Target="https://www.mlssoccer.com/players/andrew-rick" TargetMode="External"/><Relationship Id="rId10" Type="http://schemas.openxmlformats.org/officeDocument/2006/relationships/hyperlink" Target="https://www.mlssoccer.com/players/nathan-harriel" TargetMode="External"/><Relationship Id="rId19" Type="http://schemas.openxmlformats.org/officeDocument/2006/relationships/hyperlink" Target="https://www.mlssoccer.com/players/markus-anderson" TargetMode="External"/><Relationship Id="rId31" Type="http://schemas.openxmlformats.org/officeDocument/2006/relationships/hyperlink" Target="https://www.mlssoccer.com/players/chris-donovan" TargetMode="External"/><Relationship Id="rId4" Type="http://schemas.openxmlformats.org/officeDocument/2006/relationships/hyperlink" Target="https://www.mlssoccer.com/players/bruno-damiani" TargetMode="External"/><Relationship Id="rId9" Type="http://schemas.openxmlformats.org/officeDocument/2006/relationships/hyperlink" Target="https://www.mlssoccer.com/players/quinn-sullivan" TargetMode="External"/><Relationship Id="rId14" Type="http://schemas.openxmlformats.org/officeDocument/2006/relationships/hyperlink" Target="https://www.mlssoccer.com/players/olwethu-makhanya" TargetMode="External"/><Relationship Id="rId22" Type="http://schemas.openxmlformats.org/officeDocument/2006/relationships/hyperlink" Target="https://www.mlssoccer.com/players/david-vazquez" TargetMode="External"/><Relationship Id="rId27" Type="http://schemas.openxmlformats.org/officeDocument/2006/relationships/hyperlink" Target="https://www.mlssoccer.com/players/benjamin-bender" TargetMode="External"/><Relationship Id="rId30" Type="http://schemas.openxmlformats.org/officeDocument/2006/relationships/hyperlink" Target="https://www.mlssoccer.com/players/andre-blake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mlssoccer.com/players/kai-wagner" TargetMode="External"/><Relationship Id="rId13" Type="http://schemas.openxmlformats.org/officeDocument/2006/relationships/hyperlink" Target="https://www.mlssoccer.com/players/jovan-lukic" TargetMode="External"/><Relationship Id="rId18" Type="http://schemas.openxmlformats.org/officeDocument/2006/relationships/hyperlink" Target="https://www.mlssoccer.com/players/ian-glavinovich" TargetMode="External"/><Relationship Id="rId26" Type="http://schemas.openxmlformats.org/officeDocument/2006/relationships/hyperlink" Target="https://www.mlssoccer.com/players/sal-olivas" TargetMode="External"/><Relationship Id="rId3" Type="http://schemas.openxmlformats.org/officeDocument/2006/relationships/hyperlink" Target="https://www.mlssoccer.com/players/tai-baribo" TargetMode="External"/><Relationship Id="rId21" Type="http://schemas.openxmlformats.org/officeDocument/2006/relationships/hyperlink" Target="https://www.mlssoccer.com/players/neil-pierre" TargetMode="External"/><Relationship Id="rId7" Type="http://schemas.openxmlformats.org/officeDocument/2006/relationships/hyperlink" Target="https://www.mlssoccer.com/players/danley-jean-jacques" TargetMode="External"/><Relationship Id="rId12" Type="http://schemas.openxmlformats.org/officeDocument/2006/relationships/hyperlink" Target="https://www.mlssoccer.com/players/daniel-gazdag" TargetMode="External"/><Relationship Id="rId17" Type="http://schemas.openxmlformats.org/officeDocument/2006/relationships/hyperlink" Target="https://www.mlssoccer.com/players/francis-westfield" TargetMode="External"/><Relationship Id="rId25" Type="http://schemas.openxmlformats.org/officeDocument/2006/relationships/hyperlink" Target="https://www.mlssoccer.com/players/jeremy-rafanello" TargetMode="External"/><Relationship Id="rId2" Type="http://schemas.openxmlformats.org/officeDocument/2006/relationships/notesSlide" Target="../notesSlides/notesSlide5.xml"/><Relationship Id="rId16" Type="http://schemas.openxmlformats.org/officeDocument/2006/relationships/hyperlink" Target="https://www.mlssoccer.com/players/jakob-glesnes" TargetMode="External"/><Relationship Id="rId20" Type="http://schemas.openxmlformats.org/officeDocument/2006/relationships/hyperlink" Target="https://www.mlssoccer.com/players/jesus-bueno" TargetMode="External"/><Relationship Id="rId29" Type="http://schemas.openxmlformats.org/officeDocument/2006/relationships/hyperlink" Target="https://www.mlssoccer.com/players/edward-davi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lssoccer.com/players/indiana-vassilev" TargetMode="External"/><Relationship Id="rId11" Type="http://schemas.openxmlformats.org/officeDocument/2006/relationships/hyperlink" Target="https://www.mlssoccer.com/players/milan-iloski" TargetMode="External"/><Relationship Id="rId24" Type="http://schemas.openxmlformats.org/officeDocument/2006/relationships/hyperlink" Target="https://www.mlssoccer.com/players/cavan-sullivan" TargetMode="External"/><Relationship Id="rId5" Type="http://schemas.openxmlformats.org/officeDocument/2006/relationships/hyperlink" Target="https://www.mlssoccer.com/players/mikael-uhre" TargetMode="External"/><Relationship Id="rId15" Type="http://schemas.openxmlformats.org/officeDocument/2006/relationships/hyperlink" Target="https://www.mlssoccer.com/players/alejandro-bedoya" TargetMode="External"/><Relationship Id="rId23" Type="http://schemas.openxmlformats.org/officeDocument/2006/relationships/hyperlink" Target="https://www.mlssoccer.com/players/olivier-mbaizo" TargetMode="External"/><Relationship Id="rId28" Type="http://schemas.openxmlformats.org/officeDocument/2006/relationships/hyperlink" Target="https://www.mlssoccer.com/players/andrew-rick" TargetMode="External"/><Relationship Id="rId10" Type="http://schemas.openxmlformats.org/officeDocument/2006/relationships/hyperlink" Target="https://www.mlssoccer.com/players/nathan-harriel" TargetMode="External"/><Relationship Id="rId19" Type="http://schemas.openxmlformats.org/officeDocument/2006/relationships/hyperlink" Target="https://www.mlssoccer.com/players/markus-anderson" TargetMode="External"/><Relationship Id="rId31" Type="http://schemas.openxmlformats.org/officeDocument/2006/relationships/hyperlink" Target="https://www.mlssoccer.com/players/chris-donovan" TargetMode="External"/><Relationship Id="rId4" Type="http://schemas.openxmlformats.org/officeDocument/2006/relationships/hyperlink" Target="https://www.mlssoccer.com/players/bruno-damiani" TargetMode="External"/><Relationship Id="rId9" Type="http://schemas.openxmlformats.org/officeDocument/2006/relationships/hyperlink" Target="https://www.mlssoccer.com/players/quinn-sullivan" TargetMode="External"/><Relationship Id="rId14" Type="http://schemas.openxmlformats.org/officeDocument/2006/relationships/hyperlink" Target="https://www.mlssoccer.com/players/olwethu-makhanya" TargetMode="External"/><Relationship Id="rId22" Type="http://schemas.openxmlformats.org/officeDocument/2006/relationships/hyperlink" Target="https://www.mlssoccer.com/players/david-vazquez" TargetMode="External"/><Relationship Id="rId27" Type="http://schemas.openxmlformats.org/officeDocument/2006/relationships/hyperlink" Target="https://www.mlssoccer.com/players/benjamin-bender" TargetMode="External"/><Relationship Id="rId30" Type="http://schemas.openxmlformats.org/officeDocument/2006/relationships/hyperlink" Target="https://www.mlssoccer.com/players/andre-blake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270D-14C3-FED3-E83A-AD4E36EC7A8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Data Visualization</a:t>
            </a:r>
            <a:endParaRPr lang="en-GB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03FB66-255C-9B0B-8F15-F85AACB34C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Saryu Onishi</a:t>
            </a:r>
          </a:p>
          <a:p>
            <a:r>
              <a:rPr lang="en-GB" dirty="0"/>
              <a:t>HES 3000-002, Sport Performance Analytics</a:t>
            </a:r>
          </a:p>
        </p:txBody>
      </p:sp>
    </p:spTree>
    <p:extLst>
      <p:ext uri="{BB962C8B-B14F-4D97-AF65-F5344CB8AC3E}">
        <p14:creationId xmlns:p14="http://schemas.microsoft.com/office/powerpoint/2010/main" val="3294273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5797-23DF-9D42-7847-7CC25685B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8D407-4275-C9BA-8824-F28338D99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does “garbage in, garbage out” matter in sports analytics?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Statistical models automatically remove measurement errors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Large datasets do not require quality checks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Sophisticated analyses cannot fully compensate for flawed input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Only manually entered data contain errors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656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1359-825E-906C-0E77-45A70F16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8F48-ACD5-B492-ADC4-B196EBA30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8F21C-F0CE-8E6D-7D53-6D815822B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Why does “garbage in, garbage out” matter in sports analytics?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</a:rPr>
              <a:t>Statistical models automatically remove measurement errors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</a:rPr>
              <a:t>Large datasets do not require quality checks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accent3"/>
                </a:solidFill>
              </a:rPr>
              <a:t>Sophisticated analyses cannot fully compensate for flawed input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FF0000"/>
                </a:solidFill>
              </a:rPr>
              <a:t>Only manually entered data contain errors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069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3A51-81C3-C6F5-2019-D433E0EFB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visualization matters in sports analytics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2FEBF-A76B-F940-05F8-F0375E2E0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959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581F-2B79-B64E-F3C2-FC3641071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1F6DA-A3F7-E074-38BD-37F0E5EE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visualization matters in sports analytics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14B98-45F8-BDA0-4D10-50E1948B6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Pattern recognition and speed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Communication and decision support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4C525-0AB2-8346-5C03-2711DBCBC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58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05ADA-BDF6-CFFA-5CB9-E1060B69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played the most minutes?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DB551-E274-F102-3344-984628E2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147C2C03-FDC0-22F5-49DE-EEAFBCF9B77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70862" y="1922728"/>
          <a:ext cx="2450276" cy="42920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844">
                  <a:extLst>
                    <a:ext uri="{9D8B030D-6E8A-4147-A177-3AD203B41FA5}">
                      <a16:colId xmlns:a16="http://schemas.microsoft.com/office/drawing/2014/main" val="2377371374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3833361993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955811745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1470288667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2673828339"/>
                    </a:ext>
                  </a:extLst>
                </a:gridCol>
              </a:tblGrid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Player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Pos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GP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GS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Mins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378281898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3"/>
                        </a:rPr>
                        <a:t>T. Baribo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1876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3034034884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4"/>
                        </a:rPr>
                        <a:t>B. Damiani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2040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27702879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5"/>
                        </a:rPr>
                        <a:t>M. Uhre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1325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74525230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6"/>
                        </a:rPr>
                        <a:t>I. Vassilev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1973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708908484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7"/>
                        </a:rPr>
                        <a:t>D. Jean Jacques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2361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466365634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8"/>
                        </a:rPr>
                        <a:t>K. Wagner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2769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872449185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9"/>
                        </a:rPr>
                        <a:t>Q. Sullivan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1967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326213495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0"/>
                        </a:rPr>
                        <a:t>N. Harriel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2098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90647428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1"/>
                        </a:rPr>
                        <a:t>M. Iloski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600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41236257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2"/>
                        </a:rPr>
                        <a:t>D. Gazdag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498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94935369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3"/>
                        </a:rPr>
                        <a:t>J. Lukic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2620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19858274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4"/>
                        </a:rPr>
                        <a:t>O. Makhanya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2145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116509640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5"/>
                        </a:rPr>
                        <a:t>A. Bedoya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739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4279301628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6"/>
                        </a:rPr>
                        <a:t>J. Glesnes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2626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104515706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7"/>
                        </a:rPr>
                        <a:t>F. Westfield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1724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392864773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8"/>
                        </a:rPr>
                        <a:t>I. Glavinovich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03227572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9"/>
                        </a:rPr>
                        <a:t>M. Anderson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58392605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0"/>
                        </a:rPr>
                        <a:t>J. Bueno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903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813666323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1"/>
                        </a:rPr>
                        <a:t>N. Pierre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787101286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2"/>
                        </a:rPr>
                        <a:t>D. Vazquez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655876590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3"/>
                        </a:rPr>
                        <a:t>O. Mbaizo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481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985118965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4"/>
                        </a:rPr>
                        <a:t>C. Sullivan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66806178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5"/>
                        </a:rPr>
                        <a:t>J. Rafanello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274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08746591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6"/>
                        </a:rPr>
                        <a:t>S. Olivas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1629933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7"/>
                        </a:rPr>
                        <a:t>B. Bender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478190926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8"/>
                        </a:rPr>
                        <a:t>A. Rick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1232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053005175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9"/>
                        </a:rPr>
                        <a:t>E. Davis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589494860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30"/>
                        </a:rPr>
                        <a:t>A. Blake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1828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495927453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31"/>
                        </a:rPr>
                        <a:t>C. Donovan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540</a:t>
                      </a:r>
                      <a:endParaRPr lang="en-US" sz="900" b="0" i="0" u="none" strike="noStrike" dirty="0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208434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6187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4003D-B10C-5982-A5BB-7D9A2BB31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6806D-AF4A-05C3-8FEA-E3F69C2E8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Gradient to represent magnitude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44F21-429B-2D77-FFAF-9591007C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7844DD-9C8F-41EF-9D53-F9CA4F8DE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531" y="1922728"/>
            <a:ext cx="2478937" cy="429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5377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399C5-2083-A795-CB67-048DF3CB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D53-4A47-63EB-6C8D-509037D15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Order to organize values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92C2D-AD8F-DCC0-EAD5-3B94D1052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96EF6A8-BD23-51B5-05CB-19A61F67B7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531" y="1922728"/>
            <a:ext cx="2478938" cy="4292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894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04D83-43AE-8A70-7AB1-4981C0033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369D3-5EB4-695B-FE4E-1FD62462D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 representation of values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70A0F-282D-98B9-95C5-5B1C40F3F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8066627-6F26-2DD0-1358-0F2D745E7C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71685" y="1789378"/>
            <a:ext cx="5848630" cy="425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993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712C4-A607-4CAA-0668-48FCCB8BB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C9B15-ACEA-4F8D-DE37-5F53AEF01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visualization matters in sports analytics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0F476-907B-7571-B559-C32DD227DD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Pattern recognition and speed</a:t>
            </a:r>
          </a:p>
          <a:p>
            <a:r>
              <a:rPr lang="en-US" b="1" dirty="0"/>
              <a:t>Communication and decision support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11292-2A8A-B077-C6A4-7112746DE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400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D3F2-A4B4-B452-9329-B08F25958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61BA-67D1-8A6F-53E5-32B57DDBE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played &gt;1500 minutes last season?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03CF5-D19B-77A3-0F94-9B7AE473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F7163AF-177A-FB18-FD8B-1D43DA8577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70862" y="1922728"/>
          <a:ext cx="2450276" cy="42920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9844">
                  <a:extLst>
                    <a:ext uri="{9D8B030D-6E8A-4147-A177-3AD203B41FA5}">
                      <a16:colId xmlns:a16="http://schemas.microsoft.com/office/drawing/2014/main" val="2377371374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3833361993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955811745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1470288667"/>
                    </a:ext>
                  </a:extLst>
                </a:gridCol>
                <a:gridCol w="425108">
                  <a:extLst>
                    <a:ext uri="{9D8B030D-6E8A-4147-A177-3AD203B41FA5}">
                      <a16:colId xmlns:a16="http://schemas.microsoft.com/office/drawing/2014/main" val="2673828339"/>
                    </a:ext>
                  </a:extLst>
                </a:gridCol>
              </a:tblGrid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Player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Pos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GP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GS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Mins</a:t>
                      </a:r>
                      <a:endParaRPr lang="en-US" sz="900" b="1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378281898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3"/>
                        </a:rPr>
                        <a:t>T. Baribo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1876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3034034884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4"/>
                        </a:rPr>
                        <a:t>B. Damiani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2040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27702879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5"/>
                        </a:rPr>
                        <a:t>M. Uhre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1325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74525230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6"/>
                        </a:rPr>
                        <a:t>I. Vassilev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1973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708908484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7"/>
                        </a:rPr>
                        <a:t>D. Jean Jacques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2361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466365634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8"/>
                        </a:rPr>
                        <a:t>K. Wagner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2769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872449185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9"/>
                        </a:rPr>
                        <a:t>Q. Sullivan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1967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326213495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0"/>
                        </a:rPr>
                        <a:t>N. Harriel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2098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90647428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1"/>
                        </a:rPr>
                        <a:t>M. Iloski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600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41236257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2"/>
                        </a:rPr>
                        <a:t>D. Gazdag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498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94935369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3"/>
                        </a:rPr>
                        <a:t>J. Lukic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2620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19858274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4"/>
                        </a:rPr>
                        <a:t>O. Makhanya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2145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116509640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5"/>
                        </a:rPr>
                        <a:t>A. Bedoya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739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4279301628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6"/>
                        </a:rPr>
                        <a:t>J. Glesnes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2626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104515706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7"/>
                        </a:rPr>
                        <a:t>F. Westfield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1724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392864773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8"/>
                        </a:rPr>
                        <a:t>I. Glavinovich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257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03227572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19"/>
                        </a:rPr>
                        <a:t>M. Anderson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583926051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0"/>
                        </a:rPr>
                        <a:t>J. Bueno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903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813666323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1"/>
                        </a:rPr>
                        <a:t>N. Pierre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787101286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2"/>
                        </a:rPr>
                        <a:t>D. Vazquez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655876590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3"/>
                        </a:rPr>
                        <a:t>O. Mbaizo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D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481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985118965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4"/>
                        </a:rPr>
                        <a:t>C. Sullivan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66806178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5"/>
                        </a:rPr>
                        <a:t>J. Rafanello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274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08746591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6"/>
                        </a:rPr>
                        <a:t>S. Olivas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45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16299332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7"/>
                        </a:rPr>
                        <a:t>B. Bender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478190926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8"/>
                        </a:rPr>
                        <a:t>A. Rick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14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13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1232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2053005175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29"/>
                        </a:rPr>
                        <a:t>E. Davis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589494860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30"/>
                        </a:rPr>
                        <a:t>A. Blake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G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21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1828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495927453"/>
                  </a:ext>
                </a:extLst>
              </a:tr>
              <a:tr h="14181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700" u="sng" strike="noStrike">
                          <a:effectLst/>
                          <a:hlinkClick r:id="rId31"/>
                        </a:rPr>
                        <a:t>C. Donovan</a:t>
                      </a:r>
                      <a:endParaRPr lang="en-US" sz="700" b="0" i="0" u="sng" strike="noStrike">
                        <a:solidFill>
                          <a:srgbClr val="467886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20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540</a:t>
                      </a:r>
                      <a:endParaRPr lang="en-US" sz="900" b="0" i="0" u="none" strike="noStrike" dirty="0">
                        <a:solidFill>
                          <a:srgbClr val="101010"/>
                        </a:solidFill>
                        <a:effectLst/>
                        <a:latin typeface="Helvetica" panose="020B0604020202020204" pitchFamily="34" charset="0"/>
                      </a:endParaRPr>
                    </a:p>
                  </a:txBody>
                  <a:tcPr marL="5909" marR="5909" marT="5909" marB="0" anchor="b"/>
                </a:tc>
                <a:extLst>
                  <a:ext uri="{0D108BD9-81ED-4DB2-BD59-A6C34878D82A}">
                    <a16:rowId xmlns:a16="http://schemas.microsoft.com/office/drawing/2014/main" val="1208434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9289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1B922-03E7-AEC0-F001-4F09DE794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1C56B7B-6433-9A30-6D1D-211979BD0D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6547" y="1922463"/>
            <a:ext cx="5848630" cy="4254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ED181E-EAF4-8E4A-7035-908F7AF64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Color</a:t>
            </a:r>
            <a:r>
              <a:rPr lang="en-GB" dirty="0"/>
              <a:t>, order, graphs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7550A-3F1C-7CA5-4318-115213AF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12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43DCF6-3734-96E0-CACA-3CEE69BDA05C}"/>
              </a:ext>
            </a:extLst>
          </p:cNvPr>
          <p:cNvCxnSpPr/>
          <p:nvPr/>
        </p:nvCxnSpPr>
        <p:spPr>
          <a:xfrm flipV="1">
            <a:off x="4185182" y="2174240"/>
            <a:ext cx="0" cy="3657600"/>
          </a:xfrm>
          <a:prstGeom prst="line">
            <a:avLst/>
          </a:prstGeom>
          <a:ln w="28575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C527EB85-F203-84B8-030E-B6D43D966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526" y="1949993"/>
            <a:ext cx="1598286" cy="422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5558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81123-EFE3-384E-095D-012AD382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visualization matters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0F2D2-1F8F-A5C6-DE2A-C5463BC80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Each version contained the same basic data. What changed was how the data were visually encoded.</a:t>
            </a:r>
          </a:p>
          <a:p>
            <a:pPr lvl="0"/>
            <a:r>
              <a:rPr lang="en-GB" dirty="0"/>
              <a:t>Tables are useful for looking up exact values. </a:t>
            </a:r>
          </a:p>
          <a:p>
            <a:pPr lvl="0"/>
            <a:r>
              <a:rPr lang="en-GB" dirty="0"/>
              <a:t>Charts are useful for seeing patterns. </a:t>
            </a:r>
          </a:p>
          <a:p>
            <a:pPr lvl="0"/>
            <a:r>
              <a:rPr lang="en-GB" dirty="0"/>
              <a:t>Ordering improves comparison. </a:t>
            </a:r>
          </a:p>
          <a:p>
            <a:pPr lvl="0"/>
            <a:r>
              <a:rPr lang="en-GB" dirty="0" err="1"/>
              <a:t>Color</a:t>
            </a:r>
            <a:r>
              <a:rPr lang="en-GB" dirty="0"/>
              <a:t> and reference lines add meaning. </a:t>
            </a:r>
          </a:p>
          <a:p>
            <a:pPr marL="0" lvl="0" indent="0">
              <a:buNone/>
            </a:pPr>
            <a:endParaRPr lang="en-GB" dirty="0"/>
          </a:p>
          <a:p>
            <a:pPr marL="0" lvl="0" indent="0">
              <a:buNone/>
            </a:pPr>
            <a:r>
              <a:rPr lang="en-GB" dirty="0"/>
              <a:t>Different visual choices support different decisions.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744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13898-87BE-81D3-429D-30528215C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0631-DFBC-ED75-79B3-CD8D63CF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Directing attention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0F90C-25E5-16DD-201D-C04FC7CA3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977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5E8EB-D6DB-8F64-AD0B-EFA92ACF4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EB9D9-07D4-3334-B1C8-0436232D7A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Visual encoding maps data values to visual properties.</a:t>
            </a:r>
          </a:p>
          <a:p>
            <a:r>
              <a:rPr lang="en-GB" dirty="0"/>
              <a:t>Attributes such as position, length, </a:t>
            </a:r>
            <a:r>
              <a:rPr lang="en-GB" dirty="0" err="1"/>
              <a:t>color</a:t>
            </a:r>
            <a:r>
              <a:rPr lang="en-GB" dirty="0"/>
              <a:t>, size and shape communicate different information.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2B9A7-CCB8-5544-8B66-F41F75D33A9A}"/>
              </a:ext>
            </a:extLst>
          </p:cNvPr>
          <p:cNvSpPr txBox="1"/>
          <p:nvPr/>
        </p:nvSpPr>
        <p:spPr>
          <a:xfrm>
            <a:off x="6520070" y="3809450"/>
            <a:ext cx="45057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vertical position = player name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/>
              <a:t>bar length = minutes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reference line = decision threshold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dirty="0" err="1"/>
              <a:t>color</a:t>
            </a:r>
            <a:r>
              <a:rPr lang="en-GB" dirty="0"/>
              <a:t> = above or below threshold</a:t>
            </a:r>
          </a:p>
        </p:txBody>
      </p:sp>
      <p:pic>
        <p:nvPicPr>
          <p:cNvPr id="6" name="Content Placeholder 8">
            <a:extLst>
              <a:ext uri="{FF2B5EF4-FFF2-40B4-BE49-F238E27FC236}">
                <a16:creationId xmlns:a16="http://schemas.microsoft.com/office/drawing/2014/main" id="{E315E011-6C55-2B1C-C9CF-602224170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147" y="2994441"/>
            <a:ext cx="4393836" cy="3196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856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EFF20-7721-22CF-0B9C-022544814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properties that the human brain processes almost instantly and subconsciously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425CF-433B-BA64-63C0-A6A6E36B0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E157F-E6F6-FE34-3C0A-A701E167D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Pre-attentive attributes </a:t>
            </a:r>
            <a:endParaRPr lang="en-US" dirty="0"/>
          </a:p>
        </p:txBody>
      </p:sp>
      <p:pic>
        <p:nvPicPr>
          <p:cNvPr id="2050" name="Picture 2" descr="Why Visual Analytics? - Tableau">
            <a:extLst>
              <a:ext uri="{FF2B5EF4-FFF2-40B4-BE49-F238E27FC236}">
                <a16:creationId xmlns:a16="http://schemas.microsoft.com/office/drawing/2014/main" id="{88432887-C671-1479-BEED-AD22C850D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495" y="2941311"/>
            <a:ext cx="6094005" cy="332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87410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148CA-6C0C-8B16-D5EF-6841D0B0E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538FD-5FD5-6579-F043-7307298E7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properties that the human brain processes almost instantly and subconsciously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FE83BB-DEE5-6058-AE8C-A8C94C22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C9C0AD-DC16-011A-C5EE-AF594B925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Pre-attentive attributes </a:t>
            </a:r>
            <a:endParaRPr lang="en-US" dirty="0"/>
          </a:p>
        </p:txBody>
      </p:sp>
      <p:pic>
        <p:nvPicPr>
          <p:cNvPr id="2050" name="Picture 2" descr="Why Visual Analytics? - Tableau">
            <a:extLst>
              <a:ext uri="{FF2B5EF4-FFF2-40B4-BE49-F238E27FC236}">
                <a16:creationId xmlns:a16="http://schemas.microsoft.com/office/drawing/2014/main" id="{BA8664D1-D891-EBEF-FC6E-331B10FEE0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9495" y="2941311"/>
            <a:ext cx="6094005" cy="332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7FB8D2-B1D9-1E60-1920-E22CF46CD370}"/>
              </a:ext>
            </a:extLst>
          </p:cNvPr>
          <p:cNvSpPr/>
          <p:nvPr/>
        </p:nvSpPr>
        <p:spPr>
          <a:xfrm>
            <a:off x="2966720" y="3027679"/>
            <a:ext cx="3495040" cy="32356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2F41E7-5570-4DAA-15A7-B9A6F8DCCCD2}"/>
              </a:ext>
            </a:extLst>
          </p:cNvPr>
          <p:cNvSpPr/>
          <p:nvPr/>
        </p:nvSpPr>
        <p:spPr>
          <a:xfrm>
            <a:off x="6568985" y="3027679"/>
            <a:ext cx="1081496" cy="151984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81238C-AD1B-C513-8B2B-F18A0C7A2D46}"/>
              </a:ext>
            </a:extLst>
          </p:cNvPr>
          <p:cNvSpPr/>
          <p:nvPr/>
        </p:nvSpPr>
        <p:spPr>
          <a:xfrm>
            <a:off x="7757706" y="3027680"/>
            <a:ext cx="1081496" cy="151984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E2C14C-D324-1BE8-AAA8-E950E8BC0427}"/>
              </a:ext>
            </a:extLst>
          </p:cNvPr>
          <p:cNvSpPr/>
          <p:nvPr/>
        </p:nvSpPr>
        <p:spPr>
          <a:xfrm>
            <a:off x="6580414" y="4726912"/>
            <a:ext cx="2258788" cy="1536419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058749-5F82-9C9B-4848-49E51F776B41}"/>
              </a:ext>
            </a:extLst>
          </p:cNvPr>
          <p:cNvSpPr txBox="1"/>
          <p:nvPr/>
        </p:nvSpPr>
        <p:spPr>
          <a:xfrm>
            <a:off x="4315188" y="2799829"/>
            <a:ext cx="79810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spatial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B12799-2697-F24F-2377-3DBBC4511E4B}"/>
              </a:ext>
            </a:extLst>
          </p:cNvPr>
          <p:cNvSpPr txBox="1"/>
          <p:nvPr/>
        </p:nvSpPr>
        <p:spPr>
          <a:xfrm>
            <a:off x="7381192" y="4592668"/>
            <a:ext cx="657231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color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51690F-06DB-5D6B-05C7-B7E6916DB111}"/>
              </a:ext>
            </a:extLst>
          </p:cNvPr>
          <p:cNvSpPr txBox="1"/>
          <p:nvPr/>
        </p:nvSpPr>
        <p:spPr>
          <a:xfrm>
            <a:off x="6952963" y="2753319"/>
            <a:ext cx="1548437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size and shape</a:t>
            </a:r>
          </a:p>
        </p:txBody>
      </p:sp>
    </p:spTree>
    <p:extLst>
      <p:ext uri="{BB962C8B-B14F-4D97-AF65-F5344CB8AC3E}">
        <p14:creationId xmlns:p14="http://schemas.microsoft.com/office/powerpoint/2010/main" val="3034577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8FFCA-930E-8F8A-0F4F-25C5483BD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 versus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C38B8-CC0B-1F5B-1F4B-7E606FC9A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Visual emphasis tells the audience where to look. </a:t>
            </a:r>
          </a:p>
          <a:p>
            <a:pPr lvl="0"/>
            <a:r>
              <a:rPr lang="en-GB" dirty="0"/>
              <a:t>The most visually prominent element appears important. </a:t>
            </a:r>
          </a:p>
          <a:p>
            <a:pPr lvl="0"/>
            <a:r>
              <a:rPr lang="en-GB" dirty="0"/>
              <a:t>Emphasis should reflect the analytical question. </a:t>
            </a:r>
          </a:p>
          <a:p>
            <a:pPr lvl="0"/>
            <a:r>
              <a:rPr lang="en-GB" dirty="0"/>
              <a:t>Unnecessary emphasis can distort interpretation.</a:t>
            </a:r>
          </a:p>
        </p:txBody>
      </p:sp>
    </p:spTree>
    <p:extLst>
      <p:ext uri="{BB962C8B-B14F-4D97-AF65-F5344CB8AC3E}">
        <p14:creationId xmlns:p14="http://schemas.microsoft.com/office/powerpoint/2010/main" val="1103356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021B0-9CFD-DE2F-5BE9-BA71BA14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54BBF-3036-449B-6323-6BF00943D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 in visualizations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73E5E-62F1-500E-E33B-C79C068C6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809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0B74-E24A-6EA8-D091-07F10A308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Making comparisons easy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B480D-02A8-63C0-A375-C74057F75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Which position accumulated more minutes? </a:t>
            </a:r>
          </a:p>
          <a:p>
            <a:pPr lvl="0"/>
            <a:r>
              <a:rPr lang="en-GB" dirty="0"/>
              <a:t>Approximately how many more minutes?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53FD1F-5C27-889D-B140-6FBEA397B4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7319"/>
            <a:ext cx="4654378" cy="3657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399B2E-24E6-B3F4-C649-841CC786B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424" y="2677319"/>
            <a:ext cx="458213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29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F1FB-BA10-B3BA-681B-43D9A76B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 of visual encodings</a:t>
            </a:r>
            <a:endParaRPr lang="en-US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9EA047FD-5B8C-BF2E-A786-CD90A29A5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06978"/>
            <a:ext cx="10515600" cy="300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576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76C2-D4AF-7FDB-3F15-36030F0F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8F4BD-A2C2-44EF-811D-432873A2F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Accuracy of visual encodings</a:t>
            </a:r>
            <a:endParaRPr lang="en-US" dirty="0"/>
          </a:p>
        </p:txBody>
      </p:sp>
      <p:pic>
        <p:nvPicPr>
          <p:cNvPr id="4" name="Content Placeholder 7">
            <a:extLst>
              <a:ext uri="{FF2B5EF4-FFF2-40B4-BE49-F238E27FC236}">
                <a16:creationId xmlns:a16="http://schemas.microsoft.com/office/drawing/2014/main" id="{8CB5A405-5870-CC1D-4B60-8ED336EF8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06978"/>
            <a:ext cx="10515600" cy="30044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B745FE6-79D2-83BA-A076-9D2E4EECDF0F}"/>
              </a:ext>
            </a:extLst>
          </p:cNvPr>
          <p:cNvSpPr/>
          <p:nvPr/>
        </p:nvSpPr>
        <p:spPr>
          <a:xfrm>
            <a:off x="10124661" y="2306977"/>
            <a:ext cx="1229138" cy="3004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434C68-539C-F858-2684-77C9EB341642}"/>
              </a:ext>
            </a:extLst>
          </p:cNvPr>
          <p:cNvSpPr/>
          <p:nvPr/>
        </p:nvSpPr>
        <p:spPr>
          <a:xfrm>
            <a:off x="6500191" y="2306977"/>
            <a:ext cx="1229138" cy="3004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3618CB-4F71-42C0-D894-4EB219A54CEA}"/>
              </a:ext>
            </a:extLst>
          </p:cNvPr>
          <p:cNvSpPr/>
          <p:nvPr/>
        </p:nvSpPr>
        <p:spPr>
          <a:xfrm>
            <a:off x="1921565" y="2306977"/>
            <a:ext cx="1229138" cy="3004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146C47-CF56-5FCF-2F9C-612D0FF830B5}"/>
              </a:ext>
            </a:extLst>
          </p:cNvPr>
          <p:cNvSpPr/>
          <p:nvPr/>
        </p:nvSpPr>
        <p:spPr>
          <a:xfrm>
            <a:off x="838199" y="2306977"/>
            <a:ext cx="1083365" cy="30044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041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C357F-100D-0FC7-A142-67B4C8C34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E2E76-D641-C4F6-D14D-8299765C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Selecting attributes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5C486-0514-F484-9CDA-9FE70ABEC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648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79C76-E1F7-D191-D6D8-C6D40E845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Selecting attributes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5B882-B8A6-490C-5D7B-E645ED07D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Which visual properties would appropriately represent:</a:t>
            </a:r>
          </a:p>
          <a:p>
            <a:pPr lvl="1"/>
            <a:r>
              <a:rPr lang="en-GB" dirty="0"/>
              <a:t>Position </a:t>
            </a:r>
          </a:p>
          <a:p>
            <a:pPr lvl="1"/>
            <a:r>
              <a:rPr lang="en-GB" dirty="0"/>
              <a:t>Minutes played </a:t>
            </a:r>
          </a:p>
          <a:p>
            <a:pPr lvl="1"/>
            <a:r>
              <a:rPr lang="en-GB" dirty="0"/>
              <a:t>Team </a:t>
            </a:r>
          </a:p>
          <a:p>
            <a:pPr lvl="1"/>
            <a:r>
              <a:rPr lang="en-GB" dirty="0"/>
              <a:t>Average sprint speed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468708-A9C8-B7AB-65E1-9F2F378A8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6378735"/>
              </p:ext>
            </p:extLst>
          </p:nvPr>
        </p:nvGraphicFramePr>
        <p:xfrm>
          <a:off x="2590799" y="4392175"/>
          <a:ext cx="7010401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23833">
                  <a:extLst>
                    <a:ext uri="{9D8B030D-6E8A-4147-A177-3AD203B41FA5}">
                      <a16:colId xmlns:a16="http://schemas.microsoft.com/office/drawing/2014/main" val="608328273"/>
                    </a:ext>
                  </a:extLst>
                </a:gridCol>
                <a:gridCol w="4686568">
                  <a:extLst>
                    <a:ext uri="{9D8B030D-6E8A-4147-A177-3AD203B41FA5}">
                      <a16:colId xmlns:a16="http://schemas.microsoft.com/office/drawing/2014/main" val="11204273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Appropriate visual properties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9000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Numerical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Position, length, size, color intensity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456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Nominal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Position, color hue, shape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057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Ordinal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Position, light-to-dark </a:t>
                      </a:r>
                      <a:r>
                        <a:rPr lang="en-GB" dirty="0" err="1"/>
                        <a:t>color</a:t>
                      </a:r>
                      <a:r>
                        <a:rPr lang="en-GB" dirty="0"/>
                        <a:t>,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140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84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11479-4465-E501-306F-6DE88AC41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choices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AC521-CE38-4A1D-9175-A63CF8132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B421D9-8E71-DC15-61CB-D81A16C98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770" y="1463539"/>
            <a:ext cx="2692288" cy="22476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2D9648-23E3-1761-DBB6-2C273BF30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0849" y="1441937"/>
            <a:ext cx="3491783" cy="2433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34F3AA-C8D6-4C78-EF7B-B4BB0741B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2478" y="4039435"/>
            <a:ext cx="3510154" cy="2369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B7E74D-9ACB-909D-FE77-20B13180F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369" y="3875313"/>
            <a:ext cx="3383231" cy="253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004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5B668-44E6-CCA2-D004-D84DFE686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2105-05E0-2CA7-C439-E22F8FA67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Visualizing distributions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D8A03B-7D07-41D4-4E33-03C0ED8CB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391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CDF8D-2B58-8625-9E7E-B65ADFDB0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Match the chart to your question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3B395-A0BD-042A-8254-AB38C5103C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would never do analysis before the question</a:t>
            </a:r>
          </a:p>
          <a:p>
            <a:r>
              <a:rPr lang="en-US" dirty="0"/>
              <a:t>Same ideas apply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3654A-4B16-C0CE-367F-30419CF39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03843A-D9F3-A48C-EF45-0AE4A60A2AC7}"/>
              </a:ext>
            </a:extLst>
          </p:cNvPr>
          <p:cNvSpPr/>
          <p:nvPr/>
        </p:nvSpPr>
        <p:spPr>
          <a:xfrm>
            <a:off x="1718200" y="4148716"/>
            <a:ext cx="1828800" cy="8050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Research Question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6CAE1-ADA5-D5D9-7EA6-9751FFCD4B41}"/>
              </a:ext>
            </a:extLst>
          </p:cNvPr>
          <p:cNvSpPr/>
          <p:nvPr/>
        </p:nvSpPr>
        <p:spPr>
          <a:xfrm>
            <a:off x="4918600" y="4154677"/>
            <a:ext cx="1828800" cy="8050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Visualization Type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82905B-3114-E5B5-6CA1-B051AB2462D2}"/>
              </a:ext>
            </a:extLst>
          </p:cNvPr>
          <p:cNvSpPr/>
          <p:nvPr/>
        </p:nvSpPr>
        <p:spPr>
          <a:xfrm>
            <a:off x="7946280" y="4148716"/>
            <a:ext cx="1828800" cy="80507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Visual Encoding Methods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5AC83D8-A04A-3FD4-E550-65562FEF1BE4}"/>
              </a:ext>
            </a:extLst>
          </p:cNvPr>
          <p:cNvSpPr/>
          <p:nvPr/>
        </p:nvSpPr>
        <p:spPr>
          <a:xfrm>
            <a:off x="3810000" y="4348480"/>
            <a:ext cx="822960" cy="396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C579A41-46D9-BCCB-302F-98DB9F02AD7C}"/>
              </a:ext>
            </a:extLst>
          </p:cNvPr>
          <p:cNvSpPr/>
          <p:nvPr/>
        </p:nvSpPr>
        <p:spPr>
          <a:xfrm>
            <a:off x="6935360" y="4368800"/>
            <a:ext cx="822960" cy="3962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96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D64BD-13B9-6822-2102-120F8EA41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distribution?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7425F-F04E-9B5E-DEAE-E94F7D5914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distribution describes:</a:t>
            </a:r>
          </a:p>
          <a:p>
            <a:pPr lvl="1"/>
            <a:r>
              <a:rPr lang="en-GB" dirty="0"/>
              <a:t>Where values are concentrated </a:t>
            </a:r>
          </a:p>
          <a:p>
            <a:pPr lvl="1"/>
            <a:r>
              <a:rPr lang="en-GB" dirty="0"/>
              <a:t>Variance of data</a:t>
            </a:r>
          </a:p>
          <a:p>
            <a:pPr lvl="1"/>
            <a:r>
              <a:rPr lang="en-GB" dirty="0"/>
              <a:t>Whether unusual values are present</a:t>
            </a:r>
          </a:p>
          <a:p>
            <a:pPr lvl="1"/>
            <a:r>
              <a:rPr lang="en-GB" dirty="0"/>
              <a:t>Where data point exists relative to others</a:t>
            </a:r>
          </a:p>
          <a:p>
            <a:pPr lvl="1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97B836-AB88-354D-A279-4605644CE7DF}"/>
              </a:ext>
            </a:extLst>
          </p:cNvPr>
          <p:cNvSpPr txBox="1"/>
          <p:nvPr/>
        </p:nvSpPr>
        <p:spPr>
          <a:xfrm>
            <a:off x="1504122" y="3997476"/>
            <a:ext cx="91837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sz="2400" dirty="0">
                <a:solidFill>
                  <a:srgbClr val="FF0000"/>
                </a:solidFill>
              </a:rPr>
              <a:t>distribution requires multiple observations of the same variable.</a:t>
            </a:r>
          </a:p>
        </p:txBody>
      </p:sp>
    </p:spTree>
    <p:extLst>
      <p:ext uri="{BB962C8B-B14F-4D97-AF65-F5344CB8AC3E}">
        <p14:creationId xmlns:p14="http://schemas.microsoft.com/office/powerpoint/2010/main" val="20898568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9B466-0475-4BA9-3BA6-00B622E77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should we encode a distribution?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B0716-E3F0-1D50-1B05-379D00608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Position represents the measured value. </a:t>
            </a:r>
          </a:p>
          <a:p>
            <a:pPr lvl="0"/>
            <a:r>
              <a:rPr lang="en-GB" dirty="0"/>
              <a:t>Height or area can represent frequency. </a:t>
            </a:r>
          </a:p>
          <a:p>
            <a:pPr lvl="0"/>
            <a:r>
              <a:rPr lang="en-GB" dirty="0" err="1"/>
              <a:t>Color</a:t>
            </a:r>
            <a:r>
              <a:rPr lang="en-GB" dirty="0"/>
              <a:t> can distinguish groups. </a:t>
            </a:r>
          </a:p>
          <a:p>
            <a:pPr lvl="0"/>
            <a:r>
              <a:rPr lang="en-GB" dirty="0"/>
              <a:t>Individual points can represent observations. </a:t>
            </a:r>
          </a:p>
          <a:p>
            <a:pPr lvl="0"/>
            <a:r>
              <a:rPr lang="en-GB" dirty="0"/>
              <a:t>Reference lines can identify averages or thresholds.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4076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1593-F2E7-A0A0-4235-5DCA483B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7D4B5-3BEA-A604-109D-2E41CFA31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Histograms: Player height distribution, shot distance distribution</a:t>
            </a:r>
          </a:p>
          <a:p>
            <a:r>
              <a:rPr lang="en-US" dirty="0"/>
              <a:t>Box plots: Comparing stat distributions across positions or teams</a:t>
            </a:r>
          </a:p>
          <a:p>
            <a:r>
              <a:rPr lang="en-US" dirty="0"/>
              <a:t>Violin plots: Showing full distribution shape (sprint speeds by position)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48B8C-B129-4165-BA11-6AF432CA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DBAAD0-EAB3-75AD-D9CF-FA8A4201EA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7"/>
          <a:stretch>
            <a:fillRect/>
          </a:stretch>
        </p:blipFill>
        <p:spPr>
          <a:xfrm>
            <a:off x="3591348" y="4732191"/>
            <a:ext cx="1190791" cy="11477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04EB65-D7BB-8ECF-7D60-829A955DF3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551" y="4922196"/>
            <a:ext cx="1152686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139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AE914-6399-D19B-BAF0-C90A269BB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51137-DFF6-0E27-4C23-A158DEA8C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3D9AA-549F-606F-B3F5-5C861CA7E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Violin plots: Showing full distribution shape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C9DD0-0ABD-BF1F-BB74-52877A4D1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0377-489B-40EC-B059-26BDDD2E89B9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0DB94C-EC6F-313A-E8E9-313248E52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226" y="2085942"/>
            <a:ext cx="9889548" cy="344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150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6EB5-FEC2-47DE-01A3-F0E17054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/>
              <a:t>Summary &amp; Looking Ahead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81857-C6C4-CF29-7D9F-C7FCD74EC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Next: </a:t>
            </a:r>
            <a:r>
              <a:rPr lang="en-GB" dirty="0"/>
              <a:t>Measures of </a:t>
            </a:r>
            <a:r>
              <a:rPr lang="en-GB" dirty="0" err="1"/>
              <a:t>center</a:t>
            </a:r>
            <a:r>
              <a:rPr lang="en-GB" dirty="0"/>
              <a:t>, spread, and distributions.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6921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52CC8-6C49-4231-0C75-0B9C4BDFB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 distribution question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A0D39-E7A7-D60F-C2D6-372DD681D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Which athlete is more consistent across repeated jump tests?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D63D0-FBCD-E179-6571-8D1E42307AC6}"/>
              </a:ext>
            </a:extLst>
          </p:cNvPr>
          <p:cNvSpPr txBox="1"/>
          <p:nvPr/>
        </p:nvSpPr>
        <p:spPr>
          <a:xfrm>
            <a:off x="4439478" y="5132892"/>
            <a:ext cx="304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GB" dirty="0"/>
              <a:t>Who performed better? </a:t>
            </a:r>
          </a:p>
          <a:p>
            <a:pPr lvl="0"/>
            <a:r>
              <a:rPr lang="en-GB" dirty="0"/>
              <a:t>Who was more consistent?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A33A5-7A5D-49E7-DBA9-A0F2DAD7E369}"/>
              </a:ext>
            </a:extLst>
          </p:cNvPr>
          <p:cNvSpPr txBox="1"/>
          <p:nvPr/>
        </p:nvSpPr>
        <p:spPr>
          <a:xfrm>
            <a:off x="404191" y="1842052"/>
            <a:ext cx="1138361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# A </a:t>
            </a:r>
            <a:r>
              <a:rPr lang="en-US" sz="1600" dirty="0" err="1"/>
              <a:t>tibble</a:t>
            </a:r>
            <a:r>
              <a:rPr lang="en-US" sz="1600" dirty="0"/>
              <a:t>: 4 × 27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hawkinID</a:t>
            </a:r>
            <a:r>
              <a:rPr lang="en-US" sz="1600" dirty="0"/>
              <a:t>    `2025-08-26` `2025-09-02` `2025-09-08` `2025-09-15` `2025-10-06` `2025-10-13` `2025-10-20` `2025-10-27`</a:t>
            </a:r>
          </a:p>
          <a:p>
            <a:r>
              <a:rPr lang="en-US" sz="1600" dirty="0"/>
              <a:t>  &lt;chr&gt;              &lt;</a:t>
            </a:r>
            <a:r>
              <a:rPr lang="en-US" sz="1600" dirty="0" err="1"/>
              <a:t>dbl</a:t>
            </a:r>
            <a:r>
              <a:rPr lang="en-US" sz="1600" dirty="0"/>
              <a:t>&gt;        &lt;</a:t>
            </a:r>
            <a:r>
              <a:rPr lang="en-US" sz="1600" dirty="0" err="1"/>
              <a:t>dbl</a:t>
            </a:r>
            <a:r>
              <a:rPr lang="en-US" sz="1600" dirty="0"/>
              <a:t>&gt;        &lt;</a:t>
            </a:r>
            <a:r>
              <a:rPr lang="en-US" sz="1600" dirty="0" err="1"/>
              <a:t>dbl</a:t>
            </a:r>
            <a:r>
              <a:rPr lang="en-US" sz="1600" dirty="0"/>
              <a:t>&gt;        &lt;</a:t>
            </a:r>
            <a:r>
              <a:rPr lang="en-US" sz="1600" dirty="0" err="1"/>
              <a:t>dbl</a:t>
            </a:r>
            <a:r>
              <a:rPr lang="en-US" sz="1600" dirty="0"/>
              <a:t>&gt;        &lt;</a:t>
            </a:r>
            <a:r>
              <a:rPr lang="en-US" sz="1600" dirty="0" err="1"/>
              <a:t>dbl</a:t>
            </a:r>
            <a:r>
              <a:rPr lang="en-US" sz="1600" dirty="0"/>
              <a:t>&gt;        &lt;</a:t>
            </a:r>
            <a:r>
              <a:rPr lang="en-US" sz="1600" dirty="0" err="1"/>
              <a:t>dbl</a:t>
            </a:r>
            <a:r>
              <a:rPr lang="en-US" sz="1600" dirty="0"/>
              <a:t>&gt;        &lt;</a:t>
            </a:r>
            <a:r>
              <a:rPr lang="en-US" sz="1600" dirty="0" err="1"/>
              <a:t>dbl</a:t>
            </a:r>
            <a:r>
              <a:rPr lang="en-US" sz="1600" dirty="0"/>
              <a:t>&gt;        &lt;</a:t>
            </a:r>
            <a:r>
              <a:rPr lang="en-US" sz="1600" dirty="0" err="1"/>
              <a:t>dbl</a:t>
            </a:r>
            <a:r>
              <a:rPr lang="en-US" sz="1600" dirty="0"/>
              <a:t>&gt;</a:t>
            </a:r>
          </a:p>
          <a:p>
            <a:r>
              <a:rPr lang="en-US" sz="1600" dirty="0"/>
              <a:t>1 c3BJUw8svk…         22.3         20.9         20.4         21.8         21.5         19.8         21.5         20  </a:t>
            </a:r>
          </a:p>
          <a:p>
            <a:r>
              <a:rPr lang="en-US" sz="1600" dirty="0"/>
              <a:t>2 Yo5NGQPILQ…         19.9         18.6         19.1         19.8         20.1         18.5         19.5         19.7</a:t>
            </a:r>
          </a:p>
          <a:p>
            <a:r>
              <a:rPr lang="en-US" sz="1600" dirty="0"/>
              <a:t>3 </a:t>
            </a:r>
            <a:r>
              <a:rPr lang="en-US" sz="1600" dirty="0" err="1"/>
              <a:t>fElzfrCrDL</a:t>
            </a:r>
            <a:r>
              <a:rPr lang="en-US" sz="1600" dirty="0"/>
              <a:t>…         19.6         18.9         19.7         20.1         18.8         20.4         20.1         19.1</a:t>
            </a:r>
          </a:p>
          <a:p>
            <a:r>
              <a:rPr lang="en-US" sz="1600" dirty="0"/>
              <a:t>4 </a:t>
            </a:r>
            <a:r>
              <a:rPr lang="en-US" sz="1600" dirty="0" err="1"/>
              <a:t>zEXfMoEuCY</a:t>
            </a:r>
            <a:r>
              <a:rPr lang="en-US" sz="1600" dirty="0"/>
              <a:t>…         17           NA           17.1         19.2         18.5         17.3         18.6         19.1</a:t>
            </a:r>
          </a:p>
          <a:p>
            <a:r>
              <a:rPr lang="en-US" sz="1600" dirty="0"/>
              <a:t># ℹ 18 more variables: `2025-11-03` &lt;</a:t>
            </a:r>
            <a:r>
              <a:rPr lang="en-US" sz="1600" dirty="0" err="1"/>
              <a:t>dbl</a:t>
            </a:r>
            <a:r>
              <a:rPr lang="en-US" sz="1600" dirty="0"/>
              <a:t>&gt;, `2025-11-11` &lt;</a:t>
            </a:r>
            <a:r>
              <a:rPr lang="en-US" sz="1600" dirty="0" err="1"/>
              <a:t>dbl</a:t>
            </a:r>
            <a:r>
              <a:rPr lang="en-US" sz="1600" dirty="0"/>
              <a:t>&gt;, `2025-11-20` &lt;</a:t>
            </a:r>
            <a:r>
              <a:rPr lang="en-US" sz="1600" dirty="0" err="1"/>
              <a:t>dbl</a:t>
            </a:r>
            <a:r>
              <a:rPr lang="en-US" sz="1600" dirty="0"/>
              <a:t>&gt;, `2025-11-23` &lt;</a:t>
            </a:r>
            <a:r>
              <a:rPr lang="en-US" sz="1600" dirty="0" err="1"/>
              <a:t>dbl</a:t>
            </a:r>
            <a:r>
              <a:rPr lang="en-US" sz="1600" dirty="0"/>
              <a:t>&gt;,</a:t>
            </a:r>
          </a:p>
          <a:p>
            <a:r>
              <a:rPr lang="en-US" sz="1600" dirty="0"/>
              <a:t>#   `2025-12-04` &lt;</a:t>
            </a:r>
            <a:r>
              <a:rPr lang="en-US" sz="1600" dirty="0" err="1"/>
              <a:t>dbl</a:t>
            </a:r>
            <a:r>
              <a:rPr lang="en-US" sz="1600" dirty="0"/>
              <a:t>&gt;, `2025-12-10` &lt;</a:t>
            </a:r>
            <a:r>
              <a:rPr lang="en-US" sz="1600" dirty="0" err="1"/>
              <a:t>dbl</a:t>
            </a:r>
            <a:r>
              <a:rPr lang="en-US" sz="1600" dirty="0"/>
              <a:t>&gt;, `2025-12-13` &lt;</a:t>
            </a:r>
            <a:r>
              <a:rPr lang="en-US" sz="1600" dirty="0" err="1"/>
              <a:t>dbl</a:t>
            </a:r>
            <a:r>
              <a:rPr lang="en-US" sz="1600" dirty="0"/>
              <a:t>&gt;, `2025-12-16` &lt;</a:t>
            </a:r>
            <a:r>
              <a:rPr lang="en-US" sz="1600" dirty="0" err="1"/>
              <a:t>dbl</a:t>
            </a:r>
            <a:r>
              <a:rPr lang="en-US" sz="1600" dirty="0"/>
              <a:t>&gt;, `2025-12-22` &lt;</a:t>
            </a:r>
            <a:r>
              <a:rPr lang="en-US" sz="1600" dirty="0" err="1"/>
              <a:t>dbl</a:t>
            </a:r>
            <a:r>
              <a:rPr lang="en-US" sz="1600" dirty="0"/>
              <a:t>&gt;,</a:t>
            </a:r>
          </a:p>
          <a:p>
            <a:r>
              <a:rPr lang="en-US" sz="1600" dirty="0"/>
              <a:t>#   `2025-12-29` &lt;</a:t>
            </a:r>
            <a:r>
              <a:rPr lang="en-US" sz="1600" dirty="0" err="1"/>
              <a:t>dbl</a:t>
            </a:r>
            <a:r>
              <a:rPr lang="en-US" sz="1600" dirty="0"/>
              <a:t>&gt;, `2026-01-03` &lt;</a:t>
            </a:r>
            <a:r>
              <a:rPr lang="en-US" sz="1600" dirty="0" err="1"/>
              <a:t>dbl</a:t>
            </a:r>
            <a:r>
              <a:rPr lang="en-US" sz="1600" dirty="0"/>
              <a:t>&gt;, `2026-01-17` &lt;</a:t>
            </a:r>
            <a:r>
              <a:rPr lang="en-US" sz="1600" dirty="0" err="1"/>
              <a:t>dbl</a:t>
            </a:r>
            <a:r>
              <a:rPr lang="en-US" sz="1600" dirty="0"/>
              <a:t>&gt;, `2026-01-27` &lt;</a:t>
            </a:r>
            <a:r>
              <a:rPr lang="en-US" sz="1600" dirty="0" err="1"/>
              <a:t>dbl</a:t>
            </a:r>
            <a:r>
              <a:rPr lang="en-US" sz="1600" dirty="0"/>
              <a:t>&gt;, `2026-01-31` &lt;</a:t>
            </a:r>
            <a:r>
              <a:rPr lang="en-US" sz="1600" dirty="0" err="1"/>
              <a:t>dbl</a:t>
            </a:r>
            <a:r>
              <a:rPr lang="en-US" sz="1600" dirty="0"/>
              <a:t>&gt;,</a:t>
            </a:r>
          </a:p>
          <a:p>
            <a:r>
              <a:rPr lang="en-US" sz="1600" dirty="0"/>
              <a:t>#   `2026-02-14` &lt;</a:t>
            </a:r>
            <a:r>
              <a:rPr lang="en-US" sz="1600" dirty="0" err="1"/>
              <a:t>dbl</a:t>
            </a:r>
            <a:r>
              <a:rPr lang="en-US" sz="1600" dirty="0"/>
              <a:t>&gt;, `2026-02-21` &lt;</a:t>
            </a:r>
            <a:r>
              <a:rPr lang="en-US" sz="1600" dirty="0" err="1"/>
              <a:t>dbl</a:t>
            </a:r>
            <a:r>
              <a:rPr lang="en-US" sz="1600" dirty="0"/>
              <a:t>&gt;, `2026-02-24` &lt;</a:t>
            </a:r>
            <a:r>
              <a:rPr lang="en-US" sz="1600" dirty="0" err="1"/>
              <a:t>dbl</a:t>
            </a:r>
            <a:r>
              <a:rPr lang="en-US" sz="1600" dirty="0"/>
              <a:t>&gt;, `2026-03-03` &lt;</a:t>
            </a:r>
            <a:r>
              <a:rPr lang="en-US" sz="1600" dirty="0" err="1"/>
              <a:t>dbl</a:t>
            </a:r>
            <a:r>
              <a:rPr lang="en-US" sz="16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113446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</TotalTime>
  <Words>1441</Words>
  <Application>Microsoft Macintosh PowerPoint</Application>
  <PresentationFormat>Widescreen</PresentationFormat>
  <Paragraphs>484</Paragraphs>
  <Slides>33</Slides>
  <Notes>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Aptos</vt:lpstr>
      <vt:lpstr>Aptos Display</vt:lpstr>
      <vt:lpstr>Arial</vt:lpstr>
      <vt:lpstr>Helvetica</vt:lpstr>
      <vt:lpstr>Wingdings</vt:lpstr>
      <vt:lpstr>Office Theme</vt:lpstr>
      <vt:lpstr>Data Visualization</vt:lpstr>
      <vt:lpstr>Quiz 4</vt:lpstr>
      <vt:lpstr>Quiz 4</vt:lpstr>
      <vt:lpstr>Why visualization matters in sports analytics </vt:lpstr>
      <vt:lpstr>Why visualization matters in sports analytics </vt:lpstr>
      <vt:lpstr>Who played the most minutes?</vt:lpstr>
      <vt:lpstr>Gradient to represent magnitude</vt:lpstr>
      <vt:lpstr>Order to organize values</vt:lpstr>
      <vt:lpstr>Visual representation of values</vt:lpstr>
      <vt:lpstr>Why visualization matters in sports analytics </vt:lpstr>
      <vt:lpstr>Who played &gt;1500 minutes last season?</vt:lpstr>
      <vt:lpstr>Color, order, graphs</vt:lpstr>
      <vt:lpstr>Why visualization matters</vt:lpstr>
      <vt:lpstr>Directing attention</vt:lpstr>
      <vt:lpstr>Visual encoding</vt:lpstr>
      <vt:lpstr>Pre-attentive attributes </vt:lpstr>
      <vt:lpstr>Pre-attentive attributes </vt:lpstr>
      <vt:lpstr>Attention versus importance</vt:lpstr>
      <vt:lpstr>Accuracy in visualizations</vt:lpstr>
      <vt:lpstr>Making comparisons easy</vt:lpstr>
      <vt:lpstr>Accuracy of visual encodings</vt:lpstr>
      <vt:lpstr>Accuracy of visual encodings</vt:lpstr>
      <vt:lpstr>Selecting attributes</vt:lpstr>
      <vt:lpstr>Selecting attributes</vt:lpstr>
      <vt:lpstr>Bad choices</vt:lpstr>
      <vt:lpstr>Visualizing distributions</vt:lpstr>
      <vt:lpstr>Match the chart to your question</vt:lpstr>
      <vt:lpstr>What is a distribution?</vt:lpstr>
      <vt:lpstr>How should we encode a distribution?</vt:lpstr>
      <vt:lpstr>distribution</vt:lpstr>
      <vt:lpstr>distribution</vt:lpstr>
      <vt:lpstr>Summary &amp; Looking Ahead</vt:lpstr>
      <vt:lpstr>A distribution question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Onishi, Saryu</dc:creator>
  <cp:lastModifiedBy>Onishi, Saryu</cp:lastModifiedBy>
  <cp:revision>22</cp:revision>
  <dcterms:created xsi:type="dcterms:W3CDTF">2026-08-17T13:48:23Z</dcterms:created>
  <dcterms:modified xsi:type="dcterms:W3CDTF">2026-09-21T20:22:16Z</dcterms:modified>
</cp:coreProperties>
</file>