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332" r:id="rId3"/>
    <p:sldId id="333" r:id="rId4"/>
    <p:sldId id="343" r:id="rId5"/>
    <p:sldId id="338" r:id="rId6"/>
    <p:sldId id="336" r:id="rId7"/>
    <p:sldId id="344" r:id="rId8"/>
    <p:sldId id="345" r:id="rId9"/>
    <p:sldId id="337" r:id="rId10"/>
    <p:sldId id="346" r:id="rId11"/>
    <p:sldId id="347" r:id="rId12"/>
    <p:sldId id="348" r:id="rId13"/>
    <p:sldId id="349" r:id="rId14"/>
    <p:sldId id="334" r:id="rId15"/>
    <p:sldId id="350" r:id="rId16"/>
    <p:sldId id="305" r:id="rId17"/>
    <p:sldId id="351" r:id="rId18"/>
    <p:sldId id="335" r:id="rId19"/>
    <p:sldId id="339" r:id="rId20"/>
    <p:sldId id="340" r:id="rId21"/>
    <p:sldId id="353" r:id="rId22"/>
    <p:sldId id="341" r:id="rId23"/>
    <p:sldId id="342" r:id="rId24"/>
    <p:sldId id="309" r:id="rId25"/>
    <p:sldId id="301" r:id="rId26"/>
    <p:sldId id="35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4227" autoAdjust="0"/>
  </p:normalViewPr>
  <p:slideViewPr>
    <p:cSldViewPr snapToGrid="0">
      <p:cViewPr varScale="1">
        <p:scale>
          <a:sx n="87" d="100"/>
          <a:sy n="87" d="100"/>
        </p:scale>
        <p:origin x="1452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A223-E7C9-A243-9A70-FE01E1A1DD65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17FD-8842-8E4F-8C3E-EC8B634B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Some people seem to have done some level of analysis already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Overwhelming, difficult to know what variable applies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Be careful about jumping to conclusions and/or doing analysis to confirm your view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8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Difficulty finding data for question </a:t>
            </a:r>
            <a:r>
              <a:rPr lang="en-US"/>
              <a:t>was most common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Overwhelming, difficult to know what variable applies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Some people seem to have done some level of analysis already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Be careful about jumping to conclusions and/or doing analysis to confirm your view point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19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a saying that originates from the world of computer </a:t>
            </a:r>
            <a:r>
              <a:rPr lang="en-US" dirty="0" err="1"/>
              <a:t>sience</a:t>
            </a:r>
            <a:r>
              <a:rPr lang="en-US" dirty="0"/>
              <a:t> , garbage in garbage out</a:t>
            </a:r>
          </a:p>
          <a:p>
            <a:endParaRPr lang="en-US" dirty="0"/>
          </a:p>
          <a:p>
            <a:r>
              <a:rPr lang="en-US" dirty="0"/>
              <a:t>Stats and models cannot fix flawed data</a:t>
            </a:r>
          </a:p>
          <a:p>
            <a:r>
              <a:rPr lang="en-US" dirty="0"/>
              <a:t>Your analysis is only as good as your data source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Wrong tagging, errors in device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247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Validity and Ethics in Sports Analytics</a:t>
            </a:r>
            <a:endParaRPr lang="en-GB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D5566C-811C-8CFF-76AE-10B80B29D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956337"/>
            <a:ext cx="10515600" cy="945327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Quiz 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BD947-2DF6-A069-ABA9-830234A7C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78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C23F9-E941-0AF4-22BA-A79698C1B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Illusion of 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B552A-4E74-0875-F50C-3D53B4BFB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Media framing implies that GPS vests, force plates, and optical tracking systems give us an infallible, objective window into an athlete's soul and body.</a:t>
            </a:r>
          </a:p>
          <a:p>
            <a:endParaRPr lang="en-US" dirty="0"/>
          </a:p>
          <a:p>
            <a:r>
              <a:rPr lang="en-US" dirty="0"/>
              <a:t>systems may produce numbers with multiple decimal places, but precision does not guarantee accuracy.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002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151F6-CCA6-F596-841B-8E8AAC39E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CB888-7B01-3457-C927-B6F47BB73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Sport data are affected by:</a:t>
            </a:r>
          </a:p>
          <a:p>
            <a:pPr lvl="1"/>
            <a:r>
              <a:rPr lang="en-US" dirty="0"/>
              <a:t>Device limitations </a:t>
            </a:r>
          </a:p>
          <a:p>
            <a:pPr lvl="1"/>
            <a:r>
              <a:rPr lang="en-US" dirty="0"/>
              <a:t>Inconsistent procedures </a:t>
            </a:r>
          </a:p>
          <a:p>
            <a:pPr lvl="1"/>
            <a:r>
              <a:rPr lang="en-US" dirty="0"/>
              <a:t>Human error </a:t>
            </a:r>
          </a:p>
          <a:p>
            <a:pPr lvl="1"/>
            <a:r>
              <a:rPr lang="en-US" dirty="0"/>
              <a:t>Athlete behavior </a:t>
            </a:r>
          </a:p>
          <a:p>
            <a:pPr lvl="1"/>
            <a:r>
              <a:rPr lang="en-US" dirty="0"/>
              <a:t>Environmental conditions </a:t>
            </a:r>
          </a:p>
          <a:p>
            <a:pPr lvl="1"/>
            <a:r>
              <a:rPr lang="en-US" dirty="0"/>
              <a:t>Missing observations </a:t>
            </a:r>
          </a:p>
          <a:p>
            <a:pPr lvl="1"/>
            <a:r>
              <a:rPr lang="en-US" dirty="0"/>
              <a:t>Changing definitions or technologies </a:t>
            </a:r>
          </a:p>
          <a:p>
            <a:pPr lvl="1"/>
            <a:endParaRPr lang="en-US" dirty="0"/>
          </a:p>
          <a:p>
            <a:r>
              <a:rPr lang="en-US" dirty="0"/>
              <a:t>Before analyzing performance, we must understand how the data were produced.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724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AA012-CFC6-E010-E70B-19E4F70D9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Trust in the measurement</a:t>
            </a:r>
          </a:p>
        </p:txBody>
      </p:sp>
      <p:pic>
        <p:nvPicPr>
          <p:cNvPr id="4" name="Content Placeholder 3" descr="Understanding Validity and Reliability in Data Analysis | Osama Abdelhay,  PhD posted on the topic | LinkedIn">
            <a:extLst>
              <a:ext uri="{FF2B5EF4-FFF2-40B4-BE49-F238E27FC236}">
                <a16:creationId xmlns:a16="http://schemas.microsoft.com/office/drawing/2014/main" id="{6B561CBD-5E54-4061-248A-E40124206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6616" y="3429000"/>
            <a:ext cx="3098767" cy="311813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3691E2-C9D8-79D9-0DF8-4BA7C6750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312056"/>
              </p:ext>
            </p:extLst>
          </p:nvPr>
        </p:nvGraphicFramePr>
        <p:xfrm>
          <a:off x="838200" y="1667608"/>
          <a:ext cx="10515600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53299">
                  <a:extLst>
                    <a:ext uri="{9D8B030D-6E8A-4147-A177-3AD203B41FA5}">
                      <a16:colId xmlns:a16="http://schemas.microsoft.com/office/drawing/2014/main" val="3294920239"/>
                    </a:ext>
                  </a:extLst>
                </a:gridCol>
                <a:gridCol w="7762301">
                  <a:extLst>
                    <a:ext uri="{9D8B030D-6E8A-4147-A177-3AD203B41FA5}">
                      <a16:colId xmlns:a16="http://schemas.microsoft.com/office/drawing/2014/main" val="28025524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Primary question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442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the measurement be reproduced consistently?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0462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Validity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Does the measurement represent what we intend to measure?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7012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456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450B-A717-38F2-4DCC-5568D4FFE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 measurements be reproduced consistently?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2650E-A659-B4E4-DE5F-4FDBACF7C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8"/>
            <a:ext cx="7955935" cy="4735025"/>
          </a:xfrm>
        </p:spPr>
        <p:txBody>
          <a:bodyPr/>
          <a:lstStyle/>
          <a:p>
            <a:r>
              <a:rPr lang="en-US" dirty="0"/>
              <a:t>A reliable measurement produces similar results when the underlying performance has not meaningfully changed</a:t>
            </a:r>
          </a:p>
          <a:p>
            <a:pPr lvl="1"/>
            <a:endParaRPr lang="en-US" dirty="0"/>
          </a:p>
          <a:p>
            <a:r>
              <a:rPr lang="en-US" dirty="0"/>
              <a:t>Potential sources of inconsistency include:</a:t>
            </a:r>
          </a:p>
          <a:p>
            <a:pPr lvl="1"/>
            <a:r>
              <a:rPr lang="en-US" dirty="0"/>
              <a:t>Device measurement error </a:t>
            </a:r>
          </a:p>
          <a:p>
            <a:pPr lvl="1"/>
            <a:r>
              <a:rPr lang="en-US" dirty="0"/>
              <a:t>Device-to-device differences </a:t>
            </a:r>
          </a:p>
          <a:p>
            <a:pPr lvl="1"/>
            <a:r>
              <a:rPr lang="en-US" dirty="0"/>
              <a:t>Rater or analyst differences </a:t>
            </a:r>
          </a:p>
          <a:p>
            <a:pPr lvl="1"/>
            <a:r>
              <a:rPr lang="en-US" dirty="0"/>
              <a:t>Inconsistent testing procedures </a:t>
            </a:r>
          </a:p>
          <a:p>
            <a:pPr lvl="1"/>
            <a:r>
              <a:rPr lang="en-US" dirty="0"/>
              <a:t>Normal biological variation</a:t>
            </a:r>
          </a:p>
        </p:txBody>
      </p:sp>
      <p:pic>
        <p:nvPicPr>
          <p:cNvPr id="4" name="Picture 3" descr="Understanding Validity and Reliability in Data Analysis | Osama Abdelhay,  PhD posted on the topic | LinkedIn">
            <a:extLst>
              <a:ext uri="{FF2B5EF4-FFF2-40B4-BE49-F238E27FC236}">
                <a16:creationId xmlns:a16="http://schemas.microsoft.com/office/drawing/2014/main" id="{11289F6D-5290-F2B9-17EE-9D0CCD1FA6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964" t="-187" b="-1"/>
          <a:stretch>
            <a:fillRect/>
          </a:stretch>
        </p:blipFill>
        <p:spPr>
          <a:xfrm>
            <a:off x="8794135" y="1230814"/>
            <a:ext cx="2559665" cy="515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91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476DE-4C49-929B-91DE-2D3921555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reliability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53956-1E88-6917-EE6C-28D004CE8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Test–retest reliability</a:t>
            </a:r>
          </a:p>
          <a:p>
            <a:pPr lvl="1"/>
            <a:r>
              <a:rPr lang="en-US" dirty="0"/>
              <a:t>Does the same athlete produce similar results when the test is repeated under similar conditions?</a:t>
            </a:r>
          </a:p>
          <a:p>
            <a:r>
              <a:rPr lang="en-US" b="1" dirty="0"/>
              <a:t>Inter-device reliability</a:t>
            </a:r>
          </a:p>
          <a:p>
            <a:pPr lvl="1"/>
            <a:r>
              <a:rPr lang="en-US" dirty="0"/>
              <a:t>Do two units of the same device produce similar measurements?</a:t>
            </a:r>
          </a:p>
          <a:p>
            <a:r>
              <a:rPr lang="en-US" b="1" dirty="0"/>
              <a:t>Interrater reliability</a:t>
            </a:r>
          </a:p>
          <a:p>
            <a:pPr lvl="1"/>
            <a:r>
              <a:rPr lang="en-US" dirty="0"/>
              <a:t>Do different observers produce similar measurements?</a:t>
            </a:r>
          </a:p>
          <a:p>
            <a:r>
              <a:rPr lang="en-US" b="1" dirty="0" err="1"/>
              <a:t>Intrarater</a:t>
            </a:r>
            <a:r>
              <a:rPr lang="en-US" b="1" dirty="0"/>
              <a:t> reliability</a:t>
            </a:r>
          </a:p>
          <a:p>
            <a:pPr lvl="1"/>
            <a:r>
              <a:rPr lang="en-US" dirty="0"/>
              <a:t>Does the same observer produce similar measurements when repeating the process?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839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96DEB-027B-528C-091C-586285F1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38EC6-6F61-ECFB-A703-066FD40E6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athlete completes the same jump test three times under similar conditions:</a:t>
            </a:r>
          </a:p>
          <a:p>
            <a:pPr lvl="1"/>
            <a:r>
              <a:rPr lang="en-US" dirty="0"/>
              <a:t>Trial 1: 41.2 cm </a:t>
            </a:r>
          </a:p>
          <a:p>
            <a:pPr lvl="1"/>
            <a:r>
              <a:rPr lang="en-US" dirty="0"/>
              <a:t>Trial 2: 41.0 cm </a:t>
            </a:r>
          </a:p>
          <a:p>
            <a:pPr lvl="1"/>
            <a:r>
              <a:rPr lang="en-US" dirty="0"/>
              <a:t>Trial 3: 41.3 cm </a:t>
            </a:r>
          </a:p>
          <a:p>
            <a:r>
              <a:rPr lang="en-US" dirty="0"/>
              <a:t>The results appear highly reliable.</a:t>
            </a:r>
          </a:p>
          <a:p>
            <a:r>
              <a:rPr lang="en-US" dirty="0"/>
              <a:t>But that does not tell us whether the device is measuring jump height correctly.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842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93132-FC35-5FF8-03D1-67B37F252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 we measuring what we intend to measure?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8C520-363E-614C-03C2-CE29895D7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8"/>
            <a:ext cx="10515600" cy="4330901"/>
          </a:xfrm>
        </p:spPr>
        <p:txBody>
          <a:bodyPr/>
          <a:lstStyle/>
          <a:p>
            <a:r>
              <a:rPr lang="en-US" dirty="0"/>
              <a:t>A valid measurement accurately represents the concept or outcome we want to study.</a:t>
            </a:r>
          </a:p>
        </p:txBody>
      </p:sp>
      <p:pic>
        <p:nvPicPr>
          <p:cNvPr id="5" name="Picture 4" descr="Understanding Validity and Reliability in Data Analysis | Osama Abdelhay,  PhD posted on the topic | LinkedIn">
            <a:extLst>
              <a:ext uri="{FF2B5EF4-FFF2-40B4-BE49-F238E27FC236}">
                <a16:creationId xmlns:a16="http://schemas.microsoft.com/office/drawing/2014/main" id="{2046E9F9-86DE-7621-06C7-B786FAAD91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2" t="48120" r="1" b="-94"/>
          <a:stretch>
            <a:fillRect/>
          </a:stretch>
        </p:blipFill>
        <p:spPr>
          <a:xfrm>
            <a:off x="6786390" y="2599981"/>
            <a:ext cx="5118253" cy="267540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A7785B-ED4F-5E16-7199-B0E2E21F526E}"/>
              </a:ext>
            </a:extLst>
          </p:cNvPr>
          <p:cNvSpPr txBox="1">
            <a:spLocks/>
          </p:cNvSpPr>
          <p:nvPr/>
        </p:nvSpPr>
        <p:spPr>
          <a:xfrm>
            <a:off x="838200" y="2390660"/>
            <a:ext cx="5948190" cy="3745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Does the device accurately measure distance traveled? </a:t>
            </a:r>
          </a:p>
          <a:p>
            <a:pPr lvl="1"/>
            <a:r>
              <a:rPr lang="en-US" dirty="0"/>
              <a:t>Does “player load” represent overall physical stress? </a:t>
            </a:r>
          </a:p>
          <a:p>
            <a:pPr lvl="1"/>
            <a:r>
              <a:rPr lang="en-US" dirty="0"/>
              <a:t>Does AVG represent offensive contribution? 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580BE-03D5-F44C-C9A4-9284133B1052}"/>
              </a:ext>
            </a:extLst>
          </p:cNvPr>
          <p:cNvSpPr txBox="1"/>
          <p:nvPr/>
        </p:nvSpPr>
        <p:spPr>
          <a:xfrm>
            <a:off x="2354167" y="5813229"/>
            <a:ext cx="7483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Validity depends on both the technology and the claim being made.</a:t>
            </a:r>
          </a:p>
        </p:txBody>
      </p:sp>
    </p:spTree>
    <p:extLst>
      <p:ext uri="{BB962C8B-B14F-4D97-AF65-F5344CB8AC3E}">
        <p14:creationId xmlns:p14="http://schemas.microsoft.com/office/powerpoint/2010/main" val="3918155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EF567-4F24-1B52-D859-FA6AEBCA4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458A2-0053-7F25-9D80-B74B8FA27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Criterion validity</a:t>
            </a:r>
          </a:p>
          <a:p>
            <a:pPr lvl="1"/>
            <a:r>
              <a:rPr lang="en-US" dirty="0"/>
              <a:t>Does the measurement agree with an accepted reference method?</a:t>
            </a:r>
          </a:p>
          <a:p>
            <a:r>
              <a:rPr lang="en-US" b="1" dirty="0"/>
              <a:t>Construct validity</a:t>
            </a:r>
          </a:p>
          <a:p>
            <a:pPr lvl="1"/>
            <a:r>
              <a:rPr lang="en-US" dirty="0"/>
              <a:t>Does the measurement behave as expected based on the underlying concept?</a:t>
            </a:r>
          </a:p>
          <a:p>
            <a:r>
              <a:rPr lang="en-US" b="1" dirty="0"/>
              <a:t>Ecological validity</a:t>
            </a:r>
          </a:p>
          <a:p>
            <a:pPr lvl="1"/>
            <a:r>
              <a:rPr lang="en-US" dirty="0"/>
              <a:t>Does the measurement represent performance in the real sporting environment?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FD5946-C918-9F0A-7AAF-361D28F028BE}"/>
              </a:ext>
            </a:extLst>
          </p:cNvPr>
          <p:cNvSpPr txBox="1"/>
          <p:nvPr/>
        </p:nvSpPr>
        <p:spPr>
          <a:xfrm>
            <a:off x="1154935" y="5469077"/>
            <a:ext cx="98821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 laboratory test may be accurate under controlled conditions but less informative during competition.</a:t>
            </a:r>
          </a:p>
        </p:txBody>
      </p:sp>
    </p:spTree>
    <p:extLst>
      <p:ext uri="{BB962C8B-B14F-4D97-AF65-F5344CB8AC3E}">
        <p14:creationId xmlns:p14="http://schemas.microsoft.com/office/powerpoint/2010/main" val="652900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F2BE6-356D-296D-37D1-BCB55CD4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Reliable but Not Valid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3DF2D-9DB7-1EDE-AF2C-A4F11F350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Imagine a bathroom scale that always reports weight 5 kg too high.</a:t>
            </a:r>
          </a:p>
          <a:p>
            <a:r>
              <a:rPr lang="en-US" dirty="0"/>
              <a:t>It gives consistent measurements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reliable</a:t>
            </a:r>
          </a:p>
          <a:p>
            <a:r>
              <a:rPr lang="en-US" dirty="0"/>
              <a:t>It does not give accurate measurements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not valid.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In sport, a metric may consistently measure </a:t>
            </a:r>
            <a:r>
              <a:rPr lang="en-US" b="1" dirty="0"/>
              <a:t>something</a:t>
            </a:r>
            <a:r>
              <a:rPr lang="en-US" dirty="0"/>
              <a:t> without measuring what coaches think it measures.</a:t>
            </a:r>
          </a:p>
          <a:p>
            <a:pPr lvl="1"/>
            <a:r>
              <a:rPr lang="en-US" dirty="0"/>
              <a:t>Is this a problem?</a:t>
            </a:r>
          </a:p>
        </p:txBody>
      </p:sp>
    </p:spTree>
    <p:extLst>
      <p:ext uri="{BB962C8B-B14F-4D97-AF65-F5344CB8AC3E}">
        <p14:creationId xmlns:p14="http://schemas.microsoft.com/office/powerpoint/2010/main" val="52793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5085-661B-8E26-1DA8-6904E981A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the Metric Actually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D6668-B2CB-9C1C-FD7F-149C748DD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Consider “player load.”</a:t>
            </a:r>
          </a:p>
          <a:p>
            <a:r>
              <a:rPr lang="en-US" dirty="0"/>
              <a:t>A device may calculate player load consistently, but:</a:t>
            </a:r>
          </a:p>
          <a:p>
            <a:pPr lvl="1"/>
            <a:r>
              <a:rPr lang="en-US" dirty="0"/>
              <a:t>Does it measure total physiological stress? </a:t>
            </a:r>
          </a:p>
          <a:p>
            <a:pPr lvl="1"/>
            <a:r>
              <a:rPr lang="en-US" dirty="0"/>
              <a:t>Does it account for collisions? </a:t>
            </a:r>
          </a:p>
          <a:p>
            <a:pPr lvl="1"/>
            <a:r>
              <a:rPr lang="en-US" dirty="0"/>
              <a:t>Does it capture psychological fatigue? </a:t>
            </a:r>
          </a:p>
          <a:p>
            <a:pPr lvl="1"/>
            <a:r>
              <a:rPr lang="en-US" dirty="0"/>
              <a:t>Can values be compared across devices or manufacturers? </a:t>
            </a:r>
          </a:p>
          <a:p>
            <a:pPr lvl="1"/>
            <a:r>
              <a:rPr lang="en-US" dirty="0"/>
              <a:t>Does the same value mean the same thing for every athlete? 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52044-D83F-1414-92A0-FB3075889DBA}"/>
              </a:ext>
            </a:extLst>
          </p:cNvPr>
          <p:cNvSpPr txBox="1"/>
          <p:nvPr/>
        </p:nvSpPr>
        <p:spPr>
          <a:xfrm>
            <a:off x="1428061" y="5416062"/>
            <a:ext cx="9335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The name of a metric can imply more than the measurement actually establishes.</a:t>
            </a:r>
          </a:p>
        </p:txBody>
      </p:sp>
    </p:spTree>
    <p:extLst>
      <p:ext uri="{BB962C8B-B14F-4D97-AF65-F5344CB8AC3E}">
        <p14:creationId xmlns:p14="http://schemas.microsoft.com/office/powerpoint/2010/main" val="126655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E5C9A-C111-31F6-84ED-F4CD31411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 Error Is Not Athlete Change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531633-AB07-F24C-BFD2-AA016018C3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Observed values contain multiple components:</a:t>
                </a:r>
              </a:p>
              <a:p>
                <a:pPr lvl="5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</a:rPr>
                        <m:t>Observed value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</a:rPr>
                        <m:t>true performance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</a:rPr>
                        <m:t>measurement error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</a:rPr>
                        <m:t>normal variation</m:t>
                      </m:r>
                    </m:oMath>
                  </m:oMathPara>
                </a14:m>
                <a:endParaRPr lang="en-US" sz="700" b="0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 change in the number does not automatically indicate a meaningful change in the athlete.</a:t>
                </a:r>
              </a:p>
              <a:p>
                <a:pPr lvl="1"/>
                <a:r>
                  <a:rPr lang="en-US" dirty="0"/>
                  <a:t>Is the change larger than typical measurement error? </a:t>
                </a:r>
              </a:p>
              <a:p>
                <a:pPr lvl="1"/>
                <a:r>
                  <a:rPr lang="en-US" dirty="0"/>
                  <a:t>Is it larger than the athlete’s normal day-to-day variation? </a:t>
                </a:r>
              </a:p>
              <a:p>
                <a:pPr lvl="1"/>
                <a:r>
                  <a:rPr lang="en-US" dirty="0"/>
                  <a:t>Was the measurement collected under comparable conditions?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531633-AB07-F24C-BFD2-AA016018C3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6907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1AE29-AC00-FC5D-E6BC-A4689E26B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Sensor Audit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46CD0-A75D-E6E0-7B99-4CC8A4922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Think of a wearable or performance-monitoring device you have used. </a:t>
            </a:r>
            <a:r>
              <a:rPr lang="en-US" b="1" dirty="0"/>
              <a:t>What is one factor that could produce misleading or unusable data?</a:t>
            </a:r>
          </a:p>
          <a:p>
            <a:endParaRPr lang="en-US" dirty="0"/>
          </a:p>
          <a:p>
            <a:r>
              <a:rPr lang="en-US" dirty="0"/>
              <a:t>Possible categories:</a:t>
            </a:r>
          </a:p>
          <a:p>
            <a:pPr lvl="1"/>
            <a:r>
              <a:rPr lang="en-US" dirty="0"/>
              <a:t>Device placement </a:t>
            </a:r>
          </a:p>
          <a:p>
            <a:pPr lvl="1"/>
            <a:r>
              <a:rPr lang="en-US" dirty="0"/>
              <a:t>Poor contact </a:t>
            </a:r>
          </a:p>
          <a:p>
            <a:pPr lvl="1"/>
            <a:r>
              <a:rPr lang="en-US" dirty="0"/>
              <a:t>Environment </a:t>
            </a:r>
          </a:p>
          <a:p>
            <a:pPr lvl="1"/>
            <a:r>
              <a:rPr lang="en-US" dirty="0"/>
              <a:t>Athlete behavior</a:t>
            </a:r>
          </a:p>
        </p:txBody>
      </p:sp>
    </p:spTree>
    <p:extLst>
      <p:ext uri="{BB962C8B-B14F-4D97-AF65-F5344CB8AC3E}">
        <p14:creationId xmlns:p14="http://schemas.microsoft.com/office/powerpoint/2010/main" val="1885223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D43A4-E717-C56C-7A72-B89CC8DEA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Audit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CA6AB-AE79-3CED-F3DC-993B99920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Poor contact or improper placement of a heart-rate chest strap can produce:</a:t>
            </a:r>
          </a:p>
          <a:p>
            <a:pPr lvl="1"/>
            <a:r>
              <a:rPr lang="en-US" dirty="0"/>
              <a:t>Missing observations </a:t>
            </a:r>
          </a:p>
          <a:p>
            <a:pPr lvl="1"/>
            <a:r>
              <a:rPr lang="en-US" dirty="0"/>
              <a:t>Sudden heart-rate spikes </a:t>
            </a:r>
          </a:p>
          <a:p>
            <a:pPr lvl="1"/>
            <a:r>
              <a:rPr lang="en-US" dirty="0"/>
              <a:t>Delayed responses </a:t>
            </a:r>
          </a:p>
          <a:p>
            <a:pPr lvl="1"/>
            <a:r>
              <a:rPr lang="en-US" dirty="0"/>
              <a:t>Data that appear real but are physiologically unlikely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91167-16C7-A563-BEB2-2570A3870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528" y="4175303"/>
            <a:ext cx="6820944" cy="231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810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0DEF-9349-2FA7-8D0C-336C11A2F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Garbage In, Garbage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92F37-6541-2E89-2C50-CA513690C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analysis is only as good as your data source</a:t>
            </a:r>
          </a:p>
          <a:p>
            <a:r>
              <a:rPr lang="en-US" dirty="0"/>
              <a:t>Stats and models cannot fix flawed data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BAA79-90DF-1B30-BEB1-8375BD322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95BDD-8CDA-F68E-E02D-572E7E414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0" y="3144203"/>
            <a:ext cx="3790950" cy="303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705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19A9B-0F79-670C-B231-6B2D811A0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 in sports performance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2812F-2337-DC61-EE6F-1583E135D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Athlete data may influence:</a:t>
            </a:r>
          </a:p>
          <a:p>
            <a:pPr lvl="1"/>
            <a:r>
              <a:rPr lang="en-US" dirty="0"/>
              <a:t>Playing time </a:t>
            </a:r>
          </a:p>
          <a:p>
            <a:pPr lvl="1"/>
            <a:r>
              <a:rPr lang="en-US" dirty="0"/>
              <a:t>Team selection </a:t>
            </a:r>
          </a:p>
          <a:p>
            <a:pPr lvl="1"/>
            <a:r>
              <a:rPr lang="en-US" dirty="0"/>
              <a:t>Scholarships </a:t>
            </a:r>
          </a:p>
          <a:p>
            <a:pPr lvl="1"/>
            <a:r>
              <a:rPr lang="en-US" dirty="0"/>
              <a:t>Contracts </a:t>
            </a:r>
          </a:p>
          <a:p>
            <a:pPr lvl="1"/>
            <a:r>
              <a:rPr lang="en-US" dirty="0"/>
              <a:t>Injury management </a:t>
            </a:r>
          </a:p>
          <a:p>
            <a:pPr lvl="1"/>
            <a:r>
              <a:rPr lang="en-US" dirty="0"/>
              <a:t>Return-to-play decisions </a:t>
            </a:r>
          </a:p>
          <a:p>
            <a:pPr lvl="1"/>
            <a:r>
              <a:rPr lang="en-US" dirty="0"/>
              <a:t>How coaches perceive an athlete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401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C9398-E821-76AE-A6DC-5CD3BC9C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consent and ownership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AF2A1-DAF7-3CDB-CB77-9129A9080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Athlete monitoring raises several questions:</a:t>
            </a:r>
          </a:p>
          <a:p>
            <a:pPr lvl="1"/>
            <a:r>
              <a:rPr lang="en-US" dirty="0"/>
              <a:t>Do athletes understand what is being collected? </a:t>
            </a:r>
          </a:p>
          <a:p>
            <a:pPr lvl="1"/>
            <a:r>
              <a:rPr lang="en-US" dirty="0"/>
              <a:t>Can they meaningfully refuse? </a:t>
            </a:r>
          </a:p>
          <a:p>
            <a:pPr lvl="1"/>
            <a:r>
              <a:rPr lang="en-US" dirty="0"/>
              <a:t>Who owns the data? </a:t>
            </a:r>
          </a:p>
          <a:p>
            <a:pPr lvl="1"/>
            <a:r>
              <a:rPr lang="en-US" dirty="0"/>
              <a:t>Who can access it? </a:t>
            </a:r>
          </a:p>
          <a:p>
            <a:pPr lvl="1"/>
            <a:r>
              <a:rPr lang="en-US" dirty="0"/>
              <a:t>How long will it be stored? </a:t>
            </a:r>
          </a:p>
          <a:p>
            <a:pPr lvl="1"/>
            <a:r>
              <a:rPr lang="en-US" dirty="0"/>
              <a:t>Can it be used for purposes beyond the original reason for collection? </a:t>
            </a:r>
          </a:p>
          <a:p>
            <a:pPr lvl="1"/>
            <a:r>
              <a:rPr lang="en-US" dirty="0"/>
              <a:t>What happens when an athlete leaves the team?</a:t>
            </a:r>
          </a:p>
          <a:p>
            <a:pPr lvl="1"/>
            <a:endParaRPr lang="en-US" dirty="0"/>
          </a:p>
          <a:p>
            <a:r>
              <a:rPr lang="en-US" b="1" dirty="0"/>
              <a:t>Participation is not necessarily the same as informed consent.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423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3FC8E-FC9F-6159-D6D2-C52AAB545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weaponization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570FF-5560-CC54-38BA-40BA76455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collected to support athletes can also be used against them.</a:t>
            </a:r>
          </a:p>
          <a:p>
            <a:pPr lvl="1"/>
            <a:r>
              <a:rPr lang="en-US" dirty="0"/>
              <a:t>Using wellness responses to question commitment </a:t>
            </a:r>
          </a:p>
          <a:p>
            <a:pPr lvl="1"/>
            <a:r>
              <a:rPr lang="en-US" dirty="0"/>
              <a:t>Using monitoring data during contract negotiations </a:t>
            </a:r>
          </a:p>
          <a:p>
            <a:pPr lvl="1"/>
            <a:r>
              <a:rPr lang="en-US" dirty="0"/>
              <a:t>Punishing athletes for reporting fatigue or pain </a:t>
            </a:r>
          </a:p>
          <a:p>
            <a:pPr lvl="1"/>
            <a:r>
              <a:rPr lang="en-US" dirty="0"/>
              <a:t>Sharing data outside its original purpose</a:t>
            </a:r>
          </a:p>
          <a:p>
            <a:pPr lvl="1"/>
            <a:endParaRPr lang="en-US" dirty="0"/>
          </a:p>
          <a:p>
            <a:r>
              <a:rPr lang="en-US" dirty="0"/>
              <a:t>If athletes believe honesty will be punished, they may stop providing honest data.</a:t>
            </a:r>
          </a:p>
          <a:p>
            <a:pPr lvl="1"/>
            <a:r>
              <a:rPr lang="en-US" dirty="0"/>
              <a:t>This produces both an ethical failure and a data-quality failure.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92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7054-D699-058B-0690-31590C9E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resource divide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F2C60-E652-FA59-5ED5-E8E631854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Funding determines ability to collect data</a:t>
            </a:r>
          </a:p>
          <a:p>
            <a:pPr lvl="1"/>
            <a:r>
              <a:rPr lang="en-US" dirty="0"/>
              <a:t>Tracking technology</a:t>
            </a:r>
          </a:p>
          <a:p>
            <a:pPr lvl="1"/>
            <a:r>
              <a:rPr lang="en-US" dirty="0"/>
              <a:t>Staff and technical expertise</a:t>
            </a:r>
          </a:p>
          <a:p>
            <a:pPr lvl="1"/>
            <a:r>
              <a:rPr lang="en-US" dirty="0"/>
              <a:t>Time for quality control</a:t>
            </a:r>
          </a:p>
          <a:p>
            <a:pPr lvl="1"/>
            <a:endParaRPr lang="en-US" dirty="0"/>
          </a:p>
          <a:p>
            <a:r>
              <a:rPr lang="en-US" dirty="0"/>
              <a:t>Better-resourced organizations do not simply have more data. They often have more opportunities to make the data usable.</a:t>
            </a:r>
          </a:p>
          <a:p>
            <a:endParaRPr lang="en-US" dirty="0"/>
          </a:p>
          <a:p>
            <a:r>
              <a:rPr lang="en-US" dirty="0"/>
              <a:t>How does this affect:</a:t>
            </a:r>
          </a:p>
          <a:p>
            <a:pPr lvl="1"/>
            <a:r>
              <a:rPr lang="en-US" dirty="0"/>
              <a:t>The quality of analytics?</a:t>
            </a:r>
          </a:p>
          <a:p>
            <a:pPr lvl="1"/>
            <a:r>
              <a:rPr lang="en-US" dirty="0"/>
              <a:t>Outcomes in each domain?</a:t>
            </a:r>
          </a:p>
        </p:txBody>
      </p:sp>
    </p:spTree>
    <p:extLst>
      <p:ext uri="{BB962C8B-B14F-4D97-AF65-F5344CB8AC3E}">
        <p14:creationId xmlns:p14="http://schemas.microsoft.com/office/powerpoint/2010/main" val="1168492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39CA1-79C4-EBC6-6B78-5F27300B1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the Resource Divide Affect Analytics?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EEB65-DBFD-6FE1-C8B5-7740A4B0B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Lower-resource programs may face:</a:t>
            </a:r>
          </a:p>
          <a:p>
            <a:pPr lvl="1"/>
            <a:r>
              <a:rPr lang="en-US" dirty="0"/>
              <a:t>Smaller datasets </a:t>
            </a:r>
          </a:p>
          <a:p>
            <a:pPr lvl="1"/>
            <a:r>
              <a:rPr lang="en-US" dirty="0"/>
              <a:t>Less complete dataset</a:t>
            </a:r>
          </a:p>
          <a:p>
            <a:pPr lvl="1"/>
            <a:r>
              <a:rPr lang="en-US" dirty="0"/>
              <a:t>Less staff time for cleaning and interpretation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94F608-69BC-C298-B831-67CD7E16D5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236413"/>
              </p:ext>
            </p:extLst>
          </p:nvPr>
        </p:nvGraphicFramePr>
        <p:xfrm>
          <a:off x="838200" y="3809450"/>
          <a:ext cx="10515600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51602">
                  <a:extLst>
                    <a:ext uri="{9D8B030D-6E8A-4147-A177-3AD203B41FA5}">
                      <a16:colId xmlns:a16="http://schemas.microsoft.com/office/drawing/2014/main" val="3772345353"/>
                    </a:ext>
                  </a:extLst>
                </a:gridCol>
                <a:gridCol w="7563998">
                  <a:extLst>
                    <a:ext uri="{9D8B030D-6E8A-4147-A177-3AD203B41FA5}">
                      <a16:colId xmlns:a16="http://schemas.microsoft.com/office/drawing/2014/main" val="20617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Possible consequence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913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Athlete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Less ability to individualize training or detect meaningful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1817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Scouting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Greater reliance on visible athletes and traditional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710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Less detailed opponent and game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5597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5884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1F041-EA1D-44C9-9A34-3199EB88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invisible athlete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A9FF1-2CFE-687B-73EB-63D88B461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7B829-A4B6-1F78-9DA5-137B29194ED2}"/>
              </a:ext>
            </a:extLst>
          </p:cNvPr>
          <p:cNvSpPr txBox="1"/>
          <p:nvPr/>
        </p:nvSpPr>
        <p:spPr>
          <a:xfrm>
            <a:off x="3047082" y="5416062"/>
            <a:ext cx="6097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  <a:latin typeface="+mn-lt"/>
              </a:rPr>
              <a:t>If you can't afford the metrics, do you officially cease to exist to modern recruiters?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312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673B5-68D6-7D40-F23C-FDEFA7FE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invisible athlete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C76F1-3DE9-4E00-890F-196E99D61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Simpler, not more complex metrics, can sometimes reveal the diamond in the rough</a:t>
            </a:r>
          </a:p>
        </p:txBody>
      </p:sp>
    </p:spTree>
    <p:extLst>
      <p:ext uri="{BB962C8B-B14F-4D97-AF65-F5344CB8AC3E}">
        <p14:creationId xmlns:p14="http://schemas.microsoft.com/office/powerpoint/2010/main" val="1508461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5A1D2-6E10-ED30-6584-C8F893146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Protect your analysis from bad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29538-923D-458B-77DC-2E172E567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the question</a:t>
            </a:r>
          </a:p>
          <a:p>
            <a:r>
              <a:rPr lang="en-US" b="1" dirty="0"/>
              <a:t>Before analyzing any dataset, ask yourself:</a:t>
            </a:r>
            <a:endParaRPr lang="en-US" dirty="0"/>
          </a:p>
          <a:p>
            <a:pPr lvl="1"/>
            <a:r>
              <a:rPr lang="en-US" dirty="0"/>
              <a:t>Who collected this and why?</a:t>
            </a:r>
          </a:p>
          <a:p>
            <a:pPr lvl="1"/>
            <a:r>
              <a:rPr lang="en-US" dirty="0"/>
              <a:t>What technology/method was used?</a:t>
            </a:r>
          </a:p>
          <a:p>
            <a:pPr lvl="1"/>
            <a:r>
              <a:rPr lang="en-US" dirty="0"/>
              <a:t>Has this technology/method been validated?</a:t>
            </a:r>
          </a:p>
          <a:p>
            <a:pPr lvl="1"/>
            <a:r>
              <a:rPr lang="en-US" dirty="0"/>
              <a:t>Has the methodology been consistent over time?</a:t>
            </a:r>
          </a:p>
          <a:p>
            <a:pPr lvl="1"/>
            <a:r>
              <a:rPr lang="en-US" dirty="0"/>
              <a:t>What's NOT being measured?</a:t>
            </a:r>
          </a:p>
          <a:p>
            <a:r>
              <a:rPr lang="en-US" dirty="0"/>
              <a:t>Be aware of the data quality red flags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D84DC-1007-4E28-B03C-026232E22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228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6EB5-FEC2-47DE-01A3-F0E17054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&amp; Looking Ahead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81857-C6C4-CF29-7D9F-C7FCD74EC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2206692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8D9B6-7685-F178-75AE-9F7C2D524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 and Data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DD4DB-A820-1D03-618F-9AB277D56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A86C87-B9F7-9ABC-F77B-D76A8E2DA7D7}"/>
              </a:ext>
            </a:extLst>
          </p:cNvPr>
          <p:cNvSpPr/>
          <p:nvPr/>
        </p:nvSpPr>
        <p:spPr>
          <a:xfrm>
            <a:off x="5231175" y="1685580"/>
            <a:ext cx="17296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Low-quality data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59778E-295C-21E0-5D44-2084FB20B168}"/>
              </a:ext>
            </a:extLst>
          </p:cNvPr>
          <p:cNvSpPr/>
          <p:nvPr/>
        </p:nvSpPr>
        <p:spPr>
          <a:xfrm>
            <a:off x="7884405" y="3177380"/>
            <a:ext cx="17296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Low-quality analysis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87573E-E4F5-DFC0-5CE8-33F7FD7727F1}"/>
              </a:ext>
            </a:extLst>
          </p:cNvPr>
          <p:cNvSpPr/>
          <p:nvPr/>
        </p:nvSpPr>
        <p:spPr>
          <a:xfrm>
            <a:off x="6676785" y="5074539"/>
            <a:ext cx="17296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Worse decisions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DF57152-AC9D-84BA-8D7A-F10AE8B7CAA1}"/>
              </a:ext>
            </a:extLst>
          </p:cNvPr>
          <p:cNvSpPr/>
          <p:nvPr/>
        </p:nvSpPr>
        <p:spPr>
          <a:xfrm>
            <a:off x="3660042" y="5061686"/>
            <a:ext cx="17296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Athlete distrust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290065A-B18B-A035-8FC0-ABAB6AE7C8C3}"/>
              </a:ext>
            </a:extLst>
          </p:cNvPr>
          <p:cNvSpPr/>
          <p:nvPr/>
        </p:nvSpPr>
        <p:spPr>
          <a:xfrm>
            <a:off x="2297015" y="3251812"/>
            <a:ext cx="172964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Less honest reporting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ACB6CEC-1571-70EA-3699-F6717F108EF7}"/>
              </a:ext>
            </a:extLst>
          </p:cNvPr>
          <p:cNvSpPr/>
          <p:nvPr/>
        </p:nvSpPr>
        <p:spPr>
          <a:xfrm rot="2353011">
            <a:off x="7148425" y="240221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BCDA285-EEAA-ACDC-3420-DF09520C8437}"/>
              </a:ext>
            </a:extLst>
          </p:cNvPr>
          <p:cNvSpPr/>
          <p:nvPr/>
        </p:nvSpPr>
        <p:spPr>
          <a:xfrm rot="7834450">
            <a:off x="8260026" y="442212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FF4B582-3AA6-B55C-0EFF-0717B9E5535E}"/>
              </a:ext>
            </a:extLst>
          </p:cNvPr>
          <p:cNvSpPr/>
          <p:nvPr/>
        </p:nvSpPr>
        <p:spPr>
          <a:xfrm rot="13659880">
            <a:off x="2764414" y="45026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7510D14-CB83-4698-6F33-4D4E655A9592}"/>
              </a:ext>
            </a:extLst>
          </p:cNvPr>
          <p:cNvSpPr/>
          <p:nvPr/>
        </p:nvSpPr>
        <p:spPr>
          <a:xfrm rot="10800000">
            <a:off x="5512041" y="528942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CFF4EA4-08AD-35D3-5B48-E6052171065D}"/>
              </a:ext>
            </a:extLst>
          </p:cNvPr>
          <p:cNvSpPr/>
          <p:nvPr/>
        </p:nvSpPr>
        <p:spPr>
          <a:xfrm rot="19324540">
            <a:off x="3961867" y="242279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32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1677</TotalTime>
  <Words>1195</Words>
  <Application>Microsoft Office PowerPoint</Application>
  <PresentationFormat>Widescreen</PresentationFormat>
  <Paragraphs>203</Paragraphs>
  <Slides>26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Courier New</vt:lpstr>
      <vt:lpstr>Wingdings</vt:lpstr>
      <vt:lpstr>Office Theme</vt:lpstr>
      <vt:lpstr>Validity and Ethics in Sports Analytics</vt:lpstr>
      <vt:lpstr>Quiz 3</vt:lpstr>
      <vt:lpstr>Illusion of precision</vt:lpstr>
      <vt:lpstr>Messy data</vt:lpstr>
      <vt:lpstr>Trust in the measurement</vt:lpstr>
      <vt:lpstr>Can measurements be reproduced consistently?</vt:lpstr>
      <vt:lpstr>Types of reliability</vt:lpstr>
      <vt:lpstr>Example </vt:lpstr>
      <vt:lpstr>Are we measuring what we intend to measure?</vt:lpstr>
      <vt:lpstr>Types of Validity</vt:lpstr>
      <vt:lpstr>Reliable but Not Valid</vt:lpstr>
      <vt:lpstr>What Does the Metric Actually Mean?</vt:lpstr>
      <vt:lpstr>Measurement Error Is Not Athlete Change</vt:lpstr>
      <vt:lpstr>Sensor Audit</vt:lpstr>
      <vt:lpstr>Sensor Audit Example</vt:lpstr>
      <vt:lpstr>Garbage In, Garbage Out</vt:lpstr>
      <vt:lpstr>Ethics in sports performance analytics</vt:lpstr>
      <vt:lpstr>consent and ownership</vt:lpstr>
      <vt:lpstr>weaponization of data</vt:lpstr>
      <vt:lpstr>The resource divide</vt:lpstr>
      <vt:lpstr>How Does the Resource Divide Affect Analytics?</vt:lpstr>
      <vt:lpstr>The invisible athlete</vt:lpstr>
      <vt:lpstr>Finding the invisible athlete</vt:lpstr>
      <vt:lpstr>Protect your analysis from bad data</vt:lpstr>
      <vt:lpstr>Summary &amp; Looking Ahead</vt:lpstr>
      <vt:lpstr>Ethics and Data Quality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Author</cp:lastModifiedBy>
  <cp:revision>18</cp:revision>
  <dcterms:created xsi:type="dcterms:W3CDTF">2026-08-17T13:48:23Z</dcterms:created>
  <dcterms:modified xsi:type="dcterms:W3CDTF">2026-09-14T19:39:36Z</dcterms:modified>
</cp:coreProperties>
</file>