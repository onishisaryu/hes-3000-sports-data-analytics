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332" r:id="rId3"/>
    <p:sldId id="333" r:id="rId4"/>
    <p:sldId id="343" r:id="rId5"/>
    <p:sldId id="338" r:id="rId6"/>
    <p:sldId id="336" r:id="rId7"/>
    <p:sldId id="344" r:id="rId8"/>
    <p:sldId id="345" r:id="rId9"/>
    <p:sldId id="337" r:id="rId10"/>
    <p:sldId id="346" r:id="rId11"/>
    <p:sldId id="347" r:id="rId12"/>
    <p:sldId id="348" r:id="rId13"/>
    <p:sldId id="349" r:id="rId14"/>
    <p:sldId id="305" r:id="rId15"/>
    <p:sldId id="334" r:id="rId16"/>
    <p:sldId id="350" r:id="rId17"/>
    <p:sldId id="309" r:id="rId18"/>
    <p:sldId id="355" r:id="rId19"/>
    <p:sldId id="363" r:id="rId20"/>
    <p:sldId id="351" r:id="rId21"/>
    <p:sldId id="335" r:id="rId22"/>
    <p:sldId id="339" r:id="rId23"/>
    <p:sldId id="364" r:id="rId24"/>
    <p:sldId id="340" r:id="rId25"/>
    <p:sldId id="353" r:id="rId26"/>
    <p:sldId id="341" r:id="rId27"/>
    <p:sldId id="354" r:id="rId28"/>
    <p:sldId id="359" r:id="rId29"/>
    <p:sldId id="362" r:id="rId30"/>
    <p:sldId id="361" r:id="rId31"/>
    <p:sldId id="360" r:id="rId32"/>
    <p:sldId id="301" r:id="rId33"/>
    <p:sldId id="352" r:id="rId34"/>
    <p:sldId id="358" r:id="rId35"/>
    <p:sldId id="356" r:id="rId36"/>
    <p:sldId id="357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78493" autoAdjust="0"/>
  </p:normalViewPr>
  <p:slideViewPr>
    <p:cSldViewPr snapToGrid="0">
      <p:cViewPr varScale="1">
        <p:scale>
          <a:sx n="91" d="100"/>
          <a:sy n="91" d="100"/>
        </p:scale>
        <p:origin x="19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119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can we make sure data is reliable?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1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244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There is a saying that originates from the world of computer </a:t>
            </a:r>
            <a:r>
              <a:rPr lang="en-US" err="1"/>
              <a:t>sience</a:t>
            </a:r>
            <a:r>
              <a:rPr lang="en-US"/>
              <a:t> , garbage in garbage out</a:t>
            </a:r>
          </a:p>
          <a:p>
            <a:endParaRPr lang="en-US"/>
          </a:p>
          <a:p>
            <a:r>
              <a:rPr lang="en-US"/>
              <a:t>Stats and models cannot fix flawed data</a:t>
            </a:r>
          </a:p>
          <a:p>
            <a:r>
              <a:rPr lang="en-US"/>
              <a:t>Your analysis is only as good as your data source</a:t>
            </a:r>
          </a:p>
          <a:p>
            <a:r>
              <a:rPr lang="en-US"/>
              <a:t>Example:</a:t>
            </a:r>
          </a:p>
          <a:p>
            <a:r>
              <a:rPr lang="en-US"/>
              <a:t>Wrong tagging, errors in device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47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data source – non monitoring is fine too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100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9F22-FE82-5B9A-8BCA-28F263D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7D0CF-BBF7-321C-4274-BA697A18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23DB3-5FC4-B1AD-D389-704A488A9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263F6-6D1B-E4D8-E7AC-F8E3B3E5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83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891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Possible Solution to consent and </a:t>
            </a:r>
            <a:r>
              <a:rPr lang="en-US" dirty="0" err="1"/>
              <a:t>weponization</a:t>
            </a:r>
            <a:r>
              <a:rPr lang="en-US" dirty="0"/>
              <a:t> issue</a:t>
            </a:r>
          </a:p>
          <a:p>
            <a:r>
              <a:rPr lang="en-US" dirty="0"/>
              <a:t>Education helps people understand the system. Guardrails protect them when knowledge alone is insufficient.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948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Reliability, Validity, and Ethics in Sports Analytics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D5566C-811C-8CFF-76AE-10B80B29D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Quiz 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BD947-2DF6-A069-ABA9-830234A7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8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23F9-E941-0AF4-22BA-A79698C1B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Illusion of precision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B552A-4E74-0875-F50C-3D53B4BFB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Media framing implies that GPS vests, force plates, and optical tracking systems give us an infallible, objective window into an athlete's soul and body.</a:t>
            </a:r>
          </a:p>
          <a:p>
            <a:endParaRPr lang="en-US" dirty="0"/>
          </a:p>
          <a:p>
            <a:r>
              <a:rPr lang="en-US" dirty="0"/>
              <a:t>Systems may produce numbers with multiple decimal places, but precision does not guarantee accuracy.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00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51F6-CCA6-F596-841B-8E8AAC39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Messy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CB888-7B01-3457-C927-B6F47BB73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Sport data are affected by:</a:t>
            </a:r>
          </a:p>
          <a:p>
            <a:pPr lvl="1"/>
            <a:r>
              <a:rPr lang="en-US" dirty="0"/>
              <a:t>Inconsistent procedures </a:t>
            </a:r>
          </a:p>
          <a:p>
            <a:pPr lvl="1"/>
            <a:r>
              <a:rPr lang="en-US" dirty="0"/>
              <a:t>Human error </a:t>
            </a:r>
          </a:p>
          <a:p>
            <a:pPr lvl="1"/>
            <a:r>
              <a:rPr lang="en-US" dirty="0"/>
              <a:t>Environmental conditions </a:t>
            </a:r>
          </a:p>
          <a:p>
            <a:pPr lvl="1"/>
            <a:r>
              <a:rPr lang="en-US" dirty="0"/>
              <a:t>Missing observations </a:t>
            </a:r>
          </a:p>
          <a:p>
            <a:pPr lvl="1"/>
            <a:endParaRPr lang="en-US" dirty="0"/>
          </a:p>
          <a:p>
            <a:r>
              <a:rPr lang="en-US" dirty="0"/>
              <a:t>Before analyzing performance, we must understand how the data were produced.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724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A012-CFC6-E010-E70B-19E4F70D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Trust in the measurement</a:t>
            </a:r>
          </a:p>
        </p:txBody>
      </p:sp>
      <p:pic>
        <p:nvPicPr>
          <p:cNvPr id="4" name="Content Placeholder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6B561CBD-5E54-4061-248A-E40124206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8875"/>
          <a:stretch>
            <a:fillRect/>
          </a:stretch>
        </p:blipFill>
        <p:spPr>
          <a:xfrm>
            <a:off x="6096000" y="4953000"/>
            <a:ext cx="3098767" cy="1594135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53691E2-C9D8-79D9-0DF8-4BA7C6750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416229"/>
              </p:ext>
            </p:extLst>
          </p:nvPr>
        </p:nvGraphicFramePr>
        <p:xfrm>
          <a:off x="838200" y="2880360"/>
          <a:ext cx="10515600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3299">
                  <a:extLst>
                    <a:ext uri="{9D8B030D-6E8A-4147-A177-3AD203B41FA5}">
                      <a16:colId xmlns:a16="http://schemas.microsoft.com/office/drawing/2014/main" val="3294920239"/>
                    </a:ext>
                  </a:extLst>
                </a:gridCol>
                <a:gridCol w="7762301">
                  <a:extLst>
                    <a:ext uri="{9D8B030D-6E8A-4147-A177-3AD203B41FA5}">
                      <a16:colId xmlns:a16="http://schemas.microsoft.com/office/drawing/2014/main" val="28025524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Primary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3442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Can the measurement be reproduced consistently?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0462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Validity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Does the measurement represent what we intend to measure?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7012802"/>
                  </a:ext>
                </a:extLst>
              </a:tr>
            </a:tbl>
          </a:graphicData>
        </a:graphic>
      </p:graphicFrame>
      <p:pic>
        <p:nvPicPr>
          <p:cNvPr id="3" name="Content Placeholder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9F19ADF7-2201-2C3F-CEEB-66847ED25A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875"/>
          <a:stretch>
            <a:fillRect/>
          </a:stretch>
        </p:blipFill>
        <p:spPr>
          <a:xfrm>
            <a:off x="2997233" y="4953000"/>
            <a:ext cx="3098767" cy="1594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456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450B-A717-38F2-4DCC-5568D4FF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Reliability = Consistency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650E-A659-B4E4-DE5F-4FDBACF7C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955935" cy="4735025"/>
          </a:xfrm>
        </p:spPr>
        <p:txBody>
          <a:bodyPr/>
          <a:lstStyle/>
          <a:p>
            <a:r>
              <a:rPr lang="en-US" dirty="0"/>
              <a:t>A reliable measurement produces similar results when the underlying performance has not meaningfully changed</a:t>
            </a:r>
          </a:p>
          <a:p>
            <a:pPr lvl="1"/>
            <a:endParaRPr lang="en-US" dirty="0"/>
          </a:p>
          <a:p>
            <a:r>
              <a:rPr lang="en-US" dirty="0"/>
              <a:t>Potential sources of inconsistency include:</a:t>
            </a:r>
          </a:p>
          <a:p>
            <a:pPr lvl="1"/>
            <a:r>
              <a:rPr lang="en-US" dirty="0"/>
              <a:t>Device measurement error </a:t>
            </a:r>
          </a:p>
          <a:p>
            <a:pPr lvl="1"/>
            <a:r>
              <a:rPr lang="en-US" dirty="0"/>
              <a:t>Device-to-device differences </a:t>
            </a:r>
          </a:p>
          <a:p>
            <a:pPr lvl="1"/>
            <a:r>
              <a:rPr lang="en-US" dirty="0"/>
              <a:t>Rater or analyst differences </a:t>
            </a:r>
          </a:p>
          <a:p>
            <a:pPr lvl="1"/>
            <a:r>
              <a:rPr lang="en-US" dirty="0"/>
              <a:t>Inconsistent testing procedures </a:t>
            </a:r>
          </a:p>
          <a:p>
            <a:pPr lvl="1"/>
            <a:r>
              <a:rPr lang="en-US" dirty="0"/>
              <a:t>Normal biological variation</a:t>
            </a:r>
          </a:p>
        </p:txBody>
      </p:sp>
      <p:pic>
        <p:nvPicPr>
          <p:cNvPr id="4" name="Picture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11289F6D-5290-F2B9-17EE-9D0CCD1FA6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64" t="-187" b="-1"/>
          <a:stretch>
            <a:fillRect/>
          </a:stretch>
        </p:blipFill>
        <p:spPr>
          <a:xfrm>
            <a:off x="8794135" y="1230814"/>
            <a:ext cx="2559665" cy="51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29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476DE-4C49-929B-91DE-2D392155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reliability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53956-1E88-6917-EE6C-28D004CE8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Test–retest reliability</a:t>
            </a:r>
          </a:p>
          <a:p>
            <a:pPr lvl="1"/>
            <a:r>
              <a:rPr lang="en-US" dirty="0"/>
              <a:t>Does the same athlete produce similar results when the test is repeated under similar conditions?</a:t>
            </a:r>
          </a:p>
          <a:p>
            <a:pPr lvl="1"/>
            <a:r>
              <a:rPr lang="en-US" dirty="0"/>
              <a:t>Eg: 1RM</a:t>
            </a:r>
          </a:p>
          <a:p>
            <a:r>
              <a:rPr lang="en-US" dirty="0"/>
              <a:t>Intra-rater reliability</a:t>
            </a:r>
          </a:p>
          <a:p>
            <a:pPr lvl="1"/>
            <a:r>
              <a:rPr lang="en-US" dirty="0"/>
              <a:t>Does the same observer produce similar measurements when repeating the process?</a:t>
            </a:r>
          </a:p>
          <a:p>
            <a:pPr lvl="1"/>
            <a:r>
              <a:rPr lang="en-US" dirty="0"/>
              <a:t>Eg: same statistician quantifying player stats</a:t>
            </a:r>
          </a:p>
          <a:p>
            <a:r>
              <a:rPr lang="en-US" dirty="0"/>
              <a:t>Inter-rater reliability</a:t>
            </a:r>
          </a:p>
          <a:p>
            <a:pPr lvl="1"/>
            <a:r>
              <a:rPr lang="en-US" dirty="0"/>
              <a:t>Do different observers produce similar measurements?</a:t>
            </a:r>
          </a:p>
          <a:p>
            <a:pPr lvl="1"/>
            <a:r>
              <a:rPr lang="en-US" dirty="0"/>
              <a:t>Eg: multiple statisticians quantifying player stats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B5102-6D1E-D4D7-F736-ECC7B9867D25}"/>
              </a:ext>
            </a:extLst>
          </p:cNvPr>
          <p:cNvSpPr txBox="1"/>
          <p:nvPr/>
        </p:nvSpPr>
        <p:spPr>
          <a:xfrm>
            <a:off x="3049191" y="6292819"/>
            <a:ext cx="60936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How can we make sure data is reliable?</a:t>
            </a:r>
          </a:p>
        </p:txBody>
      </p:sp>
    </p:spTree>
    <p:extLst>
      <p:ext uri="{BB962C8B-B14F-4D97-AF65-F5344CB8AC3E}">
        <p14:creationId xmlns:p14="http://schemas.microsoft.com/office/powerpoint/2010/main" val="583839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96DEB-027B-528C-091C-586285F1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Reliable… but valid?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8EC6-6F61-ECFB-A703-066FD40E6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athlete completes the same jump test three times under similar conditions:</a:t>
            </a:r>
          </a:p>
          <a:p>
            <a:pPr lvl="1"/>
            <a:r>
              <a:rPr lang="en-US" dirty="0"/>
              <a:t>Trial 1: 19.2 in</a:t>
            </a:r>
          </a:p>
          <a:p>
            <a:pPr lvl="1"/>
            <a:r>
              <a:rPr lang="en-US" dirty="0"/>
              <a:t>Trial 2: 19.5 in </a:t>
            </a:r>
          </a:p>
          <a:p>
            <a:pPr lvl="1"/>
            <a:r>
              <a:rPr lang="en-US" dirty="0"/>
              <a:t>Trial 3: 19.4 in </a:t>
            </a:r>
          </a:p>
          <a:p>
            <a:r>
              <a:rPr lang="en-US" dirty="0"/>
              <a:t>Is our data reliable?</a:t>
            </a:r>
          </a:p>
          <a:p>
            <a:pPr lvl="1"/>
            <a:r>
              <a:rPr lang="en-US" dirty="0"/>
              <a:t>appears highly reliable.</a:t>
            </a:r>
          </a:p>
          <a:p>
            <a:r>
              <a:rPr lang="en-US" dirty="0"/>
              <a:t>This does not tell us whether the device is measuring jump height correctly.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84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93132-FC35-5FF8-03D1-67B37F252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Validity = Measuring What We Intend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8C520-363E-614C-03C2-CE29895D7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10515600" cy="4330901"/>
          </a:xfrm>
        </p:spPr>
        <p:txBody>
          <a:bodyPr/>
          <a:lstStyle/>
          <a:p>
            <a:r>
              <a:rPr lang="en-US" dirty="0"/>
              <a:t>A valid measurement accurately represents the concept or outcome we want to study.</a:t>
            </a:r>
          </a:p>
        </p:txBody>
      </p:sp>
      <p:pic>
        <p:nvPicPr>
          <p:cNvPr id="5" name="Picture 4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2046E9F9-86DE-7621-06C7-B786FAAD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2" t="48120" r="1" b="-94"/>
          <a:stretch>
            <a:fillRect/>
          </a:stretch>
        </p:blipFill>
        <p:spPr>
          <a:xfrm>
            <a:off x="6786390" y="2599981"/>
            <a:ext cx="5118253" cy="267540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A7785B-ED4F-5E16-7199-B0E2E21F526E}"/>
              </a:ext>
            </a:extLst>
          </p:cNvPr>
          <p:cNvSpPr txBox="1">
            <a:spLocks/>
          </p:cNvSpPr>
          <p:nvPr/>
        </p:nvSpPr>
        <p:spPr>
          <a:xfrm>
            <a:off x="838200" y="2390660"/>
            <a:ext cx="5948190" cy="3745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Does the device accurately measure distance traveled? </a:t>
            </a:r>
          </a:p>
          <a:p>
            <a:pPr lvl="1"/>
            <a:r>
              <a:rPr lang="en-US" dirty="0"/>
              <a:t>Does “player load” represent overall physical stress? </a:t>
            </a:r>
          </a:p>
          <a:p>
            <a:pPr lvl="1"/>
            <a:r>
              <a:rPr lang="en-US" dirty="0"/>
              <a:t>Does AVG represent offensive contribution? 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580BE-03D5-F44C-C9A4-9284133B1052}"/>
              </a:ext>
            </a:extLst>
          </p:cNvPr>
          <p:cNvSpPr txBox="1"/>
          <p:nvPr/>
        </p:nvSpPr>
        <p:spPr>
          <a:xfrm>
            <a:off x="2354167" y="5813229"/>
            <a:ext cx="7483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Validity depends on both the technology and the claim being made.</a:t>
            </a:r>
          </a:p>
        </p:txBody>
      </p:sp>
    </p:spTree>
    <p:extLst>
      <p:ext uri="{BB962C8B-B14F-4D97-AF65-F5344CB8AC3E}">
        <p14:creationId xmlns:p14="http://schemas.microsoft.com/office/powerpoint/2010/main" val="3918155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F567-4F24-1B52-D859-FA6AEBCA4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58A2-0053-7F25-9D80-B74B8FA27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Criterion validity</a:t>
            </a:r>
          </a:p>
          <a:p>
            <a:pPr lvl="1"/>
            <a:r>
              <a:rPr lang="en-US" dirty="0"/>
              <a:t>Does the measurement agree with an accepted reference method?</a:t>
            </a:r>
          </a:p>
          <a:p>
            <a:pPr lvl="1"/>
            <a:r>
              <a:rPr lang="en-US" dirty="0"/>
              <a:t>Eg: jump height</a:t>
            </a:r>
          </a:p>
          <a:p>
            <a:r>
              <a:rPr lang="en-US" dirty="0"/>
              <a:t>Construct validity</a:t>
            </a:r>
          </a:p>
          <a:p>
            <a:pPr lvl="1"/>
            <a:r>
              <a:rPr lang="en-US" dirty="0"/>
              <a:t>Does the measurement behave as expected based on the underlying concept?</a:t>
            </a:r>
          </a:p>
          <a:p>
            <a:pPr lvl="1"/>
            <a:r>
              <a:rPr lang="en-US" dirty="0"/>
              <a:t>Eg: RPE vs actual intensity</a:t>
            </a:r>
          </a:p>
          <a:p>
            <a:r>
              <a:rPr lang="en-US" dirty="0"/>
              <a:t>Ecological validity</a:t>
            </a:r>
          </a:p>
          <a:p>
            <a:pPr lvl="1"/>
            <a:r>
              <a:rPr lang="en-US" dirty="0"/>
              <a:t>Does the measurement represent performance in the real sporting environment?</a:t>
            </a:r>
          </a:p>
          <a:p>
            <a:pPr lvl="1"/>
            <a:r>
              <a:rPr lang="en-US" dirty="0"/>
              <a:t>Eg: lab test results vs on-field performance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FD5946-C918-9F0A-7AAF-361D28F028BE}"/>
              </a:ext>
            </a:extLst>
          </p:cNvPr>
          <p:cNvSpPr txBox="1"/>
          <p:nvPr/>
        </p:nvSpPr>
        <p:spPr>
          <a:xfrm>
            <a:off x="1154935" y="6176963"/>
            <a:ext cx="98821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How do we make sure our measures are valid?</a:t>
            </a:r>
          </a:p>
        </p:txBody>
      </p:sp>
    </p:spTree>
    <p:extLst>
      <p:ext uri="{BB962C8B-B14F-4D97-AF65-F5344CB8AC3E}">
        <p14:creationId xmlns:p14="http://schemas.microsoft.com/office/powerpoint/2010/main" val="6529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F2BE6-356D-296D-37D1-BCB55CD4B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Reliable but Not Valid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3DF2D-9DB7-1EDE-AF2C-A4F11F350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Imagine a bathroom scale that always reports weight 5 kg too high.</a:t>
            </a:r>
          </a:p>
          <a:p>
            <a:r>
              <a:rPr lang="en-US" dirty="0"/>
              <a:t>It gives consistent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reliable</a:t>
            </a:r>
          </a:p>
          <a:p>
            <a:r>
              <a:rPr lang="en-US" dirty="0"/>
              <a:t>It does not give accurate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not valid.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 sport, a metric may consistently measure </a:t>
            </a:r>
            <a:r>
              <a:rPr lang="en-US" b="1" dirty="0"/>
              <a:t>something</a:t>
            </a:r>
            <a:r>
              <a:rPr lang="en-US" dirty="0"/>
              <a:t> without measuring what coaches think it measures.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Is this a problem?</a:t>
            </a:r>
          </a:p>
        </p:txBody>
      </p:sp>
    </p:spTree>
    <p:extLst>
      <p:ext uri="{BB962C8B-B14F-4D97-AF65-F5344CB8AC3E}">
        <p14:creationId xmlns:p14="http://schemas.microsoft.com/office/powerpoint/2010/main" val="52793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25085-661B-8E26-1DA8-6904E981A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What the Metric Actually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6668-B2CB-9C1C-FD7F-149C748DD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Consider “player load.”</a:t>
            </a:r>
          </a:p>
          <a:p>
            <a:r>
              <a:rPr lang="en-US"/>
              <a:t>A device may calculate player load consistently, but:</a:t>
            </a:r>
          </a:p>
          <a:p>
            <a:pPr lvl="1"/>
            <a:r>
              <a:rPr lang="en-US"/>
              <a:t>Does it measure total physiological stress? </a:t>
            </a:r>
          </a:p>
          <a:p>
            <a:pPr lvl="1"/>
            <a:r>
              <a:rPr lang="en-US"/>
              <a:t>Does it account for collisions? </a:t>
            </a:r>
          </a:p>
          <a:p>
            <a:pPr lvl="1"/>
            <a:r>
              <a:rPr lang="en-US"/>
              <a:t>Does it capture psychological fatigue? </a:t>
            </a:r>
          </a:p>
          <a:p>
            <a:pPr lvl="1"/>
            <a:r>
              <a:rPr lang="en-US"/>
              <a:t>Can values be compared across devices or manufacturers? </a:t>
            </a:r>
          </a:p>
          <a:p>
            <a:pPr lvl="1"/>
            <a:r>
              <a:rPr lang="en-US"/>
              <a:t>Does the same value mean the same thing for every athlete? 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652044-D83F-1414-92A0-FB3075889DBA}"/>
              </a:ext>
            </a:extLst>
          </p:cNvPr>
          <p:cNvSpPr txBox="1"/>
          <p:nvPr/>
        </p:nvSpPr>
        <p:spPr>
          <a:xfrm>
            <a:off x="1428061" y="5416062"/>
            <a:ext cx="93358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The name of a metric can imply more than the measurement actually establishes.</a:t>
            </a:r>
          </a:p>
        </p:txBody>
      </p:sp>
    </p:spTree>
    <p:extLst>
      <p:ext uri="{BB962C8B-B14F-4D97-AF65-F5344CB8AC3E}">
        <p14:creationId xmlns:p14="http://schemas.microsoft.com/office/powerpoint/2010/main" val="12665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5C9A-C111-31F6-84ED-F4CD3141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Measurement Error Is Not Athlete Change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Observed values contain multiple components:</a:t>
                </a:r>
              </a:p>
              <a:p>
                <a:pPr lvl="5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Observed value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true performance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measurement error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normal variation</m:t>
                      </m:r>
                    </m:oMath>
                  </m:oMathPara>
                </a14:m>
                <a:endParaRPr lang="en-US" sz="700" b="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A change in the number does not automatically indicate a </a:t>
                </a:r>
                <a:r>
                  <a:rPr lang="en-US" b="1" dirty="0"/>
                  <a:t>meaningful change </a:t>
                </a:r>
                <a:r>
                  <a:rPr lang="en-US" dirty="0"/>
                  <a:t>in the athlete.</a:t>
                </a:r>
              </a:p>
              <a:p>
                <a:pPr lvl="1"/>
                <a:r>
                  <a:rPr lang="en-US" dirty="0"/>
                  <a:t>Is the change larger than typical measurement error? </a:t>
                </a:r>
              </a:p>
              <a:p>
                <a:pPr lvl="1"/>
                <a:r>
                  <a:rPr lang="en-US" dirty="0"/>
                  <a:t>Is it larger than the athlete’s normal day-to-day variation? </a:t>
                </a:r>
              </a:p>
              <a:p>
                <a:pPr lvl="1"/>
                <a:r>
                  <a:rPr lang="en-US" dirty="0"/>
                  <a:t>Was the measurement collected under comparable conditions?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0A5F50C-F05F-FB00-1A68-5887372B92CC}"/>
              </a:ext>
            </a:extLst>
          </p:cNvPr>
          <p:cNvSpPr txBox="1"/>
          <p:nvPr/>
        </p:nvSpPr>
        <p:spPr>
          <a:xfrm>
            <a:off x="2616200" y="5971753"/>
            <a:ext cx="6693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We will revisit this when discussing analytics in athlete monitoring</a:t>
            </a:r>
          </a:p>
        </p:txBody>
      </p:sp>
    </p:spTree>
    <p:extLst>
      <p:ext uri="{BB962C8B-B14F-4D97-AF65-F5344CB8AC3E}">
        <p14:creationId xmlns:p14="http://schemas.microsoft.com/office/powerpoint/2010/main" val="1166907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0DEF-9349-2FA7-8D0C-336C11A2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Garbage In, Garbage 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92F37-6541-2E89-2C50-CA513690C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analysis is only as good as your data source</a:t>
            </a:r>
          </a:p>
          <a:p>
            <a:r>
              <a:rPr lang="en-US" dirty="0"/>
              <a:t>Stats and models cannot fix flawed data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BAA79-90DF-1B30-BEB1-8375BD32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5BDD-8CDA-F68E-E02D-572E7E41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3144203"/>
            <a:ext cx="3790950" cy="303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705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AE29-AC00-FC5D-E6BC-A4689E26B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Sensor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46CD0-A75D-E6E0-7B99-4CC8A4922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Think of a wearable or performance-monitoring device you have used. </a:t>
            </a:r>
            <a:r>
              <a:rPr lang="en-US" b="1" dirty="0"/>
              <a:t>What is one factor that could produce misleading or unusable data?</a:t>
            </a:r>
          </a:p>
          <a:p>
            <a:endParaRPr lang="en-US" dirty="0"/>
          </a:p>
          <a:p>
            <a:r>
              <a:rPr lang="en-US" dirty="0"/>
              <a:t>Possible categories:</a:t>
            </a:r>
          </a:p>
          <a:p>
            <a:pPr lvl="1"/>
            <a:r>
              <a:rPr lang="en-US" dirty="0"/>
              <a:t>Device placement </a:t>
            </a:r>
          </a:p>
          <a:p>
            <a:pPr lvl="1"/>
            <a:r>
              <a:rPr lang="en-US" dirty="0"/>
              <a:t>Poor contact </a:t>
            </a:r>
          </a:p>
          <a:p>
            <a:pPr lvl="1"/>
            <a:r>
              <a:rPr lang="en-US" dirty="0"/>
              <a:t>Environment </a:t>
            </a:r>
          </a:p>
          <a:p>
            <a:pPr lvl="1"/>
            <a:r>
              <a:rPr lang="en-US" dirty="0"/>
              <a:t>Athlete behavior</a:t>
            </a:r>
          </a:p>
        </p:txBody>
      </p:sp>
    </p:spTree>
    <p:extLst>
      <p:ext uri="{BB962C8B-B14F-4D97-AF65-F5344CB8AC3E}">
        <p14:creationId xmlns:p14="http://schemas.microsoft.com/office/powerpoint/2010/main" val="1885223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43A4-E717-C56C-7A72-B89CC8DE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Sensor Audit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6AB-AE79-3CED-F3DC-993B99920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Poor contact or improper placement of a heart-rate chest strap can produce:</a:t>
            </a:r>
          </a:p>
          <a:p>
            <a:pPr lvl="1"/>
            <a:r>
              <a:rPr lang="en-US"/>
              <a:t>Missing observations </a:t>
            </a:r>
          </a:p>
          <a:p>
            <a:pPr lvl="1"/>
            <a:r>
              <a:rPr lang="en-US"/>
              <a:t>Sudden heart-rate spikes </a:t>
            </a:r>
          </a:p>
          <a:p>
            <a:pPr lvl="1"/>
            <a:r>
              <a:rPr lang="en-US"/>
              <a:t>Delayed responses </a:t>
            </a:r>
          </a:p>
          <a:p>
            <a:pPr lvl="1"/>
            <a:r>
              <a:rPr lang="en-US"/>
              <a:t>Data that appear real but are physiologically unlikely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C91167-16C7-A563-BEB2-2570A3870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528" y="4175303"/>
            <a:ext cx="6820944" cy="231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81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5A1D2-6E10-ED30-6584-C8F89314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Protect your analysis from bad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9538-923D-458B-77DC-2E172E567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Before analyzing a dataset, ask: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Who collected the data, and why?</a:t>
            </a:r>
          </a:p>
          <a:p>
            <a:pPr lvl="1"/>
            <a:r>
              <a:rPr lang="en-US" dirty="0">
                <a:ea typeface="+mn-lt"/>
                <a:cs typeface="+mn-lt"/>
              </a:rPr>
              <a:t>What technology or method was used?</a:t>
            </a:r>
          </a:p>
          <a:p>
            <a:pPr lvl="1"/>
            <a:r>
              <a:rPr lang="en-US" dirty="0">
                <a:ea typeface="+mn-lt"/>
                <a:cs typeface="+mn-lt"/>
              </a:rPr>
              <a:t>Has that method been validated for this setting?</a:t>
            </a:r>
          </a:p>
          <a:p>
            <a:pPr lvl="1"/>
            <a:r>
              <a:rPr lang="en-US" dirty="0">
                <a:ea typeface="+mn-lt"/>
                <a:cs typeface="+mn-lt"/>
              </a:rPr>
              <a:t>Was the methodology consistent across athletes and over time?</a:t>
            </a:r>
          </a:p>
          <a:p>
            <a:pPr lvl="1"/>
            <a:r>
              <a:rPr lang="en-US" dirty="0">
                <a:ea typeface="+mn-lt"/>
                <a:cs typeface="+mn-lt"/>
              </a:rPr>
              <a:t>What values are missing?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Who or what is not represented?</a:t>
            </a:r>
            <a:endParaRPr lang="en-US" dirty="0"/>
          </a:p>
          <a:p>
            <a:pPr lvl="1"/>
            <a:r>
              <a:rPr lang="en-US" dirty="0">
                <a:ea typeface="+mn-lt"/>
                <a:cs typeface="+mn-lt"/>
              </a:rPr>
              <a:t>What decisions could be affected by the analysis?</a:t>
            </a:r>
          </a:p>
          <a:p>
            <a:pPr lvl="1"/>
            <a:r>
              <a:rPr lang="en-US" dirty="0">
                <a:ea typeface="+mn-lt"/>
                <a:cs typeface="+mn-lt"/>
              </a:rPr>
              <a:t>What might the data not establish?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D84DC-1007-4E28-B03C-026232E22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B2596-FD5F-03B2-820D-4B9F36FB3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ea typeface="+mj-lt"/>
                <a:cs typeface="+mj-lt"/>
              </a:rPr>
              <a:t>Data-Quality Red Flags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2016C-BC61-0A1A-E451-7B3E637EF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Watch for: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Impossible or implausible values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Sudden changes in measurement scale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Duplicate observations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Unexplained missing data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Changes in devices or software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Inconsistent testing conditions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Different definitions across seasons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Metrics with unclear calculations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Values that are unusually perfect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028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4B6F9-F754-6776-911B-0A4FD1C32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84870B-5CF0-4579-E360-A1811465F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Ethics in Sports Analytics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F660B1-DB01-EFE0-60C4-62E43D784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99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19A9B-0F79-670C-B231-6B2D811A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does it matter?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2812F-2337-DC61-EE6F-1583E135D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Athlete data may influence:</a:t>
            </a:r>
          </a:p>
          <a:p>
            <a:pPr lvl="1"/>
            <a:r>
              <a:rPr lang="en-US"/>
              <a:t>Playing time </a:t>
            </a:r>
          </a:p>
          <a:p>
            <a:pPr lvl="1"/>
            <a:r>
              <a:rPr lang="en-US"/>
              <a:t>Team selection </a:t>
            </a:r>
          </a:p>
          <a:p>
            <a:pPr lvl="1"/>
            <a:r>
              <a:rPr lang="en-US"/>
              <a:t>Scholarships </a:t>
            </a:r>
          </a:p>
          <a:p>
            <a:pPr lvl="1"/>
            <a:r>
              <a:rPr lang="en-US"/>
              <a:t>Contracts </a:t>
            </a:r>
          </a:p>
          <a:p>
            <a:pPr lvl="1"/>
            <a:r>
              <a:rPr lang="en-US"/>
              <a:t>Injury management </a:t>
            </a:r>
          </a:p>
          <a:p>
            <a:pPr lvl="1"/>
            <a:r>
              <a:rPr lang="en-US"/>
              <a:t>Return-to-play decisions </a:t>
            </a:r>
          </a:p>
          <a:p>
            <a:pPr lvl="1"/>
            <a:r>
              <a:rPr lang="en-US"/>
              <a:t>How coaches perceive an athlete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01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C9398-E821-76AE-A6DC-5CD3BC9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consent and ownership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F2A1-DAF7-3CDB-CB77-9129A9080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Athlete monitoring raises several questions:</a:t>
            </a:r>
          </a:p>
          <a:p>
            <a:pPr lvl="1"/>
            <a:r>
              <a:rPr lang="en-US" dirty="0"/>
              <a:t>Do athletes understand what is being collected? </a:t>
            </a:r>
          </a:p>
          <a:p>
            <a:pPr lvl="1"/>
            <a:r>
              <a:rPr lang="en-US" dirty="0"/>
              <a:t>Can they meaningfully refuse? </a:t>
            </a:r>
          </a:p>
          <a:p>
            <a:pPr lvl="1"/>
            <a:r>
              <a:rPr lang="en-US" dirty="0"/>
              <a:t>Who owns the data? </a:t>
            </a:r>
          </a:p>
          <a:p>
            <a:pPr lvl="1"/>
            <a:r>
              <a:rPr lang="en-US" dirty="0"/>
              <a:t>Who can access it? </a:t>
            </a:r>
          </a:p>
          <a:p>
            <a:pPr lvl="1"/>
            <a:r>
              <a:rPr lang="en-US" dirty="0"/>
              <a:t>How long will it be stored? </a:t>
            </a:r>
          </a:p>
          <a:p>
            <a:pPr lvl="1"/>
            <a:r>
              <a:rPr lang="en-US" dirty="0"/>
              <a:t>Can it be used for purposes beyond the original reason for collection? </a:t>
            </a:r>
          </a:p>
          <a:p>
            <a:pPr lvl="1"/>
            <a:r>
              <a:rPr lang="en-US" dirty="0"/>
              <a:t>What happens when an athlete leaves the team?</a:t>
            </a:r>
          </a:p>
          <a:p>
            <a:pPr lvl="1"/>
            <a:endParaRPr lang="en-US" dirty="0"/>
          </a:p>
          <a:p>
            <a:r>
              <a:rPr lang="en-US" b="1" dirty="0"/>
              <a:t>Participation is not necessarily the same as informed consent.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42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3FC8E-FC9F-6159-D6D2-C52AAB545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weaponization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570FF-5560-CC54-38BA-40BA76455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collected to support athletes can also be used against them.</a:t>
            </a:r>
          </a:p>
          <a:p>
            <a:pPr lvl="1"/>
            <a:r>
              <a:rPr lang="en-US" dirty="0"/>
              <a:t>Using wellness responses to question commitment </a:t>
            </a:r>
          </a:p>
          <a:p>
            <a:pPr lvl="1"/>
            <a:r>
              <a:rPr lang="en-US" dirty="0"/>
              <a:t>Using monitoring data during contract negotiations </a:t>
            </a:r>
          </a:p>
          <a:p>
            <a:pPr lvl="1"/>
            <a:r>
              <a:rPr lang="en-US" dirty="0"/>
              <a:t>Punishing athletes for reporting fatigue or pain </a:t>
            </a:r>
          </a:p>
          <a:p>
            <a:pPr lvl="1"/>
            <a:r>
              <a:rPr lang="en-US" dirty="0"/>
              <a:t>Sharing data outside its original purpose</a:t>
            </a:r>
          </a:p>
          <a:p>
            <a:pPr lvl="1"/>
            <a:endParaRPr lang="en-US" dirty="0"/>
          </a:p>
          <a:p>
            <a:r>
              <a:rPr lang="en-US" dirty="0"/>
              <a:t>If athletes believe honesty will be punished, they may stop providing honest data.</a:t>
            </a:r>
          </a:p>
          <a:p>
            <a:pPr lvl="1"/>
            <a:r>
              <a:rPr lang="en-US" dirty="0"/>
              <a:t>This produces both an ethical failure and a data-quality failure.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9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091B9-5714-ADA6-AE7B-E09807742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 Trust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E0D10-ECF7-C8FC-7334-7B9DA0976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Educate athletes and coaches about what is collected, what the metrics mean, and how the data may be used. </a:t>
            </a:r>
          </a:p>
          <a:p>
            <a:pPr lvl="0"/>
            <a:r>
              <a:rPr lang="en-US" dirty="0"/>
              <a:t>Limit data access to people who need it. </a:t>
            </a:r>
          </a:p>
          <a:p>
            <a:pPr lvl="0"/>
            <a:r>
              <a:rPr lang="en-US" dirty="0"/>
              <a:t>Define acceptable uses before collecting the data. </a:t>
            </a:r>
          </a:p>
          <a:p>
            <a:pPr lvl="0"/>
            <a:r>
              <a:rPr lang="en-US" dirty="0"/>
              <a:t>Establish rules for storage, sharing, and deletion.</a:t>
            </a:r>
          </a:p>
        </p:txBody>
      </p:sp>
    </p:spTree>
    <p:extLst>
      <p:ext uri="{BB962C8B-B14F-4D97-AF65-F5344CB8AC3E}">
        <p14:creationId xmlns:p14="http://schemas.microsoft.com/office/powerpoint/2010/main" val="3558538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7054-D699-058B-0690-31590C9E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resource divide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F2C60-E652-FA59-5ED5-E8E63185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Funding determines ability to collect data</a:t>
            </a:r>
          </a:p>
          <a:p>
            <a:pPr lvl="1"/>
            <a:r>
              <a:rPr lang="en-US" dirty="0"/>
              <a:t>Tracking technology</a:t>
            </a:r>
          </a:p>
          <a:p>
            <a:pPr lvl="1"/>
            <a:r>
              <a:rPr lang="en-US" dirty="0"/>
              <a:t>Staff and technical expertise</a:t>
            </a:r>
          </a:p>
          <a:p>
            <a:pPr lvl="1"/>
            <a:r>
              <a:rPr lang="en-US" dirty="0"/>
              <a:t>Time for quality control</a:t>
            </a:r>
          </a:p>
          <a:p>
            <a:pPr lvl="1"/>
            <a:endParaRPr lang="en-US" dirty="0"/>
          </a:p>
          <a:p>
            <a:r>
              <a:rPr lang="en-US" dirty="0"/>
              <a:t>Better-resourced organizations do not simply have more data. They often have more opportunities to make the data usable.</a:t>
            </a:r>
          </a:p>
          <a:p>
            <a:endParaRPr lang="en-US" dirty="0"/>
          </a:p>
          <a:p>
            <a:r>
              <a:rPr lang="en-US" dirty="0"/>
              <a:t>How does this affect:</a:t>
            </a:r>
          </a:p>
          <a:p>
            <a:pPr lvl="1"/>
            <a:r>
              <a:rPr lang="en-US" dirty="0"/>
              <a:t>The quality of analytics?</a:t>
            </a:r>
          </a:p>
          <a:p>
            <a:pPr lvl="1"/>
            <a:r>
              <a:rPr lang="en-US" dirty="0"/>
              <a:t>Outcomes in each domain?</a:t>
            </a:r>
          </a:p>
        </p:txBody>
      </p:sp>
    </p:spTree>
    <p:extLst>
      <p:ext uri="{BB962C8B-B14F-4D97-AF65-F5344CB8AC3E}">
        <p14:creationId xmlns:p14="http://schemas.microsoft.com/office/powerpoint/2010/main" val="116849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9CA1-79C4-EBC6-6B78-5F27300B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Does the Resource Divide Affect Analytics?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EEB65-DBFD-6FE1-C8B5-7740A4B0B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Lower-resource programs may face:</a:t>
            </a:r>
          </a:p>
          <a:p>
            <a:pPr lvl="1"/>
            <a:r>
              <a:rPr lang="en-US"/>
              <a:t>Smaller datasets </a:t>
            </a:r>
          </a:p>
          <a:p>
            <a:pPr lvl="1"/>
            <a:r>
              <a:rPr lang="en-US"/>
              <a:t>Less complete dataset</a:t>
            </a:r>
          </a:p>
          <a:p>
            <a:pPr lvl="1"/>
            <a:r>
              <a:rPr lang="en-US"/>
              <a:t>Less staff time for cleaning and interpretation</a:t>
            </a:r>
          </a:p>
          <a:p>
            <a:pPr lvl="1"/>
            <a:endParaRPr lang="en-US"/>
          </a:p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94F608-69BC-C298-B831-67CD7E16D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236413"/>
              </p:ext>
            </p:extLst>
          </p:nvPr>
        </p:nvGraphicFramePr>
        <p:xfrm>
          <a:off x="838200" y="3809450"/>
          <a:ext cx="10515600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1602">
                  <a:extLst>
                    <a:ext uri="{9D8B030D-6E8A-4147-A177-3AD203B41FA5}">
                      <a16:colId xmlns:a16="http://schemas.microsoft.com/office/drawing/2014/main" val="3772345353"/>
                    </a:ext>
                  </a:extLst>
                </a:gridCol>
                <a:gridCol w="7563998">
                  <a:extLst>
                    <a:ext uri="{9D8B030D-6E8A-4147-A177-3AD203B41FA5}">
                      <a16:colId xmlns:a16="http://schemas.microsoft.com/office/drawing/2014/main" val="20617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Possible consequence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13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 ability to individualize training or detect meaningful changes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1817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Greater reliance on visible athletes and traditional networks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710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Less detailed opponent and game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5597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884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1F041-EA1D-44C9-9A34-3199EB88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A9FF1-2CFE-687B-73EB-63D88B461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An athlete may be overlooked because they are: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Outside major recruiting networks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Playing in a lower-resource environment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Missing from commercial databases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Competing against weaker or poorly documented opponents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Measured using inconsistent methods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Strong in qualities that the available metrics do not capture </a:t>
            </a:r>
            <a:endParaRPr lang="en-US" dirty="0"/>
          </a:p>
          <a:p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No data </a:t>
            </a:r>
            <a:r>
              <a:rPr lang="en-US" b="1" u="sng" dirty="0">
                <a:ea typeface="+mn-lt"/>
                <a:cs typeface="+mn-lt"/>
              </a:rPr>
              <a:t>does not </a:t>
            </a:r>
            <a:r>
              <a:rPr lang="en-US" dirty="0">
                <a:ea typeface="+mn-lt"/>
                <a:cs typeface="+mn-lt"/>
              </a:rPr>
              <a:t>mean no ability.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It may only mean that the athlete was never observed by the system.</a:t>
            </a:r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7B829-A4B6-1F78-9DA5-137B29194ED2}"/>
              </a:ext>
            </a:extLst>
          </p:cNvPr>
          <p:cNvSpPr txBox="1"/>
          <p:nvPr/>
        </p:nvSpPr>
        <p:spPr>
          <a:xfrm>
            <a:off x="3047082" y="5851491"/>
            <a:ext cx="60978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If you can't afford the metrics, do you cease to exist to modern recruiters?</a:t>
            </a:r>
            <a:endParaRPr lang="en-US" dirty="0">
              <a:solidFill>
                <a:srgbClr val="FF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31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D2BE-C4C4-4D20-846C-3EF3A99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D767-E1AA-9C8B-849F-6E11EB3CB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Statistical models can only identify athletes represented by their data.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If scouting data primarily include:</a:t>
            </a:r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Highly recruited athletes </a:t>
            </a:r>
            <a:endParaRPr lang="en-US" dirty="0"/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Major competitions </a:t>
            </a:r>
            <a:endParaRPr lang="en-US" dirty="0"/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Well-funded programs </a:t>
            </a:r>
            <a:endParaRPr lang="en-US" dirty="0"/>
          </a:p>
          <a:p>
            <a:pPr lvl="1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Easily measured performance outcomes </a:t>
            </a:r>
            <a:endParaRPr lang="en-US" dirty="0"/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then the resulting analysis may reinforce existing scouting patterns.</a:t>
            </a:r>
          </a:p>
          <a:p>
            <a:pPr>
              <a:buFont typeface="Arial"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A model may learn who traditionally receives opportunities, not who has the most potential.</a:t>
            </a:r>
          </a:p>
          <a:p>
            <a:pPr>
              <a:buFont typeface="Arial"/>
            </a:pP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4847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EB18-608F-8802-D194-10166042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2B0F-8AC5-42F8-7BBE-D879510B8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547EC-8C64-0100-020D-0D851068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Suppose the original question is: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Which athletes have the potential to succeed at the next level?</a:t>
            </a:r>
          </a:p>
          <a:p>
            <a:r>
              <a:rPr lang="en-US" dirty="0">
                <a:ea typeface="+mn-lt"/>
                <a:cs typeface="+mn-lt"/>
              </a:rPr>
              <a:t>The available data might only allow us to answer: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Which highly visible athletes currently have the best statistics?</a:t>
            </a:r>
          </a:p>
          <a:p>
            <a:r>
              <a:rPr lang="en-US" dirty="0">
                <a:ea typeface="+mn-lt"/>
                <a:cs typeface="+mn-lt"/>
              </a:rPr>
              <a:t>Those are not the same question.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Changing the question would be easier but it would preserve the same blind spots as everyone else.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30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65F0B-0A66-FF8B-3F5C-3BDD7AF30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Streetlight effect - revisited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3125-B9A9-9921-B918-608635B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The poorly illuminated area may contain the greatest competitive advantage.</a:t>
            </a:r>
          </a:p>
          <a:p>
            <a:r>
              <a:rPr lang="en-US" dirty="0"/>
              <a:t>Response to limited data: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B1E87E-8339-EF70-96ED-F69529683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597641"/>
              </p:ext>
            </p:extLst>
          </p:nvPr>
        </p:nvGraphicFramePr>
        <p:xfrm>
          <a:off x="2580105" y="3048000"/>
          <a:ext cx="703634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8173">
                  <a:extLst>
                    <a:ext uri="{9D8B030D-6E8A-4147-A177-3AD203B41FA5}">
                      <a16:colId xmlns:a16="http://schemas.microsoft.com/office/drawing/2014/main" val="1050926683"/>
                    </a:ext>
                  </a:extLst>
                </a:gridCol>
                <a:gridCol w="3518173">
                  <a:extLst>
                    <a:ext uri="{9D8B030D-6E8A-4147-A177-3AD203B41FA5}">
                      <a16:colId xmlns:a16="http://schemas.microsoft.com/office/drawing/2014/main" val="3941890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Streetlight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Appropriate response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4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Replace it with what the dataset can easily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Preserve the purpose of the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9097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Analyze only familiar variables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Seek new data or useful proxies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98283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Overstate what available data establish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State uncertainty and limitations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2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Reproduce existing rankings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Investigate overlooked athletes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0576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5797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443A2-C56F-F6DF-D387-0E48376C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Pursuing the harder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0DEF-0C6D-4352-D4C1-3F9EDC657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Overlooked athletes may be: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Less expensive to recruit or acquire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Undervalued by competitors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Available later in a draft or recruiting process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Better than their conventional statistics suggest 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If every organization uses the same convenient data, they will tend to identify the same athletes.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0CF4-9F0B-9BCC-D6D4-49A532E4AD93}"/>
              </a:ext>
            </a:extLst>
          </p:cNvPr>
          <p:cNvSpPr txBox="1"/>
          <p:nvPr/>
        </p:nvSpPr>
        <p:spPr>
          <a:xfrm>
            <a:off x="836840" y="5191125"/>
            <a:ext cx="105183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Competitive advantage often comes from answering an important question that others abandoned because the necessary data were difficult to obtain.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169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4F4EC-D09F-1299-C75A-51B984608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data and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F9774-8134-A9A4-DA1E-3A021D0E7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When the available data do not answer the original question, analysts can: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Seek alternative data sources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Collect new measurements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Develop proxies for qualities that are difficult to observe 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The goal is not to force an answer from inadequate data. It is to find a better way to investigate the original question.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63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Data are not automatically objective simply because they are numerical. Their credibility depends on how they were collected, interpreted, and used.</a:t>
            </a:r>
            <a:endParaRPr lang="en-US"/>
          </a:p>
          <a:p>
            <a:r>
              <a:rPr lang="en-US"/>
              <a:t>Before analysis, consider </a:t>
            </a:r>
            <a:r>
              <a:rPr lang="en-US" b="1"/>
              <a:t>reliability</a:t>
            </a:r>
            <a:r>
              <a:rPr lang="en-US"/>
              <a:t>, </a:t>
            </a:r>
            <a:r>
              <a:rPr lang="en-US" b="1"/>
              <a:t>validity </a:t>
            </a:r>
            <a:r>
              <a:rPr lang="en-US"/>
              <a:t>and </a:t>
            </a:r>
            <a:r>
              <a:rPr lang="en-US" b="1"/>
              <a:t>ethics.</a:t>
            </a:r>
          </a:p>
          <a:p>
            <a:r>
              <a:rPr lang="en-US"/>
              <a:t>Next: data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8D9B6-7685-F178-75AE-9F7C2D524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Ethics and Data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D4DB-A820-1D03-618F-9AB277D56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A86C87-B9F7-9ABC-F77B-D76A8E2DA7D7}"/>
              </a:ext>
            </a:extLst>
          </p:cNvPr>
          <p:cNvSpPr/>
          <p:nvPr/>
        </p:nvSpPr>
        <p:spPr>
          <a:xfrm>
            <a:off x="5231175" y="16855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59778E-295C-21E0-5D44-2084FB20B168}"/>
              </a:ext>
            </a:extLst>
          </p:cNvPr>
          <p:cNvSpPr/>
          <p:nvPr/>
        </p:nvSpPr>
        <p:spPr>
          <a:xfrm>
            <a:off x="7884405" y="31773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analysis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87573E-E4F5-DFC0-5CE8-33F7FD7727F1}"/>
              </a:ext>
            </a:extLst>
          </p:cNvPr>
          <p:cNvSpPr/>
          <p:nvPr/>
        </p:nvSpPr>
        <p:spPr>
          <a:xfrm>
            <a:off x="6676785" y="5074539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Worse decisions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F57152-AC9D-84BA-8D7A-F10AE8B7CAA1}"/>
              </a:ext>
            </a:extLst>
          </p:cNvPr>
          <p:cNvSpPr/>
          <p:nvPr/>
        </p:nvSpPr>
        <p:spPr>
          <a:xfrm>
            <a:off x="3660042" y="5061686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Athlete distrust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90065A-B18B-A035-8FC0-ABAB6AE7C8C3}"/>
              </a:ext>
            </a:extLst>
          </p:cNvPr>
          <p:cNvSpPr/>
          <p:nvPr/>
        </p:nvSpPr>
        <p:spPr>
          <a:xfrm>
            <a:off x="2297015" y="3251812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Less honest reporting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ACB6CEC-1571-70EA-3699-F6717F108EF7}"/>
              </a:ext>
            </a:extLst>
          </p:cNvPr>
          <p:cNvSpPr/>
          <p:nvPr/>
        </p:nvSpPr>
        <p:spPr>
          <a:xfrm rot="2353011">
            <a:off x="7148425" y="240221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BCDA285-EEAA-ACDC-3420-DF09520C8437}"/>
              </a:ext>
            </a:extLst>
          </p:cNvPr>
          <p:cNvSpPr/>
          <p:nvPr/>
        </p:nvSpPr>
        <p:spPr>
          <a:xfrm rot="7834450">
            <a:off x="8260026" y="442212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FF4B582-3AA6-B55C-0EFF-0717B9E5535E}"/>
              </a:ext>
            </a:extLst>
          </p:cNvPr>
          <p:cNvSpPr/>
          <p:nvPr/>
        </p:nvSpPr>
        <p:spPr>
          <a:xfrm rot="13659880">
            <a:off x="2764414" y="45026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D7510D14-CB83-4698-6F33-4D4E655A9592}"/>
              </a:ext>
            </a:extLst>
          </p:cNvPr>
          <p:cNvSpPr/>
          <p:nvPr/>
        </p:nvSpPr>
        <p:spPr>
          <a:xfrm rot="10800000">
            <a:off x="5512041" y="528942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CFF4EA4-08AD-35D3-5B48-E6052171065D}"/>
              </a:ext>
            </a:extLst>
          </p:cNvPr>
          <p:cNvSpPr/>
          <p:nvPr/>
        </p:nvSpPr>
        <p:spPr>
          <a:xfrm rot="19324540">
            <a:off x="3961867" y="242279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327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F1FAF6-5C59-DB9B-077D-2C7BD915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62C2-217C-F3D3-1750-3F678F189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0C3A-0556-FE20-A40D-00CEF7BEA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Analytics may reproduce existing visibility inequalities when models are trained using: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Previously recruited athletes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Major competitions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Well-funded schools or clubs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Easily measured performance outcomes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Historical decisions made by scouts or coaches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If past opportunity determines who appears in the data, a model may learn to predict opportunity and not talent.</a:t>
            </a:r>
          </a:p>
        </p:txBody>
      </p:sp>
    </p:spTree>
    <p:extLst>
      <p:ext uri="{BB962C8B-B14F-4D97-AF65-F5344CB8AC3E}">
        <p14:creationId xmlns:p14="http://schemas.microsoft.com/office/powerpoint/2010/main" val="29953897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18D7-28B2-133F-662F-90CC8F558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3F302-AE7F-8CE3-9FC5-7C9203D4C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 coach sees that an athlete’s jump height decreased by 4% and recommends reducing their training load.</a:t>
            </a:r>
            <a:endParaRPr lang="en-US"/>
          </a:p>
          <a:p>
            <a:r>
              <a:rPr lang="en-US">
                <a:ea typeface="+mn-lt"/>
                <a:cs typeface="+mn-lt"/>
              </a:rPr>
              <a:t>Before accepting the recommendation, what would you need to know?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9678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70E4B0-F4CB-5A17-682A-4D9E20E0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02CB6-AC53-DC15-6C59-4D446EC7C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8F1A0-F2E2-C4F6-63D0-F385C2C08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possible questions: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Typical measurement error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Athlete day-to-day variation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Device placement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Warm-up and testing procedure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Fatigue or soreness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the same device was used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4% is practically meaningful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How the result will be communicated and used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871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1967</Words>
  <Application>Microsoft Macintosh PowerPoint</Application>
  <PresentationFormat>Widescreen</PresentationFormat>
  <Paragraphs>316</Paragraphs>
  <Slides>36</Slides>
  <Notes>9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Reliability, Validity, and Ethics in Sports Analytics</vt:lpstr>
      <vt:lpstr>Quiz 3</vt:lpstr>
      <vt:lpstr>Illusion of precision</vt:lpstr>
      <vt:lpstr>Messy data</vt:lpstr>
      <vt:lpstr>Trust in the measurement</vt:lpstr>
      <vt:lpstr>Reliability = Consistency</vt:lpstr>
      <vt:lpstr>Types of reliability</vt:lpstr>
      <vt:lpstr>Reliable… but valid? </vt:lpstr>
      <vt:lpstr>Validity = Measuring What We Intend</vt:lpstr>
      <vt:lpstr>Types of Validity</vt:lpstr>
      <vt:lpstr>Reliable but Not Valid</vt:lpstr>
      <vt:lpstr>Understanding What the Metric Actually Means</vt:lpstr>
      <vt:lpstr>Measurement Error Is Not Athlete Change</vt:lpstr>
      <vt:lpstr>Garbage In, Garbage Out</vt:lpstr>
      <vt:lpstr>Sensor Audit</vt:lpstr>
      <vt:lpstr>Sensor Audit Example</vt:lpstr>
      <vt:lpstr>Protect your analysis from bad data</vt:lpstr>
      <vt:lpstr>Data-Quality Red Flags</vt:lpstr>
      <vt:lpstr>Ethics in Sports Analytics</vt:lpstr>
      <vt:lpstr>Why does it matter?</vt:lpstr>
      <vt:lpstr>consent and ownership</vt:lpstr>
      <vt:lpstr>weaponization of data</vt:lpstr>
      <vt:lpstr>Establishing Trust</vt:lpstr>
      <vt:lpstr>The resource divide</vt:lpstr>
      <vt:lpstr>How Does the Resource Divide Affect Analytics?</vt:lpstr>
      <vt:lpstr>The invisible athlete</vt:lpstr>
      <vt:lpstr>Making the invisible athlete</vt:lpstr>
      <vt:lpstr>Finding the invisible athlete</vt:lpstr>
      <vt:lpstr>Streetlight effect - revisited</vt:lpstr>
      <vt:lpstr>Pursuing the harder question</vt:lpstr>
      <vt:lpstr>Alternative data and methods</vt:lpstr>
      <vt:lpstr>Summary &amp; Looking Ahead</vt:lpstr>
      <vt:lpstr>Ethics and Data Quality</vt:lpstr>
      <vt:lpstr>Making the invisible athlete</vt:lpstr>
      <vt:lpstr>Scenario Activity: Trust the Number?</vt:lpstr>
      <vt:lpstr>Scenario Activity: Trust the Number?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9</cp:revision>
  <dcterms:created xsi:type="dcterms:W3CDTF">2026-08-17T13:48:23Z</dcterms:created>
  <dcterms:modified xsi:type="dcterms:W3CDTF">2026-09-15T19:45:43Z</dcterms:modified>
</cp:coreProperties>
</file>