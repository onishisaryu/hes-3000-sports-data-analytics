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302" r:id="rId3"/>
    <p:sldId id="303" r:id="rId4"/>
    <p:sldId id="306" r:id="rId5"/>
    <p:sldId id="316" r:id="rId6"/>
    <p:sldId id="295" r:id="rId7"/>
    <p:sldId id="298" r:id="rId8"/>
    <p:sldId id="297" r:id="rId9"/>
    <p:sldId id="299" r:id="rId10"/>
    <p:sldId id="296" r:id="rId11"/>
    <p:sldId id="300" r:id="rId12"/>
    <p:sldId id="317" r:id="rId13"/>
    <p:sldId id="318" r:id="rId14"/>
    <p:sldId id="319" r:id="rId15"/>
    <p:sldId id="320" r:id="rId16"/>
    <p:sldId id="308" r:id="rId17"/>
    <p:sldId id="304" r:id="rId18"/>
    <p:sldId id="307" r:id="rId19"/>
    <p:sldId id="301"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EEC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714"/>
    <p:restoredTop sz="74247"/>
  </p:normalViewPr>
  <p:slideViewPr>
    <p:cSldViewPr snapToGrid="0">
      <p:cViewPr varScale="1">
        <p:scale>
          <a:sx n="63" d="100"/>
          <a:sy n="63" d="100"/>
        </p:scale>
        <p:origin x="216" y="78"/>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95A223-E7C9-A243-9A70-FE01E1A1DD65}" type="datetimeFigureOut">
              <a:rPr lang="en-US" smtClean="0"/>
              <a:t>8/29/2026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7D17FD-8842-8E4F-8C3E-EC8B634B2D5A}" type="slidenum">
              <a:rPr lang="en-US" smtClean="0"/>
              <a:t>‹#›</a:t>
            </a:fld>
            <a:endParaRPr lang="en-US"/>
          </a:p>
        </p:txBody>
      </p:sp>
    </p:spTree>
    <p:extLst>
      <p:ext uri="{BB962C8B-B14F-4D97-AF65-F5344CB8AC3E}">
        <p14:creationId xmlns:p14="http://schemas.microsoft.com/office/powerpoint/2010/main" val="2003881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kern="1200" dirty="0">
                <a:solidFill>
                  <a:schemeClr val="tx1"/>
                </a:solidFill>
                <a:effectLst/>
                <a:latin typeface="+mn-lt"/>
                <a:ea typeface="+mn-ea"/>
                <a:cs typeface="+mn-cs"/>
              </a:rPr>
              <a:t>Overview of the three domains (Tracking, Scouting, Strategy) and how data changes sports decisions.</a:t>
            </a:r>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a:t>
            </a:fld>
            <a:endParaRPr lang="en-US"/>
          </a:p>
        </p:txBody>
      </p:sp>
    </p:spTree>
    <p:extLst>
      <p:ext uri="{BB962C8B-B14F-4D97-AF65-F5344CB8AC3E}">
        <p14:creationId xmlns:p14="http://schemas.microsoft.com/office/powerpoint/2010/main" val="24824580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when observations are recorded.</a:t>
            </a:r>
          </a:p>
          <a:p>
            <a:endParaRPr lang="en-US" dirty="0"/>
          </a:p>
          <a:p>
            <a:r>
              <a:rPr lang="en-US" dirty="0"/>
              <a:t>This is MULTIMEDIA (reference). Raw = “FILM”, coded = stat sheet</a:t>
            </a:r>
          </a:p>
          <a:p>
            <a:endParaRPr lang="en-US" dirty="0"/>
          </a:p>
          <a:p>
            <a:r>
              <a:rPr lang="en-US" dirty="0"/>
              <a:t>Schema = rules, categories, framework. Eg: often tagging video means assigning specific action to an observation</a:t>
            </a:r>
          </a:p>
          <a:p>
            <a:r>
              <a:rPr lang="en-US" b="1" dirty="0"/>
              <a:t>Subjective </a:t>
            </a:r>
            <a:r>
              <a:rPr lang="en-US" dirty="0"/>
              <a:t>= low interrater reliability </a:t>
            </a:r>
          </a:p>
        </p:txBody>
      </p:sp>
      <p:sp>
        <p:nvSpPr>
          <p:cNvPr id="4" name="Slide Number Placeholder 3"/>
          <p:cNvSpPr>
            <a:spLocks noGrp="1"/>
          </p:cNvSpPr>
          <p:nvPr>
            <p:ph type="sldNum" sz="quarter" idx="5"/>
          </p:nvPr>
        </p:nvSpPr>
        <p:spPr/>
        <p:txBody>
          <a:bodyPr/>
          <a:lstStyle/>
          <a:p>
            <a:fld id="{1560C251-82B7-4253-A774-38D73C276BCE}" type="slidenum">
              <a:rPr lang="en-US" smtClean="0"/>
              <a:t>6</a:t>
            </a:fld>
            <a:endParaRPr lang="en-US" dirty="0"/>
          </a:p>
        </p:txBody>
      </p:sp>
    </p:spTree>
    <p:extLst>
      <p:ext uri="{BB962C8B-B14F-4D97-AF65-F5344CB8AC3E}">
        <p14:creationId xmlns:p14="http://schemas.microsoft.com/office/powerpoint/2010/main" val="29123105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Similar to observational but utilizes a more systematic method</a:t>
            </a:r>
          </a:p>
          <a:p>
            <a:endParaRPr lang="en-US" dirty="0"/>
          </a:p>
          <a:p>
            <a:r>
              <a:rPr lang="en-US" dirty="0"/>
              <a:t>Major application of ML (if interested)</a:t>
            </a:r>
          </a:p>
          <a:p>
            <a:endParaRPr lang="en-US" dirty="0"/>
          </a:p>
          <a:p>
            <a:r>
              <a:rPr lang="en-US" dirty="0"/>
              <a:t>Mistakes can still occur</a:t>
            </a:r>
          </a:p>
        </p:txBody>
      </p:sp>
      <p:sp>
        <p:nvSpPr>
          <p:cNvPr id="4" name="Slide Number Placeholder 3"/>
          <p:cNvSpPr>
            <a:spLocks noGrp="1"/>
          </p:cNvSpPr>
          <p:nvPr>
            <p:ph type="sldNum" sz="quarter" idx="5"/>
          </p:nvPr>
        </p:nvSpPr>
        <p:spPr/>
        <p:txBody>
          <a:bodyPr/>
          <a:lstStyle/>
          <a:p>
            <a:fld id="{1560C251-82B7-4253-A774-38D73C276BCE}" type="slidenum">
              <a:rPr lang="en-US" smtClean="0"/>
              <a:t>7</a:t>
            </a:fld>
            <a:endParaRPr lang="en-US" dirty="0"/>
          </a:p>
        </p:txBody>
      </p:sp>
    </p:spTree>
    <p:extLst>
      <p:ext uri="{BB962C8B-B14F-4D97-AF65-F5344CB8AC3E}">
        <p14:creationId xmlns:p14="http://schemas.microsoft.com/office/powerpoint/2010/main" val="31421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Wearable tech, very popular now. Can be individual or team wide data</a:t>
            </a:r>
          </a:p>
          <a:p>
            <a:endParaRPr lang="en-US" dirty="0"/>
          </a:p>
          <a:p>
            <a:r>
              <a:rPr lang="en-US" dirty="0"/>
              <a:t>Your apple watch, technically wearable tech</a:t>
            </a:r>
          </a:p>
          <a:p>
            <a:endParaRPr lang="en-US" dirty="0"/>
          </a:p>
          <a:p>
            <a:r>
              <a:rPr lang="en-US" dirty="0"/>
              <a:t>This is </a:t>
            </a:r>
            <a:r>
              <a:rPr lang="en-US" dirty="0" err="1"/>
              <a:t>Ceedee</a:t>
            </a:r>
            <a:r>
              <a:rPr lang="en-US" dirty="0"/>
              <a:t> lamb vs lions. Data collected via </a:t>
            </a:r>
            <a:r>
              <a:rPr lang="en-US" dirty="0" err="1"/>
              <a:t>gps</a:t>
            </a:r>
            <a:r>
              <a:rPr lang="en-US" dirty="0"/>
              <a:t> device</a:t>
            </a:r>
          </a:p>
        </p:txBody>
      </p:sp>
      <p:sp>
        <p:nvSpPr>
          <p:cNvPr id="4" name="Slide Number Placeholder 3"/>
          <p:cNvSpPr>
            <a:spLocks noGrp="1"/>
          </p:cNvSpPr>
          <p:nvPr>
            <p:ph type="sldNum" sz="quarter" idx="5"/>
          </p:nvPr>
        </p:nvSpPr>
        <p:spPr/>
        <p:txBody>
          <a:bodyPr/>
          <a:lstStyle/>
          <a:p>
            <a:fld id="{1560C251-82B7-4253-A774-38D73C276BCE}" type="slidenum">
              <a:rPr lang="en-US" smtClean="0"/>
              <a:t>8</a:t>
            </a:fld>
            <a:endParaRPr lang="en-US" dirty="0"/>
          </a:p>
        </p:txBody>
      </p:sp>
    </p:spTree>
    <p:extLst>
      <p:ext uri="{BB962C8B-B14F-4D97-AF65-F5344CB8AC3E}">
        <p14:creationId xmlns:p14="http://schemas.microsoft.com/office/powerpoint/2010/main" val="42033424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we do in research. </a:t>
            </a:r>
          </a:p>
          <a:p>
            <a:endParaRPr lang="en-US" dirty="0"/>
          </a:p>
          <a:p>
            <a:r>
              <a:rPr lang="en-US" dirty="0"/>
              <a:t>Attempt to control all confounding factors to measure one thing.</a:t>
            </a:r>
          </a:p>
        </p:txBody>
      </p:sp>
      <p:sp>
        <p:nvSpPr>
          <p:cNvPr id="4" name="Slide Number Placeholder 3"/>
          <p:cNvSpPr>
            <a:spLocks noGrp="1"/>
          </p:cNvSpPr>
          <p:nvPr>
            <p:ph type="sldNum" sz="quarter" idx="5"/>
          </p:nvPr>
        </p:nvSpPr>
        <p:spPr/>
        <p:txBody>
          <a:bodyPr/>
          <a:lstStyle/>
          <a:p>
            <a:fld id="{1560C251-82B7-4253-A774-38D73C276BCE}" type="slidenum">
              <a:rPr lang="en-US" smtClean="0"/>
              <a:t>9</a:t>
            </a:fld>
            <a:endParaRPr lang="en-US" dirty="0"/>
          </a:p>
        </p:txBody>
      </p:sp>
    </p:spTree>
    <p:extLst>
      <p:ext uri="{BB962C8B-B14F-4D97-AF65-F5344CB8AC3E}">
        <p14:creationId xmlns:p14="http://schemas.microsoft.com/office/powerpoint/2010/main" val="40541233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who collects the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Important to know this as it can determine access as well as analytical possibilities</a:t>
            </a:r>
          </a:p>
          <a:p>
            <a:endParaRPr lang="en-US" dirty="0"/>
          </a:p>
        </p:txBody>
      </p:sp>
      <p:sp>
        <p:nvSpPr>
          <p:cNvPr id="4" name="Slide Number Placeholder 3"/>
          <p:cNvSpPr>
            <a:spLocks noGrp="1"/>
          </p:cNvSpPr>
          <p:nvPr>
            <p:ph type="sldNum" sz="quarter" idx="5"/>
          </p:nvPr>
        </p:nvSpPr>
        <p:spPr/>
        <p:txBody>
          <a:bodyPr/>
          <a:lstStyle/>
          <a:p>
            <a:fld id="{1560C251-82B7-4253-A774-38D73C276BCE}" type="slidenum">
              <a:rPr lang="en-US" smtClean="0"/>
              <a:t>10</a:t>
            </a:fld>
            <a:endParaRPr lang="en-US" dirty="0"/>
          </a:p>
        </p:txBody>
      </p:sp>
    </p:spTree>
    <p:extLst>
      <p:ext uri="{BB962C8B-B14F-4D97-AF65-F5344CB8AC3E}">
        <p14:creationId xmlns:p14="http://schemas.microsoft.com/office/powerpoint/2010/main" val="6221880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Obviously, many sports leagues collect data.</a:t>
            </a:r>
          </a:p>
          <a:p>
            <a:endParaRPr lang="en-US" dirty="0"/>
          </a:p>
          <a:p>
            <a:r>
              <a:rPr lang="en-US" dirty="0"/>
              <a:t>Not only for business but also for performance! Eg: </a:t>
            </a:r>
            <a:r>
              <a:rPr lang="en-US" dirty="0" err="1"/>
              <a:t>nextgen</a:t>
            </a:r>
            <a:r>
              <a:rPr lang="en-US" dirty="0"/>
              <a:t> stats</a:t>
            </a:r>
          </a:p>
          <a:p>
            <a:endParaRPr lang="en-US" dirty="0"/>
          </a:p>
          <a:p>
            <a:r>
              <a:rPr lang="en-US" dirty="0"/>
              <a:t>This is how they control game data. data is distributed to teams </a:t>
            </a:r>
          </a:p>
          <a:p>
            <a:endParaRPr lang="en-US" dirty="0"/>
          </a:p>
          <a:p>
            <a:r>
              <a:rPr lang="en-US" dirty="0"/>
              <a:t>Consistency is a major benefit</a:t>
            </a:r>
          </a:p>
          <a:p>
            <a:endParaRPr lang="en-US" dirty="0"/>
          </a:p>
          <a:p>
            <a:r>
              <a:rPr lang="en-US" dirty="0"/>
              <a:t>Might not get what you need from the one size fits all approach</a:t>
            </a:r>
          </a:p>
        </p:txBody>
      </p:sp>
      <p:sp>
        <p:nvSpPr>
          <p:cNvPr id="4" name="Slide Number Placeholder 3"/>
          <p:cNvSpPr>
            <a:spLocks noGrp="1"/>
          </p:cNvSpPr>
          <p:nvPr>
            <p:ph type="sldNum" sz="quarter" idx="5"/>
          </p:nvPr>
        </p:nvSpPr>
        <p:spPr/>
        <p:txBody>
          <a:bodyPr/>
          <a:lstStyle/>
          <a:p>
            <a:fld id="{1560C251-82B7-4253-A774-38D73C276BCE}" type="slidenum">
              <a:rPr lang="en-US" smtClean="0"/>
              <a:t>11</a:t>
            </a:fld>
            <a:endParaRPr lang="en-US" dirty="0"/>
          </a:p>
        </p:txBody>
      </p:sp>
    </p:spTree>
    <p:extLst>
      <p:ext uri="{BB962C8B-B14F-4D97-AF65-F5344CB8AC3E}">
        <p14:creationId xmlns:p14="http://schemas.microsoft.com/office/powerpoint/2010/main" val="543848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teams may have more specific needs, they collect their own data</a:t>
            </a:r>
          </a:p>
          <a:p>
            <a:endParaRPr lang="en-US" dirty="0"/>
          </a:p>
          <a:p>
            <a:r>
              <a:rPr lang="en-US" dirty="0"/>
              <a:t>Its all about the competitive adv</a:t>
            </a:r>
          </a:p>
          <a:p>
            <a:endParaRPr lang="en-US" dirty="0"/>
          </a:p>
          <a:p>
            <a:r>
              <a:rPr lang="en-US" dirty="0"/>
              <a:t>Great for the team</a:t>
            </a:r>
          </a:p>
          <a:p>
            <a:endParaRPr lang="en-US" dirty="0"/>
          </a:p>
          <a:p>
            <a:r>
              <a:rPr lang="en-US" dirty="0"/>
              <a:t>Difficult for anyone outside to use that</a:t>
            </a:r>
          </a:p>
        </p:txBody>
      </p:sp>
      <p:sp>
        <p:nvSpPr>
          <p:cNvPr id="4" name="Slide Number Placeholder 3"/>
          <p:cNvSpPr>
            <a:spLocks noGrp="1"/>
          </p:cNvSpPr>
          <p:nvPr>
            <p:ph type="sldNum" sz="quarter" idx="5"/>
          </p:nvPr>
        </p:nvSpPr>
        <p:spPr/>
        <p:txBody>
          <a:bodyPr/>
          <a:lstStyle/>
          <a:p>
            <a:fld id="{1560C251-82B7-4253-A774-38D73C276BCE}" type="slidenum">
              <a:rPr lang="en-US" smtClean="0"/>
              <a:t>12</a:t>
            </a:fld>
            <a:endParaRPr lang="en-US" dirty="0"/>
          </a:p>
        </p:txBody>
      </p:sp>
    </p:spTree>
    <p:extLst>
      <p:ext uri="{BB962C8B-B14F-4D97-AF65-F5344CB8AC3E}">
        <p14:creationId xmlns:p14="http://schemas.microsoft.com/office/powerpoint/2010/main" val="38604635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(leagues and teams) buy data from companies. </a:t>
            </a:r>
          </a:p>
          <a:p>
            <a:endParaRPr lang="en-US" dirty="0"/>
          </a:p>
          <a:p>
            <a:r>
              <a:rPr lang="en-US" dirty="0"/>
              <a:t>Its </a:t>
            </a:r>
            <a:r>
              <a:rPr lang="en-US" dirty="0" err="1"/>
              <a:t>unreasobale</a:t>
            </a:r>
            <a:r>
              <a:rPr lang="en-US" dirty="0"/>
              <a:t> to develop own tech to collect, or to do observational for everything</a:t>
            </a:r>
          </a:p>
          <a:p>
            <a:endParaRPr lang="en-US" dirty="0"/>
          </a:p>
          <a:p>
            <a:r>
              <a:rPr lang="en-US" dirty="0"/>
              <a:t>These data gets integrated into systems</a:t>
            </a:r>
          </a:p>
          <a:p>
            <a:endParaRPr lang="en-US" dirty="0"/>
          </a:p>
          <a:p>
            <a:r>
              <a:rPr lang="en-US" dirty="0"/>
              <a:t>This offloads </a:t>
            </a:r>
            <a:r>
              <a:rPr lang="en-US" dirty="0" err="1"/>
              <a:t>responability</a:t>
            </a:r>
            <a:r>
              <a:rPr lang="en-US" dirty="0"/>
              <a:t> and expertise</a:t>
            </a:r>
          </a:p>
          <a:p>
            <a:endParaRPr lang="en-US" dirty="0"/>
          </a:p>
          <a:p>
            <a:r>
              <a:rPr lang="en-US" dirty="0"/>
              <a:t>Offloading / outsourcing means giving up control and to some degree, competitive advantage</a:t>
            </a:r>
          </a:p>
        </p:txBody>
      </p:sp>
      <p:sp>
        <p:nvSpPr>
          <p:cNvPr id="4" name="Slide Number Placeholder 3"/>
          <p:cNvSpPr>
            <a:spLocks noGrp="1"/>
          </p:cNvSpPr>
          <p:nvPr>
            <p:ph type="sldNum" sz="quarter" idx="5"/>
          </p:nvPr>
        </p:nvSpPr>
        <p:spPr/>
        <p:txBody>
          <a:bodyPr/>
          <a:lstStyle/>
          <a:p>
            <a:fld id="{1560C251-82B7-4253-A774-38D73C276BCE}" type="slidenum">
              <a:rPr lang="en-US" smtClean="0"/>
              <a:t>13</a:t>
            </a:fld>
            <a:endParaRPr lang="en-US" dirty="0"/>
          </a:p>
        </p:txBody>
      </p:sp>
    </p:spTree>
    <p:extLst>
      <p:ext uri="{BB962C8B-B14F-4D97-AF65-F5344CB8AC3E}">
        <p14:creationId xmlns:p14="http://schemas.microsoft.com/office/powerpoint/2010/main" val="4541647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Emphasize that people decide what counts, how categories are defined, and when an event is recorded.</a:t>
            </a:r>
          </a:p>
          <a:p>
            <a:endParaRPr lang="en-US" dirty="0"/>
          </a:p>
        </p:txBody>
      </p:sp>
      <p:sp>
        <p:nvSpPr>
          <p:cNvPr id="4" name="Slide Number Placeholder 3"/>
          <p:cNvSpPr>
            <a:spLocks noGrp="1"/>
          </p:cNvSpPr>
          <p:nvPr>
            <p:ph type="sldNum" sz="quarter" idx="5"/>
          </p:nvPr>
        </p:nvSpPr>
        <p:spPr/>
        <p:txBody>
          <a:bodyPr/>
          <a:lstStyle/>
          <a:p>
            <a:fld id="{117D17FD-8842-8E4F-8C3E-EC8B634B2D5A}" type="slidenum">
              <a:rPr lang="en-US" smtClean="0"/>
              <a:t>17</a:t>
            </a:fld>
            <a:endParaRPr lang="en-US"/>
          </a:p>
        </p:txBody>
      </p:sp>
    </p:spTree>
    <p:extLst>
      <p:ext uri="{BB962C8B-B14F-4D97-AF65-F5344CB8AC3E}">
        <p14:creationId xmlns:p14="http://schemas.microsoft.com/office/powerpoint/2010/main" val="9377665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B78C46-97B5-06A6-FCEF-1A1F72D6F7BD}"/>
              </a:ext>
            </a:extLst>
          </p:cNvPr>
          <p:cNvSpPr>
            <a:spLocks noGrp="1"/>
          </p:cNvSpPr>
          <p:nvPr>
            <p:ph type="ctrTitle"/>
          </p:nvPr>
        </p:nvSpPr>
        <p:spPr>
          <a:xfrm>
            <a:off x="838200" y="1122363"/>
            <a:ext cx="10515600" cy="2387600"/>
          </a:xfrm>
        </p:spPr>
        <p:txBody>
          <a:bodyPr anchor="b"/>
          <a:lstStyle>
            <a:lvl1pPr algn="l">
              <a:defRPr sz="6000"/>
            </a:lvl1pPr>
          </a:lstStyle>
          <a:p>
            <a:r>
              <a:rPr lang="en-GB" dirty="0"/>
              <a:t>Click to edit Master title style</a:t>
            </a:r>
            <a:endParaRPr lang="en-US" dirty="0"/>
          </a:p>
        </p:txBody>
      </p:sp>
      <p:sp>
        <p:nvSpPr>
          <p:cNvPr id="3" name="Subtitle 2">
            <a:extLst>
              <a:ext uri="{FF2B5EF4-FFF2-40B4-BE49-F238E27FC236}">
                <a16:creationId xmlns:a16="http://schemas.microsoft.com/office/drawing/2014/main" id="{DED3A6AC-3ACF-3E00-27EA-CDC21E0D0CE2}"/>
              </a:ext>
            </a:extLst>
          </p:cNvPr>
          <p:cNvSpPr>
            <a:spLocks noGrp="1"/>
          </p:cNvSpPr>
          <p:nvPr>
            <p:ph type="subTitle" idx="1"/>
          </p:nvPr>
        </p:nvSpPr>
        <p:spPr>
          <a:xfrm>
            <a:off x="838199" y="3602038"/>
            <a:ext cx="10515599" cy="1655762"/>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4" name="Date Placeholder 3">
            <a:extLst>
              <a:ext uri="{FF2B5EF4-FFF2-40B4-BE49-F238E27FC236}">
                <a16:creationId xmlns:a16="http://schemas.microsoft.com/office/drawing/2014/main" id="{E82D74E7-FB50-6453-FBC4-4FF2059E7DD6}"/>
              </a:ext>
            </a:extLst>
          </p:cNvPr>
          <p:cNvSpPr>
            <a:spLocks noGrp="1"/>
          </p:cNvSpPr>
          <p:nvPr>
            <p:ph type="dt" sz="half" idx="10"/>
          </p:nvPr>
        </p:nvSpPr>
        <p:spPr/>
        <p:txBody>
          <a:bodyPr/>
          <a:lstStyle/>
          <a:p>
            <a:fld id="{1BF61C71-767E-B84C-BFB3-7B18856D27F4}" type="datetimeFigureOut">
              <a:rPr lang="en-US" smtClean="0"/>
              <a:t>8/29/2026</a:t>
            </a:fld>
            <a:endParaRPr lang="en-US"/>
          </a:p>
        </p:txBody>
      </p:sp>
      <p:sp>
        <p:nvSpPr>
          <p:cNvPr id="5" name="Footer Placeholder 4">
            <a:extLst>
              <a:ext uri="{FF2B5EF4-FFF2-40B4-BE49-F238E27FC236}">
                <a16:creationId xmlns:a16="http://schemas.microsoft.com/office/drawing/2014/main" id="{D3DEC381-9EAC-65CA-E2D4-E9753C63FC8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08E85E49-459E-7153-8DCA-00BFA12DD9A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5335308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44AAB-14A7-7BCA-3837-4F570792F39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33DB745-E89B-BA25-707B-D3F4B483C33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1A29DF3-7131-344B-BE29-3470A6E4AD53}"/>
              </a:ext>
            </a:extLst>
          </p:cNvPr>
          <p:cNvSpPr>
            <a:spLocks noGrp="1"/>
          </p:cNvSpPr>
          <p:nvPr>
            <p:ph type="dt" sz="half" idx="10"/>
          </p:nvPr>
        </p:nvSpPr>
        <p:spPr/>
        <p:txBody>
          <a:bodyPr/>
          <a:lstStyle/>
          <a:p>
            <a:fld id="{1BF61C71-767E-B84C-BFB3-7B18856D27F4}" type="datetimeFigureOut">
              <a:rPr lang="en-US" smtClean="0"/>
              <a:t>8/29/2026</a:t>
            </a:fld>
            <a:endParaRPr lang="en-US"/>
          </a:p>
        </p:txBody>
      </p:sp>
      <p:sp>
        <p:nvSpPr>
          <p:cNvPr id="5" name="Footer Placeholder 4">
            <a:extLst>
              <a:ext uri="{FF2B5EF4-FFF2-40B4-BE49-F238E27FC236}">
                <a16:creationId xmlns:a16="http://schemas.microsoft.com/office/drawing/2014/main" id="{2E19C8A0-82E3-D43A-B433-03BD0E8A131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9EC3461-EED3-DA55-3A67-403D2D4F603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590894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9DEF06-5D11-579D-7B22-EDF525B072C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C3F87EE-121E-981D-94B0-7DD81A7608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A509C7F-68AA-F83B-0CC2-643C7451C3BF}"/>
              </a:ext>
            </a:extLst>
          </p:cNvPr>
          <p:cNvSpPr>
            <a:spLocks noGrp="1"/>
          </p:cNvSpPr>
          <p:nvPr>
            <p:ph type="dt" sz="half" idx="10"/>
          </p:nvPr>
        </p:nvSpPr>
        <p:spPr/>
        <p:txBody>
          <a:bodyPr/>
          <a:lstStyle/>
          <a:p>
            <a:fld id="{1BF61C71-767E-B84C-BFB3-7B18856D27F4}" type="datetimeFigureOut">
              <a:rPr lang="en-US" smtClean="0"/>
              <a:t>8/29/2026</a:t>
            </a:fld>
            <a:endParaRPr lang="en-US"/>
          </a:p>
        </p:txBody>
      </p:sp>
      <p:sp>
        <p:nvSpPr>
          <p:cNvPr id="5" name="Footer Placeholder 4">
            <a:extLst>
              <a:ext uri="{FF2B5EF4-FFF2-40B4-BE49-F238E27FC236}">
                <a16:creationId xmlns:a16="http://schemas.microsoft.com/office/drawing/2014/main" id="{5ABFDF23-F262-A143-3D94-2E03C5E805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A01BCC86-AF79-D336-B20B-1E34423D79D2}"/>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646671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FE23E6-4994-ADDB-53EF-33DAC620482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5511385E-3FBA-00D8-820B-01457DE095D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C400107-976D-189B-D5B8-F3309A029F3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C8421288-007A-64D1-177C-EC493AB351E6}"/>
              </a:ext>
            </a:extLst>
          </p:cNvPr>
          <p:cNvSpPr>
            <a:spLocks noGrp="1"/>
          </p:cNvSpPr>
          <p:nvPr>
            <p:ph type="dt" sz="half" idx="10"/>
          </p:nvPr>
        </p:nvSpPr>
        <p:spPr/>
        <p:txBody>
          <a:bodyPr/>
          <a:lstStyle/>
          <a:p>
            <a:fld id="{1BF61C71-767E-B84C-BFB3-7B18856D27F4}" type="datetimeFigureOut">
              <a:rPr lang="en-US" smtClean="0"/>
              <a:t>8/29/2026</a:t>
            </a:fld>
            <a:endParaRPr lang="en-US"/>
          </a:p>
        </p:txBody>
      </p:sp>
      <p:sp>
        <p:nvSpPr>
          <p:cNvPr id="6" name="Footer Placeholder 5">
            <a:extLst>
              <a:ext uri="{FF2B5EF4-FFF2-40B4-BE49-F238E27FC236}">
                <a16:creationId xmlns:a16="http://schemas.microsoft.com/office/drawing/2014/main" id="{D18BDC7E-1ED0-A64E-B741-2BD6DCC161E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7110B18-79B2-CA9A-54E7-8E270EA6CAF9}"/>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156113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BA0C-D408-C89D-A5A4-EE49BFEFE6E9}"/>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5C15059-44C0-5CAB-DD62-331CAEACC2C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E8210DA-60F4-E204-139F-488557C3AC4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99C6D382-4432-4F54-9B2C-18EA1D3502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00DFF74-3B74-1F87-68E5-7C634623838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963D8442-0A79-241F-AD71-72BAE08747AF}"/>
              </a:ext>
            </a:extLst>
          </p:cNvPr>
          <p:cNvSpPr>
            <a:spLocks noGrp="1"/>
          </p:cNvSpPr>
          <p:nvPr>
            <p:ph type="dt" sz="half" idx="10"/>
          </p:nvPr>
        </p:nvSpPr>
        <p:spPr/>
        <p:txBody>
          <a:bodyPr/>
          <a:lstStyle/>
          <a:p>
            <a:fld id="{1BF61C71-767E-B84C-BFB3-7B18856D27F4}" type="datetimeFigureOut">
              <a:rPr lang="en-US" smtClean="0"/>
              <a:t>8/29/2026</a:t>
            </a:fld>
            <a:endParaRPr lang="en-US"/>
          </a:p>
        </p:txBody>
      </p:sp>
      <p:sp>
        <p:nvSpPr>
          <p:cNvPr id="8" name="Footer Placeholder 7">
            <a:extLst>
              <a:ext uri="{FF2B5EF4-FFF2-40B4-BE49-F238E27FC236}">
                <a16:creationId xmlns:a16="http://schemas.microsoft.com/office/drawing/2014/main" id="{81BD044B-09B6-F478-2B54-1F15413514F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5518B98-54E9-0248-CDC2-25F053D11E93}"/>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477298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98611-FF70-0739-AB12-3A0D4D68852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1D6340F8-BFC2-15DC-7097-138E7417B933}"/>
              </a:ext>
            </a:extLst>
          </p:cNvPr>
          <p:cNvSpPr>
            <a:spLocks noGrp="1"/>
          </p:cNvSpPr>
          <p:nvPr>
            <p:ph type="dt" sz="half" idx="10"/>
          </p:nvPr>
        </p:nvSpPr>
        <p:spPr/>
        <p:txBody>
          <a:bodyPr/>
          <a:lstStyle/>
          <a:p>
            <a:fld id="{1BF61C71-767E-B84C-BFB3-7B18856D27F4}" type="datetimeFigureOut">
              <a:rPr lang="en-US" smtClean="0"/>
              <a:t>8/29/2026</a:t>
            </a:fld>
            <a:endParaRPr lang="en-US"/>
          </a:p>
        </p:txBody>
      </p:sp>
      <p:sp>
        <p:nvSpPr>
          <p:cNvPr id="4" name="Footer Placeholder 3">
            <a:extLst>
              <a:ext uri="{FF2B5EF4-FFF2-40B4-BE49-F238E27FC236}">
                <a16:creationId xmlns:a16="http://schemas.microsoft.com/office/drawing/2014/main" id="{0987FFF2-E8C5-FBDB-D95A-12987FF75CB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4B02AAC0-7C6B-411F-8B27-54187B087820}"/>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1884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C24E59-43B1-B0E4-7BB5-449B4E620269}"/>
              </a:ext>
            </a:extLst>
          </p:cNvPr>
          <p:cNvSpPr>
            <a:spLocks noGrp="1"/>
          </p:cNvSpPr>
          <p:nvPr>
            <p:ph type="dt" sz="half" idx="10"/>
          </p:nvPr>
        </p:nvSpPr>
        <p:spPr/>
        <p:txBody>
          <a:bodyPr/>
          <a:lstStyle/>
          <a:p>
            <a:fld id="{1BF61C71-767E-B84C-BFB3-7B18856D27F4}" type="datetimeFigureOut">
              <a:rPr lang="en-US" smtClean="0"/>
              <a:t>8/29/2026</a:t>
            </a:fld>
            <a:endParaRPr lang="en-US"/>
          </a:p>
        </p:txBody>
      </p:sp>
      <p:sp>
        <p:nvSpPr>
          <p:cNvPr id="3" name="Footer Placeholder 2">
            <a:extLst>
              <a:ext uri="{FF2B5EF4-FFF2-40B4-BE49-F238E27FC236}">
                <a16:creationId xmlns:a16="http://schemas.microsoft.com/office/drawing/2014/main" id="{209DB2FC-A612-3F77-71B9-89F90F23EC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BE7EA5C7-5EFB-A99C-8686-6EB2C8FCFA5F}"/>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715173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6815E-33A2-36BD-141A-20E6987BFB9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64EB718-3207-923E-BB2A-3A6A8B97CF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B6D8BF2C-0530-D542-CEA1-66680DF2CF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91246F5-476E-F02E-8D52-52095AD76408}"/>
              </a:ext>
            </a:extLst>
          </p:cNvPr>
          <p:cNvSpPr>
            <a:spLocks noGrp="1"/>
          </p:cNvSpPr>
          <p:nvPr>
            <p:ph type="dt" sz="half" idx="10"/>
          </p:nvPr>
        </p:nvSpPr>
        <p:spPr/>
        <p:txBody>
          <a:bodyPr/>
          <a:lstStyle/>
          <a:p>
            <a:fld id="{1BF61C71-767E-B84C-BFB3-7B18856D27F4}" type="datetimeFigureOut">
              <a:rPr lang="en-US" smtClean="0"/>
              <a:t>8/29/2026</a:t>
            </a:fld>
            <a:endParaRPr lang="en-US"/>
          </a:p>
        </p:txBody>
      </p:sp>
      <p:sp>
        <p:nvSpPr>
          <p:cNvPr id="6" name="Footer Placeholder 5">
            <a:extLst>
              <a:ext uri="{FF2B5EF4-FFF2-40B4-BE49-F238E27FC236}">
                <a16:creationId xmlns:a16="http://schemas.microsoft.com/office/drawing/2014/main" id="{4ACCBF9F-FEBA-A17C-67EF-779BF698253E}"/>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33091D5-A6B8-C1A9-58A4-732980B56A1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6873461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F53C8-34AC-4EC3-9EF2-7646130C5F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95296B-D06F-EC13-3B4B-D0804D56AD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AC15AD4-D0C4-4B3F-01A9-C4EB16F15D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B85DC77-4EA3-68F2-C1B1-3B61F9D48ACD}"/>
              </a:ext>
            </a:extLst>
          </p:cNvPr>
          <p:cNvSpPr>
            <a:spLocks noGrp="1"/>
          </p:cNvSpPr>
          <p:nvPr>
            <p:ph type="dt" sz="half" idx="10"/>
          </p:nvPr>
        </p:nvSpPr>
        <p:spPr/>
        <p:txBody>
          <a:bodyPr/>
          <a:lstStyle/>
          <a:p>
            <a:fld id="{1BF61C71-767E-B84C-BFB3-7B18856D27F4}" type="datetimeFigureOut">
              <a:rPr lang="en-US" smtClean="0"/>
              <a:t>8/29/2026</a:t>
            </a:fld>
            <a:endParaRPr lang="en-US"/>
          </a:p>
        </p:txBody>
      </p:sp>
      <p:sp>
        <p:nvSpPr>
          <p:cNvPr id="6" name="Footer Placeholder 5">
            <a:extLst>
              <a:ext uri="{FF2B5EF4-FFF2-40B4-BE49-F238E27FC236}">
                <a16:creationId xmlns:a16="http://schemas.microsoft.com/office/drawing/2014/main" id="{5028E95B-5416-3489-B8F3-9294F9EAD56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E7231B0D-A406-6B24-1768-98B5238CCD11}"/>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17744629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E7492E-5097-4D4A-B212-B9541B6D396F}"/>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D2B2462-C37E-9A16-D9B2-03FE3550DC7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765E3E0-2253-2E4B-C45D-9DD87541ECCF}"/>
              </a:ext>
            </a:extLst>
          </p:cNvPr>
          <p:cNvSpPr>
            <a:spLocks noGrp="1"/>
          </p:cNvSpPr>
          <p:nvPr>
            <p:ph type="dt" sz="half" idx="10"/>
          </p:nvPr>
        </p:nvSpPr>
        <p:spPr/>
        <p:txBody>
          <a:bodyPr/>
          <a:lstStyle/>
          <a:p>
            <a:fld id="{1BF61C71-767E-B84C-BFB3-7B18856D27F4}" type="datetimeFigureOut">
              <a:rPr lang="en-US" smtClean="0"/>
              <a:t>8/29/2026</a:t>
            </a:fld>
            <a:endParaRPr lang="en-US"/>
          </a:p>
        </p:txBody>
      </p:sp>
      <p:sp>
        <p:nvSpPr>
          <p:cNvPr id="5" name="Footer Placeholder 4">
            <a:extLst>
              <a:ext uri="{FF2B5EF4-FFF2-40B4-BE49-F238E27FC236}">
                <a16:creationId xmlns:a16="http://schemas.microsoft.com/office/drawing/2014/main" id="{A3E8D6ED-F324-5EA4-EBC1-32D8A8A8046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8926162-D880-6B17-AFBB-2555E585E2D8}"/>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355812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27EF97A-4C14-3B96-B570-63221FE4263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1FCF3E-3E21-12E5-F093-CD2EBC62CD8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6EEB50E-0940-C414-1C80-43A1C4CBF31A}"/>
              </a:ext>
            </a:extLst>
          </p:cNvPr>
          <p:cNvSpPr>
            <a:spLocks noGrp="1"/>
          </p:cNvSpPr>
          <p:nvPr>
            <p:ph type="dt" sz="half" idx="10"/>
          </p:nvPr>
        </p:nvSpPr>
        <p:spPr/>
        <p:txBody>
          <a:bodyPr/>
          <a:lstStyle/>
          <a:p>
            <a:fld id="{1BF61C71-767E-B84C-BFB3-7B18856D27F4}" type="datetimeFigureOut">
              <a:rPr lang="en-US" smtClean="0"/>
              <a:t>8/29/2026</a:t>
            </a:fld>
            <a:endParaRPr lang="en-US"/>
          </a:p>
        </p:txBody>
      </p:sp>
      <p:sp>
        <p:nvSpPr>
          <p:cNvPr id="5" name="Footer Placeholder 4">
            <a:extLst>
              <a:ext uri="{FF2B5EF4-FFF2-40B4-BE49-F238E27FC236}">
                <a16:creationId xmlns:a16="http://schemas.microsoft.com/office/drawing/2014/main" id="{01434562-A92B-8D3C-4A79-2489A997521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47ADD3-AF08-2898-D3BF-4768616B38DE}"/>
              </a:ext>
            </a:extLst>
          </p:cNvPr>
          <p:cNvSpPr>
            <a:spLocks noGrp="1"/>
          </p:cNvSpPr>
          <p:nvPr>
            <p:ph type="sldNum" sz="quarter" idx="12"/>
          </p:nvPr>
        </p:nvSpPr>
        <p:spPr/>
        <p:txBody>
          <a:bodyPr/>
          <a:lstStyle/>
          <a:p>
            <a:fld id="{BBCCEFD2-39D4-B845-AAFB-DDCB27801685}" type="slidenum">
              <a:rPr lang="en-US" smtClean="0"/>
              <a:t>‹#›</a:t>
            </a:fld>
            <a:endParaRPr lang="en-US"/>
          </a:p>
        </p:txBody>
      </p:sp>
    </p:spTree>
    <p:extLst>
      <p:ext uri="{BB962C8B-B14F-4D97-AF65-F5344CB8AC3E}">
        <p14:creationId xmlns:p14="http://schemas.microsoft.com/office/powerpoint/2010/main" val="28915101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Blank">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5E096579-E85F-CE49-A1E7-090D69C7D3D9}"/>
              </a:ext>
            </a:extLst>
          </p:cNvPr>
          <p:cNvSpPr>
            <a:spLocks noGrp="1"/>
          </p:cNvSpPr>
          <p:nvPr>
            <p:ph type="sldNum" sz="quarter" idx="11"/>
          </p:nvPr>
        </p:nvSpPr>
        <p:spPr/>
        <p:txBody>
          <a:bodyPr/>
          <a:lstStyle/>
          <a:p>
            <a:fld id="{45C00377-489B-40EC-B059-26BDDD2E89B9}" type="slidenum">
              <a:rPr lang="en-US" smtClean="0"/>
              <a:pPr/>
              <a:t>‹#›</a:t>
            </a:fld>
            <a:endParaRPr lang="en-US" dirty="0"/>
          </a:p>
        </p:txBody>
      </p:sp>
      <p:sp>
        <p:nvSpPr>
          <p:cNvPr id="3" name="Title Placeholder 1">
            <a:extLst>
              <a:ext uri="{FF2B5EF4-FFF2-40B4-BE49-F238E27FC236}">
                <a16:creationId xmlns:a16="http://schemas.microsoft.com/office/drawing/2014/main" id="{46E8C1D3-413D-3F8C-2B71-1C4EB0ADE93B}"/>
              </a:ext>
            </a:extLst>
          </p:cNvPr>
          <p:cNvSpPr>
            <a:spLocks noGrp="1"/>
          </p:cNvSpPr>
          <p:nvPr>
            <p:ph type="title" hasCustomPrompt="1"/>
          </p:nvPr>
        </p:nvSpPr>
        <p:spPr>
          <a:xfrm>
            <a:off x="838200" y="3110401"/>
            <a:ext cx="10515600" cy="637198"/>
          </a:xfrm>
          <a:prstGeom prst="rect">
            <a:avLst/>
          </a:prstGeom>
        </p:spPr>
        <p:txBody>
          <a:bodyPr vert="horz" lIns="91440" tIns="45720" rIns="91440" bIns="45720" rtlCol="0" anchor="ctr">
            <a:normAutofit/>
          </a:bodyPr>
          <a:lstStyle>
            <a:lvl1pPr algn="ctr">
              <a:defRPr/>
            </a:lvl1pPr>
          </a:lstStyle>
          <a:p>
            <a:r>
              <a:rPr lang="en-US" dirty="0"/>
              <a:t>CLICK TO EDIT MASTER TITLE STYLE</a:t>
            </a:r>
          </a:p>
        </p:txBody>
      </p:sp>
    </p:spTree>
    <p:extLst>
      <p:ext uri="{BB962C8B-B14F-4D97-AF65-F5344CB8AC3E}">
        <p14:creationId xmlns:p14="http://schemas.microsoft.com/office/powerpoint/2010/main" val="39993545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5C7E355-A6C3-ABB7-5FB3-07B7718D6981}"/>
              </a:ext>
            </a:extLst>
          </p:cNvPr>
          <p:cNvSpPr>
            <a:spLocks noGrp="1"/>
          </p:cNvSpPr>
          <p:nvPr>
            <p:ph type="title"/>
          </p:nvPr>
        </p:nvSpPr>
        <p:spPr>
          <a:xfrm>
            <a:off x="838200" y="365126"/>
            <a:ext cx="10515600" cy="912690"/>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a:extLst>
              <a:ext uri="{FF2B5EF4-FFF2-40B4-BE49-F238E27FC236}">
                <a16:creationId xmlns:a16="http://schemas.microsoft.com/office/drawing/2014/main" id="{73BE3536-C253-FE9A-75A8-6625508B8089}"/>
              </a:ext>
            </a:extLst>
          </p:cNvPr>
          <p:cNvSpPr>
            <a:spLocks noGrp="1"/>
          </p:cNvSpPr>
          <p:nvPr>
            <p:ph type="body" idx="1"/>
          </p:nvPr>
        </p:nvSpPr>
        <p:spPr>
          <a:xfrm>
            <a:off x="838200" y="1441938"/>
            <a:ext cx="10515600" cy="473502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727838E-35A9-F96A-354A-AE0FF3F8534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F61C71-767E-B84C-BFB3-7B18856D27F4}" type="datetimeFigureOut">
              <a:rPr lang="en-US" smtClean="0"/>
              <a:t>8/29/2026</a:t>
            </a:fld>
            <a:endParaRPr lang="en-US"/>
          </a:p>
        </p:txBody>
      </p:sp>
      <p:sp>
        <p:nvSpPr>
          <p:cNvPr id="6" name="Slide Number Placeholder 5">
            <a:extLst>
              <a:ext uri="{FF2B5EF4-FFF2-40B4-BE49-F238E27FC236}">
                <a16:creationId xmlns:a16="http://schemas.microsoft.com/office/drawing/2014/main" id="{8E6CBC5A-10F1-AA57-C7EC-9CDC8A53A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CEFD2-39D4-B845-AAFB-DDCB27801685}" type="slidenum">
              <a:rPr lang="en-US" smtClean="0"/>
              <a:t>‹#›</a:t>
            </a:fld>
            <a:endParaRPr lang="en-US"/>
          </a:p>
        </p:txBody>
      </p:sp>
      <p:sp>
        <p:nvSpPr>
          <p:cNvPr id="7" name="Footer Placeholder 6">
            <a:extLst>
              <a:ext uri="{FF2B5EF4-FFF2-40B4-BE49-F238E27FC236}">
                <a16:creationId xmlns:a16="http://schemas.microsoft.com/office/drawing/2014/main" id="{2EEC1130-6658-3CAB-3F94-0FA0AAB844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412320721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EECDD"/>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270D-14C3-FED3-E83A-AD4E36EC7A85}"/>
              </a:ext>
            </a:extLst>
          </p:cNvPr>
          <p:cNvSpPr>
            <a:spLocks noGrp="1"/>
          </p:cNvSpPr>
          <p:nvPr>
            <p:ph type="ctrTitle"/>
          </p:nvPr>
        </p:nvSpPr>
        <p:spPr/>
        <p:txBody>
          <a:bodyPr>
            <a:normAutofit/>
          </a:bodyPr>
          <a:lstStyle/>
          <a:p>
            <a:r>
              <a:rPr lang="en-GB" dirty="0"/>
              <a:t>Generating and Collecting Sports Data</a:t>
            </a:r>
          </a:p>
        </p:txBody>
      </p:sp>
      <p:sp>
        <p:nvSpPr>
          <p:cNvPr id="3" name="Subtitle 2">
            <a:extLst>
              <a:ext uri="{FF2B5EF4-FFF2-40B4-BE49-F238E27FC236}">
                <a16:creationId xmlns:a16="http://schemas.microsoft.com/office/drawing/2014/main" id="{FE03FB66-255C-9B0B-8F15-F85AACB34CEA}"/>
              </a:ext>
            </a:extLst>
          </p:cNvPr>
          <p:cNvSpPr>
            <a:spLocks noGrp="1"/>
          </p:cNvSpPr>
          <p:nvPr>
            <p:ph type="subTitle" idx="1"/>
          </p:nvPr>
        </p:nvSpPr>
        <p:spPr/>
        <p:txBody>
          <a:bodyPr/>
          <a:lstStyle/>
          <a:p>
            <a:r>
              <a:rPr lang="en-GB" dirty="0"/>
              <a:t>Saryu Onishi</a:t>
            </a:r>
          </a:p>
          <a:p>
            <a:r>
              <a:rPr lang="en-GB" dirty="0"/>
              <a:t>HES 3000-002, Sport Performance Analytics</a:t>
            </a:r>
          </a:p>
        </p:txBody>
      </p:sp>
    </p:spTree>
    <p:extLst>
      <p:ext uri="{BB962C8B-B14F-4D97-AF65-F5344CB8AC3E}">
        <p14:creationId xmlns:p14="http://schemas.microsoft.com/office/powerpoint/2010/main" val="3294273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89281-15A7-A800-D072-535B97E4841A}"/>
              </a:ext>
            </a:extLst>
          </p:cNvPr>
          <p:cNvSpPr>
            <a:spLocks noGrp="1"/>
          </p:cNvSpPr>
          <p:nvPr>
            <p:ph type="title"/>
          </p:nvPr>
        </p:nvSpPr>
        <p:spPr/>
        <p:txBody>
          <a:bodyPr/>
          <a:lstStyle/>
          <a:p>
            <a:r>
              <a:rPr lang="en-US" dirty="0"/>
              <a:t>Case Study 1</a:t>
            </a:r>
          </a:p>
        </p:txBody>
      </p:sp>
      <p:sp>
        <p:nvSpPr>
          <p:cNvPr id="3" name="Content Placeholder 2">
            <a:extLst>
              <a:ext uri="{FF2B5EF4-FFF2-40B4-BE49-F238E27FC236}">
                <a16:creationId xmlns:a16="http://schemas.microsoft.com/office/drawing/2014/main" id="{0A2CE9E0-C54E-CB9E-92F7-CC1D8A4BE841}"/>
              </a:ext>
            </a:extLst>
          </p:cNvPr>
          <p:cNvSpPr>
            <a:spLocks noGrp="1"/>
          </p:cNvSpPr>
          <p:nvPr>
            <p:ph idx="1"/>
          </p:nvPr>
        </p:nvSpPr>
        <p:spPr/>
        <p:txBody>
          <a:bodyPr/>
          <a:lstStyle/>
          <a:p>
            <a:r>
              <a:rPr lang="en-US" dirty="0"/>
              <a:t>share:</a:t>
            </a:r>
          </a:p>
          <a:p>
            <a:r>
              <a:rPr lang="en-US" dirty="0"/>
              <a:t>Their sport concern </a:t>
            </a:r>
          </a:p>
          <a:p>
            <a:r>
              <a:rPr lang="en-US" dirty="0"/>
              <a:t>Their analytical question </a:t>
            </a:r>
          </a:p>
          <a:p>
            <a:r>
              <a:rPr lang="en-US" dirty="0"/>
              <a:t>Who would use the answer </a:t>
            </a:r>
          </a:p>
          <a:p>
            <a:r>
              <a:rPr lang="en-US" dirty="0"/>
              <a:t>Their ideal evidence </a:t>
            </a:r>
          </a:p>
          <a:p>
            <a:r>
              <a:rPr lang="en-US" dirty="0"/>
              <a:t>Their feasible data </a:t>
            </a:r>
          </a:p>
          <a:p>
            <a:r>
              <a:rPr lang="en-US" dirty="0"/>
              <a:t>Their biggest remaining uncertainty</a:t>
            </a:r>
          </a:p>
          <a:p>
            <a:endParaRPr lang="en-US" dirty="0"/>
          </a:p>
        </p:txBody>
      </p:sp>
    </p:spTree>
    <p:extLst>
      <p:ext uri="{BB962C8B-B14F-4D97-AF65-F5344CB8AC3E}">
        <p14:creationId xmlns:p14="http://schemas.microsoft.com/office/powerpoint/2010/main" val="7610432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7D215-C0C4-FC2D-D9E2-848570B27D6A}"/>
              </a:ext>
            </a:extLst>
          </p:cNvPr>
          <p:cNvSpPr>
            <a:spLocks noGrp="1"/>
          </p:cNvSpPr>
          <p:nvPr>
            <p:ph type="title"/>
          </p:nvPr>
        </p:nvSpPr>
        <p:spPr/>
        <p:txBody>
          <a:bodyPr/>
          <a:lstStyle/>
          <a:p>
            <a:r>
              <a:rPr lang="en-US" dirty="0"/>
              <a:t>Analytics Project</a:t>
            </a:r>
          </a:p>
        </p:txBody>
      </p:sp>
      <p:sp>
        <p:nvSpPr>
          <p:cNvPr id="3" name="Content Placeholder 2">
            <a:extLst>
              <a:ext uri="{FF2B5EF4-FFF2-40B4-BE49-F238E27FC236}">
                <a16:creationId xmlns:a16="http://schemas.microsoft.com/office/drawing/2014/main" id="{95429D92-227F-679D-1373-6B043AEFCC17}"/>
              </a:ext>
            </a:extLst>
          </p:cNvPr>
          <p:cNvSpPr>
            <a:spLocks noGrp="1"/>
          </p:cNvSpPr>
          <p:nvPr>
            <p:ph idx="1"/>
          </p:nvPr>
        </p:nvSpPr>
        <p:spPr/>
        <p:txBody>
          <a:bodyPr/>
          <a:lstStyle/>
          <a:p>
            <a:pPr marL="514350" lvl="0" indent="-514350">
              <a:buFont typeface="+mj-lt"/>
              <a:buAutoNum type="arabicPeriod"/>
            </a:pPr>
            <a:r>
              <a:rPr lang="en-US" b="1" dirty="0"/>
              <a:t>Identify a meaningful sport problem. </a:t>
            </a:r>
          </a:p>
          <a:p>
            <a:pPr marL="514350" lvl="0" indent="-514350">
              <a:buFont typeface="+mj-lt"/>
              <a:buAutoNum type="arabicPeriod"/>
            </a:pPr>
            <a:r>
              <a:rPr lang="en-US" b="1" dirty="0"/>
              <a:t>Develop a focused analytical question. </a:t>
            </a:r>
          </a:p>
          <a:p>
            <a:pPr marL="514350" lvl="0" indent="-514350">
              <a:buFont typeface="+mj-lt"/>
              <a:buAutoNum type="arabicPeriod"/>
            </a:pPr>
            <a:r>
              <a:rPr lang="en-US" dirty="0"/>
              <a:t>Determine what evidence is needed. </a:t>
            </a:r>
          </a:p>
          <a:p>
            <a:pPr marL="514350" lvl="0" indent="-514350">
              <a:buFont typeface="+mj-lt"/>
              <a:buAutoNum type="arabicPeriod"/>
            </a:pPr>
            <a:r>
              <a:rPr lang="en-US" dirty="0"/>
              <a:t>Find and evaluate feasible data. </a:t>
            </a:r>
          </a:p>
          <a:p>
            <a:pPr marL="514350" lvl="0" indent="-514350">
              <a:buFont typeface="+mj-lt"/>
              <a:buAutoNum type="arabicPeriod"/>
            </a:pPr>
            <a:r>
              <a:rPr lang="en-US" dirty="0"/>
              <a:t>Conduct an analysis that matches the question. </a:t>
            </a:r>
          </a:p>
          <a:p>
            <a:pPr marL="514350" lvl="0" indent="-514350">
              <a:buFont typeface="+mj-lt"/>
              <a:buAutoNum type="arabicPeriod"/>
            </a:pPr>
            <a:r>
              <a:rPr lang="en-US" dirty="0"/>
              <a:t>Interpret the results for the intended user.</a:t>
            </a:r>
          </a:p>
          <a:p>
            <a:endParaRPr lang="en-US" dirty="0"/>
          </a:p>
        </p:txBody>
      </p:sp>
      <p:sp>
        <p:nvSpPr>
          <p:cNvPr id="5" name="TextBox 4">
            <a:extLst>
              <a:ext uri="{FF2B5EF4-FFF2-40B4-BE49-F238E27FC236}">
                <a16:creationId xmlns:a16="http://schemas.microsoft.com/office/drawing/2014/main" id="{BB5A2220-AFBE-9DE0-D17D-F3AD53908D8D}"/>
              </a:ext>
            </a:extLst>
          </p:cNvPr>
          <p:cNvSpPr txBox="1"/>
          <p:nvPr/>
        </p:nvSpPr>
        <p:spPr>
          <a:xfrm>
            <a:off x="838200" y="5253633"/>
            <a:ext cx="10515600" cy="646331"/>
          </a:xfrm>
          <a:prstGeom prst="rect">
            <a:avLst/>
          </a:prstGeom>
          <a:noFill/>
        </p:spPr>
        <p:txBody>
          <a:bodyPr wrap="square">
            <a:spAutoFit/>
          </a:bodyPr>
          <a:lstStyle/>
          <a:p>
            <a:r>
              <a:rPr lang="en-US" dirty="0"/>
              <a:t>Before the next checkpoint, your group should know what each row in your proposed dataset represents, who or what generated the data, and whether the variables needed for your question are actually present.</a:t>
            </a:r>
          </a:p>
        </p:txBody>
      </p:sp>
    </p:spTree>
    <p:extLst>
      <p:ext uri="{BB962C8B-B14F-4D97-AF65-F5344CB8AC3E}">
        <p14:creationId xmlns:p14="http://schemas.microsoft.com/office/powerpoint/2010/main" val="23976314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BD0C87-1CE8-962A-CC4C-60B901AE3C85}"/>
              </a:ext>
            </a:extLst>
          </p:cNvPr>
          <p:cNvSpPr>
            <a:spLocks noGrp="1"/>
          </p:cNvSpPr>
          <p:nvPr>
            <p:ph type="title"/>
          </p:nvPr>
        </p:nvSpPr>
        <p:spPr/>
        <p:txBody>
          <a:bodyPr/>
          <a:lstStyle/>
          <a:p>
            <a:r>
              <a:rPr lang="en-US" dirty="0"/>
              <a:t>Where do the numbers come from?</a:t>
            </a:r>
          </a:p>
        </p:txBody>
      </p:sp>
      <p:sp>
        <p:nvSpPr>
          <p:cNvPr id="3" name="Text Placeholder 2">
            <a:extLst>
              <a:ext uri="{FF2B5EF4-FFF2-40B4-BE49-F238E27FC236}">
                <a16:creationId xmlns:a16="http://schemas.microsoft.com/office/drawing/2014/main" id="{BA354B0D-DD37-B124-B0CD-C280593BE63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6800711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F00E21B-1982-E0CA-1F9E-8355997AAE51}"/>
              </a:ext>
            </a:extLst>
          </p:cNvPr>
          <p:cNvSpPr>
            <a:spLocks noGrp="1"/>
          </p:cNvSpPr>
          <p:nvPr>
            <p:ph type="sldNum" sz="quarter" idx="11"/>
          </p:nvPr>
        </p:nvSpPr>
        <p:spPr/>
        <p:txBody>
          <a:bodyPr/>
          <a:lstStyle/>
          <a:p>
            <a:fld id="{45C00377-489B-40EC-B059-26BDDD2E89B9}" type="slidenum">
              <a:rPr lang="en-US" smtClean="0"/>
              <a:pPr/>
              <a:t>5</a:t>
            </a:fld>
            <a:endParaRPr lang="en-US" dirty="0"/>
          </a:p>
        </p:txBody>
      </p:sp>
      <p:sp>
        <p:nvSpPr>
          <p:cNvPr id="3" name="Title 1">
            <a:extLst>
              <a:ext uri="{FF2B5EF4-FFF2-40B4-BE49-F238E27FC236}">
                <a16:creationId xmlns:a16="http://schemas.microsoft.com/office/drawing/2014/main" id="{B2604BDD-1EB2-C9AE-AD81-128821271322}"/>
              </a:ext>
            </a:extLst>
          </p:cNvPr>
          <p:cNvSpPr txBox="1">
            <a:spLocks/>
          </p:cNvSpPr>
          <p:nvPr/>
        </p:nvSpPr>
        <p:spPr>
          <a:xfrm>
            <a:off x="838200" y="3110401"/>
            <a:ext cx="10515600" cy="637198"/>
          </a:xfrm>
          <a:prstGeom prst="rect">
            <a:avLst/>
          </a:prstGeom>
        </p:spPr>
        <p:txBody>
          <a:bodyPr/>
          <a:lstStyle>
            <a:lvl1pPr algn="l" defTabSz="914400" rtl="0" eaLnBrk="1" latinLnBrk="0" hangingPunct="1">
              <a:lnSpc>
                <a:spcPct val="90000"/>
              </a:lnSpc>
              <a:spcBef>
                <a:spcPct val="0"/>
              </a:spcBef>
              <a:buNone/>
              <a:defRPr sz="3600" b="1" kern="1200" cap="all" baseline="0">
                <a:solidFill>
                  <a:schemeClr val="tx1"/>
                </a:solidFill>
                <a:latin typeface="+mn-lt"/>
                <a:ea typeface="+mj-ea"/>
                <a:cs typeface="+mj-cs"/>
              </a:defRPr>
            </a:lvl1pPr>
          </a:lstStyle>
          <a:p>
            <a:pPr algn="ctr"/>
            <a:r>
              <a:rPr lang="en-US" dirty="0"/>
              <a:t>How is sports data collected?</a:t>
            </a:r>
          </a:p>
        </p:txBody>
      </p:sp>
    </p:spTree>
    <p:extLst>
      <p:ext uri="{BB962C8B-B14F-4D97-AF65-F5344CB8AC3E}">
        <p14:creationId xmlns:p14="http://schemas.microsoft.com/office/powerpoint/2010/main" val="9441512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E7EFF20-7721-22CF-0B9C-0225448146B6}"/>
              </a:ext>
            </a:extLst>
          </p:cNvPr>
          <p:cNvSpPr>
            <a:spLocks noGrp="1"/>
          </p:cNvSpPr>
          <p:nvPr>
            <p:ph idx="1"/>
          </p:nvPr>
        </p:nvSpPr>
        <p:spPr/>
        <p:txBody>
          <a:bodyPr/>
          <a:lstStyle/>
          <a:p>
            <a:r>
              <a:rPr lang="en-US" dirty="0"/>
              <a:t>Scout with notebook, coach's tactical board, video coding</a:t>
            </a:r>
          </a:p>
          <a:p>
            <a:r>
              <a:rPr lang="en-US" dirty="0"/>
              <a:t>Strengths: Contextual, can capture nuanced behaviors</a:t>
            </a:r>
          </a:p>
          <a:p>
            <a:r>
              <a:rPr lang="en-US" dirty="0"/>
              <a:t>Limitations: Schema determines possibilities, subjective, time-intensive</a:t>
            </a:r>
          </a:p>
        </p:txBody>
      </p:sp>
      <p:sp>
        <p:nvSpPr>
          <p:cNvPr id="4" name="Slide Number Placeholder 3">
            <a:extLst>
              <a:ext uri="{FF2B5EF4-FFF2-40B4-BE49-F238E27FC236}">
                <a16:creationId xmlns:a16="http://schemas.microsoft.com/office/drawing/2014/main" id="{320425CF-433B-BA64-63C0-A6A6E36B0490}"/>
              </a:ext>
            </a:extLst>
          </p:cNvPr>
          <p:cNvSpPr>
            <a:spLocks noGrp="1"/>
          </p:cNvSpPr>
          <p:nvPr>
            <p:ph type="sldNum" sz="quarter" idx="12"/>
          </p:nvPr>
        </p:nvSpPr>
        <p:spPr/>
        <p:txBody>
          <a:bodyPr/>
          <a:lstStyle/>
          <a:p>
            <a:fld id="{45C00377-489B-40EC-B059-26BDDD2E89B9}" type="slidenum">
              <a:rPr lang="en-US" smtClean="0"/>
              <a:pPr/>
              <a:t>6</a:t>
            </a:fld>
            <a:endParaRPr lang="en-US" dirty="0"/>
          </a:p>
        </p:txBody>
      </p:sp>
      <p:sp>
        <p:nvSpPr>
          <p:cNvPr id="2" name="Title 1">
            <a:extLst>
              <a:ext uri="{FF2B5EF4-FFF2-40B4-BE49-F238E27FC236}">
                <a16:creationId xmlns:a16="http://schemas.microsoft.com/office/drawing/2014/main" id="{537E157F-E6F6-FE34-3C0A-A701E167D090}"/>
              </a:ext>
            </a:extLst>
          </p:cNvPr>
          <p:cNvSpPr>
            <a:spLocks noGrp="1"/>
          </p:cNvSpPr>
          <p:nvPr>
            <p:ph type="title"/>
          </p:nvPr>
        </p:nvSpPr>
        <p:spPr/>
        <p:txBody>
          <a:bodyPr/>
          <a:lstStyle/>
          <a:p>
            <a:r>
              <a:rPr lang="en-US" dirty="0"/>
              <a:t>Observational</a:t>
            </a:r>
          </a:p>
        </p:txBody>
      </p:sp>
      <p:pic>
        <p:nvPicPr>
          <p:cNvPr id="5" name="Picture 8" descr="OHSBVA State Final Tournament 2019 - success!! - VolleyWrite">
            <a:extLst>
              <a:ext uri="{FF2B5EF4-FFF2-40B4-BE49-F238E27FC236}">
                <a16:creationId xmlns:a16="http://schemas.microsoft.com/office/drawing/2014/main" id="{BCEFB3CC-B7B4-7D4C-8DB2-40A38A2A31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2491" y="3994202"/>
            <a:ext cx="3247018" cy="2435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87410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2A0E5-0CF0-A515-4182-46C37D4A3C93}"/>
              </a:ext>
            </a:extLst>
          </p:cNvPr>
          <p:cNvSpPr>
            <a:spLocks noGrp="1"/>
          </p:cNvSpPr>
          <p:nvPr>
            <p:ph type="title"/>
          </p:nvPr>
        </p:nvSpPr>
        <p:spPr/>
        <p:txBody>
          <a:bodyPr/>
          <a:lstStyle/>
          <a:p>
            <a:r>
              <a:rPr lang="en-US" dirty="0"/>
              <a:t>Optical tracking systems</a:t>
            </a:r>
          </a:p>
        </p:txBody>
      </p:sp>
      <p:sp>
        <p:nvSpPr>
          <p:cNvPr id="3" name="Content Placeholder 2">
            <a:extLst>
              <a:ext uri="{FF2B5EF4-FFF2-40B4-BE49-F238E27FC236}">
                <a16:creationId xmlns:a16="http://schemas.microsoft.com/office/drawing/2014/main" id="{C82DCC86-8B2E-930C-5CD6-6CAE376A97E7}"/>
              </a:ext>
            </a:extLst>
          </p:cNvPr>
          <p:cNvSpPr>
            <a:spLocks noGrp="1"/>
          </p:cNvSpPr>
          <p:nvPr>
            <p:ph idx="1"/>
          </p:nvPr>
        </p:nvSpPr>
        <p:spPr/>
        <p:txBody>
          <a:bodyPr/>
          <a:lstStyle/>
          <a:p>
            <a:r>
              <a:rPr lang="en-US" dirty="0"/>
              <a:t>Camera-based position tracking (Second Spectrum, Hawk-Eye)</a:t>
            </a:r>
          </a:p>
          <a:p>
            <a:r>
              <a:rPr lang="en-US" dirty="0"/>
              <a:t>Strengths: Spatial precision, non-invasive, every player tracked</a:t>
            </a:r>
          </a:p>
          <a:p>
            <a:r>
              <a:rPr lang="en-US" dirty="0"/>
              <a:t>Limitations: Expensive, venue-dependent, line-of-sight issues</a:t>
            </a:r>
          </a:p>
        </p:txBody>
      </p:sp>
      <p:sp>
        <p:nvSpPr>
          <p:cNvPr id="4" name="Slide Number Placeholder 3">
            <a:extLst>
              <a:ext uri="{FF2B5EF4-FFF2-40B4-BE49-F238E27FC236}">
                <a16:creationId xmlns:a16="http://schemas.microsoft.com/office/drawing/2014/main" id="{E778F1BD-B963-14AD-D214-B25C73DEE686}"/>
              </a:ext>
            </a:extLst>
          </p:cNvPr>
          <p:cNvSpPr>
            <a:spLocks noGrp="1"/>
          </p:cNvSpPr>
          <p:nvPr>
            <p:ph type="sldNum" sz="quarter" idx="12"/>
          </p:nvPr>
        </p:nvSpPr>
        <p:spPr/>
        <p:txBody>
          <a:bodyPr/>
          <a:lstStyle/>
          <a:p>
            <a:fld id="{45C00377-489B-40EC-B059-26BDDD2E89B9}" type="slidenum">
              <a:rPr lang="en-US" smtClean="0"/>
              <a:pPr/>
              <a:t>7</a:t>
            </a:fld>
            <a:endParaRPr lang="en-US" dirty="0"/>
          </a:p>
        </p:txBody>
      </p:sp>
      <p:pic>
        <p:nvPicPr>
          <p:cNvPr id="1026" name="Picture 2" descr="Living Football : Semi-Automated Offside Detection Technology | by ...">
            <a:extLst>
              <a:ext uri="{FF2B5EF4-FFF2-40B4-BE49-F238E27FC236}">
                <a16:creationId xmlns:a16="http://schemas.microsoft.com/office/drawing/2014/main" id="{3BE4FC12-BD53-D465-ADE2-257445F371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57600" y="3693039"/>
            <a:ext cx="4876800" cy="27364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80519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B461E-BED2-4456-185D-41330745D589}"/>
              </a:ext>
            </a:extLst>
          </p:cNvPr>
          <p:cNvSpPr>
            <a:spLocks noGrp="1"/>
          </p:cNvSpPr>
          <p:nvPr>
            <p:ph type="title"/>
          </p:nvPr>
        </p:nvSpPr>
        <p:spPr/>
        <p:txBody>
          <a:bodyPr/>
          <a:lstStyle/>
          <a:p>
            <a:r>
              <a:rPr lang="en-US" dirty="0"/>
              <a:t>Wearable technology</a:t>
            </a:r>
          </a:p>
        </p:txBody>
      </p:sp>
      <p:sp>
        <p:nvSpPr>
          <p:cNvPr id="3" name="Content Placeholder 2">
            <a:extLst>
              <a:ext uri="{FF2B5EF4-FFF2-40B4-BE49-F238E27FC236}">
                <a16:creationId xmlns:a16="http://schemas.microsoft.com/office/drawing/2014/main" id="{000C7D71-267F-C9C5-0EA2-7710866ED0BB}"/>
              </a:ext>
            </a:extLst>
          </p:cNvPr>
          <p:cNvSpPr>
            <a:spLocks noGrp="1"/>
          </p:cNvSpPr>
          <p:nvPr>
            <p:ph idx="1"/>
          </p:nvPr>
        </p:nvSpPr>
        <p:spPr/>
        <p:txBody>
          <a:bodyPr/>
          <a:lstStyle/>
          <a:p>
            <a:r>
              <a:rPr lang="en-US" dirty="0"/>
              <a:t>GPS units, accelerometers, heart rate monitors, IMUs</a:t>
            </a:r>
          </a:p>
          <a:p>
            <a:r>
              <a:rPr lang="en-US" dirty="0"/>
              <a:t>Strengths: Continuous data, objective physiological metrics</a:t>
            </a:r>
          </a:p>
          <a:p>
            <a:r>
              <a:rPr lang="en-US" dirty="0"/>
              <a:t>Limitations: Only captures what sensors detect, requires athlete buy-in</a:t>
            </a:r>
          </a:p>
        </p:txBody>
      </p:sp>
      <p:sp>
        <p:nvSpPr>
          <p:cNvPr id="4" name="Slide Number Placeholder 3">
            <a:extLst>
              <a:ext uri="{FF2B5EF4-FFF2-40B4-BE49-F238E27FC236}">
                <a16:creationId xmlns:a16="http://schemas.microsoft.com/office/drawing/2014/main" id="{5ABA2A9D-1D38-D780-8594-2512E69EF41C}"/>
              </a:ext>
            </a:extLst>
          </p:cNvPr>
          <p:cNvSpPr>
            <a:spLocks noGrp="1"/>
          </p:cNvSpPr>
          <p:nvPr>
            <p:ph type="sldNum" sz="quarter" idx="12"/>
          </p:nvPr>
        </p:nvSpPr>
        <p:spPr/>
        <p:txBody>
          <a:bodyPr/>
          <a:lstStyle/>
          <a:p>
            <a:fld id="{45C00377-489B-40EC-B059-26BDDD2E89B9}" type="slidenum">
              <a:rPr lang="en-US" smtClean="0"/>
              <a:pPr/>
              <a:t>8</a:t>
            </a:fld>
            <a:endParaRPr lang="en-US" dirty="0"/>
          </a:p>
        </p:txBody>
      </p:sp>
      <p:pic>
        <p:nvPicPr>
          <p:cNvPr id="7172" name="Picture 4" descr="CeeDee Lamb Week 14 Route Chart">
            <a:extLst>
              <a:ext uri="{FF2B5EF4-FFF2-40B4-BE49-F238E27FC236}">
                <a16:creationId xmlns:a16="http://schemas.microsoft.com/office/drawing/2014/main" id="{8A98DB42-4D86-BD76-7B5B-F36F2545EA5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25067"/>
          <a:stretch>
            <a:fillRect/>
          </a:stretch>
        </p:blipFill>
        <p:spPr bwMode="auto">
          <a:xfrm>
            <a:off x="6249329" y="3711169"/>
            <a:ext cx="3691054" cy="2765831"/>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NFL Renews With Zebra Technologies For On-Field Player Tracking For Next  Gen Stats">
            <a:extLst>
              <a:ext uri="{FF2B5EF4-FFF2-40B4-BE49-F238E27FC236}">
                <a16:creationId xmlns:a16="http://schemas.microsoft.com/office/drawing/2014/main" id="{F0847104-400A-167B-0144-C85191FB19E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24000" y="3981450"/>
            <a:ext cx="3743325" cy="24955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496332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BD868D-F290-D41F-017D-CC78BB48B130}"/>
              </a:ext>
            </a:extLst>
          </p:cNvPr>
          <p:cNvSpPr>
            <a:spLocks noGrp="1"/>
          </p:cNvSpPr>
          <p:nvPr>
            <p:ph type="title"/>
          </p:nvPr>
        </p:nvSpPr>
        <p:spPr/>
        <p:txBody>
          <a:bodyPr/>
          <a:lstStyle/>
          <a:p>
            <a:r>
              <a:rPr lang="en-US" dirty="0"/>
              <a:t>Laboratory Equipment</a:t>
            </a:r>
          </a:p>
        </p:txBody>
      </p:sp>
      <p:sp>
        <p:nvSpPr>
          <p:cNvPr id="3" name="Content Placeholder 2">
            <a:extLst>
              <a:ext uri="{FF2B5EF4-FFF2-40B4-BE49-F238E27FC236}">
                <a16:creationId xmlns:a16="http://schemas.microsoft.com/office/drawing/2014/main" id="{B1A0005C-E234-D3D0-0721-0BEDD50AFE1D}"/>
              </a:ext>
            </a:extLst>
          </p:cNvPr>
          <p:cNvSpPr>
            <a:spLocks noGrp="1"/>
          </p:cNvSpPr>
          <p:nvPr>
            <p:ph idx="1"/>
          </p:nvPr>
        </p:nvSpPr>
        <p:spPr/>
        <p:txBody>
          <a:bodyPr/>
          <a:lstStyle/>
          <a:p>
            <a:r>
              <a:rPr lang="en-US" dirty="0"/>
              <a:t>Force plates, motion capture, metabolic carts, isokinetic testing</a:t>
            </a:r>
          </a:p>
          <a:p>
            <a:r>
              <a:rPr lang="en-US" dirty="0"/>
              <a:t>Strengths: Gold-standard precision, controlled conditions</a:t>
            </a:r>
          </a:p>
          <a:p>
            <a:r>
              <a:rPr lang="en-US" dirty="0"/>
              <a:t>Limitations: Artificial environment, doesn't capture competition reality</a:t>
            </a:r>
          </a:p>
        </p:txBody>
      </p:sp>
      <p:sp>
        <p:nvSpPr>
          <p:cNvPr id="4" name="Slide Number Placeholder 3">
            <a:extLst>
              <a:ext uri="{FF2B5EF4-FFF2-40B4-BE49-F238E27FC236}">
                <a16:creationId xmlns:a16="http://schemas.microsoft.com/office/drawing/2014/main" id="{DE174B61-C709-B22E-906B-50CED316ECBC}"/>
              </a:ext>
            </a:extLst>
          </p:cNvPr>
          <p:cNvSpPr>
            <a:spLocks noGrp="1"/>
          </p:cNvSpPr>
          <p:nvPr>
            <p:ph type="sldNum" sz="quarter" idx="12"/>
          </p:nvPr>
        </p:nvSpPr>
        <p:spPr/>
        <p:txBody>
          <a:bodyPr/>
          <a:lstStyle/>
          <a:p>
            <a:fld id="{45C00377-489B-40EC-B059-26BDDD2E89B9}" type="slidenum">
              <a:rPr lang="en-US" smtClean="0"/>
              <a:pPr/>
              <a:t>9</a:t>
            </a:fld>
            <a:endParaRPr lang="en-US" dirty="0"/>
          </a:p>
        </p:txBody>
      </p:sp>
      <p:pic>
        <p:nvPicPr>
          <p:cNvPr id="5" name="Picture 4">
            <a:extLst>
              <a:ext uri="{FF2B5EF4-FFF2-40B4-BE49-F238E27FC236}">
                <a16:creationId xmlns:a16="http://schemas.microsoft.com/office/drawing/2014/main" id="{6EA27312-A5DF-983E-CF6C-4E853A0FC799}"/>
              </a:ext>
            </a:extLst>
          </p:cNvPr>
          <p:cNvPicPr>
            <a:picLocks noChangeAspect="1"/>
          </p:cNvPicPr>
          <p:nvPr/>
        </p:nvPicPr>
        <p:blipFill rotWithShape="1">
          <a:blip r:embed="rId3"/>
          <a:srcRect r="17385" b="-3"/>
          <a:stretch/>
        </p:blipFill>
        <p:spPr>
          <a:xfrm>
            <a:off x="4910007" y="3773579"/>
            <a:ext cx="2371985" cy="2655887"/>
          </a:xfrm>
          <a:prstGeom prst="rect">
            <a:avLst/>
          </a:prstGeom>
          <a:noFill/>
        </p:spPr>
      </p:pic>
    </p:spTree>
    <p:extLst>
      <p:ext uri="{BB962C8B-B14F-4D97-AF65-F5344CB8AC3E}">
        <p14:creationId xmlns:p14="http://schemas.microsoft.com/office/powerpoint/2010/main" val="40295117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4ED73F4-D104-466A-88A1-7E877D73A09E}"/>
              </a:ext>
            </a:extLst>
          </p:cNvPr>
          <p:cNvSpPr>
            <a:spLocks noGrp="1"/>
          </p:cNvSpPr>
          <p:nvPr>
            <p:ph type="sldNum" sz="quarter" idx="11"/>
          </p:nvPr>
        </p:nvSpPr>
        <p:spPr/>
        <p:txBody>
          <a:bodyPr/>
          <a:lstStyle/>
          <a:p>
            <a:fld id="{45C00377-489B-40EC-B059-26BDDD2E89B9}" type="slidenum">
              <a:rPr lang="en-US" smtClean="0"/>
              <a:pPr/>
              <a:t>10</a:t>
            </a:fld>
            <a:endParaRPr lang="en-US" dirty="0"/>
          </a:p>
        </p:txBody>
      </p:sp>
      <p:sp>
        <p:nvSpPr>
          <p:cNvPr id="2" name="Title 1">
            <a:extLst>
              <a:ext uri="{FF2B5EF4-FFF2-40B4-BE49-F238E27FC236}">
                <a16:creationId xmlns:a16="http://schemas.microsoft.com/office/drawing/2014/main" id="{1727BF50-FD66-6235-C76B-2B50EB662B38}"/>
              </a:ext>
            </a:extLst>
          </p:cNvPr>
          <p:cNvSpPr>
            <a:spLocks noGrp="1"/>
          </p:cNvSpPr>
          <p:nvPr>
            <p:ph type="title"/>
          </p:nvPr>
        </p:nvSpPr>
        <p:spPr/>
        <p:txBody>
          <a:bodyPr>
            <a:normAutofit fontScale="90000"/>
          </a:bodyPr>
          <a:lstStyle/>
          <a:p>
            <a:r>
              <a:rPr lang="en-US" dirty="0"/>
              <a:t>Who collects Sports data?</a:t>
            </a:r>
          </a:p>
        </p:txBody>
      </p:sp>
    </p:spTree>
    <p:extLst>
      <p:ext uri="{BB962C8B-B14F-4D97-AF65-F5344CB8AC3E}">
        <p14:creationId xmlns:p14="http://schemas.microsoft.com/office/powerpoint/2010/main" val="18680229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19536-34E9-5842-052B-87FE8B515596}"/>
              </a:ext>
            </a:extLst>
          </p:cNvPr>
          <p:cNvSpPr>
            <a:spLocks noGrp="1"/>
          </p:cNvSpPr>
          <p:nvPr>
            <p:ph type="title"/>
          </p:nvPr>
        </p:nvSpPr>
        <p:spPr/>
        <p:txBody>
          <a:bodyPr/>
          <a:lstStyle/>
          <a:p>
            <a:r>
              <a:rPr lang="en-US" dirty="0"/>
              <a:t>League/Competition Providers</a:t>
            </a:r>
          </a:p>
        </p:txBody>
      </p:sp>
      <p:sp>
        <p:nvSpPr>
          <p:cNvPr id="3" name="Content Placeholder 2">
            <a:extLst>
              <a:ext uri="{FF2B5EF4-FFF2-40B4-BE49-F238E27FC236}">
                <a16:creationId xmlns:a16="http://schemas.microsoft.com/office/drawing/2014/main" id="{4329CC1C-2C03-5328-F3F9-C0BA34B8C920}"/>
              </a:ext>
            </a:extLst>
          </p:cNvPr>
          <p:cNvSpPr>
            <a:spLocks noGrp="1"/>
          </p:cNvSpPr>
          <p:nvPr>
            <p:ph idx="1"/>
          </p:nvPr>
        </p:nvSpPr>
        <p:spPr/>
        <p:txBody>
          <a:bodyPr/>
          <a:lstStyle/>
          <a:p>
            <a:r>
              <a:rPr lang="en-US" dirty="0"/>
              <a:t>Leagues may provide standardize data across all teams/matches</a:t>
            </a:r>
          </a:p>
          <a:p>
            <a:pPr lvl="1"/>
            <a:r>
              <a:rPr lang="en-US" dirty="0"/>
              <a:t>Examples: NBA stats, FIFA match data</a:t>
            </a:r>
          </a:p>
          <a:p>
            <a:r>
              <a:rPr lang="en-US" dirty="0"/>
              <a:t>Pros: Consistency, benchmarking</a:t>
            </a:r>
          </a:p>
          <a:p>
            <a:r>
              <a:rPr lang="en-US" dirty="0"/>
              <a:t>Cons: One-size-fits-all, slow to innovate</a:t>
            </a:r>
          </a:p>
        </p:txBody>
      </p:sp>
      <p:sp>
        <p:nvSpPr>
          <p:cNvPr id="4" name="Slide Number Placeholder 3">
            <a:extLst>
              <a:ext uri="{FF2B5EF4-FFF2-40B4-BE49-F238E27FC236}">
                <a16:creationId xmlns:a16="http://schemas.microsoft.com/office/drawing/2014/main" id="{98A81817-B848-C6B6-908F-46D88AFA9CDE}"/>
              </a:ext>
            </a:extLst>
          </p:cNvPr>
          <p:cNvSpPr>
            <a:spLocks noGrp="1"/>
          </p:cNvSpPr>
          <p:nvPr>
            <p:ph type="sldNum" sz="quarter" idx="12"/>
          </p:nvPr>
        </p:nvSpPr>
        <p:spPr/>
        <p:txBody>
          <a:bodyPr/>
          <a:lstStyle/>
          <a:p>
            <a:fld id="{45C00377-489B-40EC-B059-26BDDD2E89B9}" type="slidenum">
              <a:rPr lang="en-US" smtClean="0"/>
              <a:pPr/>
              <a:t>11</a:t>
            </a:fld>
            <a:endParaRPr lang="en-US" dirty="0"/>
          </a:p>
        </p:txBody>
      </p:sp>
      <p:pic>
        <p:nvPicPr>
          <p:cNvPr id="3074" name="Picture 2" descr="The &quot;Iron Man&quot; Streaks From The &quot;Big 4&quot; Pro Sports Leagues | Couch Guy  Sports">
            <a:extLst>
              <a:ext uri="{FF2B5EF4-FFF2-40B4-BE49-F238E27FC236}">
                <a16:creationId xmlns:a16="http://schemas.microsoft.com/office/drawing/2014/main" id="{B9932B65-E64A-92F5-58BB-4924836AA02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53450" y="2881313"/>
            <a:ext cx="2362200" cy="1933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3009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F4240-5AB5-0804-5DC4-0835D7641BEC}"/>
              </a:ext>
            </a:extLst>
          </p:cNvPr>
          <p:cNvSpPr>
            <a:spLocks noGrp="1"/>
          </p:cNvSpPr>
          <p:nvPr>
            <p:ph type="title"/>
          </p:nvPr>
        </p:nvSpPr>
        <p:spPr/>
        <p:txBody>
          <a:bodyPr/>
          <a:lstStyle/>
          <a:p>
            <a:r>
              <a:rPr lang="en-US" dirty="0"/>
              <a:t>Teams (Internal data)</a:t>
            </a:r>
          </a:p>
        </p:txBody>
      </p:sp>
      <p:sp>
        <p:nvSpPr>
          <p:cNvPr id="3" name="Content Placeholder 2">
            <a:extLst>
              <a:ext uri="{FF2B5EF4-FFF2-40B4-BE49-F238E27FC236}">
                <a16:creationId xmlns:a16="http://schemas.microsoft.com/office/drawing/2014/main" id="{6F51AD83-A5A8-0F3A-9C1F-B533758FAD9B}"/>
              </a:ext>
            </a:extLst>
          </p:cNvPr>
          <p:cNvSpPr>
            <a:spLocks noGrp="1"/>
          </p:cNvSpPr>
          <p:nvPr>
            <p:ph idx="1"/>
          </p:nvPr>
        </p:nvSpPr>
        <p:spPr/>
        <p:txBody>
          <a:bodyPr/>
          <a:lstStyle/>
          <a:p>
            <a:r>
              <a:rPr lang="en-US" dirty="0"/>
              <a:t>Teams often try to collect and analyze data to gain a competitive advantage</a:t>
            </a:r>
          </a:p>
          <a:p>
            <a:pPr lvl="1"/>
            <a:r>
              <a:rPr lang="en-US" dirty="0"/>
              <a:t>Examples: Proprietary load monitoring, custom tactical metrics</a:t>
            </a:r>
          </a:p>
          <a:p>
            <a:r>
              <a:rPr lang="en-US" dirty="0"/>
              <a:t>Pros: Tailored to needs, flexibility, privacy</a:t>
            </a:r>
          </a:p>
          <a:p>
            <a:r>
              <a:rPr lang="en-US" dirty="0"/>
              <a:t>Cons: No external benchmarks, siloed innovation, inaccessible for outsiders</a:t>
            </a:r>
          </a:p>
        </p:txBody>
      </p:sp>
      <p:sp>
        <p:nvSpPr>
          <p:cNvPr id="4" name="Slide Number Placeholder 3">
            <a:extLst>
              <a:ext uri="{FF2B5EF4-FFF2-40B4-BE49-F238E27FC236}">
                <a16:creationId xmlns:a16="http://schemas.microsoft.com/office/drawing/2014/main" id="{7B1DE03A-283E-CD8B-49EC-E37FA4C7C30C}"/>
              </a:ext>
            </a:extLst>
          </p:cNvPr>
          <p:cNvSpPr>
            <a:spLocks noGrp="1"/>
          </p:cNvSpPr>
          <p:nvPr>
            <p:ph type="sldNum" sz="quarter" idx="12"/>
          </p:nvPr>
        </p:nvSpPr>
        <p:spPr/>
        <p:txBody>
          <a:bodyPr/>
          <a:lstStyle/>
          <a:p>
            <a:fld id="{45C00377-489B-40EC-B059-26BDDD2E89B9}" type="slidenum">
              <a:rPr lang="en-US" smtClean="0"/>
              <a:pPr/>
              <a:t>12</a:t>
            </a:fld>
            <a:endParaRPr lang="en-US" dirty="0"/>
          </a:p>
        </p:txBody>
      </p:sp>
      <p:pic>
        <p:nvPicPr>
          <p:cNvPr id="6" name="Picture 5">
            <a:extLst>
              <a:ext uri="{FF2B5EF4-FFF2-40B4-BE49-F238E27FC236}">
                <a16:creationId xmlns:a16="http://schemas.microsoft.com/office/drawing/2014/main" id="{A291A8B2-7F0A-0B4B-DB14-B6591625B55E}"/>
              </a:ext>
            </a:extLst>
          </p:cNvPr>
          <p:cNvPicPr>
            <a:picLocks noChangeAspect="1"/>
          </p:cNvPicPr>
          <p:nvPr/>
        </p:nvPicPr>
        <p:blipFill>
          <a:blip r:embed="rId3"/>
          <a:stretch>
            <a:fillRect/>
          </a:stretch>
        </p:blipFill>
        <p:spPr>
          <a:xfrm>
            <a:off x="2503487" y="4914900"/>
            <a:ext cx="1568450" cy="1441450"/>
          </a:xfrm>
          <a:prstGeom prst="rect">
            <a:avLst/>
          </a:prstGeom>
        </p:spPr>
      </p:pic>
      <p:pic>
        <p:nvPicPr>
          <p:cNvPr id="7" name="Picture 6" descr="A black and red logo&#10;&#10;Description automatically generated">
            <a:extLst>
              <a:ext uri="{FF2B5EF4-FFF2-40B4-BE49-F238E27FC236}">
                <a16:creationId xmlns:a16="http://schemas.microsoft.com/office/drawing/2014/main" id="{E465AC3B-EE9C-AF04-727F-0365D0FF0A2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25241" y="5353827"/>
            <a:ext cx="2643668" cy="563595"/>
          </a:xfrm>
          <a:prstGeom prst="rect">
            <a:avLst/>
          </a:prstGeom>
        </p:spPr>
      </p:pic>
    </p:spTree>
    <p:extLst>
      <p:ext uri="{BB962C8B-B14F-4D97-AF65-F5344CB8AC3E}">
        <p14:creationId xmlns:p14="http://schemas.microsoft.com/office/powerpoint/2010/main" val="39197287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01270-0B0D-0182-4AD3-6126C43F0AE5}"/>
              </a:ext>
            </a:extLst>
          </p:cNvPr>
          <p:cNvSpPr>
            <a:spLocks noGrp="1"/>
          </p:cNvSpPr>
          <p:nvPr>
            <p:ph type="title"/>
          </p:nvPr>
        </p:nvSpPr>
        <p:spPr/>
        <p:txBody>
          <a:bodyPr/>
          <a:lstStyle/>
          <a:p>
            <a:r>
              <a:rPr lang="en-US" dirty="0"/>
              <a:t>Third-Party Vendors</a:t>
            </a:r>
          </a:p>
        </p:txBody>
      </p:sp>
      <p:sp>
        <p:nvSpPr>
          <p:cNvPr id="3" name="Content Placeholder 2">
            <a:extLst>
              <a:ext uri="{FF2B5EF4-FFF2-40B4-BE49-F238E27FC236}">
                <a16:creationId xmlns:a16="http://schemas.microsoft.com/office/drawing/2014/main" id="{7AEF37B4-2B7B-F774-0D1E-B1FBD9FDDF9F}"/>
              </a:ext>
            </a:extLst>
          </p:cNvPr>
          <p:cNvSpPr>
            <a:spLocks noGrp="1"/>
          </p:cNvSpPr>
          <p:nvPr>
            <p:ph idx="1"/>
          </p:nvPr>
        </p:nvSpPr>
        <p:spPr/>
        <p:txBody>
          <a:bodyPr/>
          <a:lstStyle/>
          <a:p>
            <a:r>
              <a:rPr lang="en-US" dirty="0"/>
              <a:t>Some businesses sell data collection technology and data analysis software</a:t>
            </a:r>
          </a:p>
          <a:p>
            <a:pPr lvl="1"/>
            <a:r>
              <a:rPr lang="en-US" dirty="0"/>
              <a:t>Opta, Stats Perform, Catapult, </a:t>
            </a:r>
            <a:r>
              <a:rPr lang="en-US" dirty="0" err="1"/>
              <a:t>Kinexon</a:t>
            </a:r>
            <a:r>
              <a:rPr lang="en-US" dirty="0"/>
              <a:t>, etc. </a:t>
            </a:r>
          </a:p>
          <a:p>
            <a:r>
              <a:rPr lang="en-US" dirty="0"/>
              <a:t>Pros: Expertise, scale, cross-sport learning</a:t>
            </a:r>
          </a:p>
          <a:p>
            <a:r>
              <a:rPr lang="en-US" dirty="0"/>
              <a:t>Cons: Black box algorithms, vendor lock-in, no competitive advantage</a:t>
            </a:r>
          </a:p>
        </p:txBody>
      </p:sp>
      <p:sp>
        <p:nvSpPr>
          <p:cNvPr id="4" name="Slide Number Placeholder 3">
            <a:extLst>
              <a:ext uri="{FF2B5EF4-FFF2-40B4-BE49-F238E27FC236}">
                <a16:creationId xmlns:a16="http://schemas.microsoft.com/office/drawing/2014/main" id="{3100D0F3-3D7A-5BC1-CCE1-B7AC90E6CA04}"/>
              </a:ext>
            </a:extLst>
          </p:cNvPr>
          <p:cNvSpPr>
            <a:spLocks noGrp="1"/>
          </p:cNvSpPr>
          <p:nvPr>
            <p:ph type="sldNum" sz="quarter" idx="12"/>
          </p:nvPr>
        </p:nvSpPr>
        <p:spPr/>
        <p:txBody>
          <a:bodyPr/>
          <a:lstStyle/>
          <a:p>
            <a:fld id="{45C00377-489B-40EC-B059-26BDDD2E89B9}" type="slidenum">
              <a:rPr lang="en-US" smtClean="0"/>
              <a:pPr/>
              <a:t>13</a:t>
            </a:fld>
            <a:endParaRPr lang="en-US" dirty="0"/>
          </a:p>
        </p:txBody>
      </p:sp>
      <p:pic>
        <p:nvPicPr>
          <p:cNvPr id="5122" name="Picture 2" descr="Who Will Win La Liga in 2024-25? The Opta Stats, Insights and Predictions |  Opta Analyst">
            <a:extLst>
              <a:ext uri="{FF2B5EF4-FFF2-40B4-BE49-F238E27FC236}">
                <a16:creationId xmlns:a16="http://schemas.microsoft.com/office/drawing/2014/main" id="{45290211-E936-205A-C983-67FAEEF220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43880" y="4086863"/>
            <a:ext cx="3123470" cy="23426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E5C6C06A-098A-361F-00AE-4B7143D1483A}"/>
              </a:ext>
            </a:extLst>
          </p:cNvPr>
          <p:cNvPicPr>
            <a:picLocks noChangeAspect="1"/>
          </p:cNvPicPr>
          <p:nvPr/>
        </p:nvPicPr>
        <p:blipFill>
          <a:blip r:embed="rId4"/>
          <a:stretch>
            <a:fillRect/>
          </a:stretch>
        </p:blipFill>
        <p:spPr>
          <a:xfrm>
            <a:off x="6282553" y="4163353"/>
            <a:ext cx="3565567" cy="2375559"/>
          </a:xfrm>
          <a:prstGeom prst="rect">
            <a:avLst/>
          </a:prstGeom>
        </p:spPr>
      </p:pic>
    </p:spTree>
    <p:extLst>
      <p:ext uri="{BB962C8B-B14F-4D97-AF65-F5344CB8AC3E}">
        <p14:creationId xmlns:p14="http://schemas.microsoft.com/office/powerpoint/2010/main" val="21696664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1AA765-A1A4-3911-3A6E-15C2E6CDB6E8}"/>
              </a:ext>
            </a:extLst>
          </p:cNvPr>
          <p:cNvSpPr>
            <a:spLocks noGrp="1"/>
          </p:cNvSpPr>
          <p:nvPr>
            <p:ph type="title"/>
          </p:nvPr>
        </p:nvSpPr>
        <p:spPr/>
        <p:txBody>
          <a:bodyPr/>
          <a:lstStyle/>
          <a:p>
            <a:r>
              <a:rPr lang="en-US" dirty="0"/>
              <a:t>Academic/Research Institutions</a:t>
            </a:r>
          </a:p>
        </p:txBody>
      </p:sp>
      <p:sp>
        <p:nvSpPr>
          <p:cNvPr id="3" name="Content Placeholder 2">
            <a:extLst>
              <a:ext uri="{FF2B5EF4-FFF2-40B4-BE49-F238E27FC236}">
                <a16:creationId xmlns:a16="http://schemas.microsoft.com/office/drawing/2014/main" id="{B1474CED-49EF-2AE7-D405-CAD7A8090F26}"/>
              </a:ext>
            </a:extLst>
          </p:cNvPr>
          <p:cNvSpPr>
            <a:spLocks noGrp="1"/>
          </p:cNvSpPr>
          <p:nvPr>
            <p:ph idx="1"/>
          </p:nvPr>
        </p:nvSpPr>
        <p:spPr/>
        <p:txBody>
          <a:bodyPr/>
          <a:lstStyle/>
          <a:p>
            <a:r>
              <a:rPr lang="en-US" dirty="0"/>
              <a:t>Research institutions prioritize methodological rigor.</a:t>
            </a:r>
          </a:p>
          <a:p>
            <a:r>
              <a:rPr lang="en-US" dirty="0"/>
              <a:t>Pros: Reliable methods, scientific collaboration</a:t>
            </a:r>
          </a:p>
          <a:p>
            <a:r>
              <a:rPr lang="en-US" dirty="0"/>
              <a:t>Cons: Limited samples, specific contexts, slow dissemination</a:t>
            </a:r>
          </a:p>
        </p:txBody>
      </p:sp>
      <p:sp>
        <p:nvSpPr>
          <p:cNvPr id="4" name="Slide Number Placeholder 3">
            <a:extLst>
              <a:ext uri="{FF2B5EF4-FFF2-40B4-BE49-F238E27FC236}">
                <a16:creationId xmlns:a16="http://schemas.microsoft.com/office/drawing/2014/main" id="{604A0497-67F7-FFFD-0541-58B52D16B579}"/>
              </a:ext>
            </a:extLst>
          </p:cNvPr>
          <p:cNvSpPr>
            <a:spLocks noGrp="1"/>
          </p:cNvSpPr>
          <p:nvPr>
            <p:ph type="sldNum" sz="quarter" idx="12"/>
          </p:nvPr>
        </p:nvSpPr>
        <p:spPr/>
        <p:txBody>
          <a:bodyPr/>
          <a:lstStyle/>
          <a:p>
            <a:fld id="{45C00377-489B-40EC-B059-26BDDD2E89B9}" type="slidenum">
              <a:rPr lang="en-US" smtClean="0"/>
              <a:pPr/>
              <a:t>14</a:t>
            </a:fld>
            <a:endParaRPr lang="en-US" dirty="0"/>
          </a:p>
        </p:txBody>
      </p:sp>
    </p:spTree>
    <p:extLst>
      <p:ext uri="{BB962C8B-B14F-4D97-AF65-F5344CB8AC3E}">
        <p14:creationId xmlns:p14="http://schemas.microsoft.com/office/powerpoint/2010/main" val="21563520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BC26FE-6584-0BAF-62AF-B4AC78ADB46C}"/>
              </a:ext>
            </a:extLst>
          </p:cNvPr>
          <p:cNvSpPr>
            <a:spLocks noGrp="1"/>
          </p:cNvSpPr>
          <p:nvPr>
            <p:ph type="title"/>
          </p:nvPr>
        </p:nvSpPr>
        <p:spPr/>
        <p:txBody>
          <a:bodyPr/>
          <a:lstStyle/>
          <a:p>
            <a:r>
              <a:rPr lang="en-US" dirty="0"/>
              <a:t>Primary Data Collection</a:t>
            </a:r>
          </a:p>
        </p:txBody>
      </p:sp>
      <p:sp>
        <p:nvSpPr>
          <p:cNvPr id="3" name="Content Placeholder 2">
            <a:extLst>
              <a:ext uri="{FF2B5EF4-FFF2-40B4-BE49-F238E27FC236}">
                <a16:creationId xmlns:a16="http://schemas.microsoft.com/office/drawing/2014/main" id="{3DE7104B-4511-3721-F3A7-7B2A6AD39306}"/>
              </a:ext>
            </a:extLst>
          </p:cNvPr>
          <p:cNvSpPr>
            <a:spLocks noGrp="1"/>
          </p:cNvSpPr>
          <p:nvPr>
            <p:ph idx="1"/>
          </p:nvPr>
        </p:nvSpPr>
        <p:spPr/>
        <p:txBody>
          <a:bodyPr/>
          <a:lstStyle/>
          <a:p>
            <a:r>
              <a:rPr lang="en-US" dirty="0"/>
              <a:t>You collect data for a specific question or use case</a:t>
            </a:r>
          </a:p>
          <a:p>
            <a:r>
              <a:rPr lang="en-US" dirty="0"/>
              <a:t>Pros: Full control over what and how data are collected</a:t>
            </a:r>
          </a:p>
          <a:p>
            <a:r>
              <a:rPr lang="en-US" dirty="0"/>
              <a:t>Cons: Time and resource intensive, access can be a challenge</a:t>
            </a:r>
          </a:p>
        </p:txBody>
      </p:sp>
      <p:sp>
        <p:nvSpPr>
          <p:cNvPr id="4" name="Slide Number Placeholder 3">
            <a:extLst>
              <a:ext uri="{FF2B5EF4-FFF2-40B4-BE49-F238E27FC236}">
                <a16:creationId xmlns:a16="http://schemas.microsoft.com/office/drawing/2014/main" id="{4D56EB42-4DB8-74F5-1CA9-CBF0D4F6324B}"/>
              </a:ext>
            </a:extLst>
          </p:cNvPr>
          <p:cNvSpPr>
            <a:spLocks noGrp="1"/>
          </p:cNvSpPr>
          <p:nvPr>
            <p:ph type="sldNum" sz="quarter" idx="12"/>
          </p:nvPr>
        </p:nvSpPr>
        <p:spPr/>
        <p:txBody>
          <a:bodyPr/>
          <a:lstStyle/>
          <a:p>
            <a:fld id="{45C00377-489B-40EC-B059-26BDDD2E89B9}" type="slidenum">
              <a:rPr lang="en-US" smtClean="0"/>
              <a:pPr/>
              <a:t>15</a:t>
            </a:fld>
            <a:endParaRPr lang="en-US" dirty="0"/>
          </a:p>
        </p:txBody>
      </p:sp>
      <p:pic>
        <p:nvPicPr>
          <p:cNvPr id="5" name="Picture 4">
            <a:extLst>
              <a:ext uri="{FF2B5EF4-FFF2-40B4-BE49-F238E27FC236}">
                <a16:creationId xmlns:a16="http://schemas.microsoft.com/office/drawing/2014/main" id="{5076D17C-A4CA-53C4-1724-ADF37768C988}"/>
              </a:ext>
            </a:extLst>
          </p:cNvPr>
          <p:cNvPicPr>
            <a:picLocks noChangeAspect="1"/>
          </p:cNvPicPr>
          <p:nvPr/>
        </p:nvPicPr>
        <p:blipFill>
          <a:blip r:embed="rId2"/>
          <a:stretch>
            <a:fillRect/>
          </a:stretch>
        </p:blipFill>
        <p:spPr>
          <a:xfrm>
            <a:off x="9090391" y="2182980"/>
            <a:ext cx="2778489" cy="3733800"/>
          </a:xfrm>
          <a:prstGeom prst="rect">
            <a:avLst/>
          </a:prstGeom>
        </p:spPr>
      </p:pic>
    </p:spTree>
    <p:extLst>
      <p:ext uri="{BB962C8B-B14F-4D97-AF65-F5344CB8AC3E}">
        <p14:creationId xmlns:p14="http://schemas.microsoft.com/office/powerpoint/2010/main" val="10292998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61399-F7E4-3B7C-4102-4BA4F556C78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5C6760E-6BE1-4188-1D2A-C4BBD2441A0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7917000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25BE8F-7B77-BB8D-015E-32379697BA19}"/>
              </a:ext>
            </a:extLst>
          </p:cNvPr>
          <p:cNvSpPr>
            <a:spLocks noGrp="1"/>
          </p:cNvSpPr>
          <p:nvPr>
            <p:ph type="title"/>
          </p:nvPr>
        </p:nvSpPr>
        <p:spPr/>
        <p:txBody>
          <a:bodyPr/>
          <a:lstStyle/>
          <a:p>
            <a:r>
              <a:rPr lang="en-US" dirty="0"/>
              <a:t>Where does Sports Data Come From?</a:t>
            </a:r>
          </a:p>
        </p:txBody>
      </p:sp>
      <p:sp>
        <p:nvSpPr>
          <p:cNvPr id="3" name="Content Placeholder 2">
            <a:extLst>
              <a:ext uri="{FF2B5EF4-FFF2-40B4-BE49-F238E27FC236}">
                <a16:creationId xmlns:a16="http://schemas.microsoft.com/office/drawing/2014/main" id="{B4AF9934-70B9-FDF2-D3D2-0E2FCD7118AF}"/>
              </a:ext>
            </a:extLst>
          </p:cNvPr>
          <p:cNvSpPr>
            <a:spLocks noGrp="1"/>
          </p:cNvSpPr>
          <p:nvPr>
            <p:ph idx="1"/>
          </p:nvPr>
        </p:nvSpPr>
        <p:spPr>
          <a:xfrm>
            <a:off x="838200" y="1441939"/>
            <a:ext cx="10515600" cy="3389142"/>
          </a:xfrm>
        </p:spPr>
        <p:txBody>
          <a:bodyPr numCol="2">
            <a:normAutofit/>
          </a:bodyPr>
          <a:lstStyle/>
          <a:p>
            <a:pPr marL="0" indent="0">
              <a:buNone/>
            </a:pPr>
            <a:r>
              <a:rPr lang="en-US" dirty="0"/>
              <a:t>Human-recorded data</a:t>
            </a:r>
          </a:p>
          <a:p>
            <a:r>
              <a:rPr lang="en-US" dirty="0"/>
              <a:t>Examples:</a:t>
            </a:r>
          </a:p>
          <a:p>
            <a:pPr lvl="1"/>
            <a:r>
              <a:rPr lang="en-US" dirty="0"/>
              <a:t>Scouting grades </a:t>
            </a:r>
          </a:p>
          <a:p>
            <a:pPr lvl="1"/>
            <a:r>
              <a:rPr lang="en-US" dirty="0"/>
              <a:t>Notational analysis </a:t>
            </a:r>
          </a:p>
          <a:p>
            <a:pPr lvl="1"/>
            <a:r>
              <a:rPr lang="en-US" dirty="0"/>
              <a:t>Coach observations </a:t>
            </a:r>
          </a:p>
          <a:p>
            <a:pPr lvl="1"/>
            <a:r>
              <a:rPr lang="en-US" dirty="0"/>
              <a:t>Injury or participation records </a:t>
            </a:r>
          </a:p>
          <a:p>
            <a:pPr lvl="1"/>
            <a:r>
              <a:rPr lang="en-US" dirty="0"/>
              <a:t>Event tagging </a:t>
            </a:r>
          </a:p>
          <a:p>
            <a:pPr marL="0" indent="0">
              <a:buNone/>
            </a:pPr>
            <a:r>
              <a:rPr lang="en-US" dirty="0"/>
              <a:t>Instrument-generated data</a:t>
            </a:r>
          </a:p>
          <a:p>
            <a:r>
              <a:rPr lang="en-US" dirty="0"/>
              <a:t>Examples:</a:t>
            </a:r>
          </a:p>
          <a:p>
            <a:pPr lvl="1"/>
            <a:r>
              <a:rPr lang="en-US" dirty="0"/>
              <a:t>GPS or local positioning systems </a:t>
            </a:r>
          </a:p>
          <a:p>
            <a:pPr lvl="1"/>
            <a:r>
              <a:rPr lang="en-US" dirty="0"/>
              <a:t>Optical tracking </a:t>
            </a:r>
          </a:p>
          <a:p>
            <a:pPr lvl="1"/>
            <a:r>
              <a:rPr lang="en-US" dirty="0"/>
              <a:t>Force plates </a:t>
            </a:r>
          </a:p>
          <a:p>
            <a:pPr lvl="1"/>
            <a:r>
              <a:rPr lang="en-US" dirty="0"/>
              <a:t>Heart-rate monitors </a:t>
            </a:r>
          </a:p>
          <a:p>
            <a:pPr lvl="1"/>
            <a:r>
              <a:rPr lang="en-US" dirty="0"/>
              <a:t>Timing systems</a:t>
            </a:r>
          </a:p>
        </p:txBody>
      </p:sp>
    </p:spTree>
    <p:extLst>
      <p:ext uri="{BB962C8B-B14F-4D97-AF65-F5344CB8AC3E}">
        <p14:creationId xmlns:p14="http://schemas.microsoft.com/office/powerpoint/2010/main" val="5018226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446BD-B47B-3F1A-CF07-4C0CF5A830B3}"/>
              </a:ext>
            </a:extLst>
          </p:cNvPr>
          <p:cNvSpPr>
            <a:spLocks noGrp="1"/>
          </p:cNvSpPr>
          <p:nvPr>
            <p:ph type="title"/>
          </p:nvPr>
        </p:nvSpPr>
        <p:spPr/>
        <p:txBody>
          <a:bodyPr/>
          <a:lstStyle/>
          <a:p>
            <a:r>
              <a:rPr lang="en-US" dirty="0"/>
              <a:t>Event </a:t>
            </a:r>
            <a:r>
              <a:rPr lang="en-US" dirty="0">
                <a:sym typeface="Wingdings" panose="05000000000000000000" pitchFamily="2" charset="2"/>
              </a:rPr>
              <a:t> Dataset</a:t>
            </a:r>
            <a:endParaRPr lang="en-US" dirty="0"/>
          </a:p>
        </p:txBody>
      </p:sp>
      <p:sp>
        <p:nvSpPr>
          <p:cNvPr id="3" name="Content Placeholder 2">
            <a:extLst>
              <a:ext uri="{FF2B5EF4-FFF2-40B4-BE49-F238E27FC236}">
                <a16:creationId xmlns:a16="http://schemas.microsoft.com/office/drawing/2014/main" id="{0457117C-B714-3289-DBC3-DCB4D3742F5A}"/>
              </a:ext>
            </a:extLst>
          </p:cNvPr>
          <p:cNvSpPr>
            <a:spLocks noGrp="1"/>
          </p:cNvSpPr>
          <p:nvPr>
            <p:ph idx="1"/>
          </p:nvPr>
        </p:nvSpPr>
        <p:spPr/>
        <p:txBody>
          <a:bodyPr/>
          <a:lstStyle/>
          <a:p>
            <a:r>
              <a:rPr lang="en-US" dirty="0"/>
              <a:t>A player performs a jump → force plates record force → software identifies takeoff → an equation estimates jump height → one jump-height value appears in a table.</a:t>
            </a:r>
          </a:p>
        </p:txBody>
      </p:sp>
    </p:spTree>
    <p:extLst>
      <p:ext uri="{BB962C8B-B14F-4D97-AF65-F5344CB8AC3E}">
        <p14:creationId xmlns:p14="http://schemas.microsoft.com/office/powerpoint/2010/main" val="17956466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6EB5-FEC2-47DE-01A3-F0E170543F3C}"/>
              </a:ext>
            </a:extLst>
          </p:cNvPr>
          <p:cNvSpPr>
            <a:spLocks noGrp="1"/>
          </p:cNvSpPr>
          <p:nvPr>
            <p:ph type="title"/>
          </p:nvPr>
        </p:nvSpPr>
        <p:spPr/>
        <p:txBody>
          <a:bodyPr>
            <a:normAutofit/>
          </a:bodyPr>
          <a:lstStyle/>
          <a:p>
            <a:r>
              <a:rPr lang="en-GB"/>
              <a:t>Summary &amp; Looking Ahead</a:t>
            </a:r>
            <a:endParaRPr lang="en-US"/>
          </a:p>
        </p:txBody>
      </p:sp>
      <p:sp>
        <p:nvSpPr>
          <p:cNvPr id="3" name="Content Placeholder 2">
            <a:extLst>
              <a:ext uri="{FF2B5EF4-FFF2-40B4-BE49-F238E27FC236}">
                <a16:creationId xmlns:a16="http://schemas.microsoft.com/office/drawing/2014/main" id="{B7781857-C6C4-CF29-7D9F-C7FCD74ECA0D}"/>
              </a:ext>
            </a:extLst>
          </p:cNvPr>
          <p:cNvSpPr>
            <a:spLocks noGrp="1"/>
          </p:cNvSpPr>
          <p:nvPr>
            <p:ph idx="1"/>
          </p:nvPr>
        </p:nvSpPr>
        <p:spPr/>
        <p:txBody>
          <a:bodyPr/>
          <a:lstStyle/>
          <a:p>
            <a:r>
              <a:rPr lang="en-US" dirty="0"/>
              <a:t>The three domains describe where sport analytics is applied.</a:t>
            </a:r>
          </a:p>
          <a:p>
            <a:r>
              <a:rPr lang="en-US" dirty="0"/>
              <a:t>Descriptive, diagnostic, predictive, and prescriptive questions describe what the analysis is intended to accomplish.</a:t>
            </a:r>
          </a:p>
          <a:p>
            <a:pPr lvl="1"/>
            <a:r>
              <a:rPr lang="en-US" dirty="0"/>
              <a:t>These purposes are connected, but not every analysis requires all four.</a:t>
            </a:r>
          </a:p>
          <a:p>
            <a:r>
              <a:rPr lang="en-US" dirty="0"/>
              <a:t>The most valuable analysis is the one that provides credible evidence for a meaningful decision.</a:t>
            </a:r>
          </a:p>
          <a:p>
            <a:r>
              <a:rPr lang="en-US" dirty="0"/>
              <a:t>Next: Turning practitioner concerns into clear, testable analytical questions</a:t>
            </a:r>
          </a:p>
        </p:txBody>
      </p:sp>
    </p:spTree>
    <p:extLst>
      <p:ext uri="{BB962C8B-B14F-4D97-AF65-F5344CB8AC3E}">
        <p14:creationId xmlns:p14="http://schemas.microsoft.com/office/powerpoint/2010/main" val="22066921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1334</TotalTime>
  <Words>917</Words>
  <Application>Microsoft Office PowerPoint</Application>
  <PresentationFormat>Widescreen</PresentationFormat>
  <Paragraphs>153</Paragraphs>
  <Slides>19</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Aptos Display</vt:lpstr>
      <vt:lpstr>Arial</vt:lpstr>
      <vt:lpstr>Wingdings</vt:lpstr>
      <vt:lpstr>Office Theme</vt:lpstr>
      <vt:lpstr>Generating and Collecting Sports Data</vt:lpstr>
      <vt:lpstr>Case Study 1</vt:lpstr>
      <vt:lpstr>Analytics Project</vt:lpstr>
      <vt:lpstr>Where do the numbers come from?</vt:lpstr>
      <vt:lpstr>PowerPoint Presentation</vt:lpstr>
      <vt:lpstr>Observational</vt:lpstr>
      <vt:lpstr>Optical tracking systems</vt:lpstr>
      <vt:lpstr>Wearable technology</vt:lpstr>
      <vt:lpstr>Laboratory Equipment</vt:lpstr>
      <vt:lpstr>Who collects Sports data?</vt:lpstr>
      <vt:lpstr>League/Competition Providers</vt:lpstr>
      <vt:lpstr>Teams (Internal data)</vt:lpstr>
      <vt:lpstr>Third-Party Vendors</vt:lpstr>
      <vt:lpstr>Academic/Research Institutions</vt:lpstr>
      <vt:lpstr>Primary Data Collection</vt:lpstr>
      <vt:lpstr>PowerPoint Presentation</vt:lpstr>
      <vt:lpstr>Where does Sports Data Come From?</vt:lpstr>
      <vt:lpstr>Event  Dataset</vt:lpstr>
      <vt:lpstr>Summary &amp; Looking Ahead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Onishi, Saryu</dc:creator>
  <cp:lastModifiedBy>Author</cp:lastModifiedBy>
  <cp:revision>13</cp:revision>
  <dcterms:created xsi:type="dcterms:W3CDTF">2026-08-17T13:48:23Z</dcterms:created>
  <dcterms:modified xsi:type="dcterms:W3CDTF">2026-08-29T21:06:49Z</dcterms:modified>
</cp:coreProperties>
</file>