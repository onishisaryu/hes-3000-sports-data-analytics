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302" r:id="rId3"/>
    <p:sldId id="322" r:id="rId4"/>
    <p:sldId id="323" r:id="rId5"/>
    <p:sldId id="300" r:id="rId6"/>
    <p:sldId id="317" r:id="rId7"/>
    <p:sldId id="318" r:id="rId8"/>
    <p:sldId id="319" r:id="rId9"/>
    <p:sldId id="316" r:id="rId10"/>
    <p:sldId id="295" r:id="rId11"/>
    <p:sldId id="325" r:id="rId12"/>
    <p:sldId id="299" r:id="rId13"/>
    <p:sldId id="304" r:id="rId14"/>
    <p:sldId id="324" r:id="rId15"/>
    <p:sldId id="326" r:id="rId16"/>
    <p:sldId id="307" r:id="rId17"/>
    <p:sldId id="331" r:id="rId18"/>
    <p:sldId id="327" r:id="rId19"/>
    <p:sldId id="328" r:id="rId20"/>
    <p:sldId id="329" r:id="rId21"/>
    <p:sldId id="330" r:id="rId22"/>
    <p:sldId id="301" r:id="rId23"/>
    <p:sldId id="303" r:id="rId24"/>
    <p:sldId id="298" r:id="rId25"/>
    <p:sldId id="29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05"/>
    <p:restoredTop sz="74247"/>
  </p:normalViewPr>
  <p:slideViewPr>
    <p:cSldViewPr snapToGrid="0">
      <p:cViewPr varScale="1">
        <p:scale>
          <a:sx n="87" d="100"/>
          <a:sy n="87" d="100"/>
        </p:scale>
        <p:origin x="894" y="7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5A223-E7C9-A243-9A70-FE01E1A1DD65}" type="datetimeFigureOut">
              <a:rPr lang="en-US" smtClean="0"/>
              <a:t>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7D17FD-8842-8E4F-8C3E-EC8B634B2D5A}" type="slidenum">
              <a:rPr lang="en-US" smtClean="0"/>
              <a:t>‹#›</a:t>
            </a:fld>
            <a:endParaRPr lang="en-US"/>
          </a:p>
        </p:txBody>
      </p:sp>
    </p:spTree>
    <p:extLst>
      <p:ext uri="{BB962C8B-B14F-4D97-AF65-F5344CB8AC3E}">
        <p14:creationId xmlns:p14="http://schemas.microsoft.com/office/powerpoint/2010/main" val="200388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Overview of the three domains (Tracking, Scouting, Strategy) and how data changes sports decisions.</a:t>
            </a:r>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a:t>
            </a:fld>
            <a:endParaRPr lang="en-US"/>
          </a:p>
        </p:txBody>
      </p:sp>
    </p:spTree>
    <p:extLst>
      <p:ext uri="{BB962C8B-B14F-4D97-AF65-F5344CB8AC3E}">
        <p14:creationId xmlns:p14="http://schemas.microsoft.com/office/powerpoint/2010/main" val="248245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generated through specific methods, with unique constraints</a:t>
            </a:r>
          </a:p>
          <a:p>
            <a:r>
              <a:rPr lang="en-US" dirty="0"/>
              <a:t>Data may be locked behind paywalls or within organizations</a:t>
            </a:r>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3</a:t>
            </a:fld>
            <a:endParaRPr lang="en-US"/>
          </a:p>
        </p:txBody>
      </p:sp>
    </p:spTree>
    <p:extLst>
      <p:ext uri="{BB962C8B-B14F-4D97-AF65-F5344CB8AC3E}">
        <p14:creationId xmlns:p14="http://schemas.microsoft.com/office/powerpoint/2010/main" val="1992242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Obviously, many sports leagues collect data.</a:t>
            </a:r>
          </a:p>
          <a:p>
            <a:endParaRPr lang="en-US" dirty="0"/>
          </a:p>
          <a:p>
            <a:r>
              <a:rPr lang="en-US" dirty="0"/>
              <a:t>Not only for business but also for performance! Eg: </a:t>
            </a:r>
            <a:r>
              <a:rPr lang="en-US" dirty="0" err="1"/>
              <a:t>nextgen</a:t>
            </a:r>
            <a:r>
              <a:rPr lang="en-US" dirty="0"/>
              <a:t> stats</a:t>
            </a:r>
          </a:p>
          <a:p>
            <a:endParaRPr lang="en-US" dirty="0"/>
          </a:p>
          <a:p>
            <a:r>
              <a:rPr lang="en-US" dirty="0"/>
              <a:t>This is how they control game data. data is distributed to teams </a:t>
            </a:r>
          </a:p>
          <a:p>
            <a:endParaRPr lang="en-US" dirty="0"/>
          </a:p>
          <a:p>
            <a:r>
              <a:rPr lang="en-US" dirty="0"/>
              <a:t>Consistency is a major benefit</a:t>
            </a:r>
          </a:p>
          <a:p>
            <a:endParaRPr lang="en-US" dirty="0"/>
          </a:p>
          <a:p>
            <a:r>
              <a:rPr lang="en-US" dirty="0"/>
              <a:t>Might not get what you need from the one size fits all approach</a:t>
            </a:r>
          </a:p>
        </p:txBody>
      </p:sp>
      <p:sp>
        <p:nvSpPr>
          <p:cNvPr id="4" name="Slide Number Placeholder 3"/>
          <p:cNvSpPr>
            <a:spLocks noGrp="1"/>
          </p:cNvSpPr>
          <p:nvPr>
            <p:ph type="sldNum" sz="quarter" idx="5"/>
          </p:nvPr>
        </p:nvSpPr>
        <p:spPr/>
        <p:txBody>
          <a:bodyPr/>
          <a:lstStyle/>
          <a:p>
            <a:fld id="{1560C251-82B7-4253-A774-38D73C276BCE}" type="slidenum">
              <a:rPr lang="en-US" smtClean="0"/>
              <a:t>5</a:t>
            </a:fld>
            <a:endParaRPr lang="en-US" dirty="0"/>
          </a:p>
        </p:txBody>
      </p:sp>
    </p:spTree>
    <p:extLst>
      <p:ext uri="{BB962C8B-B14F-4D97-AF65-F5344CB8AC3E}">
        <p14:creationId xmlns:p14="http://schemas.microsoft.com/office/powerpoint/2010/main" val="543848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teams may have more specific needs, they collect their own data</a:t>
            </a:r>
          </a:p>
          <a:p>
            <a:endParaRPr lang="en-US" dirty="0"/>
          </a:p>
          <a:p>
            <a:r>
              <a:rPr lang="en-US" dirty="0"/>
              <a:t>Its all about the competitive adv</a:t>
            </a:r>
          </a:p>
          <a:p>
            <a:endParaRPr lang="en-US" dirty="0"/>
          </a:p>
          <a:p>
            <a:r>
              <a:rPr lang="en-US" dirty="0"/>
              <a:t>Great for the team</a:t>
            </a:r>
          </a:p>
          <a:p>
            <a:endParaRPr lang="en-US" dirty="0"/>
          </a:p>
          <a:p>
            <a:r>
              <a:rPr lang="en-US" dirty="0"/>
              <a:t>Difficult for anyone outside to use that</a:t>
            </a:r>
          </a:p>
        </p:txBody>
      </p:sp>
      <p:sp>
        <p:nvSpPr>
          <p:cNvPr id="4" name="Slide Number Placeholder 3"/>
          <p:cNvSpPr>
            <a:spLocks noGrp="1"/>
          </p:cNvSpPr>
          <p:nvPr>
            <p:ph type="sldNum" sz="quarter" idx="5"/>
          </p:nvPr>
        </p:nvSpPr>
        <p:spPr/>
        <p:txBody>
          <a:bodyPr/>
          <a:lstStyle/>
          <a:p>
            <a:fld id="{1560C251-82B7-4253-A774-38D73C276BCE}" type="slidenum">
              <a:rPr lang="en-US" smtClean="0"/>
              <a:t>6</a:t>
            </a:fld>
            <a:endParaRPr lang="en-US" dirty="0"/>
          </a:p>
        </p:txBody>
      </p:sp>
    </p:spTree>
    <p:extLst>
      <p:ext uri="{BB962C8B-B14F-4D97-AF65-F5344CB8AC3E}">
        <p14:creationId xmlns:p14="http://schemas.microsoft.com/office/powerpoint/2010/main" val="3860463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(leagues and teams) buy data from companies. </a:t>
            </a:r>
          </a:p>
          <a:p>
            <a:endParaRPr lang="en-US" dirty="0"/>
          </a:p>
          <a:p>
            <a:r>
              <a:rPr lang="en-US" dirty="0"/>
              <a:t>Its </a:t>
            </a:r>
            <a:r>
              <a:rPr lang="en-US" dirty="0" err="1"/>
              <a:t>unreasobale</a:t>
            </a:r>
            <a:r>
              <a:rPr lang="en-US" dirty="0"/>
              <a:t> to develop own tech to collect, or to do observational for everything</a:t>
            </a:r>
          </a:p>
          <a:p>
            <a:endParaRPr lang="en-US" dirty="0"/>
          </a:p>
          <a:p>
            <a:r>
              <a:rPr lang="en-US" dirty="0"/>
              <a:t>These data gets integrated into systems</a:t>
            </a:r>
          </a:p>
          <a:p>
            <a:endParaRPr lang="en-US" dirty="0"/>
          </a:p>
          <a:p>
            <a:r>
              <a:rPr lang="en-US" dirty="0"/>
              <a:t>This offloads </a:t>
            </a:r>
            <a:r>
              <a:rPr lang="en-US" dirty="0" err="1"/>
              <a:t>responability</a:t>
            </a:r>
            <a:r>
              <a:rPr lang="en-US" dirty="0"/>
              <a:t> and expertise</a:t>
            </a:r>
          </a:p>
          <a:p>
            <a:endParaRPr lang="en-US" dirty="0"/>
          </a:p>
          <a:p>
            <a:r>
              <a:rPr lang="en-US" dirty="0"/>
              <a:t>Offloading / outsourcing means giving up control and to some degree, competitive advantage</a:t>
            </a:r>
          </a:p>
        </p:txBody>
      </p:sp>
      <p:sp>
        <p:nvSpPr>
          <p:cNvPr id="4" name="Slide Number Placeholder 3"/>
          <p:cNvSpPr>
            <a:spLocks noGrp="1"/>
          </p:cNvSpPr>
          <p:nvPr>
            <p:ph type="sldNum" sz="quarter" idx="5"/>
          </p:nvPr>
        </p:nvSpPr>
        <p:spPr/>
        <p:txBody>
          <a:bodyPr/>
          <a:lstStyle/>
          <a:p>
            <a:fld id="{1560C251-82B7-4253-A774-38D73C276BCE}" type="slidenum">
              <a:rPr lang="en-US" smtClean="0"/>
              <a:t>7</a:t>
            </a:fld>
            <a:endParaRPr lang="en-US" dirty="0"/>
          </a:p>
        </p:txBody>
      </p:sp>
    </p:spTree>
    <p:extLst>
      <p:ext uri="{BB962C8B-B14F-4D97-AF65-F5344CB8AC3E}">
        <p14:creationId xmlns:p14="http://schemas.microsoft.com/office/powerpoint/2010/main" val="454164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when observations are recorded.</a:t>
            </a:r>
          </a:p>
          <a:p>
            <a:endParaRPr lang="en-US" dirty="0"/>
          </a:p>
          <a:p>
            <a:r>
              <a:rPr lang="en-US" dirty="0"/>
              <a:t>This is MULTIMEDIA (reference). Raw = “FILM”, coded = stat sheet</a:t>
            </a:r>
          </a:p>
          <a:p>
            <a:endParaRPr lang="en-US" dirty="0"/>
          </a:p>
          <a:p>
            <a:r>
              <a:rPr lang="en-US" dirty="0"/>
              <a:t>Schema = rules, categories, framework. Eg: often tagging video means assigning specific action to an observation</a:t>
            </a:r>
          </a:p>
          <a:p>
            <a:r>
              <a:rPr lang="en-US" b="1" dirty="0"/>
              <a:t>Subjective </a:t>
            </a:r>
            <a:r>
              <a:rPr lang="en-US" dirty="0"/>
              <a:t>= low interrater reliability </a:t>
            </a:r>
          </a:p>
        </p:txBody>
      </p:sp>
      <p:sp>
        <p:nvSpPr>
          <p:cNvPr id="4" name="Slide Number Placeholder 3"/>
          <p:cNvSpPr>
            <a:spLocks noGrp="1"/>
          </p:cNvSpPr>
          <p:nvPr>
            <p:ph type="sldNum" sz="quarter" idx="5"/>
          </p:nvPr>
        </p:nvSpPr>
        <p:spPr/>
        <p:txBody>
          <a:bodyPr/>
          <a:lstStyle/>
          <a:p>
            <a:fld id="{1560C251-82B7-4253-A774-38D73C276BCE}" type="slidenum">
              <a:rPr lang="en-US" smtClean="0"/>
              <a:t>10</a:t>
            </a:fld>
            <a:endParaRPr lang="en-US" dirty="0"/>
          </a:p>
        </p:txBody>
      </p:sp>
    </p:spTree>
    <p:extLst>
      <p:ext uri="{BB962C8B-B14F-4D97-AF65-F5344CB8AC3E}">
        <p14:creationId xmlns:p14="http://schemas.microsoft.com/office/powerpoint/2010/main" val="2912310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 do in research. </a:t>
            </a:r>
          </a:p>
          <a:p>
            <a:endParaRPr lang="en-US" dirty="0"/>
          </a:p>
          <a:p>
            <a:r>
              <a:rPr lang="en-US" dirty="0"/>
              <a:t>Attempt to control all confounding factors to measure one thing.</a:t>
            </a:r>
          </a:p>
        </p:txBody>
      </p:sp>
      <p:sp>
        <p:nvSpPr>
          <p:cNvPr id="4" name="Slide Number Placeholder 3"/>
          <p:cNvSpPr>
            <a:spLocks noGrp="1"/>
          </p:cNvSpPr>
          <p:nvPr>
            <p:ph type="sldNum" sz="quarter" idx="5"/>
          </p:nvPr>
        </p:nvSpPr>
        <p:spPr/>
        <p:txBody>
          <a:bodyPr/>
          <a:lstStyle/>
          <a:p>
            <a:fld id="{1560C251-82B7-4253-A774-38D73C276BCE}" type="slidenum">
              <a:rPr lang="en-US" smtClean="0"/>
              <a:t>12</a:t>
            </a:fld>
            <a:endParaRPr lang="en-US" dirty="0"/>
          </a:p>
        </p:txBody>
      </p:sp>
    </p:spTree>
    <p:extLst>
      <p:ext uri="{BB962C8B-B14F-4D97-AF65-F5344CB8AC3E}">
        <p14:creationId xmlns:p14="http://schemas.microsoft.com/office/powerpoint/2010/main" val="4054123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Emphasize that people decide what counts, how categories are defined, and when an event is recorded.</a:t>
            </a:r>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13</a:t>
            </a:fld>
            <a:endParaRPr lang="en-US"/>
          </a:p>
        </p:txBody>
      </p:sp>
    </p:spTree>
    <p:extLst>
      <p:ext uri="{BB962C8B-B14F-4D97-AF65-F5344CB8AC3E}">
        <p14:creationId xmlns:p14="http://schemas.microsoft.com/office/powerpoint/2010/main" val="937766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player performs a jump → force plates record force → software identifies takeoff → an equation estimates jump height → one jump-height value appears in a table.</a:t>
            </a:r>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16</a:t>
            </a:fld>
            <a:endParaRPr lang="en-US"/>
          </a:p>
        </p:txBody>
      </p:sp>
    </p:spTree>
    <p:extLst>
      <p:ext uri="{BB962C8B-B14F-4D97-AF65-F5344CB8AC3E}">
        <p14:creationId xmlns:p14="http://schemas.microsoft.com/office/powerpoint/2010/main" val="4286067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ERROR!</a:t>
            </a:r>
          </a:p>
        </p:txBody>
      </p:sp>
      <p:sp>
        <p:nvSpPr>
          <p:cNvPr id="4" name="Slide Number Placeholder 3"/>
          <p:cNvSpPr>
            <a:spLocks noGrp="1"/>
          </p:cNvSpPr>
          <p:nvPr>
            <p:ph type="sldNum" sz="quarter" idx="5"/>
          </p:nvPr>
        </p:nvSpPr>
        <p:spPr/>
        <p:txBody>
          <a:bodyPr/>
          <a:lstStyle/>
          <a:p>
            <a:fld id="{117D17FD-8842-8E4F-8C3E-EC8B634B2D5A}" type="slidenum">
              <a:rPr lang="en-US" smtClean="0"/>
              <a:t>19</a:t>
            </a:fld>
            <a:endParaRPr lang="en-US"/>
          </a:p>
        </p:txBody>
      </p:sp>
    </p:spTree>
    <p:extLst>
      <p:ext uri="{BB962C8B-B14F-4D97-AF65-F5344CB8AC3E}">
        <p14:creationId xmlns:p14="http://schemas.microsoft.com/office/powerpoint/2010/main" val="599163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to observational but utilizes a more systematic method</a:t>
            </a:r>
          </a:p>
          <a:p>
            <a:endParaRPr lang="en-US" dirty="0"/>
          </a:p>
          <a:p>
            <a:r>
              <a:rPr lang="en-US" dirty="0"/>
              <a:t>Major application of ML (if interested)</a:t>
            </a:r>
          </a:p>
          <a:p>
            <a:endParaRPr lang="en-US" dirty="0"/>
          </a:p>
          <a:p>
            <a:r>
              <a:rPr lang="en-US" dirty="0"/>
              <a:t>Mistakes can still occur</a:t>
            </a:r>
          </a:p>
        </p:txBody>
      </p:sp>
      <p:sp>
        <p:nvSpPr>
          <p:cNvPr id="4" name="Slide Number Placeholder 3"/>
          <p:cNvSpPr>
            <a:spLocks noGrp="1"/>
          </p:cNvSpPr>
          <p:nvPr>
            <p:ph type="sldNum" sz="quarter" idx="5"/>
          </p:nvPr>
        </p:nvSpPr>
        <p:spPr/>
        <p:txBody>
          <a:bodyPr/>
          <a:lstStyle/>
          <a:p>
            <a:fld id="{1560C251-82B7-4253-A774-38D73C276BCE}" type="slidenum">
              <a:rPr lang="en-US" smtClean="0"/>
              <a:t>24</a:t>
            </a:fld>
            <a:endParaRPr lang="en-US" dirty="0"/>
          </a:p>
        </p:txBody>
      </p:sp>
    </p:spTree>
    <p:extLst>
      <p:ext uri="{BB962C8B-B14F-4D97-AF65-F5344CB8AC3E}">
        <p14:creationId xmlns:p14="http://schemas.microsoft.com/office/powerpoint/2010/main" val="3142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Wearable tech, very popular now. Can be individual or team wide data</a:t>
            </a:r>
          </a:p>
          <a:p>
            <a:endParaRPr lang="en-US" dirty="0"/>
          </a:p>
          <a:p>
            <a:r>
              <a:rPr lang="en-US" dirty="0"/>
              <a:t>Your apple watch, technically wearable tech</a:t>
            </a:r>
          </a:p>
          <a:p>
            <a:endParaRPr lang="en-US" dirty="0"/>
          </a:p>
          <a:p>
            <a:r>
              <a:rPr lang="en-US" dirty="0"/>
              <a:t>This is </a:t>
            </a:r>
            <a:r>
              <a:rPr lang="en-US" dirty="0" err="1"/>
              <a:t>Ceedee</a:t>
            </a:r>
            <a:r>
              <a:rPr lang="en-US" dirty="0"/>
              <a:t> lamb vs lions. Data collected via </a:t>
            </a:r>
            <a:r>
              <a:rPr lang="en-US" dirty="0" err="1"/>
              <a:t>gps</a:t>
            </a:r>
            <a:r>
              <a:rPr lang="en-US" dirty="0"/>
              <a:t> device</a:t>
            </a:r>
          </a:p>
        </p:txBody>
      </p:sp>
      <p:sp>
        <p:nvSpPr>
          <p:cNvPr id="4" name="Slide Number Placeholder 3"/>
          <p:cNvSpPr>
            <a:spLocks noGrp="1"/>
          </p:cNvSpPr>
          <p:nvPr>
            <p:ph type="sldNum" sz="quarter" idx="5"/>
          </p:nvPr>
        </p:nvSpPr>
        <p:spPr/>
        <p:txBody>
          <a:bodyPr/>
          <a:lstStyle/>
          <a:p>
            <a:fld id="{1560C251-82B7-4253-A774-38D73C276BCE}" type="slidenum">
              <a:rPr lang="en-US" smtClean="0"/>
              <a:t>25</a:t>
            </a:fld>
            <a:endParaRPr lang="en-US" dirty="0"/>
          </a:p>
        </p:txBody>
      </p:sp>
    </p:spTree>
    <p:extLst>
      <p:ext uri="{BB962C8B-B14F-4D97-AF65-F5344CB8AC3E}">
        <p14:creationId xmlns:p14="http://schemas.microsoft.com/office/powerpoint/2010/main" val="4203342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9/10/2026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5E096579-E85F-CE49-A1E7-090D69C7D3D9}"/>
              </a:ext>
            </a:extLst>
          </p:cNvPr>
          <p:cNvSpPr>
            <a:spLocks noGrp="1"/>
          </p:cNvSpPr>
          <p:nvPr>
            <p:ph type="sldNum" sz="quarter" idx="11"/>
          </p:nvPr>
        </p:nvSpPr>
        <p:spPr/>
        <p:txBody>
          <a:bodyPr/>
          <a:lstStyle/>
          <a:p>
            <a:fld id="{45C00377-489B-40EC-B059-26BDDD2E89B9}" type="slidenum">
              <a:rPr lang="en-US" smtClean="0"/>
              <a:pPr/>
              <a:t>‹#›</a:t>
            </a:fld>
            <a:endParaRPr lang="en-US" dirty="0"/>
          </a:p>
        </p:txBody>
      </p:sp>
      <p:sp>
        <p:nvSpPr>
          <p:cNvPr id="3" name="Title Placeholder 1">
            <a:extLst>
              <a:ext uri="{FF2B5EF4-FFF2-40B4-BE49-F238E27FC236}">
                <a16:creationId xmlns:a16="http://schemas.microsoft.com/office/drawing/2014/main" id="{46E8C1D3-413D-3F8C-2B71-1C4EB0ADE93B}"/>
              </a:ext>
            </a:extLst>
          </p:cNvPr>
          <p:cNvSpPr>
            <a:spLocks noGrp="1"/>
          </p:cNvSpPr>
          <p:nvPr>
            <p:ph type="title" hasCustomPrompt="1"/>
          </p:nvPr>
        </p:nvSpPr>
        <p:spPr>
          <a:xfrm>
            <a:off x="838200" y="3110401"/>
            <a:ext cx="10515600" cy="637198"/>
          </a:xfrm>
          <a:prstGeom prst="rect">
            <a:avLst/>
          </a:prstGeom>
        </p:spPr>
        <p:txBody>
          <a:bodyPr vert="horz" lIns="91440" tIns="45720" rIns="91440" bIns="45720" rtlCol="0" anchor="ctr">
            <a:normAutofit/>
          </a:bodyPr>
          <a:lstStyle>
            <a:lvl1pPr algn="ctr">
              <a:defRPr/>
            </a:lvl1pPr>
          </a:lstStyle>
          <a:p>
            <a:r>
              <a:rPr lang="en-US" dirty="0"/>
              <a:t>CLICK TO EDIT MASTER TITLE STYLE</a:t>
            </a:r>
          </a:p>
        </p:txBody>
      </p:sp>
    </p:spTree>
    <p:extLst>
      <p:ext uri="{BB962C8B-B14F-4D97-AF65-F5344CB8AC3E}">
        <p14:creationId xmlns:p14="http://schemas.microsoft.com/office/powerpoint/2010/main" val="399935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9/10/2026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GB" sz="4800" dirty="0"/>
              <a:t>Generating and Collecting Sports Data</a:t>
            </a:r>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Saryu Onishi</a:t>
            </a:r>
          </a:p>
          <a:p>
            <a:r>
              <a:rPr lang="en-GB" dirty="0"/>
              <a:t>HES 3000-002, Sport Performance Analytics</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89281-15A7-A800-D072-535B97E4841A}"/>
              </a:ext>
            </a:extLst>
          </p:cNvPr>
          <p:cNvSpPr>
            <a:spLocks noGrp="1"/>
          </p:cNvSpPr>
          <p:nvPr>
            <p:ph type="title"/>
          </p:nvPr>
        </p:nvSpPr>
        <p:spPr/>
        <p:txBody>
          <a:bodyPr/>
          <a:lstStyle/>
          <a:p>
            <a:r>
              <a:rPr lang="en-US" dirty="0"/>
              <a:t>Case Study 1</a:t>
            </a:r>
          </a:p>
        </p:txBody>
      </p:sp>
      <p:sp>
        <p:nvSpPr>
          <p:cNvPr id="3" name="Content Placeholder 2">
            <a:extLst>
              <a:ext uri="{FF2B5EF4-FFF2-40B4-BE49-F238E27FC236}">
                <a16:creationId xmlns:a16="http://schemas.microsoft.com/office/drawing/2014/main" id="{0A2CE9E0-C54E-CB9E-92F7-CC1D8A4BE841}"/>
              </a:ext>
            </a:extLst>
          </p:cNvPr>
          <p:cNvSpPr>
            <a:spLocks noGrp="1"/>
          </p:cNvSpPr>
          <p:nvPr>
            <p:ph idx="1"/>
          </p:nvPr>
        </p:nvSpPr>
        <p:spPr/>
        <p:txBody>
          <a:bodyPr/>
          <a:lstStyle/>
          <a:p>
            <a:pPr marL="514350" indent="-514350">
              <a:buFont typeface="+mj-lt"/>
              <a:buAutoNum type="arabicPeriod"/>
            </a:pPr>
            <a:r>
              <a:rPr lang="en-US" dirty="0"/>
              <a:t>Generate analytical question</a:t>
            </a:r>
          </a:p>
          <a:p>
            <a:pPr marL="514350" indent="-514350">
              <a:buFont typeface="+mj-lt"/>
              <a:buAutoNum type="arabicPeriod"/>
            </a:pPr>
            <a:r>
              <a:rPr lang="en-US" dirty="0"/>
              <a:t>Ideal data</a:t>
            </a:r>
          </a:p>
          <a:p>
            <a:pPr marL="514350" indent="-514350">
              <a:buFont typeface="+mj-lt"/>
              <a:buAutoNum type="arabicPeriod"/>
            </a:pPr>
            <a:r>
              <a:rPr lang="en-US" dirty="0"/>
              <a:t>Actual data </a:t>
            </a:r>
          </a:p>
          <a:p>
            <a:pPr marL="514350" indent="-514350">
              <a:buFont typeface="+mj-lt"/>
              <a:buAutoNum type="arabicPeriod"/>
            </a:pPr>
            <a:r>
              <a:rPr lang="en-US" dirty="0"/>
              <a:t>Refine analytical question</a:t>
            </a:r>
          </a:p>
        </p:txBody>
      </p:sp>
      <p:sp>
        <p:nvSpPr>
          <p:cNvPr id="6" name="Content Placeholder 2">
            <a:extLst>
              <a:ext uri="{FF2B5EF4-FFF2-40B4-BE49-F238E27FC236}">
                <a16:creationId xmlns:a16="http://schemas.microsoft.com/office/drawing/2014/main" id="{C26A1783-7DE9-3077-7F15-844E20D8FB6A}"/>
              </a:ext>
            </a:extLst>
          </p:cNvPr>
          <p:cNvSpPr txBox="1">
            <a:spLocks/>
          </p:cNvSpPr>
          <p:nvPr/>
        </p:nvSpPr>
        <p:spPr>
          <a:xfrm>
            <a:off x="914400" y="3635565"/>
            <a:ext cx="10363200" cy="1294655"/>
          </a:xfrm>
          <a:prstGeom prst="rect">
            <a:avLst/>
          </a:prstGeom>
          <a:solidFill>
            <a:schemeClr val="accent2">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FF0000"/>
                </a:solidFill>
              </a:rPr>
              <a:t>Data submission MUST be an excel or csv (comma separated variable) file. </a:t>
            </a:r>
          </a:p>
          <a:p>
            <a:r>
              <a:rPr lang="en-US" sz="1800" dirty="0"/>
              <a:t>Knowing where the data exists is very different from having the data</a:t>
            </a:r>
          </a:p>
          <a:p>
            <a:r>
              <a:rPr lang="en-US" sz="1800" dirty="0"/>
              <a:t>Data submission accepted with no late penalty until 10 Sep, 11:59 PM</a:t>
            </a:r>
          </a:p>
        </p:txBody>
      </p:sp>
      <p:sp>
        <p:nvSpPr>
          <p:cNvPr id="7" name="TextBox 6">
            <a:extLst>
              <a:ext uri="{FF2B5EF4-FFF2-40B4-BE49-F238E27FC236}">
                <a16:creationId xmlns:a16="http://schemas.microsoft.com/office/drawing/2014/main" id="{81E05809-B1CB-DA1C-2E46-A8807244AD26}"/>
              </a:ext>
            </a:extLst>
          </p:cNvPr>
          <p:cNvSpPr txBox="1"/>
          <p:nvPr/>
        </p:nvSpPr>
        <p:spPr>
          <a:xfrm>
            <a:off x="3679634" y="5530632"/>
            <a:ext cx="4597028" cy="646331"/>
          </a:xfrm>
          <a:prstGeom prst="rect">
            <a:avLst/>
          </a:prstGeom>
          <a:noFill/>
        </p:spPr>
        <p:txBody>
          <a:bodyPr wrap="none" rtlCol="0">
            <a:spAutoFit/>
          </a:bodyPr>
          <a:lstStyle/>
          <a:p>
            <a:r>
              <a:rPr lang="en-US" dirty="0">
                <a:solidFill>
                  <a:srgbClr val="FF0000"/>
                </a:solidFill>
              </a:rPr>
              <a:t>How easy/hard was it to find your ideal data?</a:t>
            </a:r>
          </a:p>
          <a:p>
            <a:endParaRPr lang="en-US" dirty="0"/>
          </a:p>
        </p:txBody>
      </p:sp>
    </p:spTree>
    <p:extLst>
      <p:ext uri="{BB962C8B-B14F-4D97-AF65-F5344CB8AC3E}">
        <p14:creationId xmlns:p14="http://schemas.microsoft.com/office/powerpoint/2010/main" val="761043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78700-9D67-E34D-9F18-BE6B23499535}"/>
              </a:ext>
            </a:extLst>
          </p:cNvPr>
          <p:cNvSpPr>
            <a:spLocks noGrp="1"/>
          </p:cNvSpPr>
          <p:nvPr>
            <p:ph type="title"/>
          </p:nvPr>
        </p:nvSpPr>
        <p:spPr/>
        <p:txBody>
          <a:bodyPr/>
          <a:lstStyle/>
          <a:p>
            <a:r>
              <a:rPr lang="en-US" dirty="0"/>
              <a:t>Data Access</a:t>
            </a:r>
          </a:p>
        </p:txBody>
      </p:sp>
      <p:sp>
        <p:nvSpPr>
          <p:cNvPr id="3" name="Content Placeholder 2">
            <a:extLst>
              <a:ext uri="{FF2B5EF4-FFF2-40B4-BE49-F238E27FC236}">
                <a16:creationId xmlns:a16="http://schemas.microsoft.com/office/drawing/2014/main" id="{CA0D9446-F245-5CDC-0CBD-79A75C670215}"/>
              </a:ext>
            </a:extLst>
          </p:cNvPr>
          <p:cNvSpPr>
            <a:spLocks noGrp="1"/>
          </p:cNvSpPr>
          <p:nvPr>
            <p:ph idx="1"/>
          </p:nvPr>
        </p:nvSpPr>
        <p:spPr>
          <a:xfrm>
            <a:off x="1894901" y="2754216"/>
            <a:ext cx="2389742" cy="1233889"/>
          </a:xfrm>
        </p:spPr>
        <p:txBody>
          <a:bodyPr>
            <a:normAutofit fontScale="70000" lnSpcReduction="20000"/>
          </a:bodyPr>
          <a:lstStyle/>
          <a:p>
            <a:r>
              <a:rPr lang="en-US" dirty="0"/>
              <a:t>Public</a:t>
            </a:r>
          </a:p>
          <a:p>
            <a:r>
              <a:rPr lang="en-US" dirty="0"/>
              <a:t>General purpose</a:t>
            </a:r>
          </a:p>
          <a:p>
            <a:r>
              <a:rPr lang="en-US" dirty="0"/>
              <a:t>Aggregated</a:t>
            </a:r>
          </a:p>
        </p:txBody>
      </p:sp>
      <p:sp>
        <p:nvSpPr>
          <p:cNvPr id="4" name="Content Placeholder 2">
            <a:extLst>
              <a:ext uri="{FF2B5EF4-FFF2-40B4-BE49-F238E27FC236}">
                <a16:creationId xmlns:a16="http://schemas.microsoft.com/office/drawing/2014/main" id="{3C6ADFF2-20E1-B0BA-5CBA-F8821105780E}"/>
              </a:ext>
            </a:extLst>
          </p:cNvPr>
          <p:cNvSpPr txBox="1">
            <a:spLocks/>
          </p:cNvSpPr>
          <p:nvPr/>
        </p:nvSpPr>
        <p:spPr>
          <a:xfrm>
            <a:off x="7380384" y="2754216"/>
            <a:ext cx="2389742" cy="123388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Proprietary</a:t>
            </a:r>
          </a:p>
          <a:p>
            <a:r>
              <a:rPr lang="en-US" dirty="0"/>
              <a:t>Specific purpose</a:t>
            </a:r>
          </a:p>
          <a:p>
            <a:r>
              <a:rPr lang="en-US" dirty="0"/>
              <a:t>Granular</a:t>
            </a:r>
          </a:p>
        </p:txBody>
      </p:sp>
      <p:sp>
        <p:nvSpPr>
          <p:cNvPr id="5" name="Arrow: Right 4">
            <a:extLst>
              <a:ext uri="{FF2B5EF4-FFF2-40B4-BE49-F238E27FC236}">
                <a16:creationId xmlns:a16="http://schemas.microsoft.com/office/drawing/2014/main" id="{B1EE4C97-FAF1-0774-517F-CF89FCE94A04}"/>
              </a:ext>
            </a:extLst>
          </p:cNvPr>
          <p:cNvSpPr/>
          <p:nvPr/>
        </p:nvSpPr>
        <p:spPr>
          <a:xfrm>
            <a:off x="1663547" y="2269583"/>
            <a:ext cx="7875225" cy="484632"/>
          </a:xfrm>
          <a:prstGeom prst="rightArrow">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Difficulty</a:t>
            </a:r>
          </a:p>
        </p:txBody>
      </p:sp>
    </p:spTree>
    <p:extLst>
      <p:ext uri="{BB962C8B-B14F-4D97-AF65-F5344CB8AC3E}">
        <p14:creationId xmlns:p14="http://schemas.microsoft.com/office/powerpoint/2010/main" val="319342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A65CE-D687-E007-4B80-A84047E347E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0AFC4F-84DE-2AD3-7427-F24706CD3C96}"/>
              </a:ext>
            </a:extLst>
          </p:cNvPr>
          <p:cNvSpPr>
            <a:spLocks noGrp="1"/>
          </p:cNvSpPr>
          <p:nvPr>
            <p:ph type="sldNum" sz="quarter" idx="11"/>
          </p:nvPr>
        </p:nvSpPr>
        <p:spPr/>
        <p:txBody>
          <a:bodyPr/>
          <a:lstStyle/>
          <a:p>
            <a:fld id="{45C00377-489B-40EC-B059-26BDDD2E89B9}" type="slidenum">
              <a:rPr lang="en-US" smtClean="0"/>
              <a:pPr/>
              <a:t>4</a:t>
            </a:fld>
            <a:endParaRPr lang="en-US" dirty="0"/>
          </a:p>
        </p:txBody>
      </p:sp>
      <p:sp>
        <p:nvSpPr>
          <p:cNvPr id="3" name="Title 1">
            <a:extLst>
              <a:ext uri="{FF2B5EF4-FFF2-40B4-BE49-F238E27FC236}">
                <a16:creationId xmlns:a16="http://schemas.microsoft.com/office/drawing/2014/main" id="{8FE337FC-6068-4F92-EE29-BC575889CAFF}"/>
              </a:ext>
            </a:extLst>
          </p:cNvPr>
          <p:cNvSpPr txBox="1">
            <a:spLocks/>
          </p:cNvSpPr>
          <p:nvPr/>
        </p:nvSpPr>
        <p:spPr>
          <a:xfrm>
            <a:off x="838200" y="3110401"/>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u="sng" dirty="0"/>
              <a:t>WHO </a:t>
            </a:r>
          </a:p>
          <a:p>
            <a:pPr algn="ctr"/>
            <a:r>
              <a:rPr lang="en-US" b="0" dirty="0"/>
              <a:t>Collects sports data?</a:t>
            </a:r>
          </a:p>
        </p:txBody>
      </p:sp>
    </p:spTree>
    <p:extLst>
      <p:ext uri="{BB962C8B-B14F-4D97-AF65-F5344CB8AC3E}">
        <p14:creationId xmlns:p14="http://schemas.microsoft.com/office/powerpoint/2010/main" val="723642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19536-34E9-5842-052B-87FE8B515596}"/>
              </a:ext>
            </a:extLst>
          </p:cNvPr>
          <p:cNvSpPr>
            <a:spLocks noGrp="1"/>
          </p:cNvSpPr>
          <p:nvPr>
            <p:ph type="title"/>
          </p:nvPr>
        </p:nvSpPr>
        <p:spPr/>
        <p:txBody>
          <a:bodyPr/>
          <a:lstStyle/>
          <a:p>
            <a:r>
              <a:rPr lang="en-US" dirty="0"/>
              <a:t>League/Competition Providers</a:t>
            </a:r>
          </a:p>
        </p:txBody>
      </p:sp>
      <p:sp>
        <p:nvSpPr>
          <p:cNvPr id="3" name="Content Placeholder 2">
            <a:extLst>
              <a:ext uri="{FF2B5EF4-FFF2-40B4-BE49-F238E27FC236}">
                <a16:creationId xmlns:a16="http://schemas.microsoft.com/office/drawing/2014/main" id="{4329CC1C-2C03-5328-F3F9-C0BA34B8C920}"/>
              </a:ext>
            </a:extLst>
          </p:cNvPr>
          <p:cNvSpPr>
            <a:spLocks noGrp="1"/>
          </p:cNvSpPr>
          <p:nvPr>
            <p:ph idx="1"/>
          </p:nvPr>
        </p:nvSpPr>
        <p:spPr/>
        <p:txBody>
          <a:bodyPr/>
          <a:lstStyle/>
          <a:p>
            <a:r>
              <a:rPr lang="en-US" dirty="0"/>
              <a:t>Leagues may provide standardize data across all teams/matches</a:t>
            </a:r>
          </a:p>
          <a:p>
            <a:pPr lvl="1"/>
            <a:r>
              <a:rPr lang="en-US" dirty="0"/>
              <a:t>Examples: NBA stats, FIFA match data</a:t>
            </a:r>
          </a:p>
          <a:p>
            <a:pPr lvl="1"/>
            <a:endParaRPr lang="en-US" dirty="0"/>
          </a:p>
          <a:p>
            <a:r>
              <a:rPr lang="en-US" dirty="0"/>
              <a:t>Pros: </a:t>
            </a:r>
          </a:p>
          <a:p>
            <a:pPr lvl="1"/>
            <a:r>
              <a:rPr lang="en-US" dirty="0"/>
              <a:t>Standardized</a:t>
            </a:r>
          </a:p>
          <a:p>
            <a:pPr lvl="1"/>
            <a:r>
              <a:rPr lang="en-US" dirty="0"/>
              <a:t>Easy to access</a:t>
            </a:r>
          </a:p>
          <a:p>
            <a:pPr lvl="1"/>
            <a:endParaRPr lang="en-US" dirty="0"/>
          </a:p>
          <a:p>
            <a:r>
              <a:rPr lang="en-US" dirty="0"/>
              <a:t>Cons: </a:t>
            </a:r>
          </a:p>
          <a:p>
            <a:pPr lvl="1"/>
            <a:r>
              <a:rPr lang="en-US" dirty="0"/>
              <a:t>One-size-fits-all</a:t>
            </a:r>
          </a:p>
          <a:p>
            <a:pPr lvl="1"/>
            <a:r>
              <a:rPr lang="en-US" dirty="0"/>
              <a:t>Slow to innovate</a:t>
            </a:r>
          </a:p>
        </p:txBody>
      </p:sp>
      <p:sp>
        <p:nvSpPr>
          <p:cNvPr id="4" name="Slide Number Placeholder 3">
            <a:extLst>
              <a:ext uri="{FF2B5EF4-FFF2-40B4-BE49-F238E27FC236}">
                <a16:creationId xmlns:a16="http://schemas.microsoft.com/office/drawing/2014/main" id="{98A81817-B848-C6B6-908F-46D88AFA9CDE}"/>
              </a:ext>
            </a:extLst>
          </p:cNvPr>
          <p:cNvSpPr>
            <a:spLocks noGrp="1"/>
          </p:cNvSpPr>
          <p:nvPr>
            <p:ph type="sldNum" sz="quarter" idx="12"/>
          </p:nvPr>
        </p:nvSpPr>
        <p:spPr/>
        <p:txBody>
          <a:bodyPr/>
          <a:lstStyle/>
          <a:p>
            <a:fld id="{45C00377-489B-40EC-B059-26BDDD2E89B9}" type="slidenum">
              <a:rPr lang="en-US" smtClean="0"/>
              <a:pPr/>
              <a:t>5</a:t>
            </a:fld>
            <a:endParaRPr lang="en-US" dirty="0"/>
          </a:p>
        </p:txBody>
      </p:sp>
      <p:pic>
        <p:nvPicPr>
          <p:cNvPr id="3074" name="Picture 2" descr="The &quot;Iron Man&quot; Streaks From The &quot;Big 4&quot; Pro Sports Leagues | Couch Guy  Sports">
            <a:extLst>
              <a:ext uri="{FF2B5EF4-FFF2-40B4-BE49-F238E27FC236}">
                <a16:creationId xmlns:a16="http://schemas.microsoft.com/office/drawing/2014/main" id="{B9932B65-E64A-92F5-58BB-4924836AA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7611" y="3688141"/>
            <a:ext cx="2362200" cy="19335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5E8EF82-9273-7E81-DC23-413670C8DA24}"/>
              </a:ext>
            </a:extLst>
          </p:cNvPr>
          <p:cNvSpPr txBox="1"/>
          <p:nvPr/>
        </p:nvSpPr>
        <p:spPr>
          <a:xfrm>
            <a:off x="4680708" y="6081991"/>
            <a:ext cx="2830583" cy="369332"/>
          </a:xfrm>
          <a:prstGeom prst="rect">
            <a:avLst/>
          </a:prstGeom>
          <a:noFill/>
        </p:spPr>
        <p:txBody>
          <a:bodyPr wrap="none" rtlCol="0">
            <a:spAutoFit/>
          </a:bodyPr>
          <a:lstStyle/>
          <a:p>
            <a:r>
              <a:rPr lang="en-US" dirty="0">
                <a:solidFill>
                  <a:srgbClr val="FF0000"/>
                </a:solidFill>
              </a:rPr>
              <a:t>Generally easiest to obtain</a:t>
            </a:r>
          </a:p>
        </p:txBody>
      </p:sp>
      <p:pic>
        <p:nvPicPr>
          <p:cNvPr id="6" name="Picture 5" descr="ESPN Logo and symbol, meaning, history, PNG, brand">
            <a:extLst>
              <a:ext uri="{FF2B5EF4-FFF2-40B4-BE49-F238E27FC236}">
                <a16:creationId xmlns:a16="http://schemas.microsoft.com/office/drawing/2014/main" id="{AC75282A-68E0-AE97-8025-DA9DE6C8A015}"/>
              </a:ext>
            </a:extLst>
          </p:cNvPr>
          <p:cNvPicPr>
            <a:picLocks noChangeAspect="1"/>
          </p:cNvPicPr>
          <p:nvPr/>
        </p:nvPicPr>
        <p:blipFill>
          <a:blip r:embed="rId4"/>
          <a:stretch>
            <a:fillRect/>
          </a:stretch>
        </p:blipFill>
        <p:spPr>
          <a:xfrm>
            <a:off x="9319811" y="2284881"/>
            <a:ext cx="2033989" cy="1144119"/>
          </a:xfrm>
          <a:prstGeom prst="rect">
            <a:avLst/>
          </a:prstGeom>
        </p:spPr>
      </p:pic>
    </p:spTree>
    <p:extLst>
      <p:ext uri="{BB962C8B-B14F-4D97-AF65-F5344CB8AC3E}">
        <p14:creationId xmlns:p14="http://schemas.microsoft.com/office/powerpoint/2010/main" val="2735300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4240-5AB5-0804-5DC4-0835D7641BEC}"/>
              </a:ext>
            </a:extLst>
          </p:cNvPr>
          <p:cNvSpPr>
            <a:spLocks noGrp="1"/>
          </p:cNvSpPr>
          <p:nvPr>
            <p:ph type="title"/>
          </p:nvPr>
        </p:nvSpPr>
        <p:spPr/>
        <p:txBody>
          <a:bodyPr/>
          <a:lstStyle/>
          <a:p>
            <a:r>
              <a:rPr lang="en-US" dirty="0"/>
              <a:t>Teams (Internal data)</a:t>
            </a:r>
          </a:p>
        </p:txBody>
      </p:sp>
      <p:sp>
        <p:nvSpPr>
          <p:cNvPr id="3" name="Content Placeholder 2">
            <a:extLst>
              <a:ext uri="{FF2B5EF4-FFF2-40B4-BE49-F238E27FC236}">
                <a16:creationId xmlns:a16="http://schemas.microsoft.com/office/drawing/2014/main" id="{6F51AD83-A5A8-0F3A-9C1F-B533758FAD9B}"/>
              </a:ext>
            </a:extLst>
          </p:cNvPr>
          <p:cNvSpPr>
            <a:spLocks noGrp="1"/>
          </p:cNvSpPr>
          <p:nvPr>
            <p:ph idx="1"/>
          </p:nvPr>
        </p:nvSpPr>
        <p:spPr/>
        <p:txBody>
          <a:bodyPr/>
          <a:lstStyle/>
          <a:p>
            <a:r>
              <a:rPr lang="en-US" dirty="0"/>
              <a:t>Teams often try to collect and analyze data to gain a competitive advantage</a:t>
            </a:r>
          </a:p>
          <a:p>
            <a:pPr lvl="1"/>
            <a:r>
              <a:rPr lang="en-US" dirty="0"/>
              <a:t>Examples: Proprietary load monitoring, custom tactical metrics</a:t>
            </a:r>
          </a:p>
          <a:p>
            <a:pPr lvl="1"/>
            <a:endParaRPr lang="en-US" dirty="0"/>
          </a:p>
          <a:p>
            <a:r>
              <a:rPr lang="en-US" dirty="0"/>
              <a:t>Pros: </a:t>
            </a:r>
          </a:p>
          <a:p>
            <a:pPr lvl="1"/>
            <a:r>
              <a:rPr lang="en-US" dirty="0"/>
              <a:t>Tailored to specific analytical needs</a:t>
            </a:r>
          </a:p>
          <a:p>
            <a:pPr lvl="1"/>
            <a:r>
              <a:rPr lang="en-US" dirty="0"/>
              <a:t>May create competitive advantage</a:t>
            </a:r>
          </a:p>
          <a:p>
            <a:pPr lvl="1"/>
            <a:endParaRPr lang="en-US" dirty="0"/>
          </a:p>
          <a:p>
            <a:r>
              <a:rPr lang="en-US" dirty="0"/>
              <a:t>Cons: </a:t>
            </a:r>
          </a:p>
          <a:p>
            <a:pPr lvl="1"/>
            <a:r>
              <a:rPr lang="en-US" dirty="0"/>
              <a:t>No external benchmarks</a:t>
            </a:r>
          </a:p>
          <a:p>
            <a:pPr lvl="1"/>
            <a:r>
              <a:rPr lang="en-US" dirty="0"/>
              <a:t>Inaccessible to outsiders</a:t>
            </a:r>
          </a:p>
        </p:txBody>
      </p:sp>
      <p:sp>
        <p:nvSpPr>
          <p:cNvPr id="4" name="Slide Number Placeholder 3">
            <a:extLst>
              <a:ext uri="{FF2B5EF4-FFF2-40B4-BE49-F238E27FC236}">
                <a16:creationId xmlns:a16="http://schemas.microsoft.com/office/drawing/2014/main" id="{7B1DE03A-283E-CD8B-49EC-E37FA4C7C30C}"/>
              </a:ext>
            </a:extLst>
          </p:cNvPr>
          <p:cNvSpPr>
            <a:spLocks noGrp="1"/>
          </p:cNvSpPr>
          <p:nvPr>
            <p:ph type="sldNum" sz="quarter" idx="12"/>
          </p:nvPr>
        </p:nvSpPr>
        <p:spPr/>
        <p:txBody>
          <a:bodyPr/>
          <a:lstStyle/>
          <a:p>
            <a:fld id="{45C00377-489B-40EC-B059-26BDDD2E89B9}" type="slidenum">
              <a:rPr lang="en-US" smtClean="0"/>
              <a:pPr/>
              <a:t>6</a:t>
            </a:fld>
            <a:endParaRPr lang="en-US" dirty="0"/>
          </a:p>
        </p:txBody>
      </p:sp>
      <p:pic>
        <p:nvPicPr>
          <p:cNvPr id="6" name="Picture 5">
            <a:extLst>
              <a:ext uri="{FF2B5EF4-FFF2-40B4-BE49-F238E27FC236}">
                <a16:creationId xmlns:a16="http://schemas.microsoft.com/office/drawing/2014/main" id="{A291A8B2-7F0A-0B4B-DB14-B6591625B55E}"/>
              </a:ext>
            </a:extLst>
          </p:cNvPr>
          <p:cNvPicPr>
            <a:picLocks noChangeAspect="1"/>
          </p:cNvPicPr>
          <p:nvPr/>
        </p:nvPicPr>
        <p:blipFill>
          <a:blip r:embed="rId3"/>
          <a:stretch>
            <a:fillRect/>
          </a:stretch>
        </p:blipFill>
        <p:spPr>
          <a:xfrm>
            <a:off x="7826375" y="3324815"/>
            <a:ext cx="1568450" cy="1441450"/>
          </a:xfrm>
          <a:prstGeom prst="rect">
            <a:avLst/>
          </a:prstGeom>
        </p:spPr>
      </p:pic>
      <p:pic>
        <p:nvPicPr>
          <p:cNvPr id="7" name="Picture 6" descr="A black and red logo&#10;&#10;Description automatically generated">
            <a:extLst>
              <a:ext uri="{FF2B5EF4-FFF2-40B4-BE49-F238E27FC236}">
                <a16:creationId xmlns:a16="http://schemas.microsoft.com/office/drawing/2014/main" id="{E465AC3B-EE9C-AF04-727F-0365D0FF0A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60366" y="5134264"/>
            <a:ext cx="2643668" cy="563595"/>
          </a:xfrm>
          <a:prstGeom prst="rect">
            <a:avLst/>
          </a:prstGeom>
        </p:spPr>
      </p:pic>
      <p:sp>
        <p:nvSpPr>
          <p:cNvPr id="8" name="TextBox 7">
            <a:extLst>
              <a:ext uri="{FF2B5EF4-FFF2-40B4-BE49-F238E27FC236}">
                <a16:creationId xmlns:a16="http://schemas.microsoft.com/office/drawing/2014/main" id="{E1AD4539-6053-597B-879D-BCDB2EEB2620}"/>
              </a:ext>
            </a:extLst>
          </p:cNvPr>
          <p:cNvSpPr txBox="1"/>
          <p:nvPr/>
        </p:nvSpPr>
        <p:spPr>
          <a:xfrm>
            <a:off x="4680708" y="6081991"/>
            <a:ext cx="2872325" cy="369332"/>
          </a:xfrm>
          <a:prstGeom prst="rect">
            <a:avLst/>
          </a:prstGeom>
          <a:noFill/>
        </p:spPr>
        <p:txBody>
          <a:bodyPr wrap="none" rtlCol="0">
            <a:spAutoFit/>
          </a:bodyPr>
          <a:lstStyle/>
          <a:p>
            <a:r>
              <a:rPr lang="en-US" dirty="0">
                <a:solidFill>
                  <a:srgbClr val="FF0000"/>
                </a:solidFill>
              </a:rPr>
              <a:t>Generally hardest to obtain</a:t>
            </a:r>
          </a:p>
        </p:txBody>
      </p:sp>
    </p:spTree>
    <p:extLst>
      <p:ext uri="{BB962C8B-B14F-4D97-AF65-F5344CB8AC3E}">
        <p14:creationId xmlns:p14="http://schemas.microsoft.com/office/powerpoint/2010/main" val="391972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01270-0B0D-0182-4AD3-6126C43F0AE5}"/>
              </a:ext>
            </a:extLst>
          </p:cNvPr>
          <p:cNvSpPr>
            <a:spLocks noGrp="1"/>
          </p:cNvSpPr>
          <p:nvPr>
            <p:ph type="title"/>
          </p:nvPr>
        </p:nvSpPr>
        <p:spPr/>
        <p:txBody>
          <a:bodyPr/>
          <a:lstStyle/>
          <a:p>
            <a:r>
              <a:rPr lang="en-US" dirty="0"/>
              <a:t>Third-Party Vendors</a:t>
            </a:r>
          </a:p>
        </p:txBody>
      </p:sp>
      <p:sp>
        <p:nvSpPr>
          <p:cNvPr id="3" name="Content Placeholder 2">
            <a:extLst>
              <a:ext uri="{FF2B5EF4-FFF2-40B4-BE49-F238E27FC236}">
                <a16:creationId xmlns:a16="http://schemas.microsoft.com/office/drawing/2014/main" id="{7AEF37B4-2B7B-F774-0D1E-B1FBD9FDDF9F}"/>
              </a:ext>
            </a:extLst>
          </p:cNvPr>
          <p:cNvSpPr>
            <a:spLocks noGrp="1"/>
          </p:cNvSpPr>
          <p:nvPr>
            <p:ph idx="1"/>
          </p:nvPr>
        </p:nvSpPr>
        <p:spPr/>
        <p:txBody>
          <a:bodyPr>
            <a:normAutofit lnSpcReduction="10000"/>
          </a:bodyPr>
          <a:lstStyle/>
          <a:p>
            <a:r>
              <a:rPr lang="en-US" dirty="0"/>
              <a:t>Some businesses sell data collection technology and data analysis software</a:t>
            </a:r>
          </a:p>
          <a:p>
            <a:pPr lvl="1"/>
            <a:r>
              <a:rPr lang="en-US" dirty="0"/>
              <a:t>Opta, Stats Perform, Catapult, </a:t>
            </a:r>
            <a:r>
              <a:rPr lang="en-US" dirty="0" err="1"/>
              <a:t>Kinexon</a:t>
            </a:r>
            <a:r>
              <a:rPr lang="en-US" dirty="0"/>
              <a:t>, etc. </a:t>
            </a:r>
          </a:p>
          <a:p>
            <a:pPr lvl="1"/>
            <a:endParaRPr lang="en-US" dirty="0"/>
          </a:p>
          <a:p>
            <a:r>
              <a:rPr lang="en-US" dirty="0"/>
              <a:t>Pros: </a:t>
            </a:r>
          </a:p>
          <a:p>
            <a:pPr lvl="1"/>
            <a:r>
              <a:rPr lang="en-US" dirty="0"/>
              <a:t>Expertise and scale </a:t>
            </a:r>
          </a:p>
          <a:p>
            <a:pPr lvl="1"/>
            <a:r>
              <a:rPr lang="en-US" dirty="0"/>
              <a:t>Access (for a price)</a:t>
            </a:r>
          </a:p>
          <a:p>
            <a:pPr lvl="1"/>
            <a:endParaRPr lang="en-US" dirty="0"/>
          </a:p>
          <a:p>
            <a:r>
              <a:rPr lang="en-US" dirty="0"/>
              <a:t>Cons: </a:t>
            </a:r>
          </a:p>
          <a:p>
            <a:pPr lvl="1"/>
            <a:r>
              <a:rPr lang="en-US" dirty="0"/>
              <a:t>Black box algorithms</a:t>
            </a:r>
          </a:p>
          <a:p>
            <a:pPr lvl="1"/>
            <a:r>
              <a:rPr lang="en-US" dirty="0"/>
              <a:t>Vendor lock-in</a:t>
            </a:r>
          </a:p>
          <a:p>
            <a:pPr lvl="1"/>
            <a:r>
              <a:rPr lang="en-US" dirty="0"/>
              <a:t>Minimal competitive advantage</a:t>
            </a:r>
          </a:p>
        </p:txBody>
      </p:sp>
      <p:sp>
        <p:nvSpPr>
          <p:cNvPr id="4" name="Slide Number Placeholder 3">
            <a:extLst>
              <a:ext uri="{FF2B5EF4-FFF2-40B4-BE49-F238E27FC236}">
                <a16:creationId xmlns:a16="http://schemas.microsoft.com/office/drawing/2014/main" id="{3100D0F3-3D7A-5BC1-CCE1-B7AC90E6CA04}"/>
              </a:ext>
            </a:extLst>
          </p:cNvPr>
          <p:cNvSpPr>
            <a:spLocks noGrp="1"/>
          </p:cNvSpPr>
          <p:nvPr>
            <p:ph type="sldNum" sz="quarter" idx="12"/>
          </p:nvPr>
        </p:nvSpPr>
        <p:spPr/>
        <p:txBody>
          <a:bodyPr/>
          <a:lstStyle/>
          <a:p>
            <a:fld id="{45C00377-489B-40EC-B059-26BDDD2E89B9}" type="slidenum">
              <a:rPr lang="en-US" smtClean="0"/>
              <a:pPr/>
              <a:t>7</a:t>
            </a:fld>
            <a:endParaRPr lang="en-US" dirty="0"/>
          </a:p>
        </p:txBody>
      </p:sp>
      <p:pic>
        <p:nvPicPr>
          <p:cNvPr id="5122" name="Picture 2" descr="Who Will Win La Liga in 2024-25? The Opta Stats, Insights and Predictions |  Opta Analyst">
            <a:extLst>
              <a:ext uri="{FF2B5EF4-FFF2-40B4-BE49-F238E27FC236}">
                <a16:creationId xmlns:a16="http://schemas.microsoft.com/office/drawing/2014/main" id="{45290211-E936-205A-C983-67FAEEF22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6655" y="1999086"/>
            <a:ext cx="3123470" cy="23426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5C6C06A-098A-361F-00AE-4B7143D1483A}"/>
              </a:ext>
            </a:extLst>
          </p:cNvPr>
          <p:cNvPicPr>
            <a:picLocks noChangeAspect="1"/>
          </p:cNvPicPr>
          <p:nvPr/>
        </p:nvPicPr>
        <p:blipFill>
          <a:blip r:embed="rId4"/>
          <a:stretch>
            <a:fillRect/>
          </a:stretch>
        </p:blipFill>
        <p:spPr>
          <a:xfrm>
            <a:off x="6216452" y="4457108"/>
            <a:ext cx="3398675" cy="2264367"/>
          </a:xfrm>
          <a:prstGeom prst="rect">
            <a:avLst/>
          </a:prstGeom>
        </p:spPr>
      </p:pic>
    </p:spTree>
    <p:extLst>
      <p:ext uri="{BB962C8B-B14F-4D97-AF65-F5344CB8AC3E}">
        <p14:creationId xmlns:p14="http://schemas.microsoft.com/office/powerpoint/2010/main" val="2169666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A765-A1A4-3911-3A6E-15C2E6CDB6E8}"/>
              </a:ext>
            </a:extLst>
          </p:cNvPr>
          <p:cNvSpPr>
            <a:spLocks noGrp="1"/>
          </p:cNvSpPr>
          <p:nvPr>
            <p:ph type="title"/>
          </p:nvPr>
        </p:nvSpPr>
        <p:spPr/>
        <p:txBody>
          <a:bodyPr/>
          <a:lstStyle/>
          <a:p>
            <a:r>
              <a:rPr lang="en-US" dirty="0"/>
              <a:t>Academic/Research Institutions</a:t>
            </a:r>
          </a:p>
        </p:txBody>
      </p:sp>
      <p:sp>
        <p:nvSpPr>
          <p:cNvPr id="3" name="Content Placeholder 2">
            <a:extLst>
              <a:ext uri="{FF2B5EF4-FFF2-40B4-BE49-F238E27FC236}">
                <a16:creationId xmlns:a16="http://schemas.microsoft.com/office/drawing/2014/main" id="{B1474CED-49EF-2AE7-D405-CAD7A8090F26}"/>
              </a:ext>
            </a:extLst>
          </p:cNvPr>
          <p:cNvSpPr>
            <a:spLocks noGrp="1"/>
          </p:cNvSpPr>
          <p:nvPr>
            <p:ph idx="1"/>
          </p:nvPr>
        </p:nvSpPr>
        <p:spPr/>
        <p:txBody>
          <a:bodyPr/>
          <a:lstStyle/>
          <a:p>
            <a:r>
              <a:rPr lang="en-US" dirty="0"/>
              <a:t>Research institutions prioritize methodological rigor.</a:t>
            </a:r>
          </a:p>
          <a:p>
            <a:endParaRPr lang="en-US" dirty="0"/>
          </a:p>
          <a:p>
            <a:r>
              <a:rPr lang="en-US" dirty="0"/>
              <a:t>Pros: </a:t>
            </a:r>
          </a:p>
          <a:p>
            <a:pPr lvl="1"/>
            <a:r>
              <a:rPr lang="en-US" dirty="0"/>
              <a:t>Reliable methods</a:t>
            </a:r>
          </a:p>
          <a:p>
            <a:pPr lvl="1"/>
            <a:r>
              <a:rPr lang="en-US" dirty="0"/>
              <a:t>scientific collaboration</a:t>
            </a:r>
          </a:p>
          <a:p>
            <a:r>
              <a:rPr lang="en-US" dirty="0"/>
              <a:t>Cons: </a:t>
            </a:r>
          </a:p>
          <a:p>
            <a:pPr lvl="1"/>
            <a:r>
              <a:rPr lang="en-US" dirty="0"/>
              <a:t>Limited samples</a:t>
            </a:r>
          </a:p>
          <a:p>
            <a:pPr lvl="1"/>
            <a:r>
              <a:rPr lang="en-US" dirty="0"/>
              <a:t>specific contexts</a:t>
            </a:r>
          </a:p>
          <a:p>
            <a:pPr lvl="1"/>
            <a:r>
              <a:rPr lang="en-US" dirty="0"/>
              <a:t>slow dissemination</a:t>
            </a:r>
          </a:p>
        </p:txBody>
      </p:sp>
      <p:sp>
        <p:nvSpPr>
          <p:cNvPr id="4" name="Slide Number Placeholder 3">
            <a:extLst>
              <a:ext uri="{FF2B5EF4-FFF2-40B4-BE49-F238E27FC236}">
                <a16:creationId xmlns:a16="http://schemas.microsoft.com/office/drawing/2014/main" id="{604A0497-67F7-FFFD-0541-58B52D16B579}"/>
              </a:ext>
            </a:extLst>
          </p:cNvPr>
          <p:cNvSpPr>
            <a:spLocks noGrp="1"/>
          </p:cNvSpPr>
          <p:nvPr>
            <p:ph type="sldNum" sz="quarter" idx="12"/>
          </p:nvPr>
        </p:nvSpPr>
        <p:spPr/>
        <p:txBody>
          <a:bodyPr/>
          <a:lstStyle/>
          <a:p>
            <a:fld id="{45C00377-489B-40EC-B059-26BDDD2E89B9}" type="slidenum">
              <a:rPr lang="en-US" smtClean="0"/>
              <a:pPr/>
              <a:t>8</a:t>
            </a:fld>
            <a:endParaRPr lang="en-US" dirty="0"/>
          </a:p>
        </p:txBody>
      </p:sp>
    </p:spTree>
    <p:extLst>
      <p:ext uri="{BB962C8B-B14F-4D97-AF65-F5344CB8AC3E}">
        <p14:creationId xmlns:p14="http://schemas.microsoft.com/office/powerpoint/2010/main" val="215635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00E21B-1982-E0CA-1F9E-8355997AAE51}"/>
              </a:ext>
            </a:extLst>
          </p:cNvPr>
          <p:cNvSpPr>
            <a:spLocks noGrp="1"/>
          </p:cNvSpPr>
          <p:nvPr>
            <p:ph type="sldNum" sz="quarter" idx="11"/>
          </p:nvPr>
        </p:nvSpPr>
        <p:spPr/>
        <p:txBody>
          <a:bodyPr/>
          <a:lstStyle/>
          <a:p>
            <a:fld id="{45C00377-489B-40EC-B059-26BDDD2E89B9}" type="slidenum">
              <a:rPr lang="en-US" smtClean="0"/>
              <a:pPr/>
              <a:t>9</a:t>
            </a:fld>
            <a:endParaRPr lang="en-US" dirty="0"/>
          </a:p>
        </p:txBody>
      </p:sp>
      <p:sp>
        <p:nvSpPr>
          <p:cNvPr id="3" name="Title 1">
            <a:extLst>
              <a:ext uri="{FF2B5EF4-FFF2-40B4-BE49-F238E27FC236}">
                <a16:creationId xmlns:a16="http://schemas.microsoft.com/office/drawing/2014/main" id="{B2604BDD-1EB2-C9AE-AD81-128821271322}"/>
              </a:ext>
            </a:extLst>
          </p:cNvPr>
          <p:cNvSpPr txBox="1">
            <a:spLocks/>
          </p:cNvSpPr>
          <p:nvPr/>
        </p:nvSpPr>
        <p:spPr>
          <a:xfrm>
            <a:off x="838200" y="3110401"/>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u="sng" dirty="0"/>
              <a:t>How </a:t>
            </a:r>
          </a:p>
          <a:p>
            <a:pPr algn="ctr"/>
            <a:r>
              <a:rPr lang="en-US" b="0" dirty="0"/>
              <a:t>is sports data collected?</a:t>
            </a:r>
          </a:p>
        </p:txBody>
      </p:sp>
    </p:spTree>
    <p:extLst>
      <p:ext uri="{BB962C8B-B14F-4D97-AF65-F5344CB8AC3E}">
        <p14:creationId xmlns:p14="http://schemas.microsoft.com/office/powerpoint/2010/main" val="944151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7EFF20-7721-22CF-0B9C-0225448146B6}"/>
              </a:ext>
            </a:extLst>
          </p:cNvPr>
          <p:cNvSpPr>
            <a:spLocks noGrp="1"/>
          </p:cNvSpPr>
          <p:nvPr>
            <p:ph idx="1"/>
          </p:nvPr>
        </p:nvSpPr>
        <p:spPr/>
        <p:txBody>
          <a:bodyPr/>
          <a:lstStyle/>
          <a:p>
            <a:r>
              <a:rPr lang="en-US" dirty="0"/>
              <a:t>Scout with notebook, coach's tactical board, video coding</a:t>
            </a:r>
          </a:p>
          <a:p>
            <a:r>
              <a:rPr lang="en-US" dirty="0"/>
              <a:t>Strengths: Contextual, can capture nuanced behaviors</a:t>
            </a:r>
          </a:p>
          <a:p>
            <a:r>
              <a:rPr lang="en-US" dirty="0"/>
              <a:t>Limitations: Schema determines possibilities, subjective, time-intensive</a:t>
            </a:r>
          </a:p>
        </p:txBody>
      </p:sp>
      <p:sp>
        <p:nvSpPr>
          <p:cNvPr id="4" name="Slide Number Placeholder 3">
            <a:extLst>
              <a:ext uri="{FF2B5EF4-FFF2-40B4-BE49-F238E27FC236}">
                <a16:creationId xmlns:a16="http://schemas.microsoft.com/office/drawing/2014/main" id="{320425CF-433B-BA64-63C0-A6A6E36B0490}"/>
              </a:ext>
            </a:extLst>
          </p:cNvPr>
          <p:cNvSpPr>
            <a:spLocks noGrp="1"/>
          </p:cNvSpPr>
          <p:nvPr>
            <p:ph type="sldNum" sz="quarter" idx="12"/>
          </p:nvPr>
        </p:nvSpPr>
        <p:spPr/>
        <p:txBody>
          <a:bodyPr/>
          <a:lstStyle/>
          <a:p>
            <a:fld id="{45C00377-489B-40EC-B059-26BDDD2E89B9}" type="slidenum">
              <a:rPr lang="en-US" smtClean="0"/>
              <a:pPr/>
              <a:t>10</a:t>
            </a:fld>
            <a:endParaRPr lang="en-US" dirty="0"/>
          </a:p>
        </p:txBody>
      </p:sp>
      <p:sp>
        <p:nvSpPr>
          <p:cNvPr id="2" name="Title 1">
            <a:extLst>
              <a:ext uri="{FF2B5EF4-FFF2-40B4-BE49-F238E27FC236}">
                <a16:creationId xmlns:a16="http://schemas.microsoft.com/office/drawing/2014/main" id="{537E157F-E6F6-FE34-3C0A-A701E167D090}"/>
              </a:ext>
            </a:extLst>
          </p:cNvPr>
          <p:cNvSpPr>
            <a:spLocks noGrp="1"/>
          </p:cNvSpPr>
          <p:nvPr>
            <p:ph type="title"/>
          </p:nvPr>
        </p:nvSpPr>
        <p:spPr/>
        <p:txBody>
          <a:bodyPr/>
          <a:lstStyle/>
          <a:p>
            <a:r>
              <a:rPr lang="en-US" dirty="0"/>
              <a:t>Observational</a:t>
            </a:r>
          </a:p>
        </p:txBody>
      </p:sp>
      <p:pic>
        <p:nvPicPr>
          <p:cNvPr id="5" name="Picture 8" descr="OHSBVA State Final Tournament 2019 - success!! - VolleyWrite">
            <a:extLst>
              <a:ext uri="{FF2B5EF4-FFF2-40B4-BE49-F238E27FC236}">
                <a16:creationId xmlns:a16="http://schemas.microsoft.com/office/drawing/2014/main" id="{BCEFB3CC-B7B4-7D4C-8DB2-40A38A2A3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2491" y="3994202"/>
            <a:ext cx="3247018" cy="2435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74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A69E2-ADD5-9513-DEE8-667A2F8DC230}"/>
              </a:ext>
            </a:extLst>
          </p:cNvPr>
          <p:cNvSpPr>
            <a:spLocks noGrp="1"/>
          </p:cNvSpPr>
          <p:nvPr>
            <p:ph type="title"/>
          </p:nvPr>
        </p:nvSpPr>
        <p:spPr/>
        <p:txBody>
          <a:bodyPr/>
          <a:lstStyle/>
          <a:p>
            <a:r>
              <a:rPr lang="en-US" dirty="0"/>
              <a:t>Commercial technologies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9714D1-2D51-D710-B7C4-C1D1CE61784F}"/>
                  </a:ext>
                </a:extLst>
              </p:cNvPr>
              <p:cNvSpPr>
                <a:spLocks noGrp="1"/>
              </p:cNvSpPr>
              <p:nvPr>
                <p:ph idx="1"/>
              </p:nvPr>
            </p:nvSpPr>
            <p:spPr>
              <a:xfrm>
                <a:off x="838200" y="1441938"/>
                <a:ext cx="7468518" cy="4735025"/>
              </a:xfrm>
            </p:spPr>
            <p:txBody>
              <a:bodyPr>
                <a:normAutofit/>
              </a:bodyPr>
              <a:lstStyle/>
              <a:p>
                <a:r>
                  <a:rPr lang="en-US" b="1" dirty="0"/>
                  <a:t>Optical Tracking:</a:t>
                </a:r>
                <a:r>
                  <a:rPr lang="en-US" dirty="0"/>
                  <a:t> </a:t>
                </a:r>
              </a:p>
              <a:p>
                <a:pPr lvl="1"/>
                <a:r>
                  <a:rPr lang="en-US" dirty="0"/>
                  <a:t>Camera-based spatial coordinates (</a:t>
                </a:r>
                <a14:m>
                  <m:oMath xmlns:m="http://schemas.openxmlformats.org/officeDocument/2006/math">
                    <m:r>
                      <a:rPr lang="en-US" i="1"/>
                      <m:t>𝑥</m:t>
                    </m:r>
                    <m:r>
                      <a:rPr lang="en-US"/>
                      <m:t>,</m:t>
                    </m:r>
                    <m:r>
                      <a:rPr lang="en-US" i="1"/>
                      <m:t>𝑦</m:t>
                    </m:r>
                    <m:r>
                      <a:rPr lang="en-US"/>
                      <m:t>,</m:t>
                    </m:r>
                    <m:r>
                      <a:rPr lang="en-US" i="1"/>
                      <m:t>𝑧</m:t>
                    </m:r>
                  </m:oMath>
                </a14:m>
                <a:r>
                  <a:rPr lang="en-US" dirty="0"/>
                  <a:t>). </a:t>
                </a:r>
              </a:p>
              <a:p>
                <a:pPr lvl="1"/>
                <a:r>
                  <a:rPr lang="en-US" dirty="0"/>
                  <a:t>Non-invasive, but venue-dependent, expensive, and generates massive data volumes.</a:t>
                </a:r>
              </a:p>
              <a:p>
                <a:pPr lvl="1"/>
                <a:r>
                  <a:rPr lang="en-US" dirty="0"/>
                  <a:t>Eg: Second Spectrum, Hawk-Eye</a:t>
                </a:r>
              </a:p>
              <a:p>
                <a:endParaRPr lang="en-US" dirty="0"/>
              </a:p>
              <a:p>
                <a:r>
                  <a:rPr lang="en-US" b="1" dirty="0"/>
                  <a:t>Wearables &amp; IMUs:</a:t>
                </a:r>
                <a:r>
                  <a:rPr lang="en-US" dirty="0"/>
                  <a:t> </a:t>
                </a:r>
              </a:p>
              <a:p>
                <a:pPr lvl="1"/>
                <a:r>
                  <a:rPr lang="en-US" dirty="0"/>
                  <a:t>Continuous physiological/mechanical load metrics. </a:t>
                </a:r>
              </a:p>
              <a:p>
                <a:pPr lvl="1"/>
                <a:r>
                  <a:rPr lang="en-US" dirty="0"/>
                  <a:t>Highly specific but requires athlete buy-in</a:t>
                </a:r>
              </a:p>
              <a:p>
                <a:pPr lvl="1"/>
                <a:r>
                  <a:rPr lang="en-US" dirty="0"/>
                  <a:t>Eg: GPS, Accelerometers, HR Monitors</a:t>
                </a:r>
              </a:p>
            </p:txBody>
          </p:sp>
        </mc:Choice>
        <mc:Fallback>
          <p:sp>
            <p:nvSpPr>
              <p:cNvPr id="3" name="Content Placeholder 2">
                <a:extLst>
                  <a:ext uri="{FF2B5EF4-FFF2-40B4-BE49-F238E27FC236}">
                    <a16:creationId xmlns:a16="http://schemas.microsoft.com/office/drawing/2014/main" id="{F79714D1-2D51-D710-B7C4-C1D1CE61784F}"/>
                  </a:ext>
                </a:extLst>
              </p:cNvPr>
              <p:cNvSpPr>
                <a:spLocks noGrp="1" noRot="1" noChangeAspect="1" noMove="1" noResize="1" noEditPoints="1" noAdjustHandles="1" noChangeArrowheads="1" noChangeShapeType="1" noTextEdit="1"/>
              </p:cNvSpPr>
              <p:nvPr>
                <p:ph idx="1"/>
              </p:nvPr>
            </p:nvSpPr>
            <p:spPr>
              <a:xfrm>
                <a:off x="838200" y="1441938"/>
                <a:ext cx="7468518" cy="4735025"/>
              </a:xfrm>
              <a:blipFill>
                <a:blip r:embed="rId2"/>
                <a:stretch>
                  <a:fillRect l="-1469" t="-2320"/>
                </a:stretch>
              </a:blipFill>
            </p:spPr>
            <p:txBody>
              <a:bodyPr/>
              <a:lstStyle/>
              <a:p>
                <a:r>
                  <a:rPr lang="en-US">
                    <a:noFill/>
                  </a:rPr>
                  <a:t> </a:t>
                </a:r>
              </a:p>
            </p:txBody>
          </p:sp>
        </mc:Fallback>
      </mc:AlternateContent>
      <p:pic>
        <p:nvPicPr>
          <p:cNvPr id="5" name="Picture 4" descr="Second Spectrum: The technology behind MLS and Premier League - Soccerscene">
            <a:extLst>
              <a:ext uri="{FF2B5EF4-FFF2-40B4-BE49-F238E27FC236}">
                <a16:creationId xmlns:a16="http://schemas.microsoft.com/office/drawing/2014/main" id="{1EBFA67E-4FFC-D6DA-E784-22685B546769}"/>
              </a:ext>
            </a:extLst>
          </p:cNvPr>
          <p:cNvPicPr>
            <a:picLocks noChangeAspect="1"/>
          </p:cNvPicPr>
          <p:nvPr/>
        </p:nvPicPr>
        <p:blipFill>
          <a:blip r:embed="rId3"/>
          <a:stretch>
            <a:fillRect/>
          </a:stretch>
        </p:blipFill>
        <p:spPr>
          <a:xfrm>
            <a:off x="8416887" y="1577917"/>
            <a:ext cx="3337938" cy="1666837"/>
          </a:xfrm>
          <a:prstGeom prst="rect">
            <a:avLst/>
          </a:prstGeom>
        </p:spPr>
      </p:pic>
      <p:pic>
        <p:nvPicPr>
          <p:cNvPr id="7" name="Picture 4" descr="CeeDee Lamb Week 14 Route Chart">
            <a:extLst>
              <a:ext uri="{FF2B5EF4-FFF2-40B4-BE49-F238E27FC236}">
                <a16:creationId xmlns:a16="http://schemas.microsoft.com/office/drawing/2014/main" id="{14DD1195-0F54-F817-82EA-24DA7D044DB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5067"/>
          <a:stretch>
            <a:fillRect/>
          </a:stretch>
        </p:blipFill>
        <p:spPr bwMode="auto">
          <a:xfrm>
            <a:off x="8063771" y="3727043"/>
            <a:ext cx="3691054" cy="2765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09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D868D-F290-D41F-017D-CC78BB48B130}"/>
              </a:ext>
            </a:extLst>
          </p:cNvPr>
          <p:cNvSpPr>
            <a:spLocks noGrp="1"/>
          </p:cNvSpPr>
          <p:nvPr>
            <p:ph type="title"/>
          </p:nvPr>
        </p:nvSpPr>
        <p:spPr/>
        <p:txBody>
          <a:bodyPr/>
          <a:lstStyle/>
          <a:p>
            <a:r>
              <a:rPr lang="en-US" dirty="0"/>
              <a:t>Laboratory Equipment</a:t>
            </a:r>
          </a:p>
        </p:txBody>
      </p:sp>
      <p:sp>
        <p:nvSpPr>
          <p:cNvPr id="3" name="Content Placeholder 2">
            <a:extLst>
              <a:ext uri="{FF2B5EF4-FFF2-40B4-BE49-F238E27FC236}">
                <a16:creationId xmlns:a16="http://schemas.microsoft.com/office/drawing/2014/main" id="{B1A0005C-E234-D3D0-0721-0BEDD50AFE1D}"/>
              </a:ext>
            </a:extLst>
          </p:cNvPr>
          <p:cNvSpPr>
            <a:spLocks noGrp="1"/>
          </p:cNvSpPr>
          <p:nvPr>
            <p:ph idx="1"/>
          </p:nvPr>
        </p:nvSpPr>
        <p:spPr/>
        <p:txBody>
          <a:bodyPr/>
          <a:lstStyle/>
          <a:p>
            <a:r>
              <a:rPr lang="en-US" dirty="0"/>
              <a:t>Force plates, motion capture, metabolic carts, isokinetic testing</a:t>
            </a:r>
          </a:p>
          <a:p>
            <a:r>
              <a:rPr lang="en-US" dirty="0"/>
              <a:t>Strengths: Gold-standard precision, controlled conditions</a:t>
            </a:r>
          </a:p>
          <a:p>
            <a:r>
              <a:rPr lang="en-US" dirty="0"/>
              <a:t>Limitations: Artificial environment, doesn't capture competition reality</a:t>
            </a:r>
          </a:p>
        </p:txBody>
      </p:sp>
      <p:sp>
        <p:nvSpPr>
          <p:cNvPr id="4" name="Slide Number Placeholder 3">
            <a:extLst>
              <a:ext uri="{FF2B5EF4-FFF2-40B4-BE49-F238E27FC236}">
                <a16:creationId xmlns:a16="http://schemas.microsoft.com/office/drawing/2014/main" id="{DE174B61-C709-B22E-906B-50CED316ECBC}"/>
              </a:ext>
            </a:extLst>
          </p:cNvPr>
          <p:cNvSpPr>
            <a:spLocks noGrp="1"/>
          </p:cNvSpPr>
          <p:nvPr>
            <p:ph type="sldNum" sz="quarter" idx="12"/>
          </p:nvPr>
        </p:nvSpPr>
        <p:spPr/>
        <p:txBody>
          <a:bodyPr/>
          <a:lstStyle/>
          <a:p>
            <a:fld id="{45C00377-489B-40EC-B059-26BDDD2E89B9}" type="slidenum">
              <a:rPr lang="en-US" smtClean="0"/>
              <a:pPr/>
              <a:t>12</a:t>
            </a:fld>
            <a:endParaRPr lang="en-US" dirty="0"/>
          </a:p>
        </p:txBody>
      </p:sp>
      <p:pic>
        <p:nvPicPr>
          <p:cNvPr id="5" name="Picture 4">
            <a:extLst>
              <a:ext uri="{FF2B5EF4-FFF2-40B4-BE49-F238E27FC236}">
                <a16:creationId xmlns:a16="http://schemas.microsoft.com/office/drawing/2014/main" id="{6EA27312-A5DF-983E-CF6C-4E853A0FC799}"/>
              </a:ext>
            </a:extLst>
          </p:cNvPr>
          <p:cNvPicPr>
            <a:picLocks noChangeAspect="1"/>
          </p:cNvPicPr>
          <p:nvPr/>
        </p:nvPicPr>
        <p:blipFill rotWithShape="1">
          <a:blip r:embed="rId3"/>
          <a:srcRect r="17385" b="-3"/>
          <a:stretch/>
        </p:blipFill>
        <p:spPr>
          <a:xfrm>
            <a:off x="2607482" y="3809450"/>
            <a:ext cx="2371985" cy="2655887"/>
          </a:xfrm>
          <a:prstGeom prst="rect">
            <a:avLst/>
          </a:prstGeom>
          <a:noFill/>
        </p:spPr>
      </p:pic>
      <p:pic>
        <p:nvPicPr>
          <p:cNvPr id="6" name="Picture 5" descr="ForceDecks | Portable, powerful and easy-to-use force plates">
            <a:extLst>
              <a:ext uri="{FF2B5EF4-FFF2-40B4-BE49-F238E27FC236}">
                <a16:creationId xmlns:a16="http://schemas.microsoft.com/office/drawing/2014/main" id="{B5410419-1C73-2F8C-41C0-72E67E01D643}"/>
              </a:ext>
            </a:extLst>
          </p:cNvPr>
          <p:cNvPicPr>
            <a:picLocks noChangeAspect="1"/>
          </p:cNvPicPr>
          <p:nvPr/>
        </p:nvPicPr>
        <p:blipFill>
          <a:blip r:embed="rId4"/>
          <a:stretch>
            <a:fillRect/>
          </a:stretch>
        </p:blipFill>
        <p:spPr>
          <a:xfrm>
            <a:off x="5920956" y="3836397"/>
            <a:ext cx="4832274" cy="2702515"/>
          </a:xfrm>
          <a:prstGeom prst="rect">
            <a:avLst/>
          </a:prstGeom>
        </p:spPr>
      </p:pic>
    </p:spTree>
    <p:extLst>
      <p:ext uri="{BB962C8B-B14F-4D97-AF65-F5344CB8AC3E}">
        <p14:creationId xmlns:p14="http://schemas.microsoft.com/office/powerpoint/2010/main" val="402951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5BE8F-7B77-BB8D-015E-32379697BA19}"/>
              </a:ext>
            </a:extLst>
          </p:cNvPr>
          <p:cNvSpPr>
            <a:spLocks noGrp="1"/>
          </p:cNvSpPr>
          <p:nvPr>
            <p:ph type="title"/>
          </p:nvPr>
        </p:nvSpPr>
        <p:spPr/>
        <p:txBody>
          <a:bodyPr/>
          <a:lstStyle/>
          <a:p>
            <a:r>
              <a:rPr lang="en-US" dirty="0"/>
              <a:t>Human vs Instrument</a:t>
            </a:r>
          </a:p>
        </p:txBody>
      </p:sp>
      <p:sp>
        <p:nvSpPr>
          <p:cNvPr id="3" name="Content Placeholder 2">
            <a:extLst>
              <a:ext uri="{FF2B5EF4-FFF2-40B4-BE49-F238E27FC236}">
                <a16:creationId xmlns:a16="http://schemas.microsoft.com/office/drawing/2014/main" id="{B4AF9934-70B9-FDF2-D3D2-0E2FCD7118AF}"/>
              </a:ext>
            </a:extLst>
          </p:cNvPr>
          <p:cNvSpPr>
            <a:spLocks noGrp="1"/>
          </p:cNvSpPr>
          <p:nvPr>
            <p:ph idx="1"/>
          </p:nvPr>
        </p:nvSpPr>
        <p:spPr>
          <a:xfrm>
            <a:off x="838200" y="1441939"/>
            <a:ext cx="10515600" cy="3389142"/>
          </a:xfrm>
        </p:spPr>
        <p:txBody>
          <a:bodyPr numCol="2">
            <a:normAutofit/>
          </a:bodyPr>
          <a:lstStyle/>
          <a:p>
            <a:pPr marL="0" indent="0">
              <a:buNone/>
            </a:pPr>
            <a:r>
              <a:rPr lang="en-US" dirty="0"/>
              <a:t>Human-recorded data</a:t>
            </a:r>
          </a:p>
          <a:p>
            <a:r>
              <a:rPr lang="en-US" dirty="0"/>
              <a:t>Examples:</a:t>
            </a:r>
          </a:p>
          <a:p>
            <a:pPr lvl="1"/>
            <a:r>
              <a:rPr lang="en-US" dirty="0"/>
              <a:t>Scouting grades </a:t>
            </a:r>
          </a:p>
          <a:p>
            <a:pPr lvl="1"/>
            <a:r>
              <a:rPr lang="en-US" dirty="0"/>
              <a:t>Notational analysis </a:t>
            </a:r>
          </a:p>
          <a:p>
            <a:pPr lvl="1"/>
            <a:r>
              <a:rPr lang="en-US" dirty="0"/>
              <a:t>Coach observations </a:t>
            </a:r>
          </a:p>
          <a:p>
            <a:pPr lvl="1"/>
            <a:r>
              <a:rPr lang="en-US" dirty="0"/>
              <a:t>Injury or participation records </a:t>
            </a:r>
          </a:p>
          <a:p>
            <a:pPr lvl="1"/>
            <a:r>
              <a:rPr lang="en-US" dirty="0"/>
              <a:t>Event tagging </a:t>
            </a:r>
          </a:p>
          <a:p>
            <a:pPr marL="0" indent="0">
              <a:buNone/>
            </a:pPr>
            <a:r>
              <a:rPr lang="en-US" dirty="0"/>
              <a:t>Instrument-generated data</a:t>
            </a:r>
          </a:p>
          <a:p>
            <a:r>
              <a:rPr lang="en-US" dirty="0"/>
              <a:t>Examples:</a:t>
            </a:r>
          </a:p>
          <a:p>
            <a:pPr lvl="1"/>
            <a:r>
              <a:rPr lang="en-US" dirty="0"/>
              <a:t>GPS or local positioning systems </a:t>
            </a:r>
          </a:p>
          <a:p>
            <a:pPr lvl="1"/>
            <a:r>
              <a:rPr lang="en-US" dirty="0"/>
              <a:t>Optical tracking </a:t>
            </a:r>
          </a:p>
          <a:p>
            <a:pPr lvl="1"/>
            <a:r>
              <a:rPr lang="en-US" dirty="0"/>
              <a:t>Force plates </a:t>
            </a:r>
          </a:p>
          <a:p>
            <a:pPr lvl="1"/>
            <a:r>
              <a:rPr lang="en-US" dirty="0"/>
              <a:t>Heart-rate monitors </a:t>
            </a:r>
          </a:p>
          <a:p>
            <a:pPr lvl="1"/>
            <a:r>
              <a:rPr lang="en-US" dirty="0"/>
              <a:t>Timing systems</a:t>
            </a:r>
          </a:p>
        </p:txBody>
      </p:sp>
    </p:spTree>
    <p:extLst>
      <p:ext uri="{BB962C8B-B14F-4D97-AF65-F5344CB8AC3E}">
        <p14:creationId xmlns:p14="http://schemas.microsoft.com/office/powerpoint/2010/main" val="501822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B8F70-F0ED-FF93-23F9-3CFDFF8A52F7}"/>
              </a:ext>
            </a:extLst>
          </p:cNvPr>
          <p:cNvSpPr>
            <a:spLocks noGrp="1"/>
          </p:cNvSpPr>
          <p:nvPr>
            <p:ph type="title"/>
          </p:nvPr>
        </p:nvSpPr>
        <p:spPr/>
        <p:txBody>
          <a:bodyPr/>
          <a:lstStyle/>
          <a:p>
            <a:r>
              <a:rPr lang="en-US" dirty="0"/>
              <a:t>Primary vs Secondary </a:t>
            </a:r>
          </a:p>
        </p:txBody>
      </p:sp>
      <p:sp>
        <p:nvSpPr>
          <p:cNvPr id="3" name="Content Placeholder 2">
            <a:extLst>
              <a:ext uri="{FF2B5EF4-FFF2-40B4-BE49-F238E27FC236}">
                <a16:creationId xmlns:a16="http://schemas.microsoft.com/office/drawing/2014/main" id="{B5075FD7-F6EF-21B5-1F90-01C27074E4A6}"/>
              </a:ext>
            </a:extLst>
          </p:cNvPr>
          <p:cNvSpPr>
            <a:spLocks noGrp="1"/>
          </p:cNvSpPr>
          <p:nvPr>
            <p:ph idx="1"/>
          </p:nvPr>
        </p:nvSpPr>
        <p:spPr>
          <a:xfrm>
            <a:off x="838200" y="1441938"/>
            <a:ext cx="4681251" cy="4735025"/>
          </a:xfrm>
        </p:spPr>
        <p:txBody>
          <a:bodyPr/>
          <a:lstStyle/>
          <a:p>
            <a:pPr marL="0" indent="0">
              <a:buNone/>
            </a:pPr>
            <a:r>
              <a:rPr lang="en-US" dirty="0"/>
              <a:t>Primary data</a:t>
            </a:r>
          </a:p>
          <a:p>
            <a:r>
              <a:rPr lang="en-US" sz="2400" dirty="0"/>
              <a:t>You collect data for a specific question</a:t>
            </a:r>
          </a:p>
          <a:p>
            <a:endParaRPr lang="en-US" sz="2400" dirty="0"/>
          </a:p>
          <a:p>
            <a:pPr lvl="2"/>
            <a:endParaRPr lang="en-US" sz="1600" dirty="0"/>
          </a:p>
          <a:p>
            <a:r>
              <a:rPr lang="en-US" sz="2400" dirty="0"/>
              <a:t>Pros: Full control over what and how data are collected</a:t>
            </a:r>
          </a:p>
          <a:p>
            <a:endParaRPr lang="en-US" sz="2400" dirty="0"/>
          </a:p>
          <a:p>
            <a:r>
              <a:rPr lang="en-US" sz="2400" dirty="0"/>
              <a:t>Cons: Time and resource intensive, access can be a challenge</a:t>
            </a:r>
          </a:p>
          <a:p>
            <a:endParaRPr lang="en-US" dirty="0"/>
          </a:p>
        </p:txBody>
      </p:sp>
      <p:sp>
        <p:nvSpPr>
          <p:cNvPr id="4" name="Content Placeholder 2">
            <a:extLst>
              <a:ext uri="{FF2B5EF4-FFF2-40B4-BE49-F238E27FC236}">
                <a16:creationId xmlns:a16="http://schemas.microsoft.com/office/drawing/2014/main" id="{F642BA21-915D-7606-28C9-C8F0406C1A53}"/>
              </a:ext>
            </a:extLst>
          </p:cNvPr>
          <p:cNvSpPr txBox="1">
            <a:spLocks/>
          </p:cNvSpPr>
          <p:nvPr/>
        </p:nvSpPr>
        <p:spPr>
          <a:xfrm>
            <a:off x="6672549" y="1441937"/>
            <a:ext cx="4681251" cy="4735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Secondary data</a:t>
            </a:r>
          </a:p>
          <a:p>
            <a:r>
              <a:rPr lang="en-US" sz="2400" dirty="0"/>
              <a:t>Data collected by someone else for their specific question or general use case</a:t>
            </a:r>
          </a:p>
          <a:p>
            <a:pPr lvl="1"/>
            <a:endParaRPr lang="en-US" sz="2000" dirty="0"/>
          </a:p>
          <a:p>
            <a:r>
              <a:rPr lang="en-US" sz="2400" dirty="0"/>
              <a:t>Pros: does not require time and resources, or direct access to sport or athlete</a:t>
            </a:r>
          </a:p>
          <a:p>
            <a:pPr lvl="1"/>
            <a:endParaRPr lang="en-US" sz="2000" dirty="0"/>
          </a:p>
          <a:p>
            <a:r>
              <a:rPr lang="en-US" sz="2400" dirty="0"/>
              <a:t>Cons: may not fit your analytical question</a:t>
            </a:r>
          </a:p>
          <a:p>
            <a:endParaRPr lang="en-US" dirty="0"/>
          </a:p>
        </p:txBody>
      </p:sp>
      <p:sp>
        <p:nvSpPr>
          <p:cNvPr id="5" name="Rectangle 4">
            <a:extLst>
              <a:ext uri="{FF2B5EF4-FFF2-40B4-BE49-F238E27FC236}">
                <a16:creationId xmlns:a16="http://schemas.microsoft.com/office/drawing/2014/main" id="{E2E722DF-B9E8-CE3D-0272-E17730388442}"/>
              </a:ext>
            </a:extLst>
          </p:cNvPr>
          <p:cNvSpPr/>
          <p:nvPr/>
        </p:nvSpPr>
        <p:spPr>
          <a:xfrm>
            <a:off x="6544019" y="1277816"/>
            <a:ext cx="4913523" cy="47350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8692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70D35-19CD-D75C-C742-343A28E997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B1A78A-0E4F-B83D-1AEB-F5758F868C30}"/>
              </a:ext>
            </a:extLst>
          </p:cNvPr>
          <p:cNvSpPr>
            <a:spLocks noGrp="1"/>
          </p:cNvSpPr>
          <p:nvPr>
            <p:ph type="sldNum" sz="quarter" idx="11"/>
          </p:nvPr>
        </p:nvSpPr>
        <p:spPr/>
        <p:txBody>
          <a:bodyPr/>
          <a:lstStyle/>
          <a:p>
            <a:fld id="{45C00377-489B-40EC-B059-26BDDD2E89B9}" type="slidenum">
              <a:rPr lang="en-US" smtClean="0"/>
              <a:pPr/>
              <a:t>15</a:t>
            </a:fld>
            <a:endParaRPr lang="en-US" dirty="0"/>
          </a:p>
        </p:txBody>
      </p:sp>
      <p:sp>
        <p:nvSpPr>
          <p:cNvPr id="3" name="Title 1">
            <a:extLst>
              <a:ext uri="{FF2B5EF4-FFF2-40B4-BE49-F238E27FC236}">
                <a16:creationId xmlns:a16="http://schemas.microsoft.com/office/drawing/2014/main" id="{4245A71A-35B7-A6C4-643C-B010098949BD}"/>
              </a:ext>
            </a:extLst>
          </p:cNvPr>
          <p:cNvSpPr txBox="1">
            <a:spLocks/>
          </p:cNvSpPr>
          <p:nvPr/>
        </p:nvSpPr>
        <p:spPr>
          <a:xfrm>
            <a:off x="838200" y="3110401"/>
            <a:ext cx="10515600" cy="637198"/>
          </a:xfrm>
          <a:prstGeom prst="rect">
            <a:avLst/>
          </a:prstGeom>
        </p:spPr>
        <p:txBody>
          <a:bodyPr/>
          <a:lstStyle>
            <a:lvl1pPr algn="l" defTabSz="914400" rtl="0" eaLnBrk="1" latinLnBrk="0" hangingPunct="1">
              <a:lnSpc>
                <a:spcPct val="90000"/>
              </a:lnSpc>
              <a:spcBef>
                <a:spcPct val="0"/>
              </a:spcBef>
              <a:buNone/>
              <a:defRPr sz="3600" b="1" kern="1200" cap="all" baseline="0">
                <a:solidFill>
                  <a:schemeClr val="tx1"/>
                </a:solidFill>
                <a:latin typeface="+mn-lt"/>
                <a:ea typeface="+mj-ea"/>
                <a:cs typeface="+mj-cs"/>
              </a:defRPr>
            </a:lvl1pPr>
          </a:lstStyle>
          <a:p>
            <a:pPr algn="ctr"/>
            <a:r>
              <a:rPr lang="en-US" u="sng" dirty="0"/>
              <a:t>What </a:t>
            </a:r>
          </a:p>
          <a:p>
            <a:pPr algn="ctr"/>
            <a:r>
              <a:rPr lang="en-US" b="0" dirty="0"/>
              <a:t>Does this data represent?</a:t>
            </a:r>
          </a:p>
        </p:txBody>
      </p:sp>
    </p:spTree>
    <p:extLst>
      <p:ext uri="{BB962C8B-B14F-4D97-AF65-F5344CB8AC3E}">
        <p14:creationId xmlns:p14="http://schemas.microsoft.com/office/powerpoint/2010/main" val="1742538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446BD-B47B-3F1A-CF07-4C0CF5A830B3}"/>
              </a:ext>
            </a:extLst>
          </p:cNvPr>
          <p:cNvSpPr>
            <a:spLocks noGrp="1"/>
          </p:cNvSpPr>
          <p:nvPr>
            <p:ph type="title"/>
          </p:nvPr>
        </p:nvSpPr>
        <p:spPr/>
        <p:txBody>
          <a:bodyPr/>
          <a:lstStyle/>
          <a:p>
            <a:r>
              <a:rPr lang="en-US" dirty="0"/>
              <a:t>Event </a:t>
            </a:r>
            <a:r>
              <a:rPr lang="en-US" dirty="0">
                <a:sym typeface="Wingdings" panose="05000000000000000000" pitchFamily="2" charset="2"/>
              </a:rPr>
              <a:t> Dataset Pipeline</a:t>
            </a:r>
            <a:endParaRPr lang="en-US" dirty="0"/>
          </a:p>
        </p:txBody>
      </p:sp>
      <p:sp>
        <p:nvSpPr>
          <p:cNvPr id="3" name="Content Placeholder 2">
            <a:extLst>
              <a:ext uri="{FF2B5EF4-FFF2-40B4-BE49-F238E27FC236}">
                <a16:creationId xmlns:a16="http://schemas.microsoft.com/office/drawing/2014/main" id="{0457117C-B714-3289-DBC3-DCB4D3742F5A}"/>
              </a:ext>
            </a:extLst>
          </p:cNvPr>
          <p:cNvSpPr>
            <a:spLocks noGrp="1"/>
          </p:cNvSpPr>
          <p:nvPr>
            <p:ph idx="1"/>
          </p:nvPr>
        </p:nvSpPr>
        <p:spPr/>
        <p:txBody>
          <a:bodyPr/>
          <a:lstStyle/>
          <a:p>
            <a:r>
              <a:rPr lang="en-US" dirty="0"/>
              <a:t>event → data collection → data processing → analytics</a:t>
            </a:r>
          </a:p>
        </p:txBody>
      </p:sp>
      <p:pic>
        <p:nvPicPr>
          <p:cNvPr id="5" name="Picture 2" descr="Diagram of countermovement jump. | Download Scientific Diagram">
            <a:extLst>
              <a:ext uri="{FF2B5EF4-FFF2-40B4-BE49-F238E27FC236}">
                <a16:creationId xmlns:a16="http://schemas.microsoft.com/office/drawing/2014/main" id="{B3B6C94F-CF47-C103-7C87-7E2659682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836" y="3098474"/>
            <a:ext cx="4279453" cy="1278801"/>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18">
            <a:extLst>
              <a:ext uri="{FF2B5EF4-FFF2-40B4-BE49-F238E27FC236}">
                <a16:creationId xmlns:a16="http://schemas.microsoft.com/office/drawing/2014/main" id="{5C6E8D06-64E1-3769-F204-BFB5ADA169D5}"/>
              </a:ext>
            </a:extLst>
          </p:cNvPr>
          <p:cNvPicPr>
            <a:picLocks noChangeAspect="1"/>
          </p:cNvPicPr>
          <p:nvPr/>
        </p:nvPicPr>
        <p:blipFill>
          <a:blip r:embed="rId4"/>
          <a:stretch>
            <a:fillRect/>
          </a:stretch>
        </p:blipFill>
        <p:spPr>
          <a:xfrm>
            <a:off x="5963531" y="3195150"/>
            <a:ext cx="5570680" cy="3063874"/>
          </a:xfrm>
          <a:prstGeom prst="rect">
            <a:avLst/>
          </a:prstGeom>
        </p:spPr>
      </p:pic>
      <p:pic>
        <p:nvPicPr>
          <p:cNvPr id="7" name="Picture 6" descr="Data processing - Free seo and web icons">
            <a:extLst>
              <a:ext uri="{FF2B5EF4-FFF2-40B4-BE49-F238E27FC236}">
                <a16:creationId xmlns:a16="http://schemas.microsoft.com/office/drawing/2014/main" id="{548EE514-6EC3-8745-7D98-4150BDBF31DD}"/>
              </a:ext>
            </a:extLst>
          </p:cNvPr>
          <p:cNvPicPr>
            <a:picLocks noChangeAspect="1"/>
          </p:cNvPicPr>
          <p:nvPr/>
        </p:nvPicPr>
        <p:blipFill>
          <a:blip r:embed="rId5"/>
          <a:stretch>
            <a:fillRect/>
          </a:stretch>
        </p:blipFill>
        <p:spPr>
          <a:xfrm>
            <a:off x="2651563" y="4541397"/>
            <a:ext cx="1799688" cy="1799688"/>
          </a:xfrm>
          <a:prstGeom prst="rect">
            <a:avLst/>
          </a:prstGeom>
        </p:spPr>
      </p:pic>
      <p:sp>
        <p:nvSpPr>
          <p:cNvPr id="8" name="Arrow: Bent-Up 7">
            <a:extLst>
              <a:ext uri="{FF2B5EF4-FFF2-40B4-BE49-F238E27FC236}">
                <a16:creationId xmlns:a16="http://schemas.microsoft.com/office/drawing/2014/main" id="{DB4555FB-498A-94EB-A4DE-00C7F5AC488C}"/>
              </a:ext>
            </a:extLst>
          </p:cNvPr>
          <p:cNvSpPr/>
          <p:nvPr/>
        </p:nvSpPr>
        <p:spPr>
          <a:xfrm rot="5400000">
            <a:off x="1465203" y="4504767"/>
            <a:ext cx="850392" cy="102255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234C6BDC-57E4-5E2E-B743-C396869D8BCA}"/>
              </a:ext>
            </a:extLst>
          </p:cNvPr>
          <p:cNvSpPr/>
          <p:nvPr/>
        </p:nvSpPr>
        <p:spPr>
          <a:xfrm>
            <a:off x="4777615" y="517374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5646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DD1E6-8E7D-C3E1-16FA-A53AB58BE911}"/>
              </a:ext>
            </a:extLst>
          </p:cNvPr>
          <p:cNvSpPr>
            <a:spLocks noGrp="1"/>
          </p:cNvSpPr>
          <p:nvPr>
            <p:ph type="title"/>
          </p:nvPr>
        </p:nvSpPr>
        <p:spPr/>
        <p:txBody>
          <a:bodyPr/>
          <a:lstStyle/>
          <a:p>
            <a:r>
              <a:rPr lang="en-US" dirty="0"/>
              <a:t>Context from the “what”</a:t>
            </a:r>
          </a:p>
        </p:txBody>
      </p:sp>
      <p:sp>
        <p:nvSpPr>
          <p:cNvPr id="3" name="Content Placeholder 2">
            <a:extLst>
              <a:ext uri="{FF2B5EF4-FFF2-40B4-BE49-F238E27FC236}">
                <a16:creationId xmlns:a16="http://schemas.microsoft.com/office/drawing/2014/main" id="{F58DA3A8-A273-A58A-F996-16C833703EA6}"/>
              </a:ext>
            </a:extLst>
          </p:cNvPr>
          <p:cNvSpPr>
            <a:spLocks noGrp="1"/>
          </p:cNvSpPr>
          <p:nvPr>
            <p:ph idx="1"/>
          </p:nvPr>
        </p:nvSpPr>
        <p:spPr/>
        <p:txBody>
          <a:bodyPr/>
          <a:lstStyle/>
          <a:p>
            <a:endParaRPr lang="en-US" dirty="0"/>
          </a:p>
        </p:txBody>
      </p:sp>
      <p:pic>
        <p:nvPicPr>
          <p:cNvPr id="4" name="Content Placeholder 18">
            <a:extLst>
              <a:ext uri="{FF2B5EF4-FFF2-40B4-BE49-F238E27FC236}">
                <a16:creationId xmlns:a16="http://schemas.microsoft.com/office/drawing/2014/main" id="{AE96E68C-F13F-EEF7-7503-8C3F593DE08C}"/>
              </a:ext>
            </a:extLst>
          </p:cNvPr>
          <p:cNvPicPr>
            <a:picLocks noChangeAspect="1"/>
          </p:cNvPicPr>
          <p:nvPr/>
        </p:nvPicPr>
        <p:blipFill>
          <a:blip r:embed="rId2"/>
          <a:stretch>
            <a:fillRect/>
          </a:stretch>
        </p:blipFill>
        <p:spPr>
          <a:xfrm>
            <a:off x="838200" y="3429000"/>
            <a:ext cx="4987637" cy="2743200"/>
          </a:xfrm>
          <a:prstGeom prst="rect">
            <a:avLst/>
          </a:prstGeom>
        </p:spPr>
      </p:pic>
      <p:pic>
        <p:nvPicPr>
          <p:cNvPr id="5" name="Content Placeholder 7">
            <a:extLst>
              <a:ext uri="{FF2B5EF4-FFF2-40B4-BE49-F238E27FC236}">
                <a16:creationId xmlns:a16="http://schemas.microsoft.com/office/drawing/2014/main" id="{833F9C5C-4F86-DED6-5007-DDD796369183}"/>
              </a:ext>
            </a:extLst>
          </p:cNvPr>
          <p:cNvPicPr>
            <a:picLocks noChangeAspect="1"/>
          </p:cNvPicPr>
          <p:nvPr/>
        </p:nvPicPr>
        <p:blipFill>
          <a:blip r:embed="rId3"/>
          <a:stretch>
            <a:fillRect/>
          </a:stretch>
        </p:blipFill>
        <p:spPr>
          <a:xfrm>
            <a:off x="6366165" y="3429000"/>
            <a:ext cx="4987636" cy="2743200"/>
          </a:xfrm>
          <a:prstGeom prst="rect">
            <a:avLst/>
          </a:prstGeom>
        </p:spPr>
      </p:pic>
      <p:pic>
        <p:nvPicPr>
          <p:cNvPr id="7" name="Picture 2" descr="Diagram of countermovement jump. | Download Scientific Diagram">
            <a:extLst>
              <a:ext uri="{FF2B5EF4-FFF2-40B4-BE49-F238E27FC236}">
                <a16:creationId xmlns:a16="http://schemas.microsoft.com/office/drawing/2014/main" id="{CF2F1ED6-7068-EA91-3D3F-1BAE66AE7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6110" y="1311035"/>
            <a:ext cx="4279453" cy="12788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627397A-AB11-6821-15EA-D99CE555F5F6}"/>
              </a:ext>
            </a:extLst>
          </p:cNvPr>
          <p:cNvSpPr txBox="1"/>
          <p:nvPr/>
        </p:nvSpPr>
        <p:spPr>
          <a:xfrm>
            <a:off x="3015136" y="3054905"/>
            <a:ext cx="633763" cy="369332"/>
          </a:xfrm>
          <a:prstGeom prst="rect">
            <a:avLst/>
          </a:prstGeom>
          <a:noFill/>
        </p:spPr>
        <p:txBody>
          <a:bodyPr wrap="none" rtlCol="0">
            <a:spAutoFit/>
          </a:bodyPr>
          <a:lstStyle/>
          <a:p>
            <a:r>
              <a:rPr lang="en-US" dirty="0"/>
              <a:t>data</a:t>
            </a:r>
          </a:p>
        </p:txBody>
      </p:sp>
      <p:sp>
        <p:nvSpPr>
          <p:cNvPr id="10" name="TextBox 9">
            <a:extLst>
              <a:ext uri="{FF2B5EF4-FFF2-40B4-BE49-F238E27FC236}">
                <a16:creationId xmlns:a16="http://schemas.microsoft.com/office/drawing/2014/main" id="{877E77FA-55E4-CE7C-6B95-6D8F24D346D5}"/>
              </a:ext>
            </a:extLst>
          </p:cNvPr>
          <p:cNvSpPr txBox="1"/>
          <p:nvPr/>
        </p:nvSpPr>
        <p:spPr>
          <a:xfrm>
            <a:off x="7212833" y="3026449"/>
            <a:ext cx="3294300" cy="369332"/>
          </a:xfrm>
          <a:prstGeom prst="rect">
            <a:avLst/>
          </a:prstGeom>
          <a:noFill/>
        </p:spPr>
        <p:txBody>
          <a:bodyPr wrap="none" rtlCol="0">
            <a:spAutoFit/>
          </a:bodyPr>
          <a:lstStyle/>
          <a:p>
            <a:r>
              <a:rPr lang="en-US" dirty="0"/>
              <a:t>CMJ before practice and games</a:t>
            </a:r>
          </a:p>
        </p:txBody>
      </p:sp>
    </p:spTree>
    <p:extLst>
      <p:ext uri="{BB962C8B-B14F-4D97-AF65-F5344CB8AC3E}">
        <p14:creationId xmlns:p14="http://schemas.microsoft.com/office/powerpoint/2010/main" val="91917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C1E20-B22D-58AB-F55F-8ADBE3C7660D}"/>
              </a:ext>
            </a:extLst>
          </p:cNvPr>
          <p:cNvSpPr>
            <a:spLocks noGrp="1"/>
          </p:cNvSpPr>
          <p:nvPr>
            <p:ph type="title"/>
          </p:nvPr>
        </p:nvSpPr>
        <p:spPr/>
        <p:txBody>
          <a:bodyPr/>
          <a:lstStyle/>
          <a:p>
            <a:r>
              <a:rPr lang="en-US" dirty="0"/>
              <a:t>Direct / Raw Measurements</a:t>
            </a:r>
          </a:p>
        </p:txBody>
      </p:sp>
      <p:sp>
        <p:nvSpPr>
          <p:cNvPr id="3" name="Content Placeholder 2">
            <a:extLst>
              <a:ext uri="{FF2B5EF4-FFF2-40B4-BE49-F238E27FC236}">
                <a16:creationId xmlns:a16="http://schemas.microsoft.com/office/drawing/2014/main" id="{60505697-B305-3195-75BA-69E4BCB67BFB}"/>
              </a:ext>
            </a:extLst>
          </p:cNvPr>
          <p:cNvSpPr>
            <a:spLocks noGrp="1"/>
          </p:cNvSpPr>
          <p:nvPr>
            <p:ph idx="1"/>
          </p:nvPr>
        </p:nvSpPr>
        <p:spPr/>
        <p:txBody>
          <a:bodyPr/>
          <a:lstStyle/>
          <a:p>
            <a:r>
              <a:rPr lang="en-US" dirty="0"/>
              <a:t>Unprocessed or minimally processed signals straight from the sensor, human observer, or box score.</a:t>
            </a:r>
          </a:p>
          <a:p>
            <a:r>
              <a:rPr lang="en-US" dirty="0"/>
              <a:t>Objective, transparent, but high-volume and often noisy.</a:t>
            </a:r>
          </a:p>
        </p:txBody>
      </p:sp>
      <p:pic>
        <p:nvPicPr>
          <p:cNvPr id="5" name="Picture 2" descr="Diagram of countermovement jump. | Download Scientific Diagram">
            <a:extLst>
              <a:ext uri="{FF2B5EF4-FFF2-40B4-BE49-F238E27FC236}">
                <a16:creationId xmlns:a16="http://schemas.microsoft.com/office/drawing/2014/main" id="{771331A4-4F65-51D9-84ED-3FE7664763EE}"/>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a:stretch>
            <a:fillRect/>
          </a:stretch>
        </p:blipFill>
        <p:spPr bwMode="auto">
          <a:xfrm>
            <a:off x="511836" y="3098474"/>
            <a:ext cx="4279453" cy="1278801"/>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18">
            <a:extLst>
              <a:ext uri="{FF2B5EF4-FFF2-40B4-BE49-F238E27FC236}">
                <a16:creationId xmlns:a16="http://schemas.microsoft.com/office/drawing/2014/main" id="{004518A3-F70B-8DCD-787D-17601099BD9B}"/>
              </a:ext>
            </a:extLst>
          </p:cNvPr>
          <p:cNvPicPr>
            <a:picLocks noChangeAspect="1"/>
          </p:cNvPicPr>
          <p:nvPr/>
        </p:nvPicPr>
        <p:blipFill>
          <a:blip r:embed="rId3">
            <a:alphaModFix amt="35000"/>
          </a:blip>
          <a:stretch>
            <a:fillRect/>
          </a:stretch>
        </p:blipFill>
        <p:spPr>
          <a:xfrm>
            <a:off x="5963531" y="3195150"/>
            <a:ext cx="5570680" cy="3063874"/>
          </a:xfrm>
          <a:prstGeom prst="rect">
            <a:avLst/>
          </a:prstGeom>
        </p:spPr>
      </p:pic>
      <p:pic>
        <p:nvPicPr>
          <p:cNvPr id="9" name="Picture 8" descr="Data processing - Free seo and web icons">
            <a:extLst>
              <a:ext uri="{FF2B5EF4-FFF2-40B4-BE49-F238E27FC236}">
                <a16:creationId xmlns:a16="http://schemas.microsoft.com/office/drawing/2014/main" id="{58F95586-4077-651F-65F2-635962C6A505}"/>
              </a:ext>
            </a:extLst>
          </p:cNvPr>
          <p:cNvPicPr>
            <a:picLocks noChangeAspect="1"/>
          </p:cNvPicPr>
          <p:nvPr/>
        </p:nvPicPr>
        <p:blipFill>
          <a:blip r:embed="rId4">
            <a:alphaModFix amt="35000"/>
          </a:blip>
          <a:stretch>
            <a:fillRect/>
          </a:stretch>
        </p:blipFill>
        <p:spPr>
          <a:xfrm>
            <a:off x="2651563" y="4541397"/>
            <a:ext cx="1799688" cy="1799688"/>
          </a:xfrm>
          <a:prstGeom prst="rect">
            <a:avLst/>
          </a:prstGeom>
        </p:spPr>
      </p:pic>
      <p:sp>
        <p:nvSpPr>
          <p:cNvPr id="11" name="Arrow: Bent-Up 10">
            <a:extLst>
              <a:ext uri="{FF2B5EF4-FFF2-40B4-BE49-F238E27FC236}">
                <a16:creationId xmlns:a16="http://schemas.microsoft.com/office/drawing/2014/main" id="{487FC5CF-27D9-2077-E7D8-5C5F3F05A438}"/>
              </a:ext>
            </a:extLst>
          </p:cNvPr>
          <p:cNvSpPr/>
          <p:nvPr/>
        </p:nvSpPr>
        <p:spPr>
          <a:xfrm rot="5400000">
            <a:off x="1465203" y="4504767"/>
            <a:ext cx="850392" cy="1022555"/>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7296787C-C761-0768-60AC-91B50A011FA8}"/>
              </a:ext>
            </a:extLst>
          </p:cNvPr>
          <p:cNvSpPr/>
          <p:nvPr/>
        </p:nvSpPr>
        <p:spPr>
          <a:xfrm>
            <a:off x="4777615" y="5173746"/>
            <a:ext cx="978408" cy="484632"/>
          </a:xfrm>
          <a:prstGeom prst="rightArrow">
            <a:avLst/>
          </a:prstGeom>
          <a:solidFill>
            <a:schemeClr val="bg2">
              <a:lumMod val="75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27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2938E-4844-174D-1E4B-F5D8CC78186E}"/>
              </a:ext>
            </a:extLst>
          </p:cNvPr>
          <p:cNvSpPr>
            <a:spLocks noGrp="1"/>
          </p:cNvSpPr>
          <p:nvPr>
            <p:ph type="title"/>
          </p:nvPr>
        </p:nvSpPr>
        <p:spPr/>
        <p:txBody>
          <a:bodyPr/>
          <a:lstStyle/>
          <a:p>
            <a:r>
              <a:rPr lang="en-US" dirty="0"/>
              <a:t>Derived / Calculated Metrics</a:t>
            </a:r>
          </a:p>
        </p:txBody>
      </p:sp>
      <p:sp>
        <p:nvSpPr>
          <p:cNvPr id="3" name="Content Placeholder 2">
            <a:extLst>
              <a:ext uri="{FF2B5EF4-FFF2-40B4-BE49-F238E27FC236}">
                <a16:creationId xmlns:a16="http://schemas.microsoft.com/office/drawing/2014/main" id="{CEED7A19-D631-E151-DFC7-BCBD328568AE}"/>
              </a:ext>
            </a:extLst>
          </p:cNvPr>
          <p:cNvSpPr>
            <a:spLocks noGrp="1"/>
          </p:cNvSpPr>
          <p:nvPr>
            <p:ph idx="1"/>
          </p:nvPr>
        </p:nvSpPr>
        <p:spPr/>
        <p:txBody>
          <a:bodyPr/>
          <a:lstStyle/>
          <a:p>
            <a:r>
              <a:rPr lang="en-US" dirty="0"/>
              <a:t>Variables created by applying formulas, algorithms, aggregations, or statistical models to raw data.</a:t>
            </a:r>
          </a:p>
          <a:p>
            <a:r>
              <a:rPr lang="en-US" dirty="0"/>
              <a:t>High interpretability but carries assumptions and choices made by whoever engineered the metric. </a:t>
            </a:r>
          </a:p>
        </p:txBody>
      </p:sp>
      <p:pic>
        <p:nvPicPr>
          <p:cNvPr id="5" name="Picture 2" descr="Diagram of countermovement jump. | Download Scientific Diagram">
            <a:extLst>
              <a:ext uri="{FF2B5EF4-FFF2-40B4-BE49-F238E27FC236}">
                <a16:creationId xmlns:a16="http://schemas.microsoft.com/office/drawing/2014/main" id="{65EC157E-2C87-91E1-58AF-589CBE7C7C58}"/>
              </a:ext>
            </a:extLst>
          </p:cNvPr>
          <p:cNvPicPr>
            <a:picLocks noChangeAspect="1" noChangeArrowheads="1"/>
          </p:cNvPicPr>
          <p:nvPr/>
        </p:nvPicPr>
        <p:blipFill>
          <a:blip r:embed="rId3">
            <a:alphaModFix amt="35000"/>
            <a:extLst>
              <a:ext uri="{28A0092B-C50C-407E-A947-70E740481C1C}">
                <a14:useLocalDpi xmlns:a14="http://schemas.microsoft.com/office/drawing/2010/main" val="0"/>
              </a:ext>
            </a:extLst>
          </a:blip>
          <a:srcRect/>
          <a:stretch>
            <a:fillRect/>
          </a:stretch>
        </p:blipFill>
        <p:spPr bwMode="auto">
          <a:xfrm>
            <a:off x="511836" y="3098474"/>
            <a:ext cx="4279453" cy="1278801"/>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18">
            <a:extLst>
              <a:ext uri="{FF2B5EF4-FFF2-40B4-BE49-F238E27FC236}">
                <a16:creationId xmlns:a16="http://schemas.microsoft.com/office/drawing/2014/main" id="{DE68D686-64DC-7E18-F706-8BF498B6414F}"/>
              </a:ext>
            </a:extLst>
          </p:cNvPr>
          <p:cNvPicPr>
            <a:picLocks noChangeAspect="1"/>
          </p:cNvPicPr>
          <p:nvPr/>
        </p:nvPicPr>
        <p:blipFill>
          <a:blip r:embed="rId4">
            <a:alphaModFix amt="35000"/>
          </a:blip>
          <a:stretch>
            <a:fillRect/>
          </a:stretch>
        </p:blipFill>
        <p:spPr>
          <a:xfrm>
            <a:off x="5963531" y="3195150"/>
            <a:ext cx="5570680" cy="3063874"/>
          </a:xfrm>
          <a:prstGeom prst="rect">
            <a:avLst/>
          </a:prstGeom>
        </p:spPr>
      </p:pic>
      <p:pic>
        <p:nvPicPr>
          <p:cNvPr id="9" name="Picture 8" descr="Data processing - Free seo and web icons">
            <a:extLst>
              <a:ext uri="{FF2B5EF4-FFF2-40B4-BE49-F238E27FC236}">
                <a16:creationId xmlns:a16="http://schemas.microsoft.com/office/drawing/2014/main" id="{92E7E52C-877B-5B58-4C76-39817C816E81}"/>
              </a:ext>
            </a:extLst>
          </p:cNvPr>
          <p:cNvPicPr>
            <a:picLocks noChangeAspect="1"/>
          </p:cNvPicPr>
          <p:nvPr/>
        </p:nvPicPr>
        <p:blipFill>
          <a:blip r:embed="rId5">
            <a:alphaModFix amt="35000"/>
          </a:blip>
          <a:stretch>
            <a:fillRect/>
          </a:stretch>
        </p:blipFill>
        <p:spPr>
          <a:xfrm>
            <a:off x="2651563" y="4541397"/>
            <a:ext cx="1799688" cy="1799688"/>
          </a:xfrm>
          <a:prstGeom prst="rect">
            <a:avLst/>
          </a:prstGeom>
        </p:spPr>
      </p:pic>
      <p:sp>
        <p:nvSpPr>
          <p:cNvPr id="11" name="Arrow: Bent-Up 10">
            <a:extLst>
              <a:ext uri="{FF2B5EF4-FFF2-40B4-BE49-F238E27FC236}">
                <a16:creationId xmlns:a16="http://schemas.microsoft.com/office/drawing/2014/main" id="{506D3C81-E243-ABDA-D3A1-2F04179F0CDE}"/>
              </a:ext>
            </a:extLst>
          </p:cNvPr>
          <p:cNvSpPr/>
          <p:nvPr/>
        </p:nvSpPr>
        <p:spPr>
          <a:xfrm rot="5400000">
            <a:off x="1465203" y="4504767"/>
            <a:ext cx="850392" cy="1022555"/>
          </a:xfrm>
          <a:prstGeom prst="bentUpArrow">
            <a:avLst/>
          </a:prstGeom>
          <a:solidFill>
            <a:schemeClr val="bg2">
              <a:lumMod val="75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0F5A5586-DCC0-E32B-8C26-6CE86892336C}"/>
              </a:ext>
            </a:extLst>
          </p:cNvPr>
          <p:cNvSpPr/>
          <p:nvPr/>
        </p:nvSpPr>
        <p:spPr>
          <a:xfrm>
            <a:off x="4777615" y="5173746"/>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595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73A05-5F1A-5371-BACA-2116AED67878}"/>
              </a:ext>
            </a:extLst>
          </p:cNvPr>
          <p:cNvSpPr>
            <a:spLocks noGrp="1"/>
          </p:cNvSpPr>
          <p:nvPr>
            <p:ph type="title"/>
          </p:nvPr>
        </p:nvSpPr>
        <p:spPr/>
        <p:txBody>
          <a:bodyPr/>
          <a:lstStyle/>
          <a:p>
            <a:r>
              <a:rPr lang="en-US" dirty="0"/>
              <a:t>Application activity </a:t>
            </a:r>
          </a:p>
        </p:txBody>
      </p:sp>
      <p:sp>
        <p:nvSpPr>
          <p:cNvPr id="3" name="Content Placeholder 2">
            <a:extLst>
              <a:ext uri="{FF2B5EF4-FFF2-40B4-BE49-F238E27FC236}">
                <a16:creationId xmlns:a16="http://schemas.microsoft.com/office/drawing/2014/main" id="{525A9208-B8F2-94FC-CA2B-1E18ED644ACC}"/>
              </a:ext>
            </a:extLst>
          </p:cNvPr>
          <p:cNvSpPr>
            <a:spLocks noGrp="1"/>
          </p:cNvSpPr>
          <p:nvPr>
            <p:ph idx="1"/>
          </p:nvPr>
        </p:nvSpPr>
        <p:spPr/>
        <p:txBody>
          <a:bodyPr/>
          <a:lstStyle/>
          <a:p>
            <a:r>
              <a:rPr lang="en-US" dirty="0"/>
              <a:t>With to your data</a:t>
            </a:r>
          </a:p>
          <a:p>
            <a:pPr lvl="1"/>
            <a:r>
              <a:rPr lang="en-US" dirty="0"/>
              <a:t>Who collected/distributed your data?</a:t>
            </a:r>
          </a:p>
          <a:p>
            <a:pPr lvl="1"/>
            <a:r>
              <a:rPr lang="en-US" dirty="0"/>
              <a:t>How do you think your data was collected?</a:t>
            </a:r>
          </a:p>
          <a:p>
            <a:pPr lvl="1"/>
            <a:r>
              <a:rPr lang="en-US" dirty="0"/>
              <a:t>Is it a direct measurement or derived?</a:t>
            </a:r>
          </a:p>
          <a:p>
            <a:pPr lvl="1"/>
            <a:endParaRPr lang="en-US" dirty="0"/>
          </a:p>
        </p:txBody>
      </p:sp>
      <p:sp>
        <p:nvSpPr>
          <p:cNvPr id="4" name="TextBox 3">
            <a:extLst>
              <a:ext uri="{FF2B5EF4-FFF2-40B4-BE49-F238E27FC236}">
                <a16:creationId xmlns:a16="http://schemas.microsoft.com/office/drawing/2014/main" id="{B55292D3-EBFE-0D1C-5928-40C7A955D25A}"/>
              </a:ext>
            </a:extLst>
          </p:cNvPr>
          <p:cNvSpPr txBox="1"/>
          <p:nvPr/>
        </p:nvSpPr>
        <p:spPr>
          <a:xfrm>
            <a:off x="2269383" y="4394599"/>
            <a:ext cx="5861156" cy="369332"/>
          </a:xfrm>
          <a:prstGeom prst="rect">
            <a:avLst/>
          </a:prstGeom>
          <a:noFill/>
        </p:spPr>
        <p:txBody>
          <a:bodyPr wrap="none" rtlCol="0">
            <a:spAutoFit/>
          </a:bodyPr>
          <a:lstStyle/>
          <a:p>
            <a:r>
              <a:rPr lang="en-US" dirty="0">
                <a:solidFill>
                  <a:srgbClr val="FF0000"/>
                </a:solidFill>
              </a:rPr>
              <a:t>Starting to get into data characteristics (more on Tuesday)</a:t>
            </a:r>
          </a:p>
        </p:txBody>
      </p:sp>
      <p:cxnSp>
        <p:nvCxnSpPr>
          <p:cNvPr id="6" name="Straight Arrow Connector 5">
            <a:extLst>
              <a:ext uri="{FF2B5EF4-FFF2-40B4-BE49-F238E27FC236}">
                <a16:creationId xmlns:a16="http://schemas.microsoft.com/office/drawing/2014/main" id="{518F0665-412E-5FA6-7931-A63B99DF6916}"/>
              </a:ext>
            </a:extLst>
          </p:cNvPr>
          <p:cNvCxnSpPr>
            <a:cxnSpLocks/>
          </p:cNvCxnSpPr>
          <p:nvPr/>
        </p:nvCxnSpPr>
        <p:spPr>
          <a:xfrm>
            <a:off x="5199961" y="3283027"/>
            <a:ext cx="0" cy="94745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362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A380C-E911-2CDC-508A-2253809D520B}"/>
              </a:ext>
            </a:extLst>
          </p:cNvPr>
          <p:cNvSpPr>
            <a:spLocks noGrp="1"/>
          </p:cNvSpPr>
          <p:nvPr>
            <p:ph type="title"/>
          </p:nvPr>
        </p:nvSpPr>
        <p:spPr/>
        <p:txBody>
          <a:bodyPr/>
          <a:lstStyle/>
          <a:p>
            <a:r>
              <a:rPr lang="en-US" dirty="0"/>
              <a:t>Dealing with incomplete data</a:t>
            </a:r>
          </a:p>
        </p:txBody>
      </p:sp>
      <p:sp>
        <p:nvSpPr>
          <p:cNvPr id="3" name="Content Placeholder 2">
            <a:extLst>
              <a:ext uri="{FF2B5EF4-FFF2-40B4-BE49-F238E27FC236}">
                <a16:creationId xmlns:a16="http://schemas.microsoft.com/office/drawing/2014/main" id="{26E034AB-030E-11EB-7E5F-9DDB435C7FB2}"/>
              </a:ext>
            </a:extLst>
          </p:cNvPr>
          <p:cNvSpPr>
            <a:spLocks noGrp="1"/>
          </p:cNvSpPr>
          <p:nvPr>
            <p:ph idx="1"/>
          </p:nvPr>
        </p:nvSpPr>
        <p:spPr/>
        <p:txBody>
          <a:bodyPr/>
          <a:lstStyle/>
          <a:p>
            <a:r>
              <a:rPr lang="en-US" dirty="0"/>
              <a:t>Adjust scope of question</a:t>
            </a:r>
          </a:p>
          <a:p>
            <a:endParaRPr lang="en-US" dirty="0"/>
          </a:p>
          <a:p>
            <a:r>
              <a:rPr lang="en-US" dirty="0"/>
              <a:t>Be creative and find a proxy measure</a:t>
            </a:r>
          </a:p>
          <a:p>
            <a:pPr lvl="1"/>
            <a:r>
              <a:rPr lang="en-US" dirty="0"/>
              <a:t>Eg: workload data is often inaccessible. However, schedule density, back-to-back flags, or minutes played can serve as proxies.</a:t>
            </a:r>
          </a:p>
        </p:txBody>
      </p:sp>
    </p:spTree>
    <p:extLst>
      <p:ext uri="{BB962C8B-B14F-4D97-AF65-F5344CB8AC3E}">
        <p14:creationId xmlns:p14="http://schemas.microsoft.com/office/powerpoint/2010/main" val="2489453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D6EB5-FEC2-47DE-01A3-F0E170543F3C}"/>
              </a:ext>
            </a:extLst>
          </p:cNvPr>
          <p:cNvSpPr>
            <a:spLocks noGrp="1"/>
          </p:cNvSpPr>
          <p:nvPr>
            <p:ph type="title"/>
          </p:nvPr>
        </p:nvSpPr>
        <p:spPr/>
        <p:txBody>
          <a:bodyPr>
            <a:normAutofit/>
          </a:bodyPr>
          <a:lstStyle/>
          <a:p>
            <a:r>
              <a:rPr lang="en-GB"/>
              <a:t>Summary &amp; Looking Ahead</a:t>
            </a:r>
            <a:endParaRPr lang="en-US"/>
          </a:p>
        </p:txBody>
      </p:sp>
      <p:sp>
        <p:nvSpPr>
          <p:cNvPr id="3" name="Content Placeholder 2">
            <a:extLst>
              <a:ext uri="{FF2B5EF4-FFF2-40B4-BE49-F238E27FC236}">
                <a16:creationId xmlns:a16="http://schemas.microsoft.com/office/drawing/2014/main" id="{B7781857-C6C4-CF29-7D9F-C7FCD74ECA0D}"/>
              </a:ext>
            </a:extLst>
          </p:cNvPr>
          <p:cNvSpPr>
            <a:spLocks noGrp="1"/>
          </p:cNvSpPr>
          <p:nvPr>
            <p:ph idx="1"/>
          </p:nvPr>
        </p:nvSpPr>
        <p:spPr/>
        <p:txBody>
          <a:bodyPr/>
          <a:lstStyle/>
          <a:p>
            <a:r>
              <a:rPr lang="en-US" dirty="0"/>
              <a:t>Know who collected the data, how the data was collected and what the data represents</a:t>
            </a:r>
          </a:p>
          <a:p>
            <a:r>
              <a:rPr lang="en-US" dirty="0"/>
              <a:t>Understand how these may affect your data collection and analysis</a:t>
            </a:r>
          </a:p>
          <a:p>
            <a:r>
              <a:rPr lang="en-US" dirty="0"/>
              <a:t>Next: data </a:t>
            </a:r>
            <a:r>
              <a:rPr lang="en-US" dirty="0" err="1"/>
              <a:t>characteristcs</a:t>
            </a:r>
            <a:endParaRPr lang="en-US" dirty="0"/>
          </a:p>
        </p:txBody>
      </p:sp>
    </p:spTree>
    <p:extLst>
      <p:ext uri="{BB962C8B-B14F-4D97-AF65-F5344CB8AC3E}">
        <p14:creationId xmlns:p14="http://schemas.microsoft.com/office/powerpoint/2010/main" val="2206692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7D215-C0C4-FC2D-D9E2-848570B27D6A}"/>
              </a:ext>
            </a:extLst>
          </p:cNvPr>
          <p:cNvSpPr>
            <a:spLocks noGrp="1"/>
          </p:cNvSpPr>
          <p:nvPr>
            <p:ph type="title"/>
          </p:nvPr>
        </p:nvSpPr>
        <p:spPr/>
        <p:txBody>
          <a:bodyPr/>
          <a:lstStyle/>
          <a:p>
            <a:r>
              <a:rPr lang="en-US" dirty="0"/>
              <a:t>Analytics Project</a:t>
            </a:r>
          </a:p>
        </p:txBody>
      </p:sp>
      <p:sp>
        <p:nvSpPr>
          <p:cNvPr id="3" name="Content Placeholder 2">
            <a:extLst>
              <a:ext uri="{FF2B5EF4-FFF2-40B4-BE49-F238E27FC236}">
                <a16:creationId xmlns:a16="http://schemas.microsoft.com/office/drawing/2014/main" id="{95429D92-227F-679D-1373-6B043AEFCC17}"/>
              </a:ext>
            </a:extLst>
          </p:cNvPr>
          <p:cNvSpPr>
            <a:spLocks noGrp="1"/>
          </p:cNvSpPr>
          <p:nvPr>
            <p:ph idx="1"/>
          </p:nvPr>
        </p:nvSpPr>
        <p:spPr/>
        <p:txBody>
          <a:bodyPr/>
          <a:lstStyle/>
          <a:p>
            <a:pPr marL="514350" lvl="0" indent="-514350">
              <a:buFont typeface="+mj-lt"/>
              <a:buAutoNum type="arabicPeriod"/>
            </a:pPr>
            <a:r>
              <a:rPr lang="en-US" dirty="0"/>
              <a:t>Identify a meaningful sport problem. </a:t>
            </a:r>
          </a:p>
          <a:p>
            <a:pPr marL="514350" lvl="0" indent="-514350">
              <a:buFont typeface="+mj-lt"/>
              <a:buAutoNum type="arabicPeriod"/>
            </a:pPr>
            <a:r>
              <a:rPr lang="en-US" dirty="0"/>
              <a:t>Develop a focused analytical question. </a:t>
            </a:r>
          </a:p>
          <a:p>
            <a:pPr marL="514350" lvl="0" indent="-514350">
              <a:buFont typeface="+mj-lt"/>
              <a:buAutoNum type="arabicPeriod"/>
            </a:pPr>
            <a:r>
              <a:rPr lang="en-US" dirty="0"/>
              <a:t>Determine what evidence is needed. </a:t>
            </a:r>
          </a:p>
          <a:p>
            <a:pPr marL="514350" lvl="0" indent="-514350">
              <a:buFont typeface="+mj-lt"/>
              <a:buAutoNum type="arabicPeriod"/>
            </a:pPr>
            <a:r>
              <a:rPr lang="en-US" dirty="0"/>
              <a:t>Find and evaluate feasible data</a:t>
            </a:r>
          </a:p>
          <a:p>
            <a:pPr marL="514350" lvl="0" indent="-514350">
              <a:buFont typeface="+mj-lt"/>
              <a:buAutoNum type="arabicPeriod"/>
            </a:pPr>
            <a:r>
              <a:rPr lang="en-US" dirty="0">
                <a:solidFill>
                  <a:schemeClr val="bg2">
                    <a:lumMod val="75000"/>
                  </a:schemeClr>
                </a:solidFill>
              </a:rPr>
              <a:t>Visualize data appropriately.</a:t>
            </a:r>
          </a:p>
          <a:p>
            <a:pPr marL="514350" lvl="0" indent="-514350">
              <a:buFont typeface="+mj-lt"/>
              <a:buAutoNum type="arabicPeriod"/>
            </a:pPr>
            <a:r>
              <a:rPr lang="en-US" dirty="0">
                <a:solidFill>
                  <a:schemeClr val="bg2">
                    <a:lumMod val="75000"/>
                  </a:schemeClr>
                </a:solidFill>
              </a:rPr>
              <a:t>Conduct an analysis that matches the question. </a:t>
            </a:r>
          </a:p>
          <a:p>
            <a:pPr marL="514350" lvl="0" indent="-514350">
              <a:buFont typeface="+mj-lt"/>
              <a:buAutoNum type="arabicPeriod"/>
            </a:pPr>
            <a:r>
              <a:rPr lang="en-US" dirty="0">
                <a:solidFill>
                  <a:schemeClr val="bg2">
                    <a:lumMod val="75000"/>
                  </a:schemeClr>
                </a:solidFill>
              </a:rPr>
              <a:t>Interpret the results for the intended user.</a:t>
            </a:r>
          </a:p>
          <a:p>
            <a:endParaRPr lang="en-US" dirty="0"/>
          </a:p>
        </p:txBody>
      </p:sp>
      <p:sp>
        <p:nvSpPr>
          <p:cNvPr id="5" name="TextBox 4">
            <a:extLst>
              <a:ext uri="{FF2B5EF4-FFF2-40B4-BE49-F238E27FC236}">
                <a16:creationId xmlns:a16="http://schemas.microsoft.com/office/drawing/2014/main" id="{BB5A2220-AFBE-9DE0-D17D-F3AD53908D8D}"/>
              </a:ext>
            </a:extLst>
          </p:cNvPr>
          <p:cNvSpPr txBox="1"/>
          <p:nvPr/>
        </p:nvSpPr>
        <p:spPr>
          <a:xfrm>
            <a:off x="838200" y="5253633"/>
            <a:ext cx="10515600" cy="646331"/>
          </a:xfrm>
          <a:prstGeom prst="rect">
            <a:avLst/>
          </a:prstGeom>
          <a:noFill/>
        </p:spPr>
        <p:txBody>
          <a:bodyPr wrap="square">
            <a:spAutoFit/>
          </a:bodyPr>
          <a:lstStyle/>
          <a:p>
            <a:r>
              <a:rPr lang="en-US" dirty="0"/>
              <a:t>Before the next checkpoint, your group should know what each row in your proposed dataset represents, who or what generated the data, and whether the variables needed for your question are actually present.</a:t>
            </a:r>
          </a:p>
        </p:txBody>
      </p:sp>
    </p:spTree>
    <p:extLst>
      <p:ext uri="{BB962C8B-B14F-4D97-AF65-F5344CB8AC3E}">
        <p14:creationId xmlns:p14="http://schemas.microsoft.com/office/powerpoint/2010/main" val="2397631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A0E5-0CF0-A515-4182-46C37D4A3C93}"/>
              </a:ext>
            </a:extLst>
          </p:cNvPr>
          <p:cNvSpPr>
            <a:spLocks noGrp="1"/>
          </p:cNvSpPr>
          <p:nvPr>
            <p:ph type="title"/>
          </p:nvPr>
        </p:nvSpPr>
        <p:spPr/>
        <p:txBody>
          <a:bodyPr/>
          <a:lstStyle/>
          <a:p>
            <a:r>
              <a:rPr lang="en-US" dirty="0"/>
              <a:t>Optical tracking systems</a:t>
            </a:r>
          </a:p>
        </p:txBody>
      </p:sp>
      <p:sp>
        <p:nvSpPr>
          <p:cNvPr id="3" name="Content Placeholder 2">
            <a:extLst>
              <a:ext uri="{FF2B5EF4-FFF2-40B4-BE49-F238E27FC236}">
                <a16:creationId xmlns:a16="http://schemas.microsoft.com/office/drawing/2014/main" id="{C82DCC86-8B2E-930C-5CD6-6CAE376A97E7}"/>
              </a:ext>
            </a:extLst>
          </p:cNvPr>
          <p:cNvSpPr>
            <a:spLocks noGrp="1"/>
          </p:cNvSpPr>
          <p:nvPr>
            <p:ph idx="1"/>
          </p:nvPr>
        </p:nvSpPr>
        <p:spPr/>
        <p:txBody>
          <a:bodyPr/>
          <a:lstStyle/>
          <a:p>
            <a:r>
              <a:rPr lang="en-US" dirty="0"/>
              <a:t>Camera-based position tracking (Second Spectrum, Hawk-Eye)</a:t>
            </a:r>
          </a:p>
          <a:p>
            <a:r>
              <a:rPr lang="en-US" dirty="0"/>
              <a:t>Strengths: Spatial precision, non-invasive, every player tracked</a:t>
            </a:r>
          </a:p>
          <a:p>
            <a:r>
              <a:rPr lang="en-US" dirty="0"/>
              <a:t>Limitations: Expensive, venue-dependent, line-of-sight issues</a:t>
            </a:r>
          </a:p>
        </p:txBody>
      </p:sp>
      <p:sp>
        <p:nvSpPr>
          <p:cNvPr id="4" name="Slide Number Placeholder 3">
            <a:extLst>
              <a:ext uri="{FF2B5EF4-FFF2-40B4-BE49-F238E27FC236}">
                <a16:creationId xmlns:a16="http://schemas.microsoft.com/office/drawing/2014/main" id="{E778F1BD-B963-14AD-D214-B25C73DEE686}"/>
              </a:ext>
            </a:extLst>
          </p:cNvPr>
          <p:cNvSpPr>
            <a:spLocks noGrp="1"/>
          </p:cNvSpPr>
          <p:nvPr>
            <p:ph type="sldNum" sz="quarter" idx="12"/>
          </p:nvPr>
        </p:nvSpPr>
        <p:spPr/>
        <p:txBody>
          <a:bodyPr/>
          <a:lstStyle/>
          <a:p>
            <a:fld id="{45C00377-489B-40EC-B059-26BDDD2E89B9}" type="slidenum">
              <a:rPr lang="en-US" smtClean="0"/>
              <a:pPr/>
              <a:t>24</a:t>
            </a:fld>
            <a:endParaRPr lang="en-US" dirty="0"/>
          </a:p>
        </p:txBody>
      </p:sp>
      <p:pic>
        <p:nvPicPr>
          <p:cNvPr id="1026" name="Picture 2" descr="Living Football : Semi-Automated Offside Detection Technology | by ...">
            <a:extLst>
              <a:ext uri="{FF2B5EF4-FFF2-40B4-BE49-F238E27FC236}">
                <a16:creationId xmlns:a16="http://schemas.microsoft.com/office/drawing/2014/main" id="{3BE4FC12-BD53-D465-ADE2-257445F37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693039"/>
            <a:ext cx="4876800" cy="2736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051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B461E-BED2-4456-185D-41330745D589}"/>
              </a:ext>
            </a:extLst>
          </p:cNvPr>
          <p:cNvSpPr>
            <a:spLocks noGrp="1"/>
          </p:cNvSpPr>
          <p:nvPr>
            <p:ph type="title"/>
          </p:nvPr>
        </p:nvSpPr>
        <p:spPr/>
        <p:txBody>
          <a:bodyPr/>
          <a:lstStyle/>
          <a:p>
            <a:r>
              <a:rPr lang="en-US" dirty="0"/>
              <a:t>Wearable technology</a:t>
            </a:r>
          </a:p>
        </p:txBody>
      </p:sp>
      <p:sp>
        <p:nvSpPr>
          <p:cNvPr id="3" name="Content Placeholder 2">
            <a:extLst>
              <a:ext uri="{FF2B5EF4-FFF2-40B4-BE49-F238E27FC236}">
                <a16:creationId xmlns:a16="http://schemas.microsoft.com/office/drawing/2014/main" id="{000C7D71-267F-C9C5-0EA2-7710866ED0BB}"/>
              </a:ext>
            </a:extLst>
          </p:cNvPr>
          <p:cNvSpPr>
            <a:spLocks noGrp="1"/>
          </p:cNvSpPr>
          <p:nvPr>
            <p:ph idx="1"/>
          </p:nvPr>
        </p:nvSpPr>
        <p:spPr/>
        <p:txBody>
          <a:bodyPr/>
          <a:lstStyle/>
          <a:p>
            <a:r>
              <a:rPr lang="en-US" dirty="0"/>
              <a:t>GPS units, accelerometers, heart rate monitors, IMUs</a:t>
            </a:r>
          </a:p>
          <a:p>
            <a:r>
              <a:rPr lang="en-US" dirty="0"/>
              <a:t>Strengths: Continuous data, objective physiological metrics</a:t>
            </a:r>
          </a:p>
          <a:p>
            <a:r>
              <a:rPr lang="en-US" dirty="0"/>
              <a:t>Limitations: Only captures what sensors detect, requires athlete buy-in</a:t>
            </a:r>
          </a:p>
        </p:txBody>
      </p:sp>
      <p:sp>
        <p:nvSpPr>
          <p:cNvPr id="4" name="Slide Number Placeholder 3">
            <a:extLst>
              <a:ext uri="{FF2B5EF4-FFF2-40B4-BE49-F238E27FC236}">
                <a16:creationId xmlns:a16="http://schemas.microsoft.com/office/drawing/2014/main" id="{5ABA2A9D-1D38-D780-8594-2512E69EF41C}"/>
              </a:ext>
            </a:extLst>
          </p:cNvPr>
          <p:cNvSpPr>
            <a:spLocks noGrp="1"/>
          </p:cNvSpPr>
          <p:nvPr>
            <p:ph type="sldNum" sz="quarter" idx="12"/>
          </p:nvPr>
        </p:nvSpPr>
        <p:spPr/>
        <p:txBody>
          <a:bodyPr/>
          <a:lstStyle/>
          <a:p>
            <a:fld id="{45C00377-489B-40EC-B059-26BDDD2E89B9}" type="slidenum">
              <a:rPr lang="en-US" smtClean="0"/>
              <a:pPr/>
              <a:t>25</a:t>
            </a:fld>
            <a:endParaRPr lang="en-US" dirty="0"/>
          </a:p>
        </p:txBody>
      </p:sp>
      <p:pic>
        <p:nvPicPr>
          <p:cNvPr id="7172" name="Picture 4" descr="CeeDee Lamb Week 14 Route Chart">
            <a:extLst>
              <a:ext uri="{FF2B5EF4-FFF2-40B4-BE49-F238E27FC236}">
                <a16:creationId xmlns:a16="http://schemas.microsoft.com/office/drawing/2014/main" id="{8A98DB42-4D86-BD76-7B5B-F36F2545EA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5067"/>
          <a:stretch>
            <a:fillRect/>
          </a:stretch>
        </p:blipFill>
        <p:spPr bwMode="auto">
          <a:xfrm>
            <a:off x="6249329" y="3711169"/>
            <a:ext cx="3691054" cy="276583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NFL Renews With Zebra Technologies For On-Field Player Tracking For Next  Gen Stats">
            <a:extLst>
              <a:ext uri="{FF2B5EF4-FFF2-40B4-BE49-F238E27FC236}">
                <a16:creationId xmlns:a16="http://schemas.microsoft.com/office/drawing/2014/main" id="{F0847104-400A-167B-0144-C85191FB1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981450"/>
            <a:ext cx="3743325"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633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1449</TotalTime>
  <Words>1201</Words>
  <Application>Microsoft Office PowerPoint</Application>
  <PresentationFormat>Widescreen</PresentationFormat>
  <Paragraphs>235</Paragraphs>
  <Slides>25</Slides>
  <Notes>12</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Wingdings</vt:lpstr>
      <vt:lpstr>Office Theme</vt:lpstr>
      <vt:lpstr>Generating and Collecting Sports Data</vt:lpstr>
      <vt:lpstr>Case Study 1</vt:lpstr>
      <vt:lpstr>Data Access</vt:lpstr>
      <vt:lpstr>PowerPoint Presentation</vt:lpstr>
      <vt:lpstr>League/Competition Providers</vt:lpstr>
      <vt:lpstr>Teams (Internal data)</vt:lpstr>
      <vt:lpstr>Third-Party Vendors</vt:lpstr>
      <vt:lpstr>Academic/Research Institutions</vt:lpstr>
      <vt:lpstr>PowerPoint Presentation</vt:lpstr>
      <vt:lpstr>Observational</vt:lpstr>
      <vt:lpstr>Commercial technologies</vt:lpstr>
      <vt:lpstr>Laboratory Equipment</vt:lpstr>
      <vt:lpstr>Human vs Instrument</vt:lpstr>
      <vt:lpstr>Primary vs Secondary </vt:lpstr>
      <vt:lpstr>PowerPoint Presentation</vt:lpstr>
      <vt:lpstr>Event  Dataset Pipeline</vt:lpstr>
      <vt:lpstr>Context from the “what”</vt:lpstr>
      <vt:lpstr>Direct / Raw Measurements</vt:lpstr>
      <vt:lpstr>Derived / Calculated Metrics</vt:lpstr>
      <vt:lpstr>Application activity </vt:lpstr>
      <vt:lpstr>Dealing with incomplete data</vt:lpstr>
      <vt:lpstr>Summary &amp; Looking Ahead</vt:lpstr>
      <vt:lpstr>Analytics Project</vt:lpstr>
      <vt:lpstr>Optical tracking systems</vt:lpstr>
      <vt:lpstr>Wearable technology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Author</cp:lastModifiedBy>
  <cp:revision>16</cp:revision>
  <dcterms:created xsi:type="dcterms:W3CDTF">2026-08-17T13:48:23Z</dcterms:created>
  <dcterms:modified xsi:type="dcterms:W3CDTF">2026-09-10T17:09:06Z</dcterms:modified>
</cp:coreProperties>
</file>