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70" r:id="rId3"/>
    <p:sldId id="295" r:id="rId4"/>
    <p:sldId id="296" r:id="rId5"/>
    <p:sldId id="271" r:id="rId6"/>
    <p:sldId id="297" r:id="rId7"/>
    <p:sldId id="298" r:id="rId8"/>
    <p:sldId id="272" r:id="rId9"/>
    <p:sldId id="276" r:id="rId10"/>
    <p:sldId id="299" r:id="rId11"/>
    <p:sldId id="277" r:id="rId12"/>
    <p:sldId id="273" r:id="rId13"/>
    <p:sldId id="300" r:id="rId14"/>
    <p:sldId id="274" r:id="rId15"/>
    <p:sldId id="286" r:id="rId16"/>
    <p:sldId id="287" r:id="rId17"/>
    <p:sldId id="288" r:id="rId18"/>
    <p:sldId id="289" r:id="rId19"/>
    <p:sldId id="292" r:id="rId20"/>
    <p:sldId id="278" r:id="rId21"/>
    <p:sldId id="293" r:id="rId22"/>
    <p:sldId id="284" r:id="rId23"/>
    <p:sldId id="282" r:id="rId24"/>
    <p:sldId id="283" r:id="rId25"/>
    <p:sldId id="301" r:id="rId26"/>
    <p:sldId id="281" r:id="rId27"/>
    <p:sldId id="280" r:id="rId28"/>
    <p:sldId id="291" r:id="rId29"/>
    <p:sldId id="285"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714"/>
    <p:restoredTop sz="74247"/>
  </p:normalViewPr>
  <p:slideViewPr>
    <p:cSldViewPr snapToGrid="0">
      <p:cViewPr varScale="1">
        <p:scale>
          <a:sx n="74" d="100"/>
          <a:sy n="74" d="100"/>
        </p:scale>
        <p:origin x="192" y="57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_rels/data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ata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583CEDE-E647-47CA-A667-559E9030B27A}" type="doc">
      <dgm:prSet loTypeId="urn:microsoft.com/office/officeart/2018/5/layout/CenteredIconLabelDescriptionList" loCatId="icon" qsTypeId="urn:microsoft.com/office/officeart/2005/8/quickstyle/simple1#61" qsCatId="simple" csTypeId="urn:microsoft.com/office/officeart/2018/5/colors/Iconchunking_neutralbg_colorful1" csCatId="colorful" phldr="1"/>
      <dgm:spPr/>
      <dgm:t>
        <a:bodyPr/>
        <a:lstStyle/>
        <a:p>
          <a:endParaRPr lang="en-US"/>
        </a:p>
      </dgm:t>
    </dgm:pt>
    <dgm:pt modelId="{E7557560-20D7-45F3-93CA-59CA59F1FAFA}">
      <dgm:prSet custT="1"/>
      <dgm:spPr/>
      <dgm:t>
        <a:bodyPr/>
        <a:lstStyle/>
        <a:p>
          <a:pPr>
            <a:lnSpc>
              <a:spcPct val="100000"/>
            </a:lnSpc>
            <a:defRPr b="1"/>
          </a:pPr>
          <a:r>
            <a:rPr lang="en-GB" sz="2000" dirty="0"/>
            <a:t>Scouting &amp; Talent Evaluation</a:t>
          </a:r>
          <a:endParaRPr lang="en-US" sz="2000" dirty="0"/>
        </a:p>
      </dgm:t>
    </dgm:pt>
    <dgm:pt modelId="{E4CAD1B0-2735-4664-B73D-F7A5D7A98788}" type="parTrans" cxnId="{101328D3-F892-4573-9C2B-24C8E576A0FB}">
      <dgm:prSet/>
      <dgm:spPr/>
      <dgm:t>
        <a:bodyPr/>
        <a:lstStyle/>
        <a:p>
          <a:endParaRPr lang="en-US"/>
        </a:p>
      </dgm:t>
    </dgm:pt>
    <dgm:pt modelId="{6B5FF232-FFD8-464C-A2BF-F6879257252B}" type="sibTrans" cxnId="{101328D3-F892-4573-9C2B-24C8E576A0FB}">
      <dgm:prSet/>
      <dgm:spPr/>
      <dgm:t>
        <a:bodyPr/>
        <a:lstStyle/>
        <a:p>
          <a:endParaRPr lang="en-US"/>
        </a:p>
      </dgm:t>
    </dgm:pt>
    <dgm:pt modelId="{55068EE7-2CDE-410B-8408-2991BA615557}">
      <dgm:prSet custT="1"/>
      <dgm:spPr/>
      <dgm:t>
        <a:bodyPr/>
        <a:lstStyle/>
        <a:p>
          <a:pPr>
            <a:lnSpc>
              <a:spcPct val="100000"/>
            </a:lnSpc>
            <a:defRPr b="1"/>
          </a:pPr>
          <a:r>
            <a:rPr lang="en-GB" sz="2000" dirty="0"/>
            <a:t>Athlete Tracking (Physical &amp; Spatial)</a:t>
          </a:r>
          <a:endParaRPr lang="en-US" sz="2000" dirty="0"/>
        </a:p>
      </dgm:t>
    </dgm:pt>
    <dgm:pt modelId="{EE46C4A3-0788-43EB-A140-AE6135C8C210}" type="parTrans" cxnId="{C90831B4-0F89-4842-AD65-49024538AF10}">
      <dgm:prSet/>
      <dgm:spPr/>
      <dgm:t>
        <a:bodyPr/>
        <a:lstStyle/>
        <a:p>
          <a:endParaRPr lang="en-US"/>
        </a:p>
      </dgm:t>
    </dgm:pt>
    <dgm:pt modelId="{E7B2F60A-DD8A-48A2-9F2F-E7CD45848433}" type="sibTrans" cxnId="{C90831B4-0F89-4842-AD65-49024538AF10}">
      <dgm:prSet/>
      <dgm:spPr/>
      <dgm:t>
        <a:bodyPr/>
        <a:lstStyle/>
        <a:p>
          <a:endParaRPr lang="en-US"/>
        </a:p>
      </dgm:t>
    </dgm:pt>
    <dgm:pt modelId="{08ACE292-7BB7-4DF5-A9BD-1B7A8660DA89}">
      <dgm:prSet/>
      <dgm:spPr/>
      <dgm:t>
        <a:bodyPr/>
        <a:lstStyle/>
        <a:p>
          <a:pPr>
            <a:lnSpc>
              <a:spcPct val="100000"/>
            </a:lnSpc>
            <a:defRPr b="1"/>
          </a:pPr>
          <a:r>
            <a:rPr lang="en-GB" dirty="0"/>
            <a:t>Strategy &amp; Tactical Optimization</a:t>
          </a:r>
          <a:endParaRPr lang="en-US" dirty="0"/>
        </a:p>
      </dgm:t>
    </dgm:pt>
    <dgm:pt modelId="{DC370E83-4313-4300-A10B-DBC8240DE5AA}" type="parTrans" cxnId="{0C22E3B0-2E25-4CB1-B905-D786EE9F523E}">
      <dgm:prSet/>
      <dgm:spPr/>
      <dgm:t>
        <a:bodyPr/>
        <a:lstStyle/>
        <a:p>
          <a:endParaRPr lang="en-US"/>
        </a:p>
      </dgm:t>
    </dgm:pt>
    <dgm:pt modelId="{AF45A36A-B36E-483A-9AAB-A482BE9224E7}" type="sibTrans" cxnId="{0C22E3B0-2E25-4CB1-B905-D786EE9F523E}">
      <dgm:prSet/>
      <dgm:spPr/>
      <dgm:t>
        <a:bodyPr/>
        <a:lstStyle/>
        <a:p>
          <a:endParaRPr lang="en-US"/>
        </a:p>
      </dgm:t>
    </dgm:pt>
    <dgm:pt modelId="{3213E622-B109-42DA-801F-B0F2BD5F8295}" type="pres">
      <dgm:prSet presAssocID="{A583CEDE-E647-47CA-A667-559E9030B27A}" presName="root" presStyleCnt="0">
        <dgm:presLayoutVars>
          <dgm:dir/>
          <dgm:resizeHandles val="exact"/>
        </dgm:presLayoutVars>
      </dgm:prSet>
      <dgm:spPr/>
    </dgm:pt>
    <dgm:pt modelId="{E56AC07C-FB60-4CF0-8860-E2D998A12AC2}" type="pres">
      <dgm:prSet presAssocID="{E7557560-20D7-45F3-93CA-59CA59F1FAFA}" presName="compNode" presStyleCnt="0"/>
      <dgm:spPr/>
    </dgm:pt>
    <dgm:pt modelId="{D7DEB794-E1E8-45CB-B56A-E1BEF5BF397D}" type="pres">
      <dgm:prSet presAssocID="{E7557560-20D7-45F3-93CA-59CA59F1FAFA}"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Magnifying glass with solid fill"/>
        </a:ext>
      </dgm:extLst>
    </dgm:pt>
    <dgm:pt modelId="{77CA0889-87A2-4A01-A15E-D71A85BDF4AA}" type="pres">
      <dgm:prSet presAssocID="{E7557560-20D7-45F3-93CA-59CA59F1FAFA}" presName="iconSpace" presStyleCnt="0"/>
      <dgm:spPr/>
    </dgm:pt>
    <dgm:pt modelId="{A23C1CDD-357C-458D-8788-A42EEB8EFB3D}" type="pres">
      <dgm:prSet presAssocID="{E7557560-20D7-45F3-93CA-59CA59F1FAFA}" presName="parTx" presStyleLbl="revTx" presStyleIdx="0" presStyleCnt="6">
        <dgm:presLayoutVars>
          <dgm:chMax val="0"/>
          <dgm:chPref val="0"/>
        </dgm:presLayoutVars>
      </dgm:prSet>
      <dgm:spPr/>
    </dgm:pt>
    <dgm:pt modelId="{3F22567E-3953-4C71-8C53-DB2D58B1DC7E}" type="pres">
      <dgm:prSet presAssocID="{E7557560-20D7-45F3-93CA-59CA59F1FAFA}" presName="txSpace" presStyleCnt="0"/>
      <dgm:spPr/>
    </dgm:pt>
    <dgm:pt modelId="{B0C7D408-00F6-410C-8935-8E4506F76249}" type="pres">
      <dgm:prSet presAssocID="{E7557560-20D7-45F3-93CA-59CA59F1FAFA}" presName="desTx" presStyleLbl="revTx" presStyleIdx="1" presStyleCnt="6">
        <dgm:presLayoutVars/>
      </dgm:prSet>
      <dgm:spPr/>
    </dgm:pt>
    <dgm:pt modelId="{CB7F799C-3676-42EE-B818-1623F7C468CE}" type="pres">
      <dgm:prSet presAssocID="{6B5FF232-FFD8-464C-A2BF-F6879257252B}" presName="sibTrans" presStyleCnt="0"/>
      <dgm:spPr/>
    </dgm:pt>
    <dgm:pt modelId="{1C1F7804-62E5-4649-A4B1-B80505A7584E}" type="pres">
      <dgm:prSet presAssocID="{55068EE7-2CDE-410B-8408-2991BA615557}" presName="compNode" presStyleCnt="0"/>
      <dgm:spPr/>
    </dgm:pt>
    <dgm:pt modelId="{A431BDFC-AEE0-4655-9C58-0D3278EDB5F8}" type="pres">
      <dgm:prSet presAssocID="{55068EE7-2CDE-410B-8408-2991BA615557}"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uscle Arm"/>
        </a:ext>
      </dgm:extLst>
    </dgm:pt>
    <dgm:pt modelId="{8E6FABD8-2220-464A-8FBC-D656631DC7F5}" type="pres">
      <dgm:prSet presAssocID="{55068EE7-2CDE-410B-8408-2991BA615557}" presName="iconSpace" presStyleCnt="0"/>
      <dgm:spPr/>
    </dgm:pt>
    <dgm:pt modelId="{832D6505-5A04-4327-86E1-02382CB34F7E}" type="pres">
      <dgm:prSet presAssocID="{55068EE7-2CDE-410B-8408-2991BA615557}" presName="parTx" presStyleLbl="revTx" presStyleIdx="2" presStyleCnt="6">
        <dgm:presLayoutVars>
          <dgm:chMax val="0"/>
          <dgm:chPref val="0"/>
        </dgm:presLayoutVars>
      </dgm:prSet>
      <dgm:spPr/>
    </dgm:pt>
    <dgm:pt modelId="{890A0B6E-9017-4AFE-A256-43A92A27A196}" type="pres">
      <dgm:prSet presAssocID="{55068EE7-2CDE-410B-8408-2991BA615557}" presName="txSpace" presStyleCnt="0"/>
      <dgm:spPr/>
    </dgm:pt>
    <dgm:pt modelId="{66D4A7D1-E564-4186-ADB0-C697680BC561}" type="pres">
      <dgm:prSet presAssocID="{55068EE7-2CDE-410B-8408-2991BA615557}" presName="desTx" presStyleLbl="revTx" presStyleIdx="3" presStyleCnt="6">
        <dgm:presLayoutVars/>
      </dgm:prSet>
      <dgm:spPr/>
    </dgm:pt>
    <dgm:pt modelId="{BDE5E34A-757E-42F6-A4B9-AFF77E915901}" type="pres">
      <dgm:prSet presAssocID="{E7B2F60A-DD8A-48A2-9F2F-E7CD45848433}" presName="sibTrans" presStyleCnt="0"/>
      <dgm:spPr/>
    </dgm:pt>
    <dgm:pt modelId="{44C1EF23-21E5-4B12-9A05-B8C38105D3D2}" type="pres">
      <dgm:prSet presAssocID="{08ACE292-7BB7-4DF5-A9BD-1B7A8660DA89}" presName="compNode" presStyleCnt="0"/>
      <dgm:spPr/>
    </dgm:pt>
    <dgm:pt modelId="{807C542B-62FB-4F2C-B6F2-73FA2E2B251A}" type="pres">
      <dgm:prSet presAssocID="{08ACE292-7BB7-4DF5-A9BD-1B7A8660DA89}"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Playbook with solid fill"/>
        </a:ext>
      </dgm:extLst>
    </dgm:pt>
    <dgm:pt modelId="{AB9D50C6-8063-450E-AFD9-F1CFDA68163A}" type="pres">
      <dgm:prSet presAssocID="{08ACE292-7BB7-4DF5-A9BD-1B7A8660DA89}" presName="iconSpace" presStyleCnt="0"/>
      <dgm:spPr/>
    </dgm:pt>
    <dgm:pt modelId="{780F3C3D-DDE2-4474-ADB3-A2AA4A868D0E}" type="pres">
      <dgm:prSet presAssocID="{08ACE292-7BB7-4DF5-A9BD-1B7A8660DA89}" presName="parTx" presStyleLbl="revTx" presStyleIdx="4" presStyleCnt="6">
        <dgm:presLayoutVars>
          <dgm:chMax val="0"/>
          <dgm:chPref val="0"/>
        </dgm:presLayoutVars>
      </dgm:prSet>
      <dgm:spPr/>
    </dgm:pt>
    <dgm:pt modelId="{04E9643E-1ECE-4DC2-8433-53432518B951}" type="pres">
      <dgm:prSet presAssocID="{08ACE292-7BB7-4DF5-A9BD-1B7A8660DA89}" presName="txSpace" presStyleCnt="0"/>
      <dgm:spPr/>
    </dgm:pt>
    <dgm:pt modelId="{EBBC1388-3B93-4130-A7B1-76FFBB48699A}" type="pres">
      <dgm:prSet presAssocID="{08ACE292-7BB7-4DF5-A9BD-1B7A8660DA89}" presName="desTx" presStyleLbl="revTx" presStyleIdx="5" presStyleCnt="6">
        <dgm:presLayoutVars/>
      </dgm:prSet>
      <dgm:spPr/>
    </dgm:pt>
  </dgm:ptLst>
  <dgm:cxnLst>
    <dgm:cxn modelId="{2A592928-8130-4D3F-B733-D66AC2B831E6}" type="presOf" srcId="{55068EE7-2CDE-410B-8408-2991BA615557}" destId="{832D6505-5A04-4327-86E1-02382CB34F7E}" srcOrd="0" destOrd="0" presId="urn:microsoft.com/office/officeart/2018/5/layout/CenteredIconLabelDescriptionList"/>
    <dgm:cxn modelId="{DF47FA2E-5A25-41C2-BC5B-3BB074AAD85B}" type="presOf" srcId="{08ACE292-7BB7-4DF5-A9BD-1B7A8660DA89}" destId="{780F3C3D-DDE2-4474-ADB3-A2AA4A868D0E}" srcOrd="0" destOrd="0" presId="urn:microsoft.com/office/officeart/2018/5/layout/CenteredIconLabelDescriptionList"/>
    <dgm:cxn modelId="{D0A69632-A509-4AC9-88C5-1C58E2E6D928}" type="presOf" srcId="{A583CEDE-E647-47CA-A667-559E9030B27A}" destId="{3213E622-B109-42DA-801F-B0F2BD5F8295}" srcOrd="0" destOrd="0" presId="urn:microsoft.com/office/officeart/2018/5/layout/CenteredIconLabelDescriptionList"/>
    <dgm:cxn modelId="{0C22E3B0-2E25-4CB1-B905-D786EE9F523E}" srcId="{A583CEDE-E647-47CA-A667-559E9030B27A}" destId="{08ACE292-7BB7-4DF5-A9BD-1B7A8660DA89}" srcOrd="2" destOrd="0" parTransId="{DC370E83-4313-4300-A10B-DBC8240DE5AA}" sibTransId="{AF45A36A-B36E-483A-9AAB-A482BE9224E7}"/>
    <dgm:cxn modelId="{C90831B4-0F89-4842-AD65-49024538AF10}" srcId="{A583CEDE-E647-47CA-A667-559E9030B27A}" destId="{55068EE7-2CDE-410B-8408-2991BA615557}" srcOrd="1" destOrd="0" parTransId="{EE46C4A3-0788-43EB-A140-AE6135C8C210}" sibTransId="{E7B2F60A-DD8A-48A2-9F2F-E7CD45848433}"/>
    <dgm:cxn modelId="{101328D3-F892-4573-9C2B-24C8E576A0FB}" srcId="{A583CEDE-E647-47CA-A667-559E9030B27A}" destId="{E7557560-20D7-45F3-93CA-59CA59F1FAFA}" srcOrd="0" destOrd="0" parTransId="{E4CAD1B0-2735-4664-B73D-F7A5D7A98788}" sibTransId="{6B5FF232-FFD8-464C-A2BF-F6879257252B}"/>
    <dgm:cxn modelId="{67985ED8-9027-4E07-B24D-E6D60FACAE96}" type="presOf" srcId="{E7557560-20D7-45F3-93CA-59CA59F1FAFA}" destId="{A23C1CDD-357C-458D-8788-A42EEB8EFB3D}" srcOrd="0" destOrd="0" presId="urn:microsoft.com/office/officeart/2018/5/layout/CenteredIconLabelDescriptionList"/>
    <dgm:cxn modelId="{A22EC50F-A737-431A-97B9-362C746C21FB}" type="presParOf" srcId="{3213E622-B109-42DA-801F-B0F2BD5F8295}" destId="{E56AC07C-FB60-4CF0-8860-E2D998A12AC2}" srcOrd="0" destOrd="0" presId="urn:microsoft.com/office/officeart/2018/5/layout/CenteredIconLabelDescriptionList"/>
    <dgm:cxn modelId="{0CF9B889-83E8-4F18-AC5E-3E1DDE4B8DC6}" type="presParOf" srcId="{E56AC07C-FB60-4CF0-8860-E2D998A12AC2}" destId="{D7DEB794-E1E8-45CB-B56A-E1BEF5BF397D}" srcOrd="0" destOrd="0" presId="urn:microsoft.com/office/officeart/2018/5/layout/CenteredIconLabelDescriptionList"/>
    <dgm:cxn modelId="{6E756A4F-E8A0-4725-812C-DABB41FB0587}" type="presParOf" srcId="{E56AC07C-FB60-4CF0-8860-E2D998A12AC2}" destId="{77CA0889-87A2-4A01-A15E-D71A85BDF4AA}" srcOrd="1" destOrd="0" presId="urn:microsoft.com/office/officeart/2018/5/layout/CenteredIconLabelDescriptionList"/>
    <dgm:cxn modelId="{D393ECF4-3E95-4AC4-A241-C1EB5D0E0625}" type="presParOf" srcId="{E56AC07C-FB60-4CF0-8860-E2D998A12AC2}" destId="{A23C1CDD-357C-458D-8788-A42EEB8EFB3D}" srcOrd="2" destOrd="0" presId="urn:microsoft.com/office/officeart/2018/5/layout/CenteredIconLabelDescriptionList"/>
    <dgm:cxn modelId="{708932CB-CEA3-4A18-83CE-583716BA6A52}" type="presParOf" srcId="{E56AC07C-FB60-4CF0-8860-E2D998A12AC2}" destId="{3F22567E-3953-4C71-8C53-DB2D58B1DC7E}" srcOrd="3" destOrd="0" presId="urn:microsoft.com/office/officeart/2018/5/layout/CenteredIconLabelDescriptionList"/>
    <dgm:cxn modelId="{C51E8F33-4641-47B8-A482-493071D71040}" type="presParOf" srcId="{E56AC07C-FB60-4CF0-8860-E2D998A12AC2}" destId="{B0C7D408-00F6-410C-8935-8E4506F76249}" srcOrd="4" destOrd="0" presId="urn:microsoft.com/office/officeart/2018/5/layout/CenteredIconLabelDescriptionList"/>
    <dgm:cxn modelId="{4A7E5707-CED8-4429-A710-85CE992F52C0}" type="presParOf" srcId="{3213E622-B109-42DA-801F-B0F2BD5F8295}" destId="{CB7F799C-3676-42EE-B818-1623F7C468CE}" srcOrd="1" destOrd="0" presId="urn:microsoft.com/office/officeart/2018/5/layout/CenteredIconLabelDescriptionList"/>
    <dgm:cxn modelId="{6ABDD80C-B84E-49D2-9DA1-5D151CBDFCD3}" type="presParOf" srcId="{3213E622-B109-42DA-801F-B0F2BD5F8295}" destId="{1C1F7804-62E5-4649-A4B1-B80505A7584E}" srcOrd="2" destOrd="0" presId="urn:microsoft.com/office/officeart/2018/5/layout/CenteredIconLabelDescriptionList"/>
    <dgm:cxn modelId="{3E816AD2-C949-47B5-B5D7-25B3B888DDBD}" type="presParOf" srcId="{1C1F7804-62E5-4649-A4B1-B80505A7584E}" destId="{A431BDFC-AEE0-4655-9C58-0D3278EDB5F8}" srcOrd="0" destOrd="0" presId="urn:microsoft.com/office/officeart/2018/5/layout/CenteredIconLabelDescriptionList"/>
    <dgm:cxn modelId="{8A5C84A1-3AF0-4761-8D99-8F6395FD73E1}" type="presParOf" srcId="{1C1F7804-62E5-4649-A4B1-B80505A7584E}" destId="{8E6FABD8-2220-464A-8FBC-D656631DC7F5}" srcOrd="1" destOrd="0" presId="urn:microsoft.com/office/officeart/2018/5/layout/CenteredIconLabelDescriptionList"/>
    <dgm:cxn modelId="{01AE3FC9-CD10-4ED5-8F2C-5246DD13D88B}" type="presParOf" srcId="{1C1F7804-62E5-4649-A4B1-B80505A7584E}" destId="{832D6505-5A04-4327-86E1-02382CB34F7E}" srcOrd="2" destOrd="0" presId="urn:microsoft.com/office/officeart/2018/5/layout/CenteredIconLabelDescriptionList"/>
    <dgm:cxn modelId="{846BD028-8250-434E-9DF7-8A6A8E57800F}" type="presParOf" srcId="{1C1F7804-62E5-4649-A4B1-B80505A7584E}" destId="{890A0B6E-9017-4AFE-A256-43A92A27A196}" srcOrd="3" destOrd="0" presId="urn:microsoft.com/office/officeart/2018/5/layout/CenteredIconLabelDescriptionList"/>
    <dgm:cxn modelId="{0DDE3176-5104-4C90-BCD6-999363D3B3A7}" type="presParOf" srcId="{1C1F7804-62E5-4649-A4B1-B80505A7584E}" destId="{66D4A7D1-E564-4186-ADB0-C697680BC561}" srcOrd="4" destOrd="0" presId="urn:microsoft.com/office/officeart/2018/5/layout/CenteredIconLabelDescriptionList"/>
    <dgm:cxn modelId="{2643A944-7271-448E-84E1-161C730A29F1}" type="presParOf" srcId="{3213E622-B109-42DA-801F-B0F2BD5F8295}" destId="{BDE5E34A-757E-42F6-A4B9-AFF77E915901}" srcOrd="3" destOrd="0" presId="urn:microsoft.com/office/officeart/2018/5/layout/CenteredIconLabelDescriptionList"/>
    <dgm:cxn modelId="{64DA158F-76C5-44D4-A138-80DB1FEBC6DB}" type="presParOf" srcId="{3213E622-B109-42DA-801F-B0F2BD5F8295}" destId="{44C1EF23-21E5-4B12-9A05-B8C38105D3D2}" srcOrd="4" destOrd="0" presId="urn:microsoft.com/office/officeart/2018/5/layout/CenteredIconLabelDescriptionList"/>
    <dgm:cxn modelId="{EC2323E2-E5CE-4D60-B1FD-A429572152D9}" type="presParOf" srcId="{44C1EF23-21E5-4B12-9A05-B8C38105D3D2}" destId="{807C542B-62FB-4F2C-B6F2-73FA2E2B251A}" srcOrd="0" destOrd="0" presId="urn:microsoft.com/office/officeart/2018/5/layout/CenteredIconLabelDescriptionList"/>
    <dgm:cxn modelId="{02B0A021-A457-4C97-A025-714F7D332301}" type="presParOf" srcId="{44C1EF23-21E5-4B12-9A05-B8C38105D3D2}" destId="{AB9D50C6-8063-450E-AFD9-F1CFDA68163A}" srcOrd="1" destOrd="0" presId="urn:microsoft.com/office/officeart/2018/5/layout/CenteredIconLabelDescriptionList"/>
    <dgm:cxn modelId="{56A0F445-0B1A-4AA4-94EA-28708E1F5F4A}" type="presParOf" srcId="{44C1EF23-21E5-4B12-9A05-B8C38105D3D2}" destId="{780F3C3D-DDE2-4474-ADB3-A2AA4A868D0E}" srcOrd="2" destOrd="0" presId="urn:microsoft.com/office/officeart/2018/5/layout/CenteredIconLabelDescriptionList"/>
    <dgm:cxn modelId="{8D244324-EB91-4BBC-AC45-4C26D8951B2D}" type="presParOf" srcId="{44C1EF23-21E5-4B12-9A05-B8C38105D3D2}" destId="{04E9643E-1ECE-4DC2-8433-53432518B951}" srcOrd="3" destOrd="0" presId="urn:microsoft.com/office/officeart/2018/5/layout/CenteredIconLabelDescriptionList"/>
    <dgm:cxn modelId="{BC393C2E-1E38-4B82-8C27-81138203C25C}" type="presParOf" srcId="{44C1EF23-21E5-4B12-9A05-B8C38105D3D2}" destId="{EBBC1388-3B93-4130-A7B1-76FFBB48699A}" srcOrd="4" destOrd="0" presId="urn:microsoft.com/office/officeart/2018/5/layout/Centered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3BC92FE-39A7-43AA-B371-06FC86F327F9}" type="doc">
      <dgm:prSet loTypeId="urn:microsoft.com/office/officeart/2018/2/layout/IconLabelDescriptionList" loCatId="icon" qsTypeId="urn:microsoft.com/office/officeart/2005/8/quickstyle/simple1#64" qsCatId="simple" csTypeId="urn:microsoft.com/office/officeart/2018/5/colors/Iconchunking_neutralbg_colorful2" csCatId="colorful" phldr="1"/>
      <dgm:spPr/>
      <dgm:t>
        <a:bodyPr/>
        <a:lstStyle/>
        <a:p>
          <a:endParaRPr lang="en-US"/>
        </a:p>
      </dgm:t>
    </dgm:pt>
    <dgm:pt modelId="{BF707721-8F8B-47D7-804D-3109819BE9E5}">
      <dgm:prSet/>
      <dgm:spPr/>
      <dgm:t>
        <a:bodyPr/>
        <a:lstStyle/>
        <a:p>
          <a:pPr>
            <a:lnSpc>
              <a:spcPct val="100000"/>
            </a:lnSpc>
            <a:defRPr b="1"/>
          </a:pPr>
          <a:r>
            <a:rPr lang="en-GB" dirty="0"/>
            <a:t>1. Descriptive</a:t>
          </a:r>
          <a:endParaRPr lang="en-US" dirty="0"/>
        </a:p>
      </dgm:t>
    </dgm:pt>
    <dgm:pt modelId="{0FC4F028-2679-4C1A-B02A-BBF2B9F63150}" type="parTrans" cxnId="{B7533276-D027-4A08-AAC4-F4BA9C626469}">
      <dgm:prSet/>
      <dgm:spPr/>
      <dgm:t>
        <a:bodyPr/>
        <a:lstStyle/>
        <a:p>
          <a:endParaRPr lang="en-US"/>
        </a:p>
      </dgm:t>
    </dgm:pt>
    <dgm:pt modelId="{AD3A7166-8836-435B-B8AE-8C254DF1AADE}" type="sibTrans" cxnId="{B7533276-D027-4A08-AAC4-F4BA9C626469}">
      <dgm:prSet/>
      <dgm:spPr/>
      <dgm:t>
        <a:bodyPr/>
        <a:lstStyle/>
        <a:p>
          <a:endParaRPr lang="en-US"/>
        </a:p>
      </dgm:t>
    </dgm:pt>
    <dgm:pt modelId="{B926BFFD-0A0C-4EEB-8DDF-BEC101799EE4}">
      <dgm:prSet/>
      <dgm:spPr/>
      <dgm:t>
        <a:bodyPr/>
        <a:lstStyle/>
        <a:p>
          <a:pPr>
            <a:lnSpc>
              <a:spcPct val="100000"/>
            </a:lnSpc>
          </a:pPr>
          <a:r>
            <a:rPr lang="en-GB" dirty="0"/>
            <a:t>What happened?</a:t>
          </a:r>
          <a:endParaRPr lang="en-US" dirty="0"/>
        </a:p>
      </dgm:t>
    </dgm:pt>
    <dgm:pt modelId="{384DE573-DE35-423E-ADF0-85DCBE7F93AC}" type="parTrans" cxnId="{070E2886-5A38-4F04-B146-077C50F2C998}">
      <dgm:prSet/>
      <dgm:spPr/>
      <dgm:t>
        <a:bodyPr/>
        <a:lstStyle/>
        <a:p>
          <a:endParaRPr lang="en-US"/>
        </a:p>
      </dgm:t>
    </dgm:pt>
    <dgm:pt modelId="{8440D828-B4A6-4F66-BA98-5086977F3C49}" type="sibTrans" cxnId="{070E2886-5A38-4F04-B146-077C50F2C998}">
      <dgm:prSet/>
      <dgm:spPr/>
      <dgm:t>
        <a:bodyPr/>
        <a:lstStyle/>
        <a:p>
          <a:endParaRPr lang="en-US"/>
        </a:p>
      </dgm:t>
    </dgm:pt>
    <dgm:pt modelId="{136F4BFD-0582-4579-82A5-A95C73D55870}">
      <dgm:prSet/>
      <dgm:spPr/>
      <dgm:t>
        <a:bodyPr/>
        <a:lstStyle/>
        <a:p>
          <a:pPr>
            <a:lnSpc>
              <a:spcPct val="100000"/>
            </a:lnSpc>
            <a:defRPr b="1"/>
          </a:pPr>
          <a:r>
            <a:rPr lang="en-GB"/>
            <a:t>2. Diagnostic</a:t>
          </a:r>
          <a:endParaRPr lang="en-US"/>
        </a:p>
      </dgm:t>
    </dgm:pt>
    <dgm:pt modelId="{C67336CF-F313-49B9-A40A-B41BFDE55BC3}" type="parTrans" cxnId="{E62F4FD4-71A7-44CA-9422-49F00DCFAD4F}">
      <dgm:prSet/>
      <dgm:spPr/>
      <dgm:t>
        <a:bodyPr/>
        <a:lstStyle/>
        <a:p>
          <a:endParaRPr lang="en-US"/>
        </a:p>
      </dgm:t>
    </dgm:pt>
    <dgm:pt modelId="{A648417D-217C-434C-9334-E0774764047B}" type="sibTrans" cxnId="{E62F4FD4-71A7-44CA-9422-49F00DCFAD4F}">
      <dgm:prSet/>
      <dgm:spPr/>
      <dgm:t>
        <a:bodyPr/>
        <a:lstStyle/>
        <a:p>
          <a:endParaRPr lang="en-US"/>
        </a:p>
      </dgm:t>
    </dgm:pt>
    <dgm:pt modelId="{3902D11C-F772-4D98-AD43-68757266B871}">
      <dgm:prSet/>
      <dgm:spPr/>
      <dgm:t>
        <a:bodyPr/>
        <a:lstStyle/>
        <a:p>
          <a:pPr>
            <a:lnSpc>
              <a:spcPct val="100000"/>
            </a:lnSpc>
          </a:pPr>
          <a:r>
            <a:rPr lang="en-GB" dirty="0"/>
            <a:t>Why / how did it happen?</a:t>
          </a:r>
          <a:endParaRPr lang="en-US" dirty="0"/>
        </a:p>
      </dgm:t>
    </dgm:pt>
    <dgm:pt modelId="{604A71A0-6B61-4D71-83AF-2F99DB02191E}" type="parTrans" cxnId="{29660571-F26F-45B6-8E2C-167DA4BE26D0}">
      <dgm:prSet/>
      <dgm:spPr/>
      <dgm:t>
        <a:bodyPr/>
        <a:lstStyle/>
        <a:p>
          <a:endParaRPr lang="en-US"/>
        </a:p>
      </dgm:t>
    </dgm:pt>
    <dgm:pt modelId="{90F04341-BC2E-414C-B73C-082CA4A032F2}" type="sibTrans" cxnId="{29660571-F26F-45B6-8E2C-167DA4BE26D0}">
      <dgm:prSet/>
      <dgm:spPr/>
      <dgm:t>
        <a:bodyPr/>
        <a:lstStyle/>
        <a:p>
          <a:endParaRPr lang="en-US"/>
        </a:p>
      </dgm:t>
    </dgm:pt>
    <dgm:pt modelId="{D02B5C5A-D5CF-4981-88F1-9872057F386D}">
      <dgm:prSet/>
      <dgm:spPr/>
      <dgm:t>
        <a:bodyPr/>
        <a:lstStyle/>
        <a:p>
          <a:pPr>
            <a:lnSpc>
              <a:spcPct val="100000"/>
            </a:lnSpc>
            <a:defRPr b="1"/>
          </a:pPr>
          <a:r>
            <a:rPr lang="en-GB"/>
            <a:t>3. Predictive </a:t>
          </a:r>
          <a:endParaRPr lang="en-US"/>
        </a:p>
      </dgm:t>
    </dgm:pt>
    <dgm:pt modelId="{28D3AB59-3A7D-4C16-AFF5-5CE3FB30E651}" type="parTrans" cxnId="{EA80F0A2-D621-404F-AC17-FF86954DC666}">
      <dgm:prSet/>
      <dgm:spPr/>
      <dgm:t>
        <a:bodyPr/>
        <a:lstStyle/>
        <a:p>
          <a:endParaRPr lang="en-US"/>
        </a:p>
      </dgm:t>
    </dgm:pt>
    <dgm:pt modelId="{E8926A1D-43E6-4A00-9FAA-64901C7B3941}" type="sibTrans" cxnId="{EA80F0A2-D621-404F-AC17-FF86954DC666}">
      <dgm:prSet/>
      <dgm:spPr/>
      <dgm:t>
        <a:bodyPr/>
        <a:lstStyle/>
        <a:p>
          <a:endParaRPr lang="en-US"/>
        </a:p>
      </dgm:t>
    </dgm:pt>
    <dgm:pt modelId="{5D7E3DDE-E800-40BB-8333-6FA2DC05CC7E}">
      <dgm:prSet/>
      <dgm:spPr/>
      <dgm:t>
        <a:bodyPr/>
        <a:lstStyle/>
        <a:p>
          <a:pPr>
            <a:lnSpc>
              <a:spcPct val="100000"/>
            </a:lnSpc>
          </a:pPr>
          <a:r>
            <a:rPr lang="en-GB"/>
            <a:t>What is likely to happen?</a:t>
          </a:r>
          <a:endParaRPr lang="en-US"/>
        </a:p>
      </dgm:t>
    </dgm:pt>
    <dgm:pt modelId="{0CEE91DF-5475-4D34-BB77-D1BD09D119CB}" type="parTrans" cxnId="{FCD80AA3-A162-42C3-BD4E-10B046F1EC8F}">
      <dgm:prSet/>
      <dgm:spPr/>
      <dgm:t>
        <a:bodyPr/>
        <a:lstStyle/>
        <a:p>
          <a:endParaRPr lang="en-US"/>
        </a:p>
      </dgm:t>
    </dgm:pt>
    <dgm:pt modelId="{D50F909D-B1A2-4D59-AF8A-4C59330DC506}" type="sibTrans" cxnId="{FCD80AA3-A162-42C3-BD4E-10B046F1EC8F}">
      <dgm:prSet/>
      <dgm:spPr/>
      <dgm:t>
        <a:bodyPr/>
        <a:lstStyle/>
        <a:p>
          <a:endParaRPr lang="en-US"/>
        </a:p>
      </dgm:t>
    </dgm:pt>
    <dgm:pt modelId="{60FFA69C-7C61-4DA1-AD1E-3AA5351D8F7B}">
      <dgm:prSet/>
      <dgm:spPr/>
      <dgm:t>
        <a:bodyPr/>
        <a:lstStyle/>
        <a:p>
          <a:pPr>
            <a:lnSpc>
              <a:spcPct val="100000"/>
            </a:lnSpc>
            <a:defRPr b="1"/>
          </a:pPr>
          <a:r>
            <a:rPr lang="en-GB"/>
            <a:t>4. Prescriptive</a:t>
          </a:r>
          <a:endParaRPr lang="en-US"/>
        </a:p>
      </dgm:t>
    </dgm:pt>
    <dgm:pt modelId="{F7703B36-43F1-4FDD-9CC8-8BE666BA12DB}" type="parTrans" cxnId="{0FEE528B-D499-48FD-B7B0-186A736EB87F}">
      <dgm:prSet/>
      <dgm:spPr/>
      <dgm:t>
        <a:bodyPr/>
        <a:lstStyle/>
        <a:p>
          <a:endParaRPr lang="en-US"/>
        </a:p>
      </dgm:t>
    </dgm:pt>
    <dgm:pt modelId="{26831936-AA72-4136-92B5-044BA81B31BD}" type="sibTrans" cxnId="{0FEE528B-D499-48FD-B7B0-186A736EB87F}">
      <dgm:prSet/>
      <dgm:spPr/>
      <dgm:t>
        <a:bodyPr/>
        <a:lstStyle/>
        <a:p>
          <a:endParaRPr lang="en-US"/>
        </a:p>
      </dgm:t>
    </dgm:pt>
    <dgm:pt modelId="{D2FB5E07-4AE8-4A52-A529-EAF5514CCBF0}">
      <dgm:prSet/>
      <dgm:spPr/>
      <dgm:t>
        <a:bodyPr/>
        <a:lstStyle/>
        <a:p>
          <a:pPr>
            <a:lnSpc>
              <a:spcPct val="100000"/>
            </a:lnSpc>
          </a:pPr>
          <a:r>
            <a:rPr lang="en-GB"/>
            <a:t>What should we do about it?</a:t>
          </a:r>
          <a:endParaRPr lang="en-US"/>
        </a:p>
      </dgm:t>
    </dgm:pt>
    <dgm:pt modelId="{0E861B8B-27B2-4E4C-9D13-45B7E6978B81}" type="parTrans" cxnId="{BEE89AEF-8C6A-4222-867F-211FB33D3B2F}">
      <dgm:prSet/>
      <dgm:spPr/>
      <dgm:t>
        <a:bodyPr/>
        <a:lstStyle/>
        <a:p>
          <a:endParaRPr lang="en-US"/>
        </a:p>
      </dgm:t>
    </dgm:pt>
    <dgm:pt modelId="{F4542E72-ED74-4F26-A65A-2BCFEF551534}" type="sibTrans" cxnId="{BEE89AEF-8C6A-4222-867F-211FB33D3B2F}">
      <dgm:prSet/>
      <dgm:spPr/>
      <dgm:t>
        <a:bodyPr/>
        <a:lstStyle/>
        <a:p>
          <a:endParaRPr lang="en-US"/>
        </a:p>
      </dgm:t>
    </dgm:pt>
    <dgm:pt modelId="{6D871FBD-051F-44D1-B00F-6FBA349FEA21}" type="pres">
      <dgm:prSet presAssocID="{83BC92FE-39A7-43AA-B371-06FC86F327F9}" presName="root" presStyleCnt="0">
        <dgm:presLayoutVars>
          <dgm:dir/>
          <dgm:resizeHandles val="exact"/>
        </dgm:presLayoutVars>
      </dgm:prSet>
      <dgm:spPr/>
    </dgm:pt>
    <dgm:pt modelId="{39E77AD7-91C5-4D46-9BC8-CF6809AC7A23}" type="pres">
      <dgm:prSet presAssocID="{BF707721-8F8B-47D7-804D-3109819BE9E5}" presName="compNode" presStyleCnt="0"/>
      <dgm:spPr/>
    </dgm:pt>
    <dgm:pt modelId="{E4928810-BCC7-4F98-A356-F4FA46189ED3}" type="pres">
      <dgm:prSet presAssocID="{BF707721-8F8B-47D7-804D-3109819BE9E5}" presName="iconRect" presStyleLbl="node1" presStyleIdx="0" presStyleCnt="4" custLinFactNeighborX="-500"/>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ustomer Review"/>
        </a:ext>
      </dgm:extLst>
    </dgm:pt>
    <dgm:pt modelId="{01BDB177-DEDC-410D-AA8A-55B9A4315704}" type="pres">
      <dgm:prSet presAssocID="{BF707721-8F8B-47D7-804D-3109819BE9E5}" presName="iconSpace" presStyleCnt="0"/>
      <dgm:spPr/>
    </dgm:pt>
    <dgm:pt modelId="{8E6B3E7A-9238-4392-BD23-80F64B24C815}" type="pres">
      <dgm:prSet presAssocID="{BF707721-8F8B-47D7-804D-3109819BE9E5}" presName="parTx" presStyleLbl="revTx" presStyleIdx="0" presStyleCnt="8">
        <dgm:presLayoutVars>
          <dgm:chMax val="0"/>
          <dgm:chPref val="0"/>
        </dgm:presLayoutVars>
      </dgm:prSet>
      <dgm:spPr/>
    </dgm:pt>
    <dgm:pt modelId="{47E5C1E9-8383-481E-92CA-34243039DDD4}" type="pres">
      <dgm:prSet presAssocID="{BF707721-8F8B-47D7-804D-3109819BE9E5}" presName="txSpace" presStyleCnt="0"/>
      <dgm:spPr/>
    </dgm:pt>
    <dgm:pt modelId="{A745A52F-9E23-45EE-8F17-4DA17BE2B6CF}" type="pres">
      <dgm:prSet presAssocID="{BF707721-8F8B-47D7-804D-3109819BE9E5}" presName="desTx" presStyleLbl="revTx" presStyleIdx="1" presStyleCnt="8">
        <dgm:presLayoutVars/>
      </dgm:prSet>
      <dgm:spPr/>
    </dgm:pt>
    <dgm:pt modelId="{34250BE4-3296-42CC-9373-F6519E695556}" type="pres">
      <dgm:prSet presAssocID="{AD3A7166-8836-435B-B8AE-8C254DF1AADE}" presName="sibTrans" presStyleCnt="0"/>
      <dgm:spPr/>
    </dgm:pt>
    <dgm:pt modelId="{D0C5416B-BCCD-4943-A68B-BAA03102CA37}" type="pres">
      <dgm:prSet presAssocID="{136F4BFD-0582-4579-82A5-A95C73D55870}" presName="compNode" presStyleCnt="0"/>
      <dgm:spPr/>
    </dgm:pt>
    <dgm:pt modelId="{E4CCD96E-359E-4AA4-B588-048619C54F92}" type="pres">
      <dgm:prSet presAssocID="{136F4BFD-0582-4579-82A5-A95C73D5587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Question mark"/>
        </a:ext>
      </dgm:extLst>
    </dgm:pt>
    <dgm:pt modelId="{91DF6E32-7FF9-4D0B-8C00-DF1D4138C330}" type="pres">
      <dgm:prSet presAssocID="{136F4BFD-0582-4579-82A5-A95C73D55870}" presName="iconSpace" presStyleCnt="0"/>
      <dgm:spPr/>
    </dgm:pt>
    <dgm:pt modelId="{CAE12482-5CF7-471D-81B3-93E1D402E333}" type="pres">
      <dgm:prSet presAssocID="{136F4BFD-0582-4579-82A5-A95C73D55870}" presName="parTx" presStyleLbl="revTx" presStyleIdx="2" presStyleCnt="8">
        <dgm:presLayoutVars>
          <dgm:chMax val="0"/>
          <dgm:chPref val="0"/>
        </dgm:presLayoutVars>
      </dgm:prSet>
      <dgm:spPr/>
    </dgm:pt>
    <dgm:pt modelId="{1EFD1EB2-FA81-4FA8-9196-9D983B07D33D}" type="pres">
      <dgm:prSet presAssocID="{136F4BFD-0582-4579-82A5-A95C73D55870}" presName="txSpace" presStyleCnt="0"/>
      <dgm:spPr/>
    </dgm:pt>
    <dgm:pt modelId="{DF164D61-735C-4C87-8347-8B99FE586313}" type="pres">
      <dgm:prSet presAssocID="{136F4BFD-0582-4579-82A5-A95C73D55870}" presName="desTx" presStyleLbl="revTx" presStyleIdx="3" presStyleCnt="8">
        <dgm:presLayoutVars/>
      </dgm:prSet>
      <dgm:spPr/>
    </dgm:pt>
    <dgm:pt modelId="{87346C0F-81A6-42B5-B781-B793D5482864}" type="pres">
      <dgm:prSet presAssocID="{A648417D-217C-434C-9334-E0774764047B}" presName="sibTrans" presStyleCnt="0"/>
      <dgm:spPr/>
    </dgm:pt>
    <dgm:pt modelId="{0716210E-F8B6-4C61-B850-54652405DE05}" type="pres">
      <dgm:prSet presAssocID="{D02B5C5A-D5CF-4981-88F1-9872057F386D}" presName="compNode" presStyleCnt="0"/>
      <dgm:spPr/>
    </dgm:pt>
    <dgm:pt modelId="{666A0142-3994-4944-9021-255BBA065A0C}" type="pres">
      <dgm:prSet presAssocID="{D02B5C5A-D5CF-4981-88F1-9872057F386D}"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ce"/>
        </a:ext>
      </dgm:extLst>
    </dgm:pt>
    <dgm:pt modelId="{3FCEF46A-B042-495E-8C45-25640ADB92BE}" type="pres">
      <dgm:prSet presAssocID="{D02B5C5A-D5CF-4981-88F1-9872057F386D}" presName="iconSpace" presStyleCnt="0"/>
      <dgm:spPr/>
    </dgm:pt>
    <dgm:pt modelId="{336AF011-C230-4B81-BC26-BF1B3B4EA562}" type="pres">
      <dgm:prSet presAssocID="{D02B5C5A-D5CF-4981-88F1-9872057F386D}" presName="parTx" presStyleLbl="revTx" presStyleIdx="4" presStyleCnt="8">
        <dgm:presLayoutVars>
          <dgm:chMax val="0"/>
          <dgm:chPref val="0"/>
        </dgm:presLayoutVars>
      </dgm:prSet>
      <dgm:spPr/>
    </dgm:pt>
    <dgm:pt modelId="{61DEFD93-FCFF-4DDA-86C5-8A382E4DFBC5}" type="pres">
      <dgm:prSet presAssocID="{D02B5C5A-D5CF-4981-88F1-9872057F386D}" presName="txSpace" presStyleCnt="0"/>
      <dgm:spPr/>
    </dgm:pt>
    <dgm:pt modelId="{BC429B17-4FF9-4CFE-A522-B522D9FDB460}" type="pres">
      <dgm:prSet presAssocID="{D02B5C5A-D5CF-4981-88F1-9872057F386D}" presName="desTx" presStyleLbl="revTx" presStyleIdx="5" presStyleCnt="8">
        <dgm:presLayoutVars/>
      </dgm:prSet>
      <dgm:spPr/>
    </dgm:pt>
    <dgm:pt modelId="{6491C7AE-4ACD-4A46-AF45-29C36013C418}" type="pres">
      <dgm:prSet presAssocID="{E8926A1D-43E6-4A00-9FAA-64901C7B3941}" presName="sibTrans" presStyleCnt="0"/>
      <dgm:spPr/>
    </dgm:pt>
    <dgm:pt modelId="{FB2B048C-C5E8-4D16-9310-B1807DED3D42}" type="pres">
      <dgm:prSet presAssocID="{60FFA69C-7C61-4DA1-AD1E-3AA5351D8F7B}" presName="compNode" presStyleCnt="0"/>
      <dgm:spPr/>
    </dgm:pt>
    <dgm:pt modelId="{3B74E4F1-1538-449B-978E-E9FFF5835B2B}" type="pres">
      <dgm:prSet presAssocID="{60FFA69C-7C61-4DA1-AD1E-3AA5351D8F7B}"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Venn Diagram"/>
        </a:ext>
      </dgm:extLst>
    </dgm:pt>
    <dgm:pt modelId="{63052B2B-EF66-4454-B27A-47B91830E209}" type="pres">
      <dgm:prSet presAssocID="{60FFA69C-7C61-4DA1-AD1E-3AA5351D8F7B}" presName="iconSpace" presStyleCnt="0"/>
      <dgm:spPr/>
    </dgm:pt>
    <dgm:pt modelId="{146C8532-5FED-4962-B4DE-1032849C3828}" type="pres">
      <dgm:prSet presAssocID="{60FFA69C-7C61-4DA1-AD1E-3AA5351D8F7B}" presName="parTx" presStyleLbl="revTx" presStyleIdx="6" presStyleCnt="8">
        <dgm:presLayoutVars>
          <dgm:chMax val="0"/>
          <dgm:chPref val="0"/>
        </dgm:presLayoutVars>
      </dgm:prSet>
      <dgm:spPr/>
    </dgm:pt>
    <dgm:pt modelId="{B31F5CE5-9315-4CD9-B103-ABA8AF8165A7}" type="pres">
      <dgm:prSet presAssocID="{60FFA69C-7C61-4DA1-AD1E-3AA5351D8F7B}" presName="txSpace" presStyleCnt="0"/>
      <dgm:spPr/>
    </dgm:pt>
    <dgm:pt modelId="{FDA8A98A-01BE-42F2-BDE9-E61C616C5813}" type="pres">
      <dgm:prSet presAssocID="{60FFA69C-7C61-4DA1-AD1E-3AA5351D8F7B}" presName="desTx" presStyleLbl="revTx" presStyleIdx="7" presStyleCnt="8">
        <dgm:presLayoutVars/>
      </dgm:prSet>
      <dgm:spPr/>
    </dgm:pt>
  </dgm:ptLst>
  <dgm:cxnLst>
    <dgm:cxn modelId="{790FDC00-E3FF-4B63-887A-8ACFB0540A48}" type="presOf" srcId="{136F4BFD-0582-4579-82A5-A95C73D55870}" destId="{CAE12482-5CF7-471D-81B3-93E1D402E333}" srcOrd="0" destOrd="0" presId="urn:microsoft.com/office/officeart/2018/2/layout/IconLabelDescriptionList"/>
    <dgm:cxn modelId="{A4A1FA4D-CC62-41D9-B89B-8C82D955DCA7}" type="presOf" srcId="{BF707721-8F8B-47D7-804D-3109819BE9E5}" destId="{8E6B3E7A-9238-4392-BD23-80F64B24C815}" srcOrd="0" destOrd="0" presId="urn:microsoft.com/office/officeart/2018/2/layout/IconLabelDescriptionList"/>
    <dgm:cxn modelId="{EB4A6A4F-8117-4111-8788-25BAA3A3086B}" type="presOf" srcId="{60FFA69C-7C61-4DA1-AD1E-3AA5351D8F7B}" destId="{146C8532-5FED-4962-B4DE-1032849C3828}" srcOrd="0" destOrd="0" presId="urn:microsoft.com/office/officeart/2018/2/layout/IconLabelDescriptionList"/>
    <dgm:cxn modelId="{1ADAC26C-C21D-4F5E-80D2-8F2BD6A07754}" type="presOf" srcId="{3902D11C-F772-4D98-AD43-68757266B871}" destId="{DF164D61-735C-4C87-8347-8B99FE586313}" srcOrd="0" destOrd="0" presId="urn:microsoft.com/office/officeart/2018/2/layout/IconLabelDescriptionList"/>
    <dgm:cxn modelId="{29660571-F26F-45B6-8E2C-167DA4BE26D0}" srcId="{136F4BFD-0582-4579-82A5-A95C73D55870}" destId="{3902D11C-F772-4D98-AD43-68757266B871}" srcOrd="0" destOrd="0" parTransId="{604A71A0-6B61-4D71-83AF-2F99DB02191E}" sibTransId="{90F04341-BC2E-414C-B73C-082CA4A032F2}"/>
    <dgm:cxn modelId="{3E5FE871-02BD-482D-BC2F-0212E6353F34}" type="presOf" srcId="{D02B5C5A-D5CF-4981-88F1-9872057F386D}" destId="{336AF011-C230-4B81-BC26-BF1B3B4EA562}" srcOrd="0" destOrd="0" presId="urn:microsoft.com/office/officeart/2018/2/layout/IconLabelDescriptionList"/>
    <dgm:cxn modelId="{B7533276-D027-4A08-AAC4-F4BA9C626469}" srcId="{83BC92FE-39A7-43AA-B371-06FC86F327F9}" destId="{BF707721-8F8B-47D7-804D-3109819BE9E5}" srcOrd="0" destOrd="0" parTransId="{0FC4F028-2679-4C1A-B02A-BBF2B9F63150}" sibTransId="{AD3A7166-8836-435B-B8AE-8C254DF1AADE}"/>
    <dgm:cxn modelId="{CB594185-3462-4788-9746-2E3AF6B2657E}" type="presOf" srcId="{5D7E3DDE-E800-40BB-8333-6FA2DC05CC7E}" destId="{BC429B17-4FF9-4CFE-A522-B522D9FDB460}" srcOrd="0" destOrd="0" presId="urn:microsoft.com/office/officeart/2018/2/layout/IconLabelDescriptionList"/>
    <dgm:cxn modelId="{070E2886-5A38-4F04-B146-077C50F2C998}" srcId="{BF707721-8F8B-47D7-804D-3109819BE9E5}" destId="{B926BFFD-0A0C-4EEB-8DDF-BEC101799EE4}" srcOrd="0" destOrd="0" parTransId="{384DE573-DE35-423E-ADF0-85DCBE7F93AC}" sibTransId="{8440D828-B4A6-4F66-BA98-5086977F3C49}"/>
    <dgm:cxn modelId="{0FEE528B-D499-48FD-B7B0-186A736EB87F}" srcId="{83BC92FE-39A7-43AA-B371-06FC86F327F9}" destId="{60FFA69C-7C61-4DA1-AD1E-3AA5351D8F7B}" srcOrd="3" destOrd="0" parTransId="{F7703B36-43F1-4FDD-9CC8-8BE666BA12DB}" sibTransId="{26831936-AA72-4136-92B5-044BA81B31BD}"/>
    <dgm:cxn modelId="{CD3D908F-F1F6-457A-94E9-93A5C91C8257}" type="presOf" srcId="{B926BFFD-0A0C-4EEB-8DDF-BEC101799EE4}" destId="{A745A52F-9E23-45EE-8F17-4DA17BE2B6CF}" srcOrd="0" destOrd="0" presId="urn:microsoft.com/office/officeart/2018/2/layout/IconLabelDescriptionList"/>
    <dgm:cxn modelId="{AC664A9E-E110-4A3B-8F8B-CE0C2EAA5D46}" type="presOf" srcId="{83BC92FE-39A7-43AA-B371-06FC86F327F9}" destId="{6D871FBD-051F-44D1-B00F-6FBA349FEA21}" srcOrd="0" destOrd="0" presId="urn:microsoft.com/office/officeart/2018/2/layout/IconLabelDescriptionList"/>
    <dgm:cxn modelId="{EA80F0A2-D621-404F-AC17-FF86954DC666}" srcId="{83BC92FE-39A7-43AA-B371-06FC86F327F9}" destId="{D02B5C5A-D5CF-4981-88F1-9872057F386D}" srcOrd="2" destOrd="0" parTransId="{28D3AB59-3A7D-4C16-AFF5-5CE3FB30E651}" sibTransId="{E8926A1D-43E6-4A00-9FAA-64901C7B3941}"/>
    <dgm:cxn modelId="{FCD80AA3-A162-42C3-BD4E-10B046F1EC8F}" srcId="{D02B5C5A-D5CF-4981-88F1-9872057F386D}" destId="{5D7E3DDE-E800-40BB-8333-6FA2DC05CC7E}" srcOrd="0" destOrd="0" parTransId="{0CEE91DF-5475-4D34-BB77-D1BD09D119CB}" sibTransId="{D50F909D-B1A2-4D59-AF8A-4C59330DC506}"/>
    <dgm:cxn modelId="{E62F4FD4-71A7-44CA-9422-49F00DCFAD4F}" srcId="{83BC92FE-39A7-43AA-B371-06FC86F327F9}" destId="{136F4BFD-0582-4579-82A5-A95C73D55870}" srcOrd="1" destOrd="0" parTransId="{C67336CF-F313-49B9-A40A-B41BFDE55BC3}" sibTransId="{A648417D-217C-434C-9334-E0774764047B}"/>
    <dgm:cxn modelId="{0D2EE2E9-11FF-4CDC-A2D5-8F236743A8AA}" type="presOf" srcId="{D2FB5E07-4AE8-4A52-A529-EAF5514CCBF0}" destId="{FDA8A98A-01BE-42F2-BDE9-E61C616C5813}" srcOrd="0" destOrd="0" presId="urn:microsoft.com/office/officeart/2018/2/layout/IconLabelDescriptionList"/>
    <dgm:cxn modelId="{BEE89AEF-8C6A-4222-867F-211FB33D3B2F}" srcId="{60FFA69C-7C61-4DA1-AD1E-3AA5351D8F7B}" destId="{D2FB5E07-4AE8-4A52-A529-EAF5514CCBF0}" srcOrd="0" destOrd="0" parTransId="{0E861B8B-27B2-4E4C-9D13-45B7E6978B81}" sibTransId="{F4542E72-ED74-4F26-A65A-2BCFEF551534}"/>
    <dgm:cxn modelId="{5A210101-2428-4748-9B7C-F01CC61E2D8D}" type="presParOf" srcId="{6D871FBD-051F-44D1-B00F-6FBA349FEA21}" destId="{39E77AD7-91C5-4D46-9BC8-CF6809AC7A23}" srcOrd="0" destOrd="0" presId="urn:microsoft.com/office/officeart/2018/2/layout/IconLabelDescriptionList"/>
    <dgm:cxn modelId="{A6692499-9E2D-4AA0-ACAD-EEBE32EDF7D1}" type="presParOf" srcId="{39E77AD7-91C5-4D46-9BC8-CF6809AC7A23}" destId="{E4928810-BCC7-4F98-A356-F4FA46189ED3}" srcOrd="0" destOrd="0" presId="urn:microsoft.com/office/officeart/2018/2/layout/IconLabelDescriptionList"/>
    <dgm:cxn modelId="{6BC281F6-4181-4E26-AEC5-8B0DCEEE2CF9}" type="presParOf" srcId="{39E77AD7-91C5-4D46-9BC8-CF6809AC7A23}" destId="{01BDB177-DEDC-410D-AA8A-55B9A4315704}" srcOrd="1" destOrd="0" presId="urn:microsoft.com/office/officeart/2018/2/layout/IconLabelDescriptionList"/>
    <dgm:cxn modelId="{ACA90FB5-3C18-4458-A604-4F4FF4A28E31}" type="presParOf" srcId="{39E77AD7-91C5-4D46-9BC8-CF6809AC7A23}" destId="{8E6B3E7A-9238-4392-BD23-80F64B24C815}" srcOrd="2" destOrd="0" presId="urn:microsoft.com/office/officeart/2018/2/layout/IconLabelDescriptionList"/>
    <dgm:cxn modelId="{B83B1686-8091-4ACC-BBC2-BE2982AC4B78}" type="presParOf" srcId="{39E77AD7-91C5-4D46-9BC8-CF6809AC7A23}" destId="{47E5C1E9-8383-481E-92CA-34243039DDD4}" srcOrd="3" destOrd="0" presId="urn:microsoft.com/office/officeart/2018/2/layout/IconLabelDescriptionList"/>
    <dgm:cxn modelId="{1498D413-0DD9-453E-9092-1D080AAA8455}" type="presParOf" srcId="{39E77AD7-91C5-4D46-9BC8-CF6809AC7A23}" destId="{A745A52F-9E23-45EE-8F17-4DA17BE2B6CF}" srcOrd="4" destOrd="0" presId="urn:microsoft.com/office/officeart/2018/2/layout/IconLabelDescriptionList"/>
    <dgm:cxn modelId="{91932EBE-21BB-483F-BA4A-0A3500441470}" type="presParOf" srcId="{6D871FBD-051F-44D1-B00F-6FBA349FEA21}" destId="{34250BE4-3296-42CC-9373-F6519E695556}" srcOrd="1" destOrd="0" presId="urn:microsoft.com/office/officeart/2018/2/layout/IconLabelDescriptionList"/>
    <dgm:cxn modelId="{3B7A05A4-8225-4263-A57A-DC12855BE69D}" type="presParOf" srcId="{6D871FBD-051F-44D1-B00F-6FBA349FEA21}" destId="{D0C5416B-BCCD-4943-A68B-BAA03102CA37}" srcOrd="2" destOrd="0" presId="urn:microsoft.com/office/officeart/2018/2/layout/IconLabelDescriptionList"/>
    <dgm:cxn modelId="{5F7A82B8-3135-468C-BDD9-EACBAA60DC48}" type="presParOf" srcId="{D0C5416B-BCCD-4943-A68B-BAA03102CA37}" destId="{E4CCD96E-359E-4AA4-B588-048619C54F92}" srcOrd="0" destOrd="0" presId="urn:microsoft.com/office/officeart/2018/2/layout/IconLabelDescriptionList"/>
    <dgm:cxn modelId="{FD2FD98B-4A49-414B-8224-8EB09D9D1AD3}" type="presParOf" srcId="{D0C5416B-BCCD-4943-A68B-BAA03102CA37}" destId="{91DF6E32-7FF9-4D0B-8C00-DF1D4138C330}" srcOrd="1" destOrd="0" presId="urn:microsoft.com/office/officeart/2018/2/layout/IconLabelDescriptionList"/>
    <dgm:cxn modelId="{B570D716-47C2-4334-B4C4-1379BF03C009}" type="presParOf" srcId="{D0C5416B-BCCD-4943-A68B-BAA03102CA37}" destId="{CAE12482-5CF7-471D-81B3-93E1D402E333}" srcOrd="2" destOrd="0" presId="urn:microsoft.com/office/officeart/2018/2/layout/IconLabelDescriptionList"/>
    <dgm:cxn modelId="{F0B3E5C7-48A9-4E7F-8E16-F90C2E41B229}" type="presParOf" srcId="{D0C5416B-BCCD-4943-A68B-BAA03102CA37}" destId="{1EFD1EB2-FA81-4FA8-9196-9D983B07D33D}" srcOrd="3" destOrd="0" presId="urn:microsoft.com/office/officeart/2018/2/layout/IconLabelDescriptionList"/>
    <dgm:cxn modelId="{43E2B326-5AC8-48E4-A365-CF332ED94CB7}" type="presParOf" srcId="{D0C5416B-BCCD-4943-A68B-BAA03102CA37}" destId="{DF164D61-735C-4C87-8347-8B99FE586313}" srcOrd="4" destOrd="0" presId="urn:microsoft.com/office/officeart/2018/2/layout/IconLabelDescriptionList"/>
    <dgm:cxn modelId="{71228B75-5A14-4431-A997-62644AC50B46}" type="presParOf" srcId="{6D871FBD-051F-44D1-B00F-6FBA349FEA21}" destId="{87346C0F-81A6-42B5-B781-B793D5482864}" srcOrd="3" destOrd="0" presId="urn:microsoft.com/office/officeart/2018/2/layout/IconLabelDescriptionList"/>
    <dgm:cxn modelId="{D94326D5-3F34-4BC3-99E2-8C9BA353C343}" type="presParOf" srcId="{6D871FBD-051F-44D1-B00F-6FBA349FEA21}" destId="{0716210E-F8B6-4C61-B850-54652405DE05}" srcOrd="4" destOrd="0" presId="urn:microsoft.com/office/officeart/2018/2/layout/IconLabelDescriptionList"/>
    <dgm:cxn modelId="{102B466B-3E04-4D2B-9017-C89508287AD1}" type="presParOf" srcId="{0716210E-F8B6-4C61-B850-54652405DE05}" destId="{666A0142-3994-4944-9021-255BBA065A0C}" srcOrd="0" destOrd="0" presId="urn:microsoft.com/office/officeart/2018/2/layout/IconLabelDescriptionList"/>
    <dgm:cxn modelId="{27145EAF-93CA-4ADE-84AC-22A80FAF913B}" type="presParOf" srcId="{0716210E-F8B6-4C61-B850-54652405DE05}" destId="{3FCEF46A-B042-495E-8C45-25640ADB92BE}" srcOrd="1" destOrd="0" presId="urn:microsoft.com/office/officeart/2018/2/layout/IconLabelDescriptionList"/>
    <dgm:cxn modelId="{327C89F1-DD04-4D54-B8F2-D6CBAEA328F2}" type="presParOf" srcId="{0716210E-F8B6-4C61-B850-54652405DE05}" destId="{336AF011-C230-4B81-BC26-BF1B3B4EA562}" srcOrd="2" destOrd="0" presId="urn:microsoft.com/office/officeart/2018/2/layout/IconLabelDescriptionList"/>
    <dgm:cxn modelId="{9DB92405-B1D5-4014-A33D-FBC193CC2066}" type="presParOf" srcId="{0716210E-F8B6-4C61-B850-54652405DE05}" destId="{61DEFD93-FCFF-4DDA-86C5-8A382E4DFBC5}" srcOrd="3" destOrd="0" presId="urn:microsoft.com/office/officeart/2018/2/layout/IconLabelDescriptionList"/>
    <dgm:cxn modelId="{76457AEA-1F3C-4595-B9FE-E1D628DF2E42}" type="presParOf" srcId="{0716210E-F8B6-4C61-B850-54652405DE05}" destId="{BC429B17-4FF9-4CFE-A522-B522D9FDB460}" srcOrd="4" destOrd="0" presId="urn:microsoft.com/office/officeart/2018/2/layout/IconLabelDescriptionList"/>
    <dgm:cxn modelId="{91072E67-FA61-4A76-98C7-0692E6462604}" type="presParOf" srcId="{6D871FBD-051F-44D1-B00F-6FBA349FEA21}" destId="{6491C7AE-4ACD-4A46-AF45-29C36013C418}" srcOrd="5" destOrd="0" presId="urn:microsoft.com/office/officeart/2018/2/layout/IconLabelDescriptionList"/>
    <dgm:cxn modelId="{F8E19062-B512-4AF9-BA00-ED2EC0EA9FD5}" type="presParOf" srcId="{6D871FBD-051F-44D1-B00F-6FBA349FEA21}" destId="{FB2B048C-C5E8-4D16-9310-B1807DED3D42}" srcOrd="6" destOrd="0" presId="urn:microsoft.com/office/officeart/2018/2/layout/IconLabelDescriptionList"/>
    <dgm:cxn modelId="{4CDBD21E-D432-49AD-94D5-50F9390223CB}" type="presParOf" srcId="{FB2B048C-C5E8-4D16-9310-B1807DED3D42}" destId="{3B74E4F1-1538-449B-978E-E9FFF5835B2B}" srcOrd="0" destOrd="0" presId="urn:microsoft.com/office/officeart/2018/2/layout/IconLabelDescriptionList"/>
    <dgm:cxn modelId="{A75D244A-8BD2-4300-8F3D-C927C1182D2F}" type="presParOf" srcId="{FB2B048C-C5E8-4D16-9310-B1807DED3D42}" destId="{63052B2B-EF66-4454-B27A-47B91830E209}" srcOrd="1" destOrd="0" presId="urn:microsoft.com/office/officeart/2018/2/layout/IconLabelDescriptionList"/>
    <dgm:cxn modelId="{1ED5FC35-CE64-4102-A33F-3010B3025CD3}" type="presParOf" srcId="{FB2B048C-C5E8-4D16-9310-B1807DED3D42}" destId="{146C8532-5FED-4962-B4DE-1032849C3828}" srcOrd="2" destOrd="0" presId="urn:microsoft.com/office/officeart/2018/2/layout/IconLabelDescriptionList"/>
    <dgm:cxn modelId="{B35B5942-C9F6-4CDA-9744-A58C4B6428DC}" type="presParOf" srcId="{FB2B048C-C5E8-4D16-9310-B1807DED3D42}" destId="{B31F5CE5-9315-4CD9-B103-ABA8AF8165A7}" srcOrd="3" destOrd="0" presId="urn:microsoft.com/office/officeart/2018/2/layout/IconLabelDescriptionList"/>
    <dgm:cxn modelId="{BFD92C6F-DCB6-413E-BE77-CAD24C90762E}" type="presParOf" srcId="{FB2B048C-C5E8-4D16-9310-B1807DED3D42}" destId="{FDA8A98A-01BE-42F2-BDE9-E61C616C5813}"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DEB794-E1E8-45CB-B56A-E1BEF5BF397D}">
      <dsp:nvSpPr>
        <dsp:cNvPr id="0" name=""/>
        <dsp:cNvSpPr/>
      </dsp:nvSpPr>
      <dsp:spPr>
        <a:xfrm>
          <a:off x="1061437" y="472477"/>
          <a:ext cx="1141382" cy="1141382"/>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3C1CDD-357C-458D-8788-A42EEB8EFB3D}">
      <dsp:nvSpPr>
        <dsp:cNvPr id="0" name=""/>
        <dsp:cNvSpPr/>
      </dsp:nvSpPr>
      <dsp:spPr>
        <a:xfrm>
          <a:off x="1582"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Scouting &amp; Talent Evaluation</a:t>
          </a:r>
          <a:endParaRPr lang="en-US" sz="2000" kern="1200" dirty="0"/>
        </a:p>
      </dsp:txBody>
      <dsp:txXfrm>
        <a:off x="1582" y="1713204"/>
        <a:ext cx="3261093" cy="626741"/>
      </dsp:txXfrm>
    </dsp:sp>
    <dsp:sp modelId="{B0C7D408-00F6-410C-8935-8E4506F76249}">
      <dsp:nvSpPr>
        <dsp:cNvPr id="0" name=""/>
        <dsp:cNvSpPr/>
      </dsp:nvSpPr>
      <dsp:spPr>
        <a:xfrm>
          <a:off x="1582"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 modelId="{A431BDFC-AEE0-4655-9C58-0D3278EDB5F8}">
      <dsp:nvSpPr>
        <dsp:cNvPr id="0" name=""/>
        <dsp:cNvSpPr/>
      </dsp:nvSpPr>
      <dsp:spPr>
        <a:xfrm>
          <a:off x="4893223" y="472477"/>
          <a:ext cx="1141382" cy="114138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32D6505-5A04-4327-86E1-02382CB34F7E}">
      <dsp:nvSpPr>
        <dsp:cNvPr id="0" name=""/>
        <dsp:cNvSpPr/>
      </dsp:nvSpPr>
      <dsp:spPr>
        <a:xfrm>
          <a:off x="3833367"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Athlete Tracking (Physical &amp; Spatial)</a:t>
          </a:r>
          <a:endParaRPr lang="en-US" sz="2000" kern="1200" dirty="0"/>
        </a:p>
      </dsp:txBody>
      <dsp:txXfrm>
        <a:off x="3833367" y="1713204"/>
        <a:ext cx="3261093" cy="626741"/>
      </dsp:txXfrm>
    </dsp:sp>
    <dsp:sp modelId="{66D4A7D1-E564-4186-ADB0-C697680BC561}">
      <dsp:nvSpPr>
        <dsp:cNvPr id="0" name=""/>
        <dsp:cNvSpPr/>
      </dsp:nvSpPr>
      <dsp:spPr>
        <a:xfrm>
          <a:off x="3833367"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 modelId="{807C542B-62FB-4F2C-B6F2-73FA2E2B251A}">
      <dsp:nvSpPr>
        <dsp:cNvPr id="0" name=""/>
        <dsp:cNvSpPr/>
      </dsp:nvSpPr>
      <dsp:spPr>
        <a:xfrm>
          <a:off x="8725008" y="472477"/>
          <a:ext cx="1141382" cy="1141382"/>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80F3C3D-DDE2-4474-ADB3-A2AA4A868D0E}">
      <dsp:nvSpPr>
        <dsp:cNvPr id="0" name=""/>
        <dsp:cNvSpPr/>
      </dsp:nvSpPr>
      <dsp:spPr>
        <a:xfrm>
          <a:off x="7665152"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Strategy &amp; Tactical Optimization</a:t>
          </a:r>
          <a:endParaRPr lang="en-US" sz="2000" kern="1200" dirty="0"/>
        </a:p>
      </dsp:txBody>
      <dsp:txXfrm>
        <a:off x="7665152" y="1713204"/>
        <a:ext cx="3261093" cy="626741"/>
      </dsp:txXfrm>
    </dsp:sp>
    <dsp:sp modelId="{EBBC1388-3B93-4130-A7B1-76FFBB48699A}">
      <dsp:nvSpPr>
        <dsp:cNvPr id="0" name=""/>
        <dsp:cNvSpPr/>
      </dsp:nvSpPr>
      <dsp:spPr>
        <a:xfrm>
          <a:off x="7665152"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928810-BCC7-4F98-A356-F4FA46189ED3}">
      <dsp:nvSpPr>
        <dsp:cNvPr id="0" name=""/>
        <dsp:cNvSpPr/>
      </dsp:nvSpPr>
      <dsp:spPr>
        <a:xfrm>
          <a:off x="0"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E6B3E7A-9238-4392-BD23-80F64B24C815}">
      <dsp:nvSpPr>
        <dsp:cNvPr id="0" name=""/>
        <dsp:cNvSpPr/>
      </dsp:nvSpPr>
      <dsp:spPr>
        <a:xfrm>
          <a:off x="4219"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dirty="0"/>
            <a:t>1. Descriptive</a:t>
          </a:r>
          <a:endParaRPr lang="en-US" sz="2300" kern="1200" dirty="0"/>
        </a:p>
      </dsp:txBody>
      <dsp:txXfrm>
        <a:off x="4219" y="1637501"/>
        <a:ext cx="2413125" cy="361968"/>
      </dsp:txXfrm>
    </dsp:sp>
    <dsp:sp modelId="{A745A52F-9E23-45EE-8F17-4DA17BE2B6CF}">
      <dsp:nvSpPr>
        <dsp:cNvPr id="0" name=""/>
        <dsp:cNvSpPr/>
      </dsp:nvSpPr>
      <dsp:spPr>
        <a:xfrm>
          <a:off x="4219"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dirty="0"/>
            <a:t>What happened?</a:t>
          </a:r>
          <a:endParaRPr lang="en-US" sz="1700" kern="1200" dirty="0"/>
        </a:p>
      </dsp:txBody>
      <dsp:txXfrm>
        <a:off x="4219" y="2036742"/>
        <a:ext cx="2413125" cy="539639"/>
      </dsp:txXfrm>
    </dsp:sp>
    <dsp:sp modelId="{E4CCD96E-359E-4AA4-B588-048619C54F92}">
      <dsp:nvSpPr>
        <dsp:cNvPr id="0" name=""/>
        <dsp:cNvSpPr/>
      </dsp:nvSpPr>
      <dsp:spPr>
        <a:xfrm>
          <a:off x="2839641"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AE12482-5CF7-471D-81B3-93E1D402E333}">
      <dsp:nvSpPr>
        <dsp:cNvPr id="0" name=""/>
        <dsp:cNvSpPr/>
      </dsp:nvSpPr>
      <dsp:spPr>
        <a:xfrm>
          <a:off x="2839641"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2. Diagnostic</a:t>
          </a:r>
          <a:endParaRPr lang="en-US" sz="2300" kern="1200"/>
        </a:p>
      </dsp:txBody>
      <dsp:txXfrm>
        <a:off x="2839641" y="1637501"/>
        <a:ext cx="2413125" cy="361968"/>
      </dsp:txXfrm>
    </dsp:sp>
    <dsp:sp modelId="{DF164D61-735C-4C87-8347-8B99FE586313}">
      <dsp:nvSpPr>
        <dsp:cNvPr id="0" name=""/>
        <dsp:cNvSpPr/>
      </dsp:nvSpPr>
      <dsp:spPr>
        <a:xfrm>
          <a:off x="2839641"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dirty="0"/>
            <a:t>Why / how did it happen?</a:t>
          </a:r>
          <a:endParaRPr lang="en-US" sz="1700" kern="1200" dirty="0"/>
        </a:p>
      </dsp:txBody>
      <dsp:txXfrm>
        <a:off x="2839641" y="2036742"/>
        <a:ext cx="2413125" cy="539639"/>
      </dsp:txXfrm>
    </dsp:sp>
    <dsp:sp modelId="{666A0142-3994-4944-9021-255BBA065A0C}">
      <dsp:nvSpPr>
        <dsp:cNvPr id="0" name=""/>
        <dsp:cNvSpPr/>
      </dsp:nvSpPr>
      <dsp:spPr>
        <a:xfrm>
          <a:off x="5675062"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36AF011-C230-4B81-BC26-BF1B3B4EA562}">
      <dsp:nvSpPr>
        <dsp:cNvPr id="0" name=""/>
        <dsp:cNvSpPr/>
      </dsp:nvSpPr>
      <dsp:spPr>
        <a:xfrm>
          <a:off x="5675062"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3. Predictive </a:t>
          </a:r>
          <a:endParaRPr lang="en-US" sz="2300" kern="1200"/>
        </a:p>
      </dsp:txBody>
      <dsp:txXfrm>
        <a:off x="5675062" y="1637501"/>
        <a:ext cx="2413125" cy="361968"/>
      </dsp:txXfrm>
    </dsp:sp>
    <dsp:sp modelId="{BC429B17-4FF9-4CFE-A522-B522D9FDB460}">
      <dsp:nvSpPr>
        <dsp:cNvPr id="0" name=""/>
        <dsp:cNvSpPr/>
      </dsp:nvSpPr>
      <dsp:spPr>
        <a:xfrm>
          <a:off x="5675062"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What is likely to happen?</a:t>
          </a:r>
          <a:endParaRPr lang="en-US" sz="1700" kern="1200"/>
        </a:p>
      </dsp:txBody>
      <dsp:txXfrm>
        <a:off x="5675062" y="2036742"/>
        <a:ext cx="2413125" cy="539639"/>
      </dsp:txXfrm>
    </dsp:sp>
    <dsp:sp modelId="{3B74E4F1-1538-449B-978E-E9FFF5835B2B}">
      <dsp:nvSpPr>
        <dsp:cNvPr id="0" name=""/>
        <dsp:cNvSpPr/>
      </dsp:nvSpPr>
      <dsp:spPr>
        <a:xfrm>
          <a:off x="8510484"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46C8532-5FED-4962-B4DE-1032849C3828}">
      <dsp:nvSpPr>
        <dsp:cNvPr id="0" name=""/>
        <dsp:cNvSpPr/>
      </dsp:nvSpPr>
      <dsp:spPr>
        <a:xfrm>
          <a:off x="8510484"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4. Prescriptive</a:t>
          </a:r>
          <a:endParaRPr lang="en-US" sz="2300" kern="1200"/>
        </a:p>
      </dsp:txBody>
      <dsp:txXfrm>
        <a:off x="8510484" y="1637501"/>
        <a:ext cx="2413125" cy="361968"/>
      </dsp:txXfrm>
    </dsp:sp>
    <dsp:sp modelId="{FDA8A98A-01BE-42F2-BDE9-E61C616C5813}">
      <dsp:nvSpPr>
        <dsp:cNvPr id="0" name=""/>
        <dsp:cNvSpPr/>
      </dsp:nvSpPr>
      <dsp:spPr>
        <a:xfrm>
          <a:off x="8510484"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What should we do about it?</a:t>
          </a:r>
          <a:endParaRPr lang="en-US" sz="1700" kern="1200"/>
        </a:p>
      </dsp:txBody>
      <dsp:txXfrm>
        <a:off x="8510484" y="2036742"/>
        <a:ext cx="2413125" cy="539639"/>
      </dsp:txXfrm>
    </dsp:sp>
  </dsp:spTree>
</dsp:drawing>
</file>

<file path=ppt/diagrams/layout1.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6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6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8/23/26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Overview of the three domains (Tracking, Scouting, Strategy) and how data changes sports decisions.</a:t>
            </a:r>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9824E-912C-DDF9-3D68-7365C0A880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9A5BD0-99D6-37BA-74FD-C644C27CA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438432-4124-3B40-4588-C4080AD43971}"/>
              </a:ext>
            </a:extLst>
          </p:cNvPr>
          <p:cNvSpPr>
            <a:spLocks noGrp="1"/>
          </p:cNvSpPr>
          <p:nvPr>
            <p:ph type="body" idx="1"/>
          </p:nvPr>
        </p:nvSpPr>
        <p:spPr/>
        <p:txBody>
          <a:bodyPr/>
          <a:lstStyle/>
          <a:p>
            <a:r>
              <a:rPr lang="en-US" dirty="0"/>
              <a:t>EXPLAIN</a:t>
            </a:r>
          </a:p>
        </p:txBody>
      </p:sp>
      <p:sp>
        <p:nvSpPr>
          <p:cNvPr id="4" name="Slide Number Placeholder 3">
            <a:extLst>
              <a:ext uri="{FF2B5EF4-FFF2-40B4-BE49-F238E27FC236}">
                <a16:creationId xmlns:a16="http://schemas.microsoft.com/office/drawing/2014/main" id="{5C00A71E-B712-7EBC-E168-3A3405E9C4E4}"/>
              </a:ext>
            </a:extLst>
          </p:cNvPr>
          <p:cNvSpPr>
            <a:spLocks noGrp="1"/>
          </p:cNvSpPr>
          <p:nvPr>
            <p:ph type="sldNum" sz="quarter" idx="5"/>
          </p:nvPr>
        </p:nvSpPr>
        <p:spPr/>
        <p:txBody>
          <a:bodyPr/>
          <a:lstStyle/>
          <a:p>
            <a:fld id="{117D17FD-8842-8E4F-8C3E-EC8B634B2D5A}" type="slidenum">
              <a:rPr lang="en-US" smtClean="0"/>
              <a:t>19</a:t>
            </a:fld>
            <a:endParaRPr lang="en-US"/>
          </a:p>
        </p:txBody>
      </p:sp>
    </p:spTree>
    <p:extLst>
      <p:ext uri="{BB962C8B-B14F-4D97-AF65-F5344CB8AC3E}">
        <p14:creationId xmlns:p14="http://schemas.microsoft.com/office/powerpoint/2010/main" val="3599920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Sports analytics is not defined by how complicated the method is. It is defined by whether data are being used thoughtfully to understand a problem and support a decision. Sometimes that requires a predictive model. </a:t>
            </a:r>
            <a:r>
              <a:rPr lang="en-GB"/>
              <a:t>Often, it requires accurate reporting, appropriate context, and clear communication.</a:t>
            </a:r>
          </a:p>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22</a:t>
            </a:fld>
            <a:endParaRPr lang="en-US"/>
          </a:p>
        </p:txBody>
      </p:sp>
    </p:spTree>
    <p:extLst>
      <p:ext uri="{BB962C8B-B14F-4D97-AF65-F5344CB8AC3E}">
        <p14:creationId xmlns:p14="http://schemas.microsoft.com/office/powerpoint/2010/main" val="1782973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a:t>
            </a:r>
          </a:p>
        </p:txBody>
      </p:sp>
      <p:sp>
        <p:nvSpPr>
          <p:cNvPr id="4" name="Slide Number Placeholder 3"/>
          <p:cNvSpPr>
            <a:spLocks noGrp="1"/>
          </p:cNvSpPr>
          <p:nvPr>
            <p:ph type="sldNum" sz="quarter" idx="5"/>
          </p:nvPr>
        </p:nvSpPr>
        <p:spPr/>
        <p:txBody>
          <a:bodyPr/>
          <a:lstStyle/>
          <a:p>
            <a:fld id="{117D17FD-8842-8E4F-8C3E-EC8B634B2D5A}" type="slidenum">
              <a:rPr lang="en-US" smtClean="0"/>
              <a:t>28</a:t>
            </a:fld>
            <a:endParaRPr lang="en-US"/>
          </a:p>
        </p:txBody>
      </p:sp>
    </p:spTree>
    <p:extLst>
      <p:ext uri="{BB962C8B-B14F-4D97-AF65-F5344CB8AC3E}">
        <p14:creationId xmlns:p14="http://schemas.microsoft.com/office/powerpoint/2010/main" val="492396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8/23/26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8/23/26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b="1" dirty="0"/>
              <a:t>The Three Domains: Tracking, Scouting, and Strategy</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92A2B-5817-51A8-D2A2-29D0DEAEF021}"/>
              </a:ext>
            </a:extLst>
          </p:cNvPr>
          <p:cNvSpPr>
            <a:spLocks noGrp="1"/>
          </p:cNvSpPr>
          <p:nvPr>
            <p:ph type="title"/>
          </p:nvPr>
        </p:nvSpPr>
        <p:spPr/>
        <p:txBody>
          <a:bodyPr>
            <a:normAutofit/>
          </a:bodyPr>
          <a:lstStyle/>
          <a:p>
            <a:r>
              <a:rPr lang="en-GB" dirty="0"/>
              <a:t>Overview</a:t>
            </a:r>
            <a:endParaRPr lang="en-US" dirty="0"/>
          </a:p>
        </p:txBody>
      </p:sp>
      <p:sp>
        <p:nvSpPr>
          <p:cNvPr id="3" name="Content Placeholder 2">
            <a:extLst>
              <a:ext uri="{FF2B5EF4-FFF2-40B4-BE49-F238E27FC236}">
                <a16:creationId xmlns:a16="http://schemas.microsoft.com/office/drawing/2014/main" id="{01A1AA7A-7F93-5D7D-958E-1D9C62FF0B50}"/>
              </a:ext>
            </a:extLst>
          </p:cNvPr>
          <p:cNvSpPr>
            <a:spLocks noGrp="1"/>
          </p:cNvSpPr>
          <p:nvPr>
            <p:ph idx="1"/>
          </p:nvPr>
        </p:nvSpPr>
        <p:spPr/>
        <p:txBody>
          <a:bodyPr>
            <a:normAutofit/>
          </a:bodyPr>
          <a:lstStyle/>
          <a:p>
            <a:pPr lvl="0"/>
            <a:r>
              <a:rPr lang="en-GB" dirty="0"/>
              <a:t>Objective: Understand how each domain transforms raw data into competitive advantages and changes real-world sports decisions.</a:t>
            </a:r>
          </a:p>
        </p:txBody>
      </p:sp>
      <p:graphicFrame>
        <p:nvGraphicFramePr>
          <p:cNvPr id="4" name="Content Placeholder 2">
            <a:extLst>
              <a:ext uri="{FF2B5EF4-FFF2-40B4-BE49-F238E27FC236}">
                <a16:creationId xmlns:a16="http://schemas.microsoft.com/office/drawing/2014/main" id="{81DA72B8-9C87-E1AF-B98A-35BB87112E7F}"/>
              </a:ext>
            </a:extLst>
          </p:cNvPr>
          <p:cNvGraphicFramePr>
            <a:graphicFrameLocks/>
          </p:cNvGraphicFramePr>
          <p:nvPr>
            <p:extLst>
              <p:ext uri="{D42A27DB-BD31-4B8C-83A1-F6EECF244321}">
                <p14:modId xmlns:p14="http://schemas.microsoft.com/office/powerpoint/2010/main" val="1504352316"/>
              </p:ext>
            </p:extLst>
          </p:nvPr>
        </p:nvGraphicFramePr>
        <p:xfrm>
          <a:off x="838200" y="2921675"/>
          <a:ext cx="10927829" cy="32552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555552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DFB2-CE6D-8D09-7A4F-E5EAB91230AC}"/>
              </a:ext>
            </a:extLst>
          </p:cNvPr>
          <p:cNvSpPr>
            <a:spLocks noGrp="1"/>
          </p:cNvSpPr>
          <p:nvPr>
            <p:ph type="title"/>
          </p:nvPr>
        </p:nvSpPr>
        <p:spPr/>
        <p:txBody>
          <a:bodyPr>
            <a:normAutofit/>
          </a:bodyPr>
          <a:lstStyle/>
          <a:p>
            <a:r>
              <a:rPr lang="en-GB" dirty="0"/>
              <a:t>The Three Domains</a:t>
            </a:r>
            <a:endParaRPr lang="en-US" dirty="0"/>
          </a:p>
        </p:txBody>
      </p:sp>
      <p:sp>
        <p:nvSpPr>
          <p:cNvPr id="3" name="Content Placeholder 2">
            <a:extLst>
              <a:ext uri="{FF2B5EF4-FFF2-40B4-BE49-F238E27FC236}">
                <a16:creationId xmlns:a16="http://schemas.microsoft.com/office/drawing/2014/main" id="{EAD64D41-7567-2E1C-0750-CDA1D99E6696}"/>
              </a:ext>
            </a:extLst>
          </p:cNvPr>
          <p:cNvSpPr>
            <a:spLocks noGrp="1"/>
          </p:cNvSpPr>
          <p:nvPr>
            <p:ph idx="1"/>
          </p:nvPr>
        </p:nvSpPr>
        <p:spPr/>
        <p:txBody>
          <a:bodyPr/>
          <a:lstStyle/>
          <a:p>
            <a:pPr lvl="0"/>
            <a:r>
              <a:rPr lang="en-GB" b="1" dirty="0"/>
              <a:t>Scouting and Talent Evaluation</a:t>
            </a:r>
            <a:endParaRPr lang="en-GB" dirty="0"/>
          </a:p>
          <a:p>
            <a:pPr lvl="1"/>
            <a:r>
              <a:rPr lang="en-GB" dirty="0"/>
              <a:t>Evaluating athletes, projecting future performance, and informing recruitment.</a:t>
            </a:r>
          </a:p>
          <a:p>
            <a:pPr lvl="0"/>
            <a:r>
              <a:rPr lang="en-GB" b="1" dirty="0"/>
              <a:t>Athlete Tracking and Monitoring</a:t>
            </a:r>
            <a:endParaRPr lang="en-GB" dirty="0"/>
          </a:p>
          <a:p>
            <a:pPr lvl="1"/>
            <a:r>
              <a:rPr lang="en-GB" dirty="0"/>
              <a:t>Understanding training, competition demands, and athlete responses over time.</a:t>
            </a:r>
          </a:p>
          <a:p>
            <a:pPr lvl="0"/>
            <a:r>
              <a:rPr lang="en-GB" b="1" dirty="0"/>
              <a:t>Strategy and Tactical Analysis</a:t>
            </a:r>
            <a:endParaRPr lang="en-GB" dirty="0"/>
          </a:p>
          <a:p>
            <a:pPr lvl="1"/>
            <a:r>
              <a:rPr lang="en-GB" dirty="0"/>
              <a:t>Understanding how games unfold and supporting decisions about how to compete.</a:t>
            </a:r>
          </a:p>
          <a:p>
            <a:endParaRPr lang="en-US" dirty="0"/>
          </a:p>
        </p:txBody>
      </p:sp>
      <p:sp>
        <p:nvSpPr>
          <p:cNvPr id="5" name="TextBox 4">
            <a:extLst>
              <a:ext uri="{FF2B5EF4-FFF2-40B4-BE49-F238E27FC236}">
                <a16:creationId xmlns:a16="http://schemas.microsoft.com/office/drawing/2014/main" id="{054ECB83-3DBA-34CE-AFBB-623A4072F058}"/>
              </a:ext>
            </a:extLst>
          </p:cNvPr>
          <p:cNvSpPr txBox="1"/>
          <p:nvPr/>
        </p:nvSpPr>
        <p:spPr>
          <a:xfrm>
            <a:off x="2673927" y="5707007"/>
            <a:ext cx="6844145" cy="369332"/>
          </a:xfrm>
          <a:prstGeom prst="rect">
            <a:avLst/>
          </a:prstGeom>
          <a:noFill/>
        </p:spPr>
        <p:txBody>
          <a:bodyPr wrap="square">
            <a:spAutoFit/>
          </a:bodyPr>
          <a:lstStyle/>
          <a:p>
            <a:pPr marL="0" indent="0" algn="l">
              <a:buNone/>
            </a:pPr>
            <a:r>
              <a:rPr lang="en-GB" sz="1800" b="0" i="0" dirty="0">
                <a:solidFill>
                  <a:schemeClr val="tx1"/>
                </a:solidFill>
                <a:effectLst/>
                <a:latin typeface="+mn-lt"/>
              </a:rPr>
              <a:t>The domains describe </a:t>
            </a:r>
            <a:r>
              <a:rPr lang="en-GB" sz="1800" b="1" i="0" dirty="0">
                <a:solidFill>
                  <a:schemeClr val="tx1"/>
                </a:solidFill>
                <a:effectLst/>
                <a:latin typeface="+mn-lt"/>
              </a:rPr>
              <a:t>where</a:t>
            </a:r>
            <a:r>
              <a:rPr lang="en-GB" sz="1800" b="0" i="0" dirty="0">
                <a:solidFill>
                  <a:schemeClr val="tx1"/>
                </a:solidFill>
                <a:effectLst/>
                <a:latin typeface="+mn-lt"/>
              </a:rPr>
              <a:t> and </a:t>
            </a:r>
            <a:r>
              <a:rPr lang="en-GB" sz="1800" b="1" i="0" dirty="0">
                <a:solidFill>
                  <a:schemeClr val="tx1"/>
                </a:solidFill>
                <a:effectLst/>
                <a:latin typeface="+mn-lt"/>
              </a:rPr>
              <a:t>why</a:t>
            </a:r>
            <a:r>
              <a:rPr lang="en-GB" sz="1800" b="0" i="0" dirty="0">
                <a:solidFill>
                  <a:schemeClr val="tx1"/>
                </a:solidFill>
                <a:effectLst/>
                <a:latin typeface="+mn-lt"/>
              </a:rPr>
              <a:t> analytics is being used.</a:t>
            </a:r>
            <a:endParaRPr lang="en-GB" sz="2250" b="0" i="0" dirty="0">
              <a:solidFill>
                <a:srgbClr val="1A292C"/>
              </a:solidFill>
              <a:effectLst/>
              <a:latin typeface="Fira Sans" panose="020B0503050000020004" pitchFamily="34" charset="0"/>
            </a:endParaRPr>
          </a:p>
        </p:txBody>
      </p:sp>
    </p:spTree>
    <p:extLst>
      <p:ext uri="{BB962C8B-B14F-4D97-AF65-F5344CB8AC3E}">
        <p14:creationId xmlns:p14="http://schemas.microsoft.com/office/powerpoint/2010/main" val="23473562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04B99-C0BE-C514-46EC-CAE531CB329A}"/>
              </a:ext>
            </a:extLst>
          </p:cNvPr>
          <p:cNvSpPr>
            <a:spLocks noGrp="1"/>
          </p:cNvSpPr>
          <p:nvPr>
            <p:ph type="title"/>
          </p:nvPr>
        </p:nvSpPr>
        <p:spPr/>
        <p:txBody>
          <a:bodyPr>
            <a:normAutofit/>
          </a:bodyPr>
          <a:lstStyle/>
          <a:p>
            <a:r>
              <a:rPr lang="en-GB" dirty="0"/>
              <a:t>A Domain Begins With a Decision</a:t>
            </a:r>
            <a:endParaRPr lang="en-US" dirty="0"/>
          </a:p>
        </p:txBody>
      </p:sp>
      <p:sp>
        <p:nvSpPr>
          <p:cNvPr id="3" name="Content Placeholder 2">
            <a:extLst>
              <a:ext uri="{FF2B5EF4-FFF2-40B4-BE49-F238E27FC236}">
                <a16:creationId xmlns:a16="http://schemas.microsoft.com/office/drawing/2014/main" id="{35EC063E-392D-93CE-404B-5B2C5A5F6B12}"/>
              </a:ext>
            </a:extLst>
          </p:cNvPr>
          <p:cNvSpPr>
            <a:spLocks noGrp="1"/>
          </p:cNvSpPr>
          <p:nvPr>
            <p:ph idx="1"/>
          </p:nvPr>
        </p:nvSpPr>
        <p:spPr/>
        <p:txBody>
          <a:bodyPr/>
          <a:lstStyle/>
          <a:p>
            <a:r>
              <a:rPr lang="en-GB" dirty="0"/>
              <a:t>For any sport analytics problem, ask:</a:t>
            </a:r>
          </a:p>
          <a:p>
            <a:pPr lvl="1"/>
            <a:r>
              <a:rPr lang="en-GB" b="1" dirty="0"/>
              <a:t>Who</a:t>
            </a:r>
            <a:r>
              <a:rPr lang="en-GB" dirty="0"/>
              <a:t> will use the analysis?</a:t>
            </a:r>
          </a:p>
          <a:p>
            <a:pPr lvl="1"/>
            <a:r>
              <a:rPr lang="en-GB" dirty="0"/>
              <a:t>What</a:t>
            </a:r>
            <a:r>
              <a:rPr lang="en-GB" b="1" dirty="0"/>
              <a:t> decision</a:t>
            </a:r>
            <a:r>
              <a:rPr lang="en-GB" dirty="0"/>
              <a:t> are they trying to make?</a:t>
            </a:r>
          </a:p>
          <a:p>
            <a:pPr lvl="1"/>
            <a:r>
              <a:rPr lang="en-GB" dirty="0"/>
              <a:t>What</a:t>
            </a:r>
            <a:r>
              <a:rPr lang="en-GB" b="1" dirty="0"/>
              <a:t> information</a:t>
            </a:r>
            <a:r>
              <a:rPr lang="en-GB" dirty="0"/>
              <a:t> could improve that </a:t>
            </a:r>
            <a:r>
              <a:rPr lang="en-GB" b="1" dirty="0"/>
              <a:t>decision</a:t>
            </a:r>
            <a:r>
              <a:rPr lang="en-GB" dirty="0"/>
              <a:t>?</a:t>
            </a:r>
          </a:p>
          <a:p>
            <a:pPr lvl="1"/>
            <a:r>
              <a:rPr lang="en-GB" dirty="0"/>
              <a:t>What</a:t>
            </a:r>
            <a:r>
              <a:rPr lang="en-GB" b="1" dirty="0"/>
              <a:t> data</a:t>
            </a:r>
            <a:r>
              <a:rPr lang="en-GB" dirty="0"/>
              <a:t> might provide that </a:t>
            </a:r>
            <a:r>
              <a:rPr lang="en-GB" b="1" dirty="0"/>
              <a:t>information</a:t>
            </a:r>
            <a:r>
              <a:rPr lang="en-GB" dirty="0"/>
              <a:t>?</a:t>
            </a:r>
          </a:p>
          <a:p>
            <a:pPr lvl="1"/>
            <a:r>
              <a:rPr lang="en-GB" dirty="0"/>
              <a:t>What are the</a:t>
            </a:r>
            <a:r>
              <a:rPr lang="en-GB" b="1" dirty="0"/>
              <a:t> consequences</a:t>
            </a:r>
            <a:r>
              <a:rPr lang="en-GB" dirty="0"/>
              <a:t> of being wrong?</a:t>
            </a:r>
          </a:p>
          <a:p>
            <a:endParaRPr lang="en-US" dirty="0"/>
          </a:p>
        </p:txBody>
      </p:sp>
    </p:spTree>
    <p:extLst>
      <p:ext uri="{BB962C8B-B14F-4D97-AF65-F5344CB8AC3E}">
        <p14:creationId xmlns:p14="http://schemas.microsoft.com/office/powerpoint/2010/main" val="24778085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54136-6AB5-567E-BCA2-30F498FB6009}"/>
              </a:ext>
            </a:extLst>
          </p:cNvPr>
          <p:cNvSpPr>
            <a:spLocks noGrp="1"/>
          </p:cNvSpPr>
          <p:nvPr>
            <p:ph type="title"/>
          </p:nvPr>
        </p:nvSpPr>
        <p:spPr/>
        <p:txBody>
          <a:bodyPr>
            <a:normAutofit/>
          </a:bodyPr>
          <a:lstStyle/>
          <a:p>
            <a:r>
              <a:rPr lang="en-GB" dirty="0"/>
              <a:t>Domain 1: Scouting &amp; Talent Evaluation</a:t>
            </a:r>
            <a:endParaRPr lang="en-US" dirty="0"/>
          </a:p>
        </p:txBody>
      </p:sp>
      <p:sp>
        <p:nvSpPr>
          <p:cNvPr id="3" name="Content Placeholder 2">
            <a:extLst>
              <a:ext uri="{FF2B5EF4-FFF2-40B4-BE49-F238E27FC236}">
                <a16:creationId xmlns:a16="http://schemas.microsoft.com/office/drawing/2014/main" id="{363BB0BD-3051-24B4-5424-4207D8E4259C}"/>
              </a:ext>
            </a:extLst>
          </p:cNvPr>
          <p:cNvSpPr>
            <a:spLocks noGrp="1"/>
          </p:cNvSpPr>
          <p:nvPr>
            <p:ph idx="1"/>
          </p:nvPr>
        </p:nvSpPr>
        <p:spPr/>
        <p:txBody>
          <a:bodyPr>
            <a:normAutofit/>
          </a:bodyPr>
          <a:lstStyle/>
          <a:p>
            <a:pPr lvl="0"/>
            <a:r>
              <a:rPr lang="en-GB" dirty="0"/>
              <a:t>Evaluate current ability, understand development, and estimate future fit or performance.</a:t>
            </a:r>
          </a:p>
          <a:p>
            <a:pPr lvl="0"/>
            <a:endParaRPr lang="en-GB" dirty="0"/>
          </a:p>
        </p:txBody>
      </p:sp>
      <p:sp>
        <p:nvSpPr>
          <p:cNvPr id="4" name="Rounded Rectangle 3">
            <a:extLst>
              <a:ext uri="{FF2B5EF4-FFF2-40B4-BE49-F238E27FC236}">
                <a16:creationId xmlns:a16="http://schemas.microsoft.com/office/drawing/2014/main" id="{76E16221-1AC7-206D-F7E7-4283DB69983B}"/>
              </a:ext>
            </a:extLst>
          </p:cNvPr>
          <p:cNvSpPr/>
          <p:nvPr/>
        </p:nvSpPr>
        <p:spPr>
          <a:xfrm>
            <a:off x="838200"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400" dirty="0"/>
              <a:t>Performance history</a:t>
            </a:r>
          </a:p>
          <a:p>
            <a:pPr marL="342900" indent="-342900">
              <a:buFont typeface="Arial" panose="020B0604020202020204" pitchFamily="34" charset="0"/>
              <a:buChar char="•"/>
            </a:pPr>
            <a:r>
              <a:rPr lang="en-GB" sz="2400" dirty="0"/>
              <a:t>Physical and technical profile</a:t>
            </a:r>
          </a:p>
          <a:p>
            <a:pPr marL="342900" indent="-342900">
              <a:buFont typeface="Arial" panose="020B0604020202020204" pitchFamily="34" charset="0"/>
              <a:buChar char="•"/>
            </a:pPr>
            <a:r>
              <a:rPr lang="en-GB" sz="2400" dirty="0"/>
              <a:t>Competition context</a:t>
            </a:r>
          </a:p>
          <a:p>
            <a:pPr marL="342900" indent="-342900">
              <a:buFont typeface="Arial" panose="020B0604020202020204" pitchFamily="34" charset="0"/>
              <a:buChar char="•"/>
            </a:pPr>
            <a:r>
              <a:rPr lang="en-GB" sz="2400" dirty="0"/>
              <a:t>Age and development trajectory</a:t>
            </a:r>
          </a:p>
          <a:p>
            <a:pPr algn="ctr"/>
            <a:endParaRPr lang="en-US" sz="2400" dirty="0"/>
          </a:p>
        </p:txBody>
      </p:sp>
      <p:sp>
        <p:nvSpPr>
          <p:cNvPr id="5" name="Rounded Rectangle 4">
            <a:extLst>
              <a:ext uri="{FF2B5EF4-FFF2-40B4-BE49-F238E27FC236}">
                <a16:creationId xmlns:a16="http://schemas.microsoft.com/office/drawing/2014/main" id="{51598009-99A9-1900-5EDE-D2E3B9B9F140}"/>
              </a:ext>
            </a:extLst>
          </p:cNvPr>
          <p:cNvSpPr/>
          <p:nvPr/>
        </p:nvSpPr>
        <p:spPr>
          <a:xfrm>
            <a:off x="6525491"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decisions</a:t>
            </a:r>
          </a:p>
          <a:p>
            <a:pPr marL="342900" indent="-342900">
              <a:buFont typeface="Arial" panose="020B0604020202020204" pitchFamily="34" charset="0"/>
              <a:buChar char="•"/>
            </a:pPr>
            <a:r>
              <a:rPr lang="en-GB" sz="2400" dirty="0"/>
              <a:t>Recruit or draft an athlete</a:t>
            </a:r>
          </a:p>
          <a:p>
            <a:pPr marL="342900" indent="-342900">
              <a:buFont typeface="Arial" panose="020B0604020202020204" pitchFamily="34" charset="0"/>
              <a:buChar char="•"/>
            </a:pPr>
            <a:r>
              <a:rPr lang="en-GB" sz="2400" dirty="0"/>
              <a:t>Compare potential targets</a:t>
            </a:r>
          </a:p>
          <a:p>
            <a:pPr marL="342900" indent="-342900">
              <a:buFont typeface="Arial" panose="020B0604020202020204" pitchFamily="34" charset="0"/>
              <a:buChar char="•"/>
            </a:pPr>
            <a:r>
              <a:rPr lang="en-GB" sz="2400" dirty="0"/>
              <a:t>Identify development priorities</a:t>
            </a:r>
          </a:p>
          <a:p>
            <a:pPr marL="342900" indent="-342900">
              <a:buFont typeface="Arial" panose="020B0604020202020204" pitchFamily="34" charset="0"/>
              <a:buChar char="•"/>
            </a:pPr>
            <a:r>
              <a:rPr lang="en-GB" sz="2400" dirty="0"/>
              <a:t>Build or balance a roster</a:t>
            </a:r>
          </a:p>
          <a:p>
            <a:pPr algn="ctr"/>
            <a:endParaRPr lang="en-US" sz="2400" b="1" dirty="0"/>
          </a:p>
        </p:txBody>
      </p:sp>
    </p:spTree>
    <p:extLst>
      <p:ext uri="{BB962C8B-B14F-4D97-AF65-F5344CB8AC3E}">
        <p14:creationId xmlns:p14="http://schemas.microsoft.com/office/powerpoint/2010/main" val="2069912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AAF79-5196-4304-D2BA-8C5841BFF09C}"/>
              </a:ext>
            </a:extLst>
          </p:cNvPr>
          <p:cNvSpPr>
            <a:spLocks noGrp="1"/>
          </p:cNvSpPr>
          <p:nvPr>
            <p:ph type="title"/>
          </p:nvPr>
        </p:nvSpPr>
        <p:spPr/>
        <p:txBody>
          <a:bodyPr>
            <a:normAutofit/>
          </a:bodyPr>
          <a:lstStyle/>
          <a:p>
            <a:r>
              <a:rPr lang="en-GB" dirty="0"/>
              <a:t>Evaluation Depends on the Reference Point</a:t>
            </a:r>
            <a:endParaRPr lang="en-US" dirty="0"/>
          </a:p>
        </p:txBody>
      </p:sp>
      <p:sp>
        <p:nvSpPr>
          <p:cNvPr id="3" name="Content Placeholder 2">
            <a:extLst>
              <a:ext uri="{FF2B5EF4-FFF2-40B4-BE49-F238E27FC236}">
                <a16:creationId xmlns:a16="http://schemas.microsoft.com/office/drawing/2014/main" id="{A3888892-CBFC-012B-DD3C-CB4D5B9251CB}"/>
              </a:ext>
            </a:extLst>
          </p:cNvPr>
          <p:cNvSpPr>
            <a:spLocks noGrp="1"/>
          </p:cNvSpPr>
          <p:nvPr>
            <p:ph idx="1"/>
          </p:nvPr>
        </p:nvSpPr>
        <p:spPr/>
        <p:txBody>
          <a:bodyPr/>
          <a:lstStyle/>
          <a:p>
            <a:pPr marL="0" indent="0">
              <a:buNone/>
            </a:pPr>
            <a:r>
              <a:rPr lang="en-GB" dirty="0"/>
              <a:t>Consider the claim: “This athlete is an excellent shooter.”</a:t>
            </a:r>
          </a:p>
          <a:p>
            <a:r>
              <a:rPr lang="en-GB" dirty="0"/>
              <a:t>Excellent compared with what?</a:t>
            </a:r>
          </a:p>
          <a:p>
            <a:pPr lvl="1"/>
            <a:r>
              <a:rPr lang="en-GB" dirty="0"/>
              <a:t>Teammates?</a:t>
            </a:r>
          </a:p>
          <a:p>
            <a:pPr lvl="1"/>
            <a:r>
              <a:rPr lang="en-GB" dirty="0"/>
              <a:t>Athletes at the same position?</a:t>
            </a:r>
          </a:p>
          <a:p>
            <a:pPr lvl="1"/>
            <a:r>
              <a:rPr lang="en-GB" dirty="0"/>
              <a:t>The current league?</a:t>
            </a:r>
          </a:p>
          <a:p>
            <a:pPr lvl="1"/>
            <a:r>
              <a:rPr lang="en-GB" dirty="0"/>
              <a:t>Athletes of the same age?</a:t>
            </a:r>
          </a:p>
          <a:p>
            <a:pPr lvl="1"/>
            <a:r>
              <a:rPr lang="en-GB" dirty="0"/>
              <a:t>The level the athlete is being recruited into?</a:t>
            </a:r>
          </a:p>
          <a:p>
            <a:endParaRPr lang="en-US" dirty="0"/>
          </a:p>
        </p:txBody>
      </p:sp>
      <p:sp>
        <p:nvSpPr>
          <p:cNvPr id="5" name="TextBox 4">
            <a:extLst>
              <a:ext uri="{FF2B5EF4-FFF2-40B4-BE49-F238E27FC236}">
                <a16:creationId xmlns:a16="http://schemas.microsoft.com/office/drawing/2014/main" id="{F6049910-3D7F-B243-1D1A-6A64D459F79B}"/>
              </a:ext>
            </a:extLst>
          </p:cNvPr>
          <p:cNvSpPr txBox="1"/>
          <p:nvPr/>
        </p:nvSpPr>
        <p:spPr>
          <a:xfrm>
            <a:off x="2126672" y="5046730"/>
            <a:ext cx="7938655" cy="369332"/>
          </a:xfrm>
          <a:prstGeom prst="rect">
            <a:avLst/>
          </a:prstGeom>
          <a:noFill/>
        </p:spPr>
        <p:txBody>
          <a:bodyPr wrap="square">
            <a:spAutoFit/>
          </a:bodyPr>
          <a:lstStyle/>
          <a:p>
            <a:r>
              <a:rPr lang="en-GB" sz="1800" b="0" i="0" dirty="0">
                <a:solidFill>
                  <a:schemeClr val="tx1"/>
                </a:solidFill>
                <a:effectLst/>
                <a:latin typeface="+mn-lt"/>
              </a:rPr>
              <a:t>A number becomes evaluative only when it has a meaningful comparison.</a:t>
            </a:r>
            <a:endParaRPr lang="en-US" dirty="0"/>
          </a:p>
        </p:txBody>
      </p:sp>
    </p:spTree>
    <p:extLst>
      <p:ext uri="{BB962C8B-B14F-4D97-AF65-F5344CB8AC3E}">
        <p14:creationId xmlns:p14="http://schemas.microsoft.com/office/powerpoint/2010/main" val="8948604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011B7-D164-DCF2-8F93-9836E1AD22D4}"/>
              </a:ext>
            </a:extLst>
          </p:cNvPr>
          <p:cNvSpPr>
            <a:spLocks noGrp="1"/>
          </p:cNvSpPr>
          <p:nvPr>
            <p:ph type="title"/>
          </p:nvPr>
        </p:nvSpPr>
        <p:spPr/>
        <p:txBody>
          <a:bodyPr>
            <a:normAutofit fontScale="90000"/>
          </a:bodyPr>
          <a:lstStyle/>
          <a:p>
            <a:r>
              <a:rPr lang="en-GB" dirty="0"/>
              <a:t>Scouting Combines Evidence From Different Sources</a:t>
            </a:r>
            <a:endParaRPr lang="en-US" dirty="0"/>
          </a:p>
        </p:txBody>
      </p:sp>
      <p:sp>
        <p:nvSpPr>
          <p:cNvPr id="3" name="Content Placeholder 2">
            <a:extLst>
              <a:ext uri="{FF2B5EF4-FFF2-40B4-BE49-F238E27FC236}">
                <a16:creationId xmlns:a16="http://schemas.microsoft.com/office/drawing/2014/main" id="{B4A0B40D-236F-2A3B-8951-44CB5B325A31}"/>
              </a:ext>
            </a:extLst>
          </p:cNvPr>
          <p:cNvSpPr>
            <a:spLocks noGrp="1"/>
          </p:cNvSpPr>
          <p:nvPr>
            <p:ph idx="1"/>
          </p:nvPr>
        </p:nvSpPr>
        <p:spPr/>
        <p:txBody>
          <a:bodyPr/>
          <a:lstStyle/>
          <a:p>
            <a:pPr lvl="0"/>
            <a:r>
              <a:rPr lang="en-GB" dirty="0"/>
              <a:t>Statistical performance: what an athlete has produced.</a:t>
            </a:r>
          </a:p>
          <a:p>
            <a:pPr lvl="0"/>
            <a:r>
              <a:rPr lang="en-GB" dirty="0"/>
              <a:t>Video and observation: context about how that performance occurred.</a:t>
            </a:r>
          </a:p>
          <a:p>
            <a:pPr lvl="0"/>
            <a:r>
              <a:rPr lang="en-GB" dirty="0"/>
              <a:t>Physical testing: specific physical capabilities.</a:t>
            </a:r>
          </a:p>
          <a:p>
            <a:pPr lvl="0"/>
            <a:r>
              <a:rPr lang="en-GB" dirty="0"/>
              <a:t>Interviews and background: role, experience, and environment.</a:t>
            </a:r>
          </a:p>
          <a:p>
            <a:endParaRPr lang="en-US" dirty="0"/>
          </a:p>
        </p:txBody>
      </p:sp>
      <p:sp>
        <p:nvSpPr>
          <p:cNvPr id="4" name="TextBox 3">
            <a:extLst>
              <a:ext uri="{FF2B5EF4-FFF2-40B4-BE49-F238E27FC236}">
                <a16:creationId xmlns:a16="http://schemas.microsoft.com/office/drawing/2014/main" id="{B2B901C3-E3FF-43F3-077E-FDA8B95413BC}"/>
              </a:ext>
            </a:extLst>
          </p:cNvPr>
          <p:cNvSpPr txBox="1"/>
          <p:nvPr/>
        </p:nvSpPr>
        <p:spPr>
          <a:xfrm>
            <a:off x="1655970" y="5231396"/>
            <a:ext cx="8775351" cy="369332"/>
          </a:xfrm>
          <a:prstGeom prst="rect">
            <a:avLst/>
          </a:prstGeom>
          <a:noFill/>
        </p:spPr>
        <p:txBody>
          <a:bodyPr wrap="none" rtlCol="0">
            <a:spAutoFit/>
          </a:bodyPr>
          <a:lstStyle/>
          <a:p>
            <a:r>
              <a:rPr lang="en-GB" dirty="0"/>
              <a:t>The challenge is combining evidence without assuming every source is equally reliable.</a:t>
            </a:r>
            <a:endParaRPr lang="en-US" dirty="0"/>
          </a:p>
        </p:txBody>
      </p:sp>
    </p:spTree>
    <p:extLst>
      <p:ext uri="{BB962C8B-B14F-4D97-AF65-F5344CB8AC3E}">
        <p14:creationId xmlns:p14="http://schemas.microsoft.com/office/powerpoint/2010/main" val="21609278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8469D-40F7-7830-05F1-2D005D4F89DE}"/>
              </a:ext>
            </a:extLst>
          </p:cNvPr>
          <p:cNvSpPr>
            <a:spLocks noGrp="1"/>
          </p:cNvSpPr>
          <p:nvPr>
            <p:ph type="title"/>
          </p:nvPr>
        </p:nvSpPr>
        <p:spPr/>
        <p:txBody>
          <a:bodyPr>
            <a:normAutofit/>
          </a:bodyPr>
          <a:lstStyle/>
          <a:p>
            <a:r>
              <a:rPr lang="en-GB" dirty="0"/>
              <a:t>Domain 2: Athlete Tracking and Monitoring</a:t>
            </a:r>
            <a:endParaRPr lang="en-US" dirty="0"/>
          </a:p>
        </p:txBody>
      </p:sp>
      <p:sp>
        <p:nvSpPr>
          <p:cNvPr id="3" name="Content Placeholder 2">
            <a:extLst>
              <a:ext uri="{FF2B5EF4-FFF2-40B4-BE49-F238E27FC236}">
                <a16:creationId xmlns:a16="http://schemas.microsoft.com/office/drawing/2014/main" id="{6A687C13-1F8F-6A9D-FF31-C0F3288FE451}"/>
              </a:ext>
            </a:extLst>
          </p:cNvPr>
          <p:cNvSpPr>
            <a:spLocks noGrp="1"/>
          </p:cNvSpPr>
          <p:nvPr>
            <p:ph idx="1"/>
          </p:nvPr>
        </p:nvSpPr>
        <p:spPr/>
        <p:txBody>
          <a:bodyPr>
            <a:normAutofit/>
          </a:bodyPr>
          <a:lstStyle/>
          <a:p>
            <a:pPr lvl="0"/>
            <a:r>
              <a:rPr lang="en-GB" dirty="0"/>
              <a:t>Understand what athletes do and how they respond across training and competition.</a:t>
            </a:r>
          </a:p>
        </p:txBody>
      </p:sp>
      <p:sp>
        <p:nvSpPr>
          <p:cNvPr id="4" name="Rounded Rectangle 3">
            <a:extLst>
              <a:ext uri="{FF2B5EF4-FFF2-40B4-BE49-F238E27FC236}">
                <a16:creationId xmlns:a16="http://schemas.microsoft.com/office/drawing/2014/main" id="{CC26C4C5-D99B-CDA1-7F9C-769BF13A41A9}"/>
              </a:ext>
            </a:extLst>
          </p:cNvPr>
          <p:cNvSpPr/>
          <p:nvPr/>
        </p:nvSpPr>
        <p:spPr>
          <a:xfrm>
            <a:off x="838200"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400" dirty="0"/>
              <a:t>External load</a:t>
            </a:r>
          </a:p>
          <a:p>
            <a:pPr marL="342900" indent="-342900">
              <a:buFont typeface="Arial" panose="020B0604020202020204" pitchFamily="34" charset="0"/>
              <a:buChar char="•"/>
            </a:pPr>
            <a:r>
              <a:rPr lang="en-GB" sz="2400" dirty="0"/>
              <a:t>Internal load</a:t>
            </a:r>
          </a:p>
          <a:p>
            <a:pPr marL="342900" indent="-342900">
              <a:buFont typeface="Arial" panose="020B0604020202020204" pitchFamily="34" charset="0"/>
              <a:buChar char="•"/>
            </a:pPr>
            <a:r>
              <a:rPr lang="en-GB" sz="2400" dirty="0"/>
              <a:t>Wellness and readiness</a:t>
            </a:r>
          </a:p>
          <a:p>
            <a:pPr marL="342900" indent="-342900">
              <a:buFont typeface="Arial" panose="020B0604020202020204" pitchFamily="34" charset="0"/>
              <a:buChar char="•"/>
            </a:pPr>
            <a:r>
              <a:rPr lang="en-GB" sz="2400" dirty="0"/>
              <a:t>Performance-test results</a:t>
            </a:r>
            <a:endParaRPr lang="en-US" sz="2400" dirty="0"/>
          </a:p>
        </p:txBody>
      </p:sp>
      <p:sp>
        <p:nvSpPr>
          <p:cNvPr id="5" name="Rounded Rectangle 4">
            <a:extLst>
              <a:ext uri="{FF2B5EF4-FFF2-40B4-BE49-F238E27FC236}">
                <a16:creationId xmlns:a16="http://schemas.microsoft.com/office/drawing/2014/main" id="{BC6C524E-B2B4-7A6C-16BF-529B5D15D21E}"/>
              </a:ext>
            </a:extLst>
          </p:cNvPr>
          <p:cNvSpPr/>
          <p:nvPr/>
        </p:nvSpPr>
        <p:spPr>
          <a:xfrm>
            <a:off x="6525491"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a:t>
            </a:r>
          </a:p>
          <a:p>
            <a:pPr marL="342900" indent="-342900">
              <a:buFont typeface="Arial" panose="020B0604020202020204" pitchFamily="34" charset="0"/>
              <a:buChar char="•"/>
            </a:pPr>
            <a:r>
              <a:rPr lang="en-GB" sz="2400" dirty="0"/>
              <a:t>Adjust today's training</a:t>
            </a:r>
          </a:p>
          <a:p>
            <a:pPr marL="342900" indent="-342900">
              <a:buFont typeface="Arial" panose="020B0604020202020204" pitchFamily="34" charset="0"/>
              <a:buChar char="•"/>
            </a:pPr>
            <a:r>
              <a:rPr lang="en-GB" sz="2400" dirty="0"/>
              <a:t>Plan recovery</a:t>
            </a:r>
          </a:p>
          <a:p>
            <a:pPr marL="342900" indent="-342900">
              <a:buFont typeface="Arial" panose="020B0604020202020204" pitchFamily="34" charset="0"/>
              <a:buChar char="•"/>
            </a:pPr>
            <a:r>
              <a:rPr lang="en-GB" sz="2400" dirty="0"/>
              <a:t>Prepare for competition demands</a:t>
            </a:r>
          </a:p>
          <a:p>
            <a:pPr marL="342900" indent="-342900">
              <a:buFont typeface="Arial" panose="020B0604020202020204" pitchFamily="34" charset="0"/>
              <a:buChar char="•"/>
            </a:pPr>
            <a:r>
              <a:rPr lang="en-GB" sz="2400" dirty="0"/>
              <a:t>Evaluate return-to-play progression</a:t>
            </a:r>
          </a:p>
        </p:txBody>
      </p:sp>
    </p:spTree>
    <p:extLst>
      <p:ext uri="{BB962C8B-B14F-4D97-AF65-F5344CB8AC3E}">
        <p14:creationId xmlns:p14="http://schemas.microsoft.com/office/powerpoint/2010/main" val="3814524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20C65-AACC-AC0A-76CE-4647060FAA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1E9B5-E8BC-BC83-E6EF-9F91BC10D46E}"/>
              </a:ext>
            </a:extLst>
          </p:cNvPr>
          <p:cNvSpPr>
            <a:spLocks noGrp="1"/>
          </p:cNvSpPr>
          <p:nvPr>
            <p:ph type="title"/>
          </p:nvPr>
        </p:nvSpPr>
        <p:spPr/>
        <p:txBody>
          <a:bodyPr>
            <a:normAutofit/>
          </a:bodyPr>
          <a:lstStyle/>
          <a:p>
            <a:r>
              <a:rPr lang="en-GB" dirty="0"/>
              <a:t>Components of Athlete Tracking</a:t>
            </a:r>
            <a:endParaRPr lang="en-US" dirty="0"/>
          </a:p>
        </p:txBody>
      </p:sp>
      <p:sp>
        <p:nvSpPr>
          <p:cNvPr id="3" name="Content Placeholder 2">
            <a:extLst>
              <a:ext uri="{FF2B5EF4-FFF2-40B4-BE49-F238E27FC236}">
                <a16:creationId xmlns:a16="http://schemas.microsoft.com/office/drawing/2014/main" id="{E2888A1B-7759-ED77-C7D4-03E0BC0B381C}"/>
              </a:ext>
            </a:extLst>
          </p:cNvPr>
          <p:cNvSpPr>
            <a:spLocks noGrp="1"/>
          </p:cNvSpPr>
          <p:nvPr>
            <p:ph idx="1"/>
          </p:nvPr>
        </p:nvSpPr>
        <p:spPr/>
        <p:txBody>
          <a:bodyPr>
            <a:normAutofit/>
          </a:bodyPr>
          <a:lstStyle/>
          <a:p>
            <a:pPr lvl="0"/>
            <a:r>
              <a:rPr lang="en-GB" dirty="0"/>
              <a:t>What was prescribed?</a:t>
            </a:r>
          </a:p>
          <a:p>
            <a:pPr lvl="1"/>
            <a:r>
              <a:rPr lang="en-GB" dirty="0"/>
              <a:t>The planned training or competition demand</a:t>
            </a:r>
          </a:p>
          <a:p>
            <a:pPr lvl="0"/>
            <a:r>
              <a:rPr lang="en-GB" dirty="0"/>
              <a:t>What did the athlete complete?</a:t>
            </a:r>
          </a:p>
          <a:p>
            <a:pPr lvl="1"/>
            <a:r>
              <a:rPr lang="en-GB" dirty="0"/>
              <a:t>Duration, distance, accelerations, impacts, repetitions</a:t>
            </a:r>
          </a:p>
          <a:p>
            <a:pPr lvl="0"/>
            <a:r>
              <a:rPr lang="en-GB" dirty="0"/>
              <a:t>How did the athlete respond?</a:t>
            </a:r>
          </a:p>
          <a:p>
            <a:pPr lvl="1"/>
            <a:r>
              <a:rPr lang="en-GB" dirty="0"/>
              <a:t>Heart rate, RPE, soreness, wellness, performance changes</a:t>
            </a:r>
          </a:p>
        </p:txBody>
      </p:sp>
      <p:sp>
        <p:nvSpPr>
          <p:cNvPr id="4" name="TextBox 3">
            <a:extLst>
              <a:ext uri="{FF2B5EF4-FFF2-40B4-BE49-F238E27FC236}">
                <a16:creationId xmlns:a16="http://schemas.microsoft.com/office/drawing/2014/main" id="{1C475B5E-C7BA-FAD6-E9CD-CB2AB1EB4ACE}"/>
              </a:ext>
            </a:extLst>
          </p:cNvPr>
          <p:cNvSpPr txBox="1"/>
          <p:nvPr/>
        </p:nvSpPr>
        <p:spPr>
          <a:xfrm>
            <a:off x="1572491" y="5185229"/>
            <a:ext cx="9047018" cy="369332"/>
          </a:xfrm>
          <a:prstGeom prst="rect">
            <a:avLst/>
          </a:prstGeom>
          <a:noFill/>
        </p:spPr>
        <p:txBody>
          <a:bodyPr wrap="square">
            <a:spAutoFit/>
          </a:bodyPr>
          <a:lstStyle/>
          <a:p>
            <a:pPr lvl="1" algn="ctr"/>
            <a:r>
              <a:rPr lang="en-GB" dirty="0"/>
              <a:t>Workload has meaning only when interpreted in context.</a:t>
            </a:r>
            <a:endParaRPr lang="en-GB" sz="2400" b="1" dirty="0">
              <a:solidFill>
                <a:srgbClr val="FF0000"/>
              </a:solidFill>
            </a:endParaRPr>
          </a:p>
        </p:txBody>
      </p:sp>
    </p:spTree>
    <p:extLst>
      <p:ext uri="{BB962C8B-B14F-4D97-AF65-F5344CB8AC3E}">
        <p14:creationId xmlns:p14="http://schemas.microsoft.com/office/powerpoint/2010/main" val="33263461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3AD42-60BD-21B3-61E1-DFB92D3CD1C6}"/>
              </a:ext>
            </a:extLst>
          </p:cNvPr>
          <p:cNvSpPr>
            <a:spLocks noGrp="1"/>
          </p:cNvSpPr>
          <p:nvPr>
            <p:ph type="title"/>
          </p:nvPr>
        </p:nvSpPr>
        <p:spPr/>
        <p:txBody>
          <a:bodyPr>
            <a:normAutofit fontScale="90000"/>
          </a:bodyPr>
          <a:lstStyle/>
          <a:p>
            <a:r>
              <a:rPr lang="en-GB" dirty="0"/>
              <a:t>Load Monitoring Does Not Automatically Prevent Injury</a:t>
            </a:r>
            <a:endParaRPr lang="en-US" dirty="0"/>
          </a:p>
        </p:txBody>
      </p:sp>
      <p:sp>
        <p:nvSpPr>
          <p:cNvPr id="3" name="Content Placeholder 2">
            <a:extLst>
              <a:ext uri="{FF2B5EF4-FFF2-40B4-BE49-F238E27FC236}">
                <a16:creationId xmlns:a16="http://schemas.microsoft.com/office/drawing/2014/main" id="{5EEE94A3-5163-F037-E798-2DCEA765AE73}"/>
              </a:ext>
            </a:extLst>
          </p:cNvPr>
          <p:cNvSpPr>
            <a:spLocks noGrp="1"/>
          </p:cNvSpPr>
          <p:nvPr>
            <p:ph idx="1"/>
          </p:nvPr>
        </p:nvSpPr>
        <p:spPr/>
        <p:txBody>
          <a:bodyPr/>
          <a:lstStyle/>
          <a:p>
            <a:pPr lvl="0"/>
            <a:r>
              <a:rPr lang="en-GB" dirty="0"/>
              <a:t>Athlete data can identify unusual patterns and support better conversations.</a:t>
            </a:r>
          </a:p>
          <a:p>
            <a:pPr lvl="0"/>
            <a:r>
              <a:rPr lang="en-GB" dirty="0"/>
              <a:t>A flag indicates that something may deserve attention; it does not diagnose a problem.</a:t>
            </a:r>
          </a:p>
          <a:p>
            <a:pPr lvl="0"/>
            <a:r>
              <a:rPr lang="en-GB" dirty="0"/>
              <a:t>Injury and performance are affected by many interacting factors.</a:t>
            </a:r>
          </a:p>
          <a:p>
            <a:pPr lvl="0"/>
            <a:r>
              <a:rPr lang="en-GB" dirty="0"/>
              <a:t>The practitioner still has to interpret the evidence and decide what to do.</a:t>
            </a:r>
          </a:p>
          <a:p>
            <a:r>
              <a:rPr lang="en-GB" dirty="0"/>
              <a:t>Measurement supports judgment but it does not remove uncertainty.</a:t>
            </a:r>
          </a:p>
          <a:p>
            <a:pPr lvl="1"/>
            <a:r>
              <a:rPr lang="en-GB" dirty="0"/>
              <a:t>Injury prediction is </a:t>
            </a:r>
            <a:r>
              <a:rPr lang="en-GB" b="1" i="1" dirty="0"/>
              <a:t>multimodal</a:t>
            </a:r>
          </a:p>
          <a:p>
            <a:endParaRPr lang="en-US" dirty="0"/>
          </a:p>
        </p:txBody>
      </p:sp>
    </p:spTree>
    <p:extLst>
      <p:ext uri="{BB962C8B-B14F-4D97-AF65-F5344CB8AC3E}">
        <p14:creationId xmlns:p14="http://schemas.microsoft.com/office/powerpoint/2010/main" val="10203529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7492E-1A95-E2DA-32AA-CCE155FA4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9C891-583F-87DA-AC76-852BE7EE3482}"/>
              </a:ext>
            </a:extLst>
          </p:cNvPr>
          <p:cNvSpPr>
            <a:spLocks noGrp="1"/>
          </p:cNvSpPr>
          <p:nvPr>
            <p:ph type="title"/>
          </p:nvPr>
        </p:nvSpPr>
        <p:spPr/>
        <p:txBody>
          <a:bodyPr>
            <a:normAutofit/>
          </a:bodyPr>
          <a:lstStyle/>
          <a:p>
            <a:r>
              <a:rPr lang="en-GB" dirty="0"/>
              <a:t>Domain 3: Strategy &amp; Tactical Optimization</a:t>
            </a:r>
            <a:endParaRPr lang="en-US" dirty="0"/>
          </a:p>
        </p:txBody>
      </p:sp>
      <p:sp>
        <p:nvSpPr>
          <p:cNvPr id="3" name="Content Placeholder 2">
            <a:extLst>
              <a:ext uri="{FF2B5EF4-FFF2-40B4-BE49-F238E27FC236}">
                <a16:creationId xmlns:a16="http://schemas.microsoft.com/office/drawing/2014/main" id="{64A63C36-4A2B-4B2F-2821-321706FDBBFE}"/>
              </a:ext>
            </a:extLst>
          </p:cNvPr>
          <p:cNvSpPr>
            <a:spLocks noGrp="1"/>
          </p:cNvSpPr>
          <p:nvPr>
            <p:ph idx="1"/>
          </p:nvPr>
        </p:nvSpPr>
        <p:spPr/>
        <p:txBody>
          <a:bodyPr>
            <a:normAutofit/>
          </a:bodyPr>
          <a:lstStyle/>
          <a:p>
            <a:pPr lvl="0"/>
            <a:r>
              <a:rPr lang="en-GB" dirty="0"/>
              <a:t>Understand patterns of play and support decisions about how to compete.</a:t>
            </a:r>
          </a:p>
        </p:txBody>
      </p:sp>
      <p:sp>
        <p:nvSpPr>
          <p:cNvPr id="4" name="Rounded Rectangle 3">
            <a:extLst>
              <a:ext uri="{FF2B5EF4-FFF2-40B4-BE49-F238E27FC236}">
                <a16:creationId xmlns:a16="http://schemas.microsoft.com/office/drawing/2014/main" id="{D6C42FA8-19F9-6724-9126-2281495E58FA}"/>
              </a:ext>
            </a:extLst>
          </p:cNvPr>
          <p:cNvSpPr/>
          <p:nvPr/>
        </p:nvSpPr>
        <p:spPr>
          <a:xfrm>
            <a:off x="838199" y="2618509"/>
            <a:ext cx="4846320"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400" dirty="0"/>
              <a:t>Events and outcomes</a:t>
            </a:r>
          </a:p>
          <a:p>
            <a:pPr marL="342900" indent="-342900">
              <a:buFont typeface="Arial" panose="020B0604020202020204" pitchFamily="34" charset="0"/>
              <a:buChar char="•"/>
            </a:pPr>
            <a:r>
              <a:rPr lang="en-GB" sz="2400" dirty="0"/>
              <a:t>Spatial patterns</a:t>
            </a:r>
          </a:p>
          <a:p>
            <a:pPr marL="342900" indent="-342900">
              <a:buFont typeface="Arial" panose="020B0604020202020204" pitchFamily="34" charset="0"/>
              <a:buChar char="•"/>
            </a:pPr>
            <a:r>
              <a:rPr lang="en-GB" sz="2400" dirty="0"/>
              <a:t>Situational tendencies</a:t>
            </a:r>
          </a:p>
          <a:p>
            <a:pPr marL="342900" indent="-342900">
              <a:buFont typeface="Arial" panose="020B0604020202020204" pitchFamily="34" charset="0"/>
              <a:buChar char="•"/>
            </a:pPr>
            <a:r>
              <a:rPr lang="en-GB" sz="2400" dirty="0"/>
              <a:t>Probabilities and expected value</a:t>
            </a:r>
            <a:endParaRPr lang="en-US" sz="2400" dirty="0"/>
          </a:p>
        </p:txBody>
      </p:sp>
      <p:sp>
        <p:nvSpPr>
          <p:cNvPr id="5" name="Rounded Rectangle 4">
            <a:extLst>
              <a:ext uri="{FF2B5EF4-FFF2-40B4-BE49-F238E27FC236}">
                <a16:creationId xmlns:a16="http://schemas.microsoft.com/office/drawing/2014/main" id="{EE4C124B-F576-640F-99B6-413600FB67D6}"/>
              </a:ext>
            </a:extLst>
          </p:cNvPr>
          <p:cNvSpPr/>
          <p:nvPr/>
        </p:nvSpPr>
        <p:spPr>
          <a:xfrm>
            <a:off x="6525490" y="2618509"/>
            <a:ext cx="4846320"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a:t>
            </a:r>
          </a:p>
          <a:p>
            <a:pPr marL="342900" indent="-342900">
              <a:buFont typeface="Arial" panose="020B0604020202020204" pitchFamily="34" charset="0"/>
              <a:buChar char="•"/>
            </a:pPr>
            <a:r>
              <a:rPr lang="en-GB" sz="2400" dirty="0"/>
              <a:t>Select lineups or rotations</a:t>
            </a:r>
          </a:p>
          <a:p>
            <a:pPr marL="342900" indent="-342900">
              <a:buFont typeface="Arial" panose="020B0604020202020204" pitchFamily="34" charset="0"/>
              <a:buChar char="•"/>
            </a:pPr>
            <a:r>
              <a:rPr lang="en-GB" sz="2400" dirty="0"/>
              <a:t>Prepare for an opponent</a:t>
            </a:r>
          </a:p>
          <a:p>
            <a:pPr marL="342900" indent="-342900">
              <a:buFont typeface="Arial" panose="020B0604020202020204" pitchFamily="34" charset="0"/>
              <a:buChar char="•"/>
            </a:pPr>
            <a:r>
              <a:rPr lang="en-GB" sz="2400" dirty="0"/>
              <a:t>Choose offensive or defensive tactics</a:t>
            </a:r>
          </a:p>
          <a:p>
            <a:pPr marL="342900" indent="-342900">
              <a:buFont typeface="Arial" panose="020B0604020202020204" pitchFamily="34" charset="0"/>
              <a:buChar char="•"/>
            </a:pPr>
            <a:r>
              <a:rPr lang="en-GB" sz="2400" dirty="0"/>
              <a:t>Make in-game adjustments</a:t>
            </a:r>
          </a:p>
        </p:txBody>
      </p:sp>
    </p:spTree>
    <p:extLst>
      <p:ext uri="{BB962C8B-B14F-4D97-AF65-F5344CB8AC3E}">
        <p14:creationId xmlns:p14="http://schemas.microsoft.com/office/powerpoint/2010/main" val="42331461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00091-86A6-44ED-8B85-AF5B811FD243}"/>
              </a:ext>
            </a:extLst>
          </p:cNvPr>
          <p:cNvSpPr>
            <a:spLocks noGrp="1"/>
          </p:cNvSpPr>
          <p:nvPr>
            <p:ph type="title"/>
          </p:nvPr>
        </p:nvSpPr>
        <p:spPr/>
        <p:txBody>
          <a:bodyPr>
            <a:normAutofit fontScale="90000"/>
          </a:bodyPr>
          <a:lstStyle/>
          <a:p>
            <a:r>
              <a:rPr lang="en-GB" dirty="0"/>
              <a:t>Context Changes the Meaning of a Game Event	</a:t>
            </a:r>
          </a:p>
        </p:txBody>
      </p:sp>
      <p:sp>
        <p:nvSpPr>
          <p:cNvPr id="3" name="Content Placeholder 2">
            <a:extLst>
              <a:ext uri="{FF2B5EF4-FFF2-40B4-BE49-F238E27FC236}">
                <a16:creationId xmlns:a16="http://schemas.microsoft.com/office/drawing/2014/main" id="{70846D2A-36B4-B854-420B-C54066EF71E3}"/>
              </a:ext>
            </a:extLst>
          </p:cNvPr>
          <p:cNvSpPr>
            <a:spLocks noGrp="1"/>
          </p:cNvSpPr>
          <p:nvPr>
            <p:ph idx="1"/>
          </p:nvPr>
        </p:nvSpPr>
        <p:spPr/>
        <p:txBody>
          <a:bodyPr>
            <a:normAutofit/>
          </a:bodyPr>
          <a:lstStyle/>
          <a:p>
            <a:r>
              <a:rPr lang="en-GB" dirty="0"/>
              <a:t>The same shot, pass, or play can have different value depending on:</a:t>
            </a:r>
          </a:p>
          <a:p>
            <a:pPr lvl="1"/>
            <a:r>
              <a:rPr lang="en-GB" dirty="0"/>
              <a:t>Score and time remaining</a:t>
            </a:r>
          </a:p>
          <a:p>
            <a:pPr lvl="1"/>
            <a:r>
              <a:rPr lang="en-GB" dirty="0"/>
              <a:t>Opponent and matchup</a:t>
            </a:r>
          </a:p>
          <a:p>
            <a:pPr lvl="1"/>
            <a:r>
              <a:rPr lang="en-GB" dirty="0"/>
              <a:t>Player location and defensive pressure</a:t>
            </a:r>
          </a:p>
          <a:p>
            <a:pPr lvl="1"/>
            <a:r>
              <a:rPr lang="en-GB" dirty="0"/>
              <a:t>Teammates on the court or field</a:t>
            </a:r>
          </a:p>
          <a:p>
            <a:pPr lvl="1"/>
            <a:r>
              <a:rPr lang="en-GB" dirty="0"/>
              <a:t>The sequence of events leading to it</a:t>
            </a:r>
          </a:p>
        </p:txBody>
      </p:sp>
      <p:sp>
        <p:nvSpPr>
          <p:cNvPr id="4" name="TextBox 3">
            <a:extLst>
              <a:ext uri="{FF2B5EF4-FFF2-40B4-BE49-F238E27FC236}">
                <a16:creationId xmlns:a16="http://schemas.microsoft.com/office/drawing/2014/main" id="{A846A89B-06FB-BADD-6211-2E10A63ADC10}"/>
              </a:ext>
            </a:extLst>
          </p:cNvPr>
          <p:cNvSpPr txBox="1"/>
          <p:nvPr/>
        </p:nvSpPr>
        <p:spPr>
          <a:xfrm>
            <a:off x="1572491" y="5185229"/>
            <a:ext cx="9047018" cy="369332"/>
          </a:xfrm>
          <a:prstGeom prst="rect">
            <a:avLst/>
          </a:prstGeom>
          <a:noFill/>
        </p:spPr>
        <p:txBody>
          <a:bodyPr wrap="square">
            <a:spAutoFit/>
          </a:bodyPr>
          <a:lstStyle/>
          <a:p>
            <a:pPr lvl="1" algn="ctr"/>
            <a:r>
              <a:rPr lang="en-GB" dirty="0"/>
              <a:t>Strategy analysis asks not only what happened, but when, where, and against whom.</a:t>
            </a:r>
            <a:endParaRPr lang="en-GB" sz="2400" b="1" dirty="0">
              <a:solidFill>
                <a:srgbClr val="FF0000"/>
              </a:solidFill>
            </a:endParaRPr>
          </a:p>
        </p:txBody>
      </p:sp>
    </p:spTree>
    <p:extLst>
      <p:ext uri="{BB962C8B-B14F-4D97-AF65-F5344CB8AC3E}">
        <p14:creationId xmlns:p14="http://schemas.microsoft.com/office/powerpoint/2010/main" val="1860106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BF151-17A3-BE94-563E-EEC74FD042FD}"/>
              </a:ext>
            </a:extLst>
          </p:cNvPr>
          <p:cNvSpPr>
            <a:spLocks noGrp="1"/>
          </p:cNvSpPr>
          <p:nvPr>
            <p:ph type="title"/>
          </p:nvPr>
        </p:nvSpPr>
        <p:spPr/>
        <p:txBody>
          <a:bodyPr/>
          <a:lstStyle/>
          <a:p>
            <a:r>
              <a:rPr lang="en-US" dirty="0"/>
              <a:t>Developing an Analytical Question</a:t>
            </a:r>
          </a:p>
        </p:txBody>
      </p:sp>
      <p:sp>
        <p:nvSpPr>
          <p:cNvPr id="3" name="Content Placeholder 2">
            <a:extLst>
              <a:ext uri="{FF2B5EF4-FFF2-40B4-BE49-F238E27FC236}">
                <a16:creationId xmlns:a16="http://schemas.microsoft.com/office/drawing/2014/main" id="{13FE2B59-4E9C-1A2A-0D85-1247AFC5E9FD}"/>
              </a:ext>
            </a:extLst>
          </p:cNvPr>
          <p:cNvSpPr>
            <a:spLocks noGrp="1"/>
          </p:cNvSpPr>
          <p:nvPr>
            <p:ph idx="1"/>
          </p:nvPr>
        </p:nvSpPr>
        <p:spPr/>
        <p:txBody>
          <a:bodyPr/>
          <a:lstStyle/>
          <a:p>
            <a:r>
              <a:rPr lang="en-GB" dirty="0"/>
              <a:t>Within any domain, we might want to:</a:t>
            </a:r>
          </a:p>
          <a:p>
            <a:pPr lvl="1"/>
            <a:r>
              <a:rPr lang="en-GB" dirty="0"/>
              <a:t>Summarize what occurred</a:t>
            </a:r>
          </a:p>
          <a:p>
            <a:pPr lvl="1"/>
            <a:r>
              <a:rPr lang="en-GB" dirty="0"/>
              <a:t>Investigate why it occurred</a:t>
            </a:r>
          </a:p>
          <a:p>
            <a:pPr lvl="1"/>
            <a:r>
              <a:rPr lang="en-GB" dirty="0"/>
              <a:t>Estimate what may occur next</a:t>
            </a:r>
          </a:p>
          <a:p>
            <a:pPr lvl="1"/>
            <a:r>
              <a:rPr lang="en-GB" dirty="0"/>
              <a:t>Decide what action to take</a:t>
            </a:r>
          </a:p>
          <a:p>
            <a:endParaRPr lang="en-US" dirty="0"/>
          </a:p>
        </p:txBody>
      </p:sp>
    </p:spTree>
    <p:extLst>
      <p:ext uri="{BB962C8B-B14F-4D97-AF65-F5344CB8AC3E}">
        <p14:creationId xmlns:p14="http://schemas.microsoft.com/office/powerpoint/2010/main" val="2234398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6E687-775F-7437-EDC7-D51CFF5AD815}"/>
              </a:ext>
            </a:extLst>
          </p:cNvPr>
          <p:cNvSpPr>
            <a:spLocks noGrp="1"/>
          </p:cNvSpPr>
          <p:nvPr>
            <p:ph type="title"/>
          </p:nvPr>
        </p:nvSpPr>
        <p:spPr>
          <a:xfrm>
            <a:off x="838200" y="365126"/>
            <a:ext cx="10515600" cy="1366692"/>
          </a:xfrm>
        </p:spPr>
        <p:txBody>
          <a:bodyPr>
            <a:normAutofit/>
          </a:bodyPr>
          <a:lstStyle/>
          <a:p>
            <a:r>
              <a:rPr lang="en-GB" dirty="0"/>
              <a:t>Four Types of Analytical Questions</a:t>
            </a:r>
          </a:p>
        </p:txBody>
      </p:sp>
      <p:graphicFrame>
        <p:nvGraphicFramePr>
          <p:cNvPr id="4" name="Content Placeholder 2">
            <a:extLst>
              <a:ext uri="{FF2B5EF4-FFF2-40B4-BE49-F238E27FC236}">
                <a16:creationId xmlns:a16="http://schemas.microsoft.com/office/drawing/2014/main" id="{EC7561EA-9584-52D2-BAC5-64D0CEFB10AE}"/>
              </a:ext>
            </a:extLst>
          </p:cNvPr>
          <p:cNvGraphicFramePr>
            <a:graphicFrameLocks/>
          </p:cNvGraphicFramePr>
          <p:nvPr>
            <p:extLst>
              <p:ext uri="{D42A27DB-BD31-4B8C-83A1-F6EECF244321}">
                <p14:modId xmlns:p14="http://schemas.microsoft.com/office/powerpoint/2010/main" val="2765187922"/>
              </p:ext>
            </p:extLst>
          </p:nvPr>
        </p:nvGraphicFramePr>
        <p:xfrm>
          <a:off x="644056" y="2112580"/>
          <a:ext cx="10927829" cy="32891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CD501C34-509A-81FF-B053-22366C2BFE5A}"/>
              </a:ext>
            </a:extLst>
          </p:cNvPr>
          <p:cNvSpPr txBox="1"/>
          <p:nvPr/>
        </p:nvSpPr>
        <p:spPr>
          <a:xfrm>
            <a:off x="3059970" y="5197894"/>
            <a:ext cx="6096000" cy="369332"/>
          </a:xfrm>
          <a:prstGeom prst="rect">
            <a:avLst/>
          </a:prstGeom>
          <a:noFill/>
        </p:spPr>
        <p:txBody>
          <a:bodyPr wrap="square">
            <a:spAutoFit/>
          </a:bodyPr>
          <a:lstStyle/>
          <a:p>
            <a:pPr marL="0" indent="0" algn="l">
              <a:buNone/>
            </a:pPr>
            <a:r>
              <a:rPr lang="en-GB" sz="1800" b="0" i="0" dirty="0">
                <a:solidFill>
                  <a:schemeClr val="tx1"/>
                </a:solidFill>
                <a:effectLst/>
                <a:latin typeface="+mn-lt"/>
              </a:rPr>
              <a:t>These are different purposes. </a:t>
            </a:r>
            <a:r>
              <a:rPr lang="en-GB" sz="1800" b="1" i="0" dirty="0">
                <a:solidFill>
                  <a:schemeClr val="tx1"/>
                </a:solidFill>
                <a:effectLst/>
                <a:latin typeface="+mn-lt"/>
              </a:rPr>
              <a:t>Not </a:t>
            </a:r>
            <a:r>
              <a:rPr lang="en-GB" sz="1800" b="0" i="0" dirty="0">
                <a:solidFill>
                  <a:schemeClr val="tx1"/>
                </a:solidFill>
                <a:effectLst/>
                <a:latin typeface="+mn-lt"/>
              </a:rPr>
              <a:t>a ranking</a:t>
            </a:r>
            <a:endParaRPr lang="en-GB" sz="2250" b="0" i="0" dirty="0">
              <a:solidFill>
                <a:srgbClr val="1A292C"/>
              </a:solidFill>
              <a:effectLst/>
              <a:latin typeface="Fira Sans" panose="020B0503050000020004" pitchFamily="34" charset="0"/>
            </a:endParaRPr>
          </a:p>
        </p:txBody>
      </p:sp>
    </p:spTree>
    <p:extLst>
      <p:ext uri="{BB962C8B-B14F-4D97-AF65-F5344CB8AC3E}">
        <p14:creationId xmlns:p14="http://schemas.microsoft.com/office/powerpoint/2010/main" val="2812742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EC1E5-3253-BE3B-A177-555F6256FD6E}"/>
              </a:ext>
            </a:extLst>
          </p:cNvPr>
          <p:cNvSpPr>
            <a:spLocks noGrp="1"/>
          </p:cNvSpPr>
          <p:nvPr>
            <p:ph type="title"/>
          </p:nvPr>
        </p:nvSpPr>
        <p:spPr/>
        <p:txBody>
          <a:bodyPr/>
          <a:lstStyle/>
          <a:p>
            <a:r>
              <a:rPr lang="en-GB" dirty="0"/>
              <a:t>Descriptive Analytics</a:t>
            </a:r>
            <a:endParaRPr lang="en-US" dirty="0"/>
          </a:p>
        </p:txBody>
      </p:sp>
      <p:sp>
        <p:nvSpPr>
          <p:cNvPr id="3" name="Content Placeholder 2">
            <a:extLst>
              <a:ext uri="{FF2B5EF4-FFF2-40B4-BE49-F238E27FC236}">
                <a16:creationId xmlns:a16="http://schemas.microsoft.com/office/drawing/2014/main" id="{FFF80534-F617-B253-BAEF-A99C9EDB1A0C}"/>
              </a:ext>
            </a:extLst>
          </p:cNvPr>
          <p:cNvSpPr>
            <a:spLocks noGrp="1"/>
          </p:cNvSpPr>
          <p:nvPr>
            <p:ph idx="1"/>
          </p:nvPr>
        </p:nvSpPr>
        <p:spPr/>
        <p:txBody>
          <a:bodyPr/>
          <a:lstStyle/>
          <a:p>
            <a:r>
              <a:rPr lang="en-GB" dirty="0"/>
              <a:t>Descriptive analytics summarizes past or current data to show what occurred.</a:t>
            </a:r>
          </a:p>
          <a:p>
            <a:r>
              <a:rPr lang="en-GB" dirty="0"/>
              <a:t>Identifies patterns and results, but it does not explain why they occurred.</a:t>
            </a:r>
            <a:endParaRPr lang="en-US" dirty="0"/>
          </a:p>
          <a:p>
            <a:endParaRPr lang="en-GB" dirty="0"/>
          </a:p>
          <a:p>
            <a:r>
              <a:rPr lang="en-GB" dirty="0"/>
              <a:t>Examples:</a:t>
            </a:r>
          </a:p>
          <a:p>
            <a:pPr lvl="1"/>
            <a:r>
              <a:rPr lang="en-GB" dirty="0"/>
              <a:t>How much high-intensity work did an athlete complete?</a:t>
            </a:r>
          </a:p>
          <a:p>
            <a:pPr lvl="1"/>
            <a:r>
              <a:rPr lang="en-GB" dirty="0"/>
              <a:t>Which players created the most scoring opportunities?</a:t>
            </a:r>
          </a:p>
          <a:p>
            <a:pPr lvl="1"/>
            <a:r>
              <a:rPr lang="en-GB" dirty="0"/>
              <a:t>How did the team perform during the previous five games?</a:t>
            </a:r>
          </a:p>
          <a:p>
            <a:pPr lvl="1"/>
            <a:r>
              <a:rPr lang="en-GB" dirty="0"/>
              <a:t>What are a prospect’s current performance statistics?</a:t>
            </a:r>
          </a:p>
        </p:txBody>
      </p:sp>
    </p:spTree>
    <p:extLst>
      <p:ext uri="{BB962C8B-B14F-4D97-AF65-F5344CB8AC3E}">
        <p14:creationId xmlns:p14="http://schemas.microsoft.com/office/powerpoint/2010/main" val="842538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7CB77-6EDD-8F3F-C963-1FA974FEB4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D6ED2-15F2-DD91-5BA2-2809D02699B0}"/>
              </a:ext>
            </a:extLst>
          </p:cNvPr>
          <p:cNvSpPr>
            <a:spLocks noGrp="1"/>
          </p:cNvSpPr>
          <p:nvPr>
            <p:ph type="title"/>
          </p:nvPr>
        </p:nvSpPr>
        <p:spPr/>
        <p:txBody>
          <a:bodyPr/>
          <a:lstStyle/>
          <a:p>
            <a:r>
              <a:rPr lang="en-GB" dirty="0"/>
              <a:t>Diagnostic Analytics</a:t>
            </a:r>
            <a:endParaRPr lang="en-US" dirty="0"/>
          </a:p>
        </p:txBody>
      </p:sp>
      <p:sp>
        <p:nvSpPr>
          <p:cNvPr id="3" name="Content Placeholder 2">
            <a:extLst>
              <a:ext uri="{FF2B5EF4-FFF2-40B4-BE49-F238E27FC236}">
                <a16:creationId xmlns:a16="http://schemas.microsoft.com/office/drawing/2014/main" id="{E0A06E8A-DA09-6CFB-6676-2D8217C9C0D9}"/>
              </a:ext>
            </a:extLst>
          </p:cNvPr>
          <p:cNvSpPr>
            <a:spLocks noGrp="1"/>
          </p:cNvSpPr>
          <p:nvPr>
            <p:ph idx="1"/>
          </p:nvPr>
        </p:nvSpPr>
        <p:spPr/>
        <p:txBody>
          <a:bodyPr>
            <a:normAutofit/>
          </a:bodyPr>
          <a:lstStyle/>
          <a:p>
            <a:r>
              <a:rPr lang="en-GB" dirty="0"/>
              <a:t>Diagnostic analytics uses data and context to investigate the possible reasons behind an outcome.</a:t>
            </a:r>
          </a:p>
          <a:p>
            <a:r>
              <a:rPr lang="en-GB" dirty="0"/>
              <a:t>May identify </a:t>
            </a:r>
            <a:r>
              <a:rPr lang="en-GB" i="1" u="sng" dirty="0"/>
              <a:t>possible</a:t>
            </a:r>
            <a:r>
              <a:rPr lang="en-GB" i="1" dirty="0"/>
              <a:t> </a:t>
            </a:r>
            <a:r>
              <a:rPr lang="en-GB" dirty="0"/>
              <a:t>explanations, but an observed relationship does </a:t>
            </a:r>
            <a:r>
              <a:rPr lang="en-GB" b="1" dirty="0"/>
              <a:t>not</a:t>
            </a:r>
            <a:r>
              <a:rPr lang="en-GB" dirty="0"/>
              <a:t> prove causation.</a:t>
            </a:r>
          </a:p>
          <a:p>
            <a:r>
              <a:rPr lang="en-GB" dirty="0"/>
              <a:t>Examples:</a:t>
            </a:r>
          </a:p>
          <a:p>
            <a:pPr lvl="1"/>
            <a:r>
              <a:rPr lang="en-GB" dirty="0"/>
              <a:t>Did an athlete’s workload increase because practice was longer or more intense?</a:t>
            </a:r>
          </a:p>
          <a:p>
            <a:pPr lvl="1"/>
            <a:r>
              <a:rPr lang="en-GB" dirty="0"/>
              <a:t>Did the team allow more shots because of turnovers or poor defensive positioning?</a:t>
            </a:r>
          </a:p>
          <a:p>
            <a:pPr lvl="1"/>
            <a:r>
              <a:rPr lang="en-GB" dirty="0"/>
              <a:t>Did a player perform differently against stronger opponents?</a:t>
            </a:r>
          </a:p>
          <a:p>
            <a:pPr lvl="1"/>
            <a:r>
              <a:rPr lang="en-GB" dirty="0"/>
              <a:t>Did performance decline after travel or limited recovery?</a:t>
            </a:r>
          </a:p>
        </p:txBody>
      </p:sp>
    </p:spTree>
    <p:extLst>
      <p:ext uri="{BB962C8B-B14F-4D97-AF65-F5344CB8AC3E}">
        <p14:creationId xmlns:p14="http://schemas.microsoft.com/office/powerpoint/2010/main" val="4192651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ACC08-6958-F7A2-ACE4-B776B9A570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25E0C7-70E6-46DA-F9E1-7120A1519F70}"/>
              </a:ext>
            </a:extLst>
          </p:cNvPr>
          <p:cNvSpPr>
            <a:spLocks noGrp="1"/>
          </p:cNvSpPr>
          <p:nvPr>
            <p:ph type="title"/>
          </p:nvPr>
        </p:nvSpPr>
        <p:spPr/>
        <p:txBody>
          <a:bodyPr/>
          <a:lstStyle/>
          <a:p>
            <a:r>
              <a:rPr lang="en-GB" dirty="0"/>
              <a:t>Predictive Analytics</a:t>
            </a:r>
            <a:endParaRPr lang="en-US" dirty="0"/>
          </a:p>
        </p:txBody>
      </p:sp>
      <p:sp>
        <p:nvSpPr>
          <p:cNvPr id="3" name="Content Placeholder 2">
            <a:extLst>
              <a:ext uri="{FF2B5EF4-FFF2-40B4-BE49-F238E27FC236}">
                <a16:creationId xmlns:a16="http://schemas.microsoft.com/office/drawing/2014/main" id="{4A0030B7-F5DE-72F2-FE6B-F9F7C08DA6DE}"/>
              </a:ext>
            </a:extLst>
          </p:cNvPr>
          <p:cNvSpPr>
            <a:spLocks noGrp="1"/>
          </p:cNvSpPr>
          <p:nvPr>
            <p:ph idx="1"/>
          </p:nvPr>
        </p:nvSpPr>
        <p:spPr/>
        <p:txBody>
          <a:bodyPr/>
          <a:lstStyle/>
          <a:p>
            <a:r>
              <a:rPr lang="en-GB" dirty="0"/>
              <a:t>Predictive analytics uses available information to estimate a future or unknown outcome.</a:t>
            </a:r>
          </a:p>
          <a:p>
            <a:r>
              <a:rPr lang="en-GB" dirty="0"/>
              <a:t>Predictions always involve uncertainty and are only as reliable as the data and assumptions behind them.</a:t>
            </a:r>
          </a:p>
          <a:p>
            <a:r>
              <a:rPr lang="en-GB" dirty="0"/>
              <a:t>Examples:</a:t>
            </a:r>
          </a:p>
          <a:p>
            <a:pPr lvl="1"/>
            <a:r>
              <a:rPr lang="en-GB" dirty="0"/>
              <a:t>How is an athlete likely to perform in the next game?</a:t>
            </a:r>
          </a:p>
          <a:p>
            <a:pPr lvl="1"/>
            <a:r>
              <a:rPr lang="en-GB" dirty="0"/>
              <a:t>Which prospect is most likely to succeed at the next level?</a:t>
            </a:r>
          </a:p>
          <a:p>
            <a:pPr lvl="1"/>
            <a:r>
              <a:rPr lang="en-GB" dirty="0"/>
              <a:t>What is the probability that a possession produces a score?</a:t>
            </a:r>
          </a:p>
          <a:p>
            <a:pPr lvl="1"/>
            <a:r>
              <a:rPr lang="en-GB" dirty="0"/>
              <a:t>Is an athlete likely to be adequately recovered for tomorrow’s practice?</a:t>
            </a:r>
          </a:p>
        </p:txBody>
      </p:sp>
    </p:spTree>
    <p:extLst>
      <p:ext uri="{BB962C8B-B14F-4D97-AF65-F5344CB8AC3E}">
        <p14:creationId xmlns:p14="http://schemas.microsoft.com/office/powerpoint/2010/main" val="32756390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F98FE-CCCB-1001-6CB6-CA9D38D9B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2EED7-BE09-3B77-081C-C5843302AEA0}"/>
              </a:ext>
            </a:extLst>
          </p:cNvPr>
          <p:cNvSpPr>
            <a:spLocks noGrp="1"/>
          </p:cNvSpPr>
          <p:nvPr>
            <p:ph type="title"/>
          </p:nvPr>
        </p:nvSpPr>
        <p:spPr/>
        <p:txBody>
          <a:bodyPr/>
          <a:lstStyle/>
          <a:p>
            <a:r>
              <a:rPr lang="en-GB" dirty="0"/>
              <a:t>Prescriptive Analytics</a:t>
            </a:r>
            <a:endParaRPr lang="en-US" dirty="0"/>
          </a:p>
        </p:txBody>
      </p:sp>
      <p:sp>
        <p:nvSpPr>
          <p:cNvPr id="3" name="Content Placeholder 2">
            <a:extLst>
              <a:ext uri="{FF2B5EF4-FFF2-40B4-BE49-F238E27FC236}">
                <a16:creationId xmlns:a16="http://schemas.microsoft.com/office/drawing/2014/main" id="{82C24FAB-9362-0D28-BF87-CA3A0A1FD587}"/>
              </a:ext>
            </a:extLst>
          </p:cNvPr>
          <p:cNvSpPr>
            <a:spLocks noGrp="1"/>
          </p:cNvSpPr>
          <p:nvPr>
            <p:ph idx="1"/>
          </p:nvPr>
        </p:nvSpPr>
        <p:spPr/>
        <p:txBody>
          <a:bodyPr>
            <a:normAutofit/>
          </a:bodyPr>
          <a:lstStyle/>
          <a:p>
            <a:r>
              <a:rPr lang="en-GB" dirty="0"/>
              <a:t>Prescriptive analytics uses evidence to recommend an action or decision.</a:t>
            </a:r>
          </a:p>
          <a:p>
            <a:r>
              <a:rPr lang="en-GB" dirty="0"/>
              <a:t>May guide decisions, but the final choice also depends on context, priorities, experience, and human judgment.</a:t>
            </a:r>
          </a:p>
          <a:p>
            <a:r>
              <a:rPr lang="en-GB" dirty="0"/>
              <a:t>Examples:</a:t>
            </a:r>
          </a:p>
          <a:p>
            <a:pPr lvl="1"/>
            <a:r>
              <a:rPr lang="en-GB" dirty="0"/>
              <a:t>Should an athlete’s training load be modified?</a:t>
            </a:r>
          </a:p>
          <a:p>
            <a:pPr lvl="1"/>
            <a:r>
              <a:rPr lang="en-GB" dirty="0"/>
              <a:t>Which prospect should the team select?</a:t>
            </a:r>
          </a:p>
          <a:p>
            <a:pPr lvl="1"/>
            <a:r>
              <a:rPr lang="en-GB" dirty="0"/>
              <a:t>Which lineup should the coach use?</a:t>
            </a:r>
          </a:p>
          <a:p>
            <a:pPr lvl="1"/>
            <a:r>
              <a:rPr lang="en-GB" dirty="0"/>
              <a:t>Should the team change its defensive strategy?</a:t>
            </a:r>
          </a:p>
          <a:p>
            <a:pPr lvl="1"/>
            <a:r>
              <a:rPr lang="en-GB" dirty="0"/>
              <a:t>How should limited resources be allocated?</a:t>
            </a:r>
          </a:p>
        </p:txBody>
      </p:sp>
    </p:spTree>
    <p:extLst>
      <p:ext uri="{BB962C8B-B14F-4D97-AF65-F5344CB8AC3E}">
        <p14:creationId xmlns:p14="http://schemas.microsoft.com/office/powerpoint/2010/main" val="7211619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22E2CF-A80A-AF59-D558-526F3B121E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2580D1-4049-1628-7F57-F500A7F6380D}"/>
              </a:ext>
            </a:extLst>
          </p:cNvPr>
          <p:cNvSpPr>
            <a:spLocks noGrp="1"/>
          </p:cNvSpPr>
          <p:nvPr>
            <p:ph type="title"/>
          </p:nvPr>
        </p:nvSpPr>
        <p:spPr/>
        <p:txBody>
          <a:bodyPr>
            <a:noAutofit/>
          </a:bodyPr>
          <a:lstStyle/>
          <a:p>
            <a:r>
              <a:rPr lang="en-US" sz="4000" dirty="0"/>
              <a:t>“What is going on??”</a:t>
            </a:r>
          </a:p>
        </p:txBody>
      </p:sp>
      <p:sp>
        <p:nvSpPr>
          <p:cNvPr id="3" name="Content Placeholder 2">
            <a:extLst>
              <a:ext uri="{FF2B5EF4-FFF2-40B4-BE49-F238E27FC236}">
                <a16:creationId xmlns:a16="http://schemas.microsoft.com/office/drawing/2014/main" id="{87AACD65-58A7-C8D7-2F7D-E8AD7B05383E}"/>
              </a:ext>
            </a:extLst>
          </p:cNvPr>
          <p:cNvSpPr>
            <a:spLocks noGrp="1"/>
          </p:cNvSpPr>
          <p:nvPr>
            <p:ph idx="1"/>
          </p:nvPr>
        </p:nvSpPr>
        <p:spPr/>
        <p:txBody>
          <a:bodyPr/>
          <a:lstStyle/>
          <a:p>
            <a:r>
              <a:rPr lang="en-US" dirty="0"/>
              <a:t>Things we need to figure out:</a:t>
            </a:r>
          </a:p>
          <a:p>
            <a:pPr marL="914400" lvl="1" indent="-457200">
              <a:buFont typeface="+mj-lt"/>
              <a:buAutoNum type="arabicPeriod"/>
            </a:pPr>
            <a:r>
              <a:rPr lang="en-GB" dirty="0"/>
              <a:t>What should the team change before the next game?</a:t>
            </a:r>
          </a:p>
          <a:p>
            <a:pPr marL="914400" lvl="1" indent="-457200">
              <a:buFont typeface="+mj-lt"/>
              <a:buAutoNum type="arabicPeriod"/>
            </a:pPr>
            <a:r>
              <a:rPr lang="en-GB" dirty="0"/>
              <a:t>What factors may be contributing to the losses?</a:t>
            </a:r>
          </a:p>
          <a:p>
            <a:pPr marL="914400" lvl="1" indent="-457200">
              <a:buFont typeface="+mj-lt"/>
              <a:buAutoNum type="arabicPeriod"/>
            </a:pPr>
            <a:r>
              <a:rPr lang="en-GB" dirty="0"/>
              <a:t>What has changed during the last five games?</a:t>
            </a:r>
          </a:p>
          <a:p>
            <a:pPr marL="914400" lvl="1" indent="-457200">
              <a:buFont typeface="+mj-lt"/>
              <a:buAutoNum type="arabicPeriod"/>
            </a:pPr>
            <a:r>
              <a:rPr lang="en-GB" dirty="0"/>
              <a:t>What is likely to happen if the current pattern continues?</a:t>
            </a:r>
          </a:p>
          <a:p>
            <a:pPr marL="914400" lvl="1" indent="-457200">
              <a:buFont typeface="+mj-lt"/>
              <a:buAutoNum type="arabicPeriod"/>
            </a:pPr>
            <a:endParaRPr lang="en-GB" dirty="0"/>
          </a:p>
          <a:p>
            <a:r>
              <a:rPr lang="en-GB" dirty="0"/>
              <a:t>Which domain of sports analytics are we in?</a:t>
            </a:r>
          </a:p>
          <a:p>
            <a:r>
              <a:rPr lang="en-GB" dirty="0"/>
              <a:t>Put these questions in the order you think they should be addressed.</a:t>
            </a:r>
            <a:endParaRPr lang="en-US" dirty="0"/>
          </a:p>
        </p:txBody>
      </p:sp>
    </p:spTree>
    <p:extLst>
      <p:ext uri="{BB962C8B-B14F-4D97-AF65-F5344CB8AC3E}">
        <p14:creationId xmlns:p14="http://schemas.microsoft.com/office/powerpoint/2010/main" val="34293523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75FA4-E434-23A9-7B99-775F67F02828}"/>
              </a:ext>
            </a:extLst>
          </p:cNvPr>
          <p:cNvSpPr>
            <a:spLocks noGrp="1"/>
          </p:cNvSpPr>
          <p:nvPr>
            <p:ph type="title"/>
          </p:nvPr>
        </p:nvSpPr>
        <p:spPr/>
        <p:txBody>
          <a:bodyPr/>
          <a:lstStyle/>
          <a:p>
            <a:r>
              <a:rPr lang="en-GB" dirty="0"/>
              <a:t>Analytics Chain Group Activity</a:t>
            </a:r>
            <a:endParaRPr lang="en-US" dirty="0"/>
          </a:p>
        </p:txBody>
      </p:sp>
      <p:sp>
        <p:nvSpPr>
          <p:cNvPr id="3" name="Content Placeholder 2">
            <a:extLst>
              <a:ext uri="{FF2B5EF4-FFF2-40B4-BE49-F238E27FC236}">
                <a16:creationId xmlns:a16="http://schemas.microsoft.com/office/drawing/2014/main" id="{AA6FD731-E03D-15A3-6104-3691E3E5E0BE}"/>
              </a:ext>
            </a:extLst>
          </p:cNvPr>
          <p:cNvSpPr>
            <a:spLocks noGrp="1"/>
          </p:cNvSpPr>
          <p:nvPr>
            <p:ph idx="1"/>
          </p:nvPr>
        </p:nvSpPr>
        <p:spPr/>
        <p:txBody>
          <a:bodyPr/>
          <a:lstStyle/>
          <a:p>
            <a:r>
              <a:rPr lang="en-GB" dirty="0"/>
              <a:t>Working with your group, read the assigned scenario and create a four-step analytics chain:</a:t>
            </a:r>
          </a:p>
          <a:p>
            <a:pPr lvl="1"/>
            <a:r>
              <a:rPr lang="en-GB" dirty="0"/>
              <a:t>Descriptive: State what happened.</a:t>
            </a:r>
          </a:p>
          <a:p>
            <a:pPr lvl="1"/>
            <a:r>
              <a:rPr lang="en-GB" dirty="0"/>
              <a:t>Diagnostic: Identify the most likely reason it happened.</a:t>
            </a:r>
          </a:p>
          <a:p>
            <a:pPr lvl="1"/>
            <a:r>
              <a:rPr lang="en-GB" dirty="0"/>
              <a:t>Predictive: Explain what could happen next if nothing changes.</a:t>
            </a:r>
          </a:p>
          <a:p>
            <a:pPr lvl="1"/>
            <a:r>
              <a:rPr lang="en-GB" dirty="0"/>
              <a:t>Prescriptive: Recommend what the team should do.</a:t>
            </a:r>
          </a:p>
          <a:p>
            <a:r>
              <a:rPr lang="en-GB" dirty="0"/>
              <a:t>Write one clear sentence for each step.</a:t>
            </a:r>
          </a:p>
          <a:p>
            <a:endParaRPr lang="en-US" dirty="0"/>
          </a:p>
        </p:txBody>
      </p:sp>
    </p:spTree>
    <p:extLst>
      <p:ext uri="{BB962C8B-B14F-4D97-AF65-F5344CB8AC3E}">
        <p14:creationId xmlns:p14="http://schemas.microsoft.com/office/powerpoint/2010/main" val="37853041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06E13-5384-F6B8-7FF6-738F2767EA41}"/>
              </a:ext>
            </a:extLst>
          </p:cNvPr>
          <p:cNvSpPr>
            <a:spLocks noGrp="1"/>
          </p:cNvSpPr>
          <p:nvPr>
            <p:ph type="title"/>
          </p:nvPr>
        </p:nvSpPr>
        <p:spPr/>
        <p:txBody>
          <a:bodyPr/>
          <a:lstStyle/>
          <a:p>
            <a:r>
              <a:rPr lang="en-GB" dirty="0"/>
              <a:t>Analytics Chain in Each Domain</a:t>
            </a:r>
            <a:endParaRPr lang="en-US" dirty="0"/>
          </a:p>
        </p:txBody>
      </p:sp>
      <p:graphicFrame>
        <p:nvGraphicFramePr>
          <p:cNvPr id="4" name="Content Placeholder 3">
            <a:extLst>
              <a:ext uri="{FF2B5EF4-FFF2-40B4-BE49-F238E27FC236}">
                <a16:creationId xmlns:a16="http://schemas.microsoft.com/office/drawing/2014/main" id="{D75AD1FB-31AD-54B2-4A9C-187608065DF9}"/>
              </a:ext>
            </a:extLst>
          </p:cNvPr>
          <p:cNvGraphicFramePr>
            <a:graphicFrameLocks noGrp="1"/>
          </p:cNvGraphicFramePr>
          <p:nvPr>
            <p:ph idx="1"/>
            <p:extLst>
              <p:ext uri="{D42A27DB-BD31-4B8C-83A1-F6EECF244321}">
                <p14:modId xmlns:p14="http://schemas.microsoft.com/office/powerpoint/2010/main" val="23440987"/>
              </p:ext>
            </p:extLst>
          </p:nvPr>
        </p:nvGraphicFramePr>
        <p:xfrm>
          <a:off x="838200" y="2254726"/>
          <a:ext cx="10515600" cy="3108960"/>
        </p:xfrm>
        <a:graphic>
          <a:graphicData uri="http://schemas.openxmlformats.org/drawingml/2006/table">
            <a:tbl>
              <a:tblPr firstRow="1">
                <a:tableStyleId>{9D7B26C5-4107-4FEC-AEDC-1716B250A1EF}</a:tableStyleId>
              </a:tblPr>
              <a:tblGrid>
                <a:gridCol w="2103120">
                  <a:extLst>
                    <a:ext uri="{9D8B030D-6E8A-4147-A177-3AD203B41FA5}">
                      <a16:colId xmlns:a16="http://schemas.microsoft.com/office/drawing/2014/main" val="2551643942"/>
                    </a:ext>
                  </a:extLst>
                </a:gridCol>
                <a:gridCol w="2103120">
                  <a:extLst>
                    <a:ext uri="{9D8B030D-6E8A-4147-A177-3AD203B41FA5}">
                      <a16:colId xmlns:a16="http://schemas.microsoft.com/office/drawing/2014/main" val="3147451326"/>
                    </a:ext>
                  </a:extLst>
                </a:gridCol>
                <a:gridCol w="2103120">
                  <a:extLst>
                    <a:ext uri="{9D8B030D-6E8A-4147-A177-3AD203B41FA5}">
                      <a16:colId xmlns:a16="http://schemas.microsoft.com/office/drawing/2014/main" val="681552066"/>
                    </a:ext>
                  </a:extLst>
                </a:gridCol>
                <a:gridCol w="2103120">
                  <a:extLst>
                    <a:ext uri="{9D8B030D-6E8A-4147-A177-3AD203B41FA5}">
                      <a16:colId xmlns:a16="http://schemas.microsoft.com/office/drawing/2014/main" val="89738688"/>
                    </a:ext>
                  </a:extLst>
                </a:gridCol>
                <a:gridCol w="2103120">
                  <a:extLst>
                    <a:ext uri="{9D8B030D-6E8A-4147-A177-3AD203B41FA5}">
                      <a16:colId xmlns:a16="http://schemas.microsoft.com/office/drawing/2014/main" val="2244665788"/>
                    </a:ext>
                  </a:extLst>
                </a:gridCol>
              </a:tblGrid>
              <a:tr h="0">
                <a:tc>
                  <a:txBody>
                    <a:bodyPr/>
                    <a:lstStyle/>
                    <a:p>
                      <a:pPr>
                        <a:buNone/>
                      </a:pPr>
                      <a:r>
                        <a:rPr lang="en-GB"/>
                        <a:t>Domain</a:t>
                      </a:r>
                    </a:p>
                  </a:txBody>
                  <a:tcPr anchor="ctr"/>
                </a:tc>
                <a:tc>
                  <a:txBody>
                    <a:bodyPr/>
                    <a:lstStyle/>
                    <a:p>
                      <a:pPr>
                        <a:buNone/>
                      </a:pPr>
                      <a:r>
                        <a:rPr lang="en-GB"/>
                        <a:t>Descriptive</a:t>
                      </a:r>
                    </a:p>
                  </a:txBody>
                  <a:tcPr anchor="ctr"/>
                </a:tc>
                <a:tc>
                  <a:txBody>
                    <a:bodyPr/>
                    <a:lstStyle/>
                    <a:p>
                      <a:pPr>
                        <a:buNone/>
                      </a:pPr>
                      <a:r>
                        <a:rPr lang="en-GB"/>
                        <a:t>Diagnostic</a:t>
                      </a:r>
                    </a:p>
                  </a:txBody>
                  <a:tcPr anchor="ctr"/>
                </a:tc>
                <a:tc>
                  <a:txBody>
                    <a:bodyPr/>
                    <a:lstStyle/>
                    <a:p>
                      <a:pPr>
                        <a:buNone/>
                      </a:pPr>
                      <a:r>
                        <a:rPr lang="en-GB"/>
                        <a:t>Predictive</a:t>
                      </a:r>
                    </a:p>
                  </a:txBody>
                  <a:tcPr anchor="ctr"/>
                </a:tc>
                <a:tc>
                  <a:txBody>
                    <a:bodyPr/>
                    <a:lstStyle/>
                    <a:p>
                      <a:pPr>
                        <a:buNone/>
                      </a:pPr>
                      <a:r>
                        <a:rPr lang="en-GB"/>
                        <a:t>Prescriptive</a:t>
                      </a:r>
                    </a:p>
                  </a:txBody>
                  <a:tcPr anchor="ctr"/>
                </a:tc>
                <a:extLst>
                  <a:ext uri="{0D108BD9-81ED-4DB2-BD59-A6C34878D82A}">
                    <a16:rowId xmlns:a16="http://schemas.microsoft.com/office/drawing/2014/main" val="256435077"/>
                  </a:ext>
                </a:extLst>
              </a:tr>
              <a:tr h="0">
                <a:tc>
                  <a:txBody>
                    <a:bodyPr/>
                    <a:lstStyle/>
                    <a:p>
                      <a:pPr>
                        <a:buNone/>
                      </a:pPr>
                      <a:r>
                        <a:rPr lang="en-GB" dirty="0"/>
                        <a:t>Scouting</a:t>
                      </a:r>
                    </a:p>
                  </a:txBody>
                  <a:tcPr anchor="ctr"/>
                </a:tc>
                <a:tc>
                  <a:txBody>
                    <a:bodyPr/>
                    <a:lstStyle/>
                    <a:p>
                      <a:pPr>
                        <a:buNone/>
                      </a:pPr>
                      <a:r>
                        <a:rPr lang="en-GB"/>
                        <a:t>What has the player done?</a:t>
                      </a:r>
                    </a:p>
                  </a:txBody>
                  <a:tcPr anchor="ctr"/>
                </a:tc>
                <a:tc>
                  <a:txBody>
                    <a:bodyPr/>
                    <a:lstStyle/>
                    <a:p>
                      <a:pPr>
                        <a:buNone/>
                      </a:pPr>
                      <a:r>
                        <a:rPr lang="en-GB"/>
                        <a:t>Why has performance varied?</a:t>
                      </a:r>
                    </a:p>
                  </a:txBody>
                  <a:tcPr anchor="ctr"/>
                </a:tc>
                <a:tc>
                  <a:txBody>
                    <a:bodyPr/>
                    <a:lstStyle/>
                    <a:p>
                      <a:pPr>
                        <a:buNone/>
                      </a:pPr>
                      <a:r>
                        <a:rPr lang="en-GB"/>
                        <a:t>How might the player perform at the next level?</a:t>
                      </a:r>
                    </a:p>
                  </a:txBody>
                  <a:tcPr anchor="ctr"/>
                </a:tc>
                <a:tc>
                  <a:txBody>
                    <a:bodyPr/>
                    <a:lstStyle/>
                    <a:p>
                      <a:pPr>
                        <a:buNone/>
                      </a:pPr>
                      <a:r>
                        <a:rPr lang="en-GB"/>
                        <a:t>Should we recruit or draft the player?</a:t>
                      </a:r>
                    </a:p>
                  </a:txBody>
                  <a:tcPr anchor="ctr"/>
                </a:tc>
                <a:extLst>
                  <a:ext uri="{0D108BD9-81ED-4DB2-BD59-A6C34878D82A}">
                    <a16:rowId xmlns:a16="http://schemas.microsoft.com/office/drawing/2014/main" val="1982786549"/>
                  </a:ext>
                </a:extLst>
              </a:tr>
              <a:tr h="0">
                <a:tc>
                  <a:txBody>
                    <a:bodyPr/>
                    <a:lstStyle/>
                    <a:p>
                      <a:pPr>
                        <a:buNone/>
                      </a:pPr>
                      <a:r>
                        <a:rPr lang="en-GB"/>
                        <a:t>Athlete monitoring</a:t>
                      </a:r>
                    </a:p>
                  </a:txBody>
                  <a:tcPr anchor="ctr"/>
                </a:tc>
                <a:tc>
                  <a:txBody>
                    <a:bodyPr/>
                    <a:lstStyle/>
                    <a:p>
                      <a:pPr>
                        <a:buNone/>
                      </a:pPr>
                      <a:r>
                        <a:rPr lang="en-GB"/>
                        <a:t>What work did the athlete complete?</a:t>
                      </a:r>
                    </a:p>
                  </a:txBody>
                  <a:tcPr anchor="ctr"/>
                </a:tc>
                <a:tc>
                  <a:txBody>
                    <a:bodyPr/>
                    <a:lstStyle/>
                    <a:p>
                      <a:pPr>
                        <a:buNone/>
                      </a:pPr>
                      <a:r>
                        <a:rPr lang="en-GB"/>
                        <a:t>Why did workload or readiness change?</a:t>
                      </a:r>
                    </a:p>
                  </a:txBody>
                  <a:tcPr anchor="ctr"/>
                </a:tc>
                <a:tc>
                  <a:txBody>
                    <a:bodyPr/>
                    <a:lstStyle/>
                    <a:p>
                      <a:pPr>
                        <a:buNone/>
                      </a:pPr>
                      <a:r>
                        <a:rPr lang="en-GB"/>
                        <a:t>How might the athlete respond tomorrow?</a:t>
                      </a:r>
                    </a:p>
                  </a:txBody>
                  <a:tcPr anchor="ctr"/>
                </a:tc>
                <a:tc>
                  <a:txBody>
                    <a:bodyPr/>
                    <a:lstStyle/>
                    <a:p>
                      <a:pPr>
                        <a:buNone/>
                      </a:pPr>
                      <a:r>
                        <a:rPr lang="en-GB"/>
                        <a:t>Should training be modified?</a:t>
                      </a:r>
                    </a:p>
                  </a:txBody>
                  <a:tcPr anchor="ctr"/>
                </a:tc>
                <a:extLst>
                  <a:ext uri="{0D108BD9-81ED-4DB2-BD59-A6C34878D82A}">
                    <a16:rowId xmlns:a16="http://schemas.microsoft.com/office/drawing/2014/main" val="357560826"/>
                  </a:ext>
                </a:extLst>
              </a:tr>
              <a:tr h="0">
                <a:tc>
                  <a:txBody>
                    <a:bodyPr/>
                    <a:lstStyle/>
                    <a:p>
                      <a:pPr>
                        <a:buNone/>
                      </a:pPr>
                      <a:r>
                        <a:rPr lang="en-GB"/>
                        <a:t>Game strategy</a:t>
                      </a:r>
                    </a:p>
                  </a:txBody>
                  <a:tcPr anchor="ctr"/>
                </a:tc>
                <a:tc>
                  <a:txBody>
                    <a:bodyPr/>
                    <a:lstStyle/>
                    <a:p>
                      <a:pPr>
                        <a:buNone/>
                      </a:pPr>
                      <a:r>
                        <a:rPr lang="en-GB"/>
                        <a:t>What happened during the game?</a:t>
                      </a:r>
                    </a:p>
                  </a:txBody>
                  <a:tcPr anchor="ctr"/>
                </a:tc>
                <a:tc>
                  <a:txBody>
                    <a:bodyPr/>
                    <a:lstStyle/>
                    <a:p>
                      <a:pPr>
                        <a:buNone/>
                      </a:pPr>
                      <a:r>
                        <a:rPr lang="en-GB"/>
                        <a:t>Why did the strategy succeed or fail?</a:t>
                      </a:r>
                    </a:p>
                  </a:txBody>
                  <a:tcPr anchor="ctr"/>
                </a:tc>
                <a:tc>
                  <a:txBody>
                    <a:bodyPr/>
                    <a:lstStyle/>
                    <a:p>
                      <a:pPr>
                        <a:buNone/>
                      </a:pPr>
                      <a:r>
                        <a:rPr lang="en-GB"/>
                        <a:t>What is likely against the next opponent?</a:t>
                      </a:r>
                    </a:p>
                  </a:txBody>
                  <a:tcPr anchor="ctr"/>
                </a:tc>
                <a:tc>
                  <a:txBody>
                    <a:bodyPr/>
                    <a:lstStyle/>
                    <a:p>
                      <a:pPr>
                        <a:buNone/>
                      </a:pPr>
                      <a:r>
                        <a:rPr lang="en-GB" dirty="0"/>
                        <a:t>What strategy should the team use?</a:t>
                      </a:r>
                    </a:p>
                  </a:txBody>
                  <a:tcPr anchor="ctr"/>
                </a:tc>
                <a:extLst>
                  <a:ext uri="{0D108BD9-81ED-4DB2-BD59-A6C34878D82A}">
                    <a16:rowId xmlns:a16="http://schemas.microsoft.com/office/drawing/2014/main" val="2657443498"/>
                  </a:ext>
                </a:extLst>
              </a:tr>
            </a:tbl>
          </a:graphicData>
        </a:graphic>
      </p:graphicFrame>
    </p:spTree>
    <p:extLst>
      <p:ext uri="{BB962C8B-B14F-4D97-AF65-F5344CB8AC3E}">
        <p14:creationId xmlns:p14="http://schemas.microsoft.com/office/powerpoint/2010/main" val="8526353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BC448-0E80-7EFF-4754-8229B404C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416AE1-4E7C-4C41-76FF-F2538718C69D}"/>
              </a:ext>
            </a:extLst>
          </p:cNvPr>
          <p:cNvSpPr>
            <a:spLocks noGrp="1"/>
          </p:cNvSpPr>
          <p:nvPr>
            <p:ph type="title"/>
          </p:nvPr>
        </p:nvSpPr>
        <p:spPr/>
        <p:txBody>
          <a:bodyPr>
            <a:normAutofit fontScale="90000"/>
          </a:bodyPr>
          <a:lstStyle/>
          <a:p>
            <a:r>
              <a:rPr lang="en-GB" dirty="0"/>
              <a:t>More Advanced Does Not Mean More Valuable</a:t>
            </a:r>
            <a:endParaRPr lang="en-US" dirty="0"/>
          </a:p>
        </p:txBody>
      </p:sp>
      <p:sp>
        <p:nvSpPr>
          <p:cNvPr id="3" name="Content Placeholder 2">
            <a:extLst>
              <a:ext uri="{FF2B5EF4-FFF2-40B4-BE49-F238E27FC236}">
                <a16:creationId xmlns:a16="http://schemas.microsoft.com/office/drawing/2014/main" id="{7FFAA4CE-A3EC-AB3B-0675-93654EC1B928}"/>
              </a:ext>
            </a:extLst>
          </p:cNvPr>
          <p:cNvSpPr>
            <a:spLocks noGrp="1"/>
          </p:cNvSpPr>
          <p:nvPr>
            <p:ph idx="1"/>
          </p:nvPr>
        </p:nvSpPr>
        <p:spPr/>
        <p:txBody>
          <a:bodyPr>
            <a:normAutofit lnSpcReduction="10000"/>
          </a:bodyPr>
          <a:lstStyle/>
          <a:p>
            <a:r>
              <a:rPr lang="en-GB" dirty="0"/>
              <a:t>Much of the daily work in sports analytics is descriptive and diagnostic:</a:t>
            </a:r>
          </a:p>
          <a:p>
            <a:pPr lvl="1"/>
            <a:r>
              <a:rPr lang="en-GB" dirty="0"/>
              <a:t>Collecting, cleaning, and organizing data</a:t>
            </a:r>
          </a:p>
          <a:p>
            <a:pPr lvl="1"/>
            <a:r>
              <a:rPr lang="en-GB" dirty="0"/>
              <a:t>Defining metrics consistently</a:t>
            </a:r>
          </a:p>
          <a:p>
            <a:pPr lvl="1"/>
            <a:r>
              <a:rPr lang="en-GB" dirty="0"/>
              <a:t>Monitoring recent performance and workload</a:t>
            </a:r>
          </a:p>
          <a:p>
            <a:pPr lvl="1"/>
            <a:r>
              <a:rPr lang="en-GB" dirty="0"/>
              <a:t>Identifying meaningful changes or patterns</a:t>
            </a:r>
          </a:p>
          <a:p>
            <a:pPr lvl="1"/>
            <a:r>
              <a:rPr lang="en-GB" dirty="0"/>
              <a:t>Communicating findings to coaches, athletes, and decision-makers</a:t>
            </a:r>
          </a:p>
          <a:p>
            <a:r>
              <a:rPr lang="en-GB" dirty="0"/>
              <a:t>Predictive models can be valuable, but only when they address a real decision and are supported by reliable foundational work.</a:t>
            </a:r>
          </a:p>
          <a:p>
            <a:r>
              <a:rPr lang="en-GB" dirty="0"/>
              <a:t>The best analysis is not necessarily the most complicated analysis. It is the analysis that helps someone make a better decision.</a:t>
            </a:r>
          </a:p>
        </p:txBody>
      </p:sp>
    </p:spTree>
    <p:extLst>
      <p:ext uri="{BB962C8B-B14F-4D97-AF65-F5344CB8AC3E}">
        <p14:creationId xmlns:p14="http://schemas.microsoft.com/office/powerpoint/2010/main" val="23293368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3AABE-630C-BE7E-C207-7F502C7BE442}"/>
              </a:ext>
            </a:extLst>
          </p:cNvPr>
          <p:cNvSpPr>
            <a:spLocks noGrp="1"/>
          </p:cNvSpPr>
          <p:nvPr>
            <p:ph type="title"/>
          </p:nvPr>
        </p:nvSpPr>
        <p:spPr/>
        <p:txBody>
          <a:bodyPr/>
          <a:lstStyle/>
          <a:p>
            <a:r>
              <a:rPr lang="en-GB" dirty="0"/>
              <a:t>Analytics Is a Connected Process</a:t>
            </a:r>
            <a:endParaRPr lang="en-US" dirty="0"/>
          </a:p>
        </p:txBody>
      </p:sp>
      <p:sp>
        <p:nvSpPr>
          <p:cNvPr id="3" name="Content Placeholder 2">
            <a:extLst>
              <a:ext uri="{FF2B5EF4-FFF2-40B4-BE49-F238E27FC236}">
                <a16:creationId xmlns:a16="http://schemas.microsoft.com/office/drawing/2014/main" id="{DBB74CFF-8068-9093-0DB3-427FA9D01C70}"/>
              </a:ext>
            </a:extLst>
          </p:cNvPr>
          <p:cNvSpPr>
            <a:spLocks noGrp="1"/>
          </p:cNvSpPr>
          <p:nvPr>
            <p:ph idx="1"/>
          </p:nvPr>
        </p:nvSpPr>
        <p:spPr/>
        <p:txBody>
          <a:bodyPr/>
          <a:lstStyle/>
          <a:p>
            <a:endParaRPr lang="en-US"/>
          </a:p>
        </p:txBody>
      </p:sp>
      <p:sp>
        <p:nvSpPr>
          <p:cNvPr id="4" name="Rounded Rectangle 3">
            <a:extLst>
              <a:ext uri="{FF2B5EF4-FFF2-40B4-BE49-F238E27FC236}">
                <a16:creationId xmlns:a16="http://schemas.microsoft.com/office/drawing/2014/main" id="{4A782F88-38E0-4B72-24A8-1306D30D5582}"/>
              </a:ext>
            </a:extLst>
          </p:cNvPr>
          <p:cNvSpPr/>
          <p:nvPr/>
        </p:nvSpPr>
        <p:spPr>
          <a:xfrm>
            <a:off x="1148937" y="335225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Descriptive</a:t>
            </a:r>
          </a:p>
        </p:txBody>
      </p:sp>
      <p:sp>
        <p:nvSpPr>
          <p:cNvPr id="7" name="Right Arrow 6">
            <a:extLst>
              <a:ext uri="{FF2B5EF4-FFF2-40B4-BE49-F238E27FC236}">
                <a16:creationId xmlns:a16="http://schemas.microsoft.com/office/drawing/2014/main" id="{8588D409-93BC-51D5-47E6-7F11165C0988}"/>
              </a:ext>
            </a:extLst>
          </p:cNvPr>
          <p:cNvSpPr/>
          <p:nvPr/>
        </p:nvSpPr>
        <p:spPr>
          <a:xfrm>
            <a:off x="3139043" y="356713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6EAEB840-F944-BEEA-38E9-63C242B5BBF2}"/>
              </a:ext>
            </a:extLst>
          </p:cNvPr>
          <p:cNvSpPr/>
          <p:nvPr/>
        </p:nvSpPr>
        <p:spPr>
          <a:xfrm>
            <a:off x="3846615" y="335453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Diagnostic</a:t>
            </a:r>
          </a:p>
        </p:txBody>
      </p:sp>
      <p:sp>
        <p:nvSpPr>
          <p:cNvPr id="9" name="Right Arrow 8">
            <a:extLst>
              <a:ext uri="{FF2B5EF4-FFF2-40B4-BE49-F238E27FC236}">
                <a16:creationId xmlns:a16="http://schemas.microsoft.com/office/drawing/2014/main" id="{6D3B2D4F-E522-6E84-5A49-48B9DD093CFA}"/>
              </a:ext>
            </a:extLst>
          </p:cNvPr>
          <p:cNvSpPr/>
          <p:nvPr/>
        </p:nvSpPr>
        <p:spPr>
          <a:xfrm>
            <a:off x="5836721" y="356941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740115D1-850B-3AF9-77F6-E126493420F4}"/>
              </a:ext>
            </a:extLst>
          </p:cNvPr>
          <p:cNvSpPr/>
          <p:nvPr/>
        </p:nvSpPr>
        <p:spPr>
          <a:xfrm>
            <a:off x="6504710" y="335225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Predictive</a:t>
            </a:r>
          </a:p>
        </p:txBody>
      </p:sp>
      <p:sp>
        <p:nvSpPr>
          <p:cNvPr id="11" name="Right Arrow 10">
            <a:extLst>
              <a:ext uri="{FF2B5EF4-FFF2-40B4-BE49-F238E27FC236}">
                <a16:creationId xmlns:a16="http://schemas.microsoft.com/office/drawing/2014/main" id="{26C186F5-3E52-E86C-00AF-9BB5162BA1B8}"/>
              </a:ext>
            </a:extLst>
          </p:cNvPr>
          <p:cNvSpPr/>
          <p:nvPr/>
        </p:nvSpPr>
        <p:spPr>
          <a:xfrm>
            <a:off x="8494816" y="356713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92ECBD38-13DC-59A9-C95E-2D7966D40DDC}"/>
              </a:ext>
            </a:extLst>
          </p:cNvPr>
          <p:cNvSpPr/>
          <p:nvPr/>
        </p:nvSpPr>
        <p:spPr>
          <a:xfrm>
            <a:off x="9202388" y="3331908"/>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Prescriptive</a:t>
            </a:r>
          </a:p>
        </p:txBody>
      </p:sp>
    </p:spTree>
    <p:extLst>
      <p:ext uri="{BB962C8B-B14F-4D97-AF65-F5344CB8AC3E}">
        <p14:creationId xmlns:p14="http://schemas.microsoft.com/office/powerpoint/2010/main" val="8015085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8D775-A112-9AF9-5D1F-F62BCE020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DC6960-7901-AB28-CBA3-949C04823044}"/>
              </a:ext>
            </a:extLst>
          </p:cNvPr>
          <p:cNvSpPr>
            <a:spLocks noGrp="1"/>
          </p:cNvSpPr>
          <p:nvPr>
            <p:ph type="title"/>
          </p:nvPr>
        </p:nvSpPr>
        <p:spPr/>
        <p:txBody>
          <a:bodyPr/>
          <a:lstStyle/>
          <a:p>
            <a:r>
              <a:rPr lang="en-GB" dirty="0"/>
              <a:t>Analytics Is a Connected Process</a:t>
            </a:r>
            <a:endParaRPr lang="en-US" dirty="0"/>
          </a:p>
        </p:txBody>
      </p:sp>
      <p:sp>
        <p:nvSpPr>
          <p:cNvPr id="3" name="Content Placeholder 2">
            <a:extLst>
              <a:ext uri="{FF2B5EF4-FFF2-40B4-BE49-F238E27FC236}">
                <a16:creationId xmlns:a16="http://schemas.microsoft.com/office/drawing/2014/main" id="{1BC90F12-59E9-B91B-B183-BF4016A59BD7}"/>
              </a:ext>
            </a:extLst>
          </p:cNvPr>
          <p:cNvSpPr>
            <a:spLocks noGrp="1"/>
          </p:cNvSpPr>
          <p:nvPr>
            <p:ph idx="1"/>
          </p:nvPr>
        </p:nvSpPr>
        <p:spPr/>
        <p:txBody>
          <a:bodyPr/>
          <a:lstStyle/>
          <a:p>
            <a:endParaRPr lang="en-US" dirty="0"/>
          </a:p>
        </p:txBody>
      </p:sp>
      <p:sp>
        <p:nvSpPr>
          <p:cNvPr id="10" name="Rounded Rectangle 9">
            <a:extLst>
              <a:ext uri="{FF2B5EF4-FFF2-40B4-BE49-F238E27FC236}">
                <a16:creationId xmlns:a16="http://schemas.microsoft.com/office/drawing/2014/main" id="{66CAA5F0-6E53-A555-1152-E733DCFDF09C}"/>
              </a:ext>
            </a:extLst>
          </p:cNvPr>
          <p:cNvSpPr/>
          <p:nvPr/>
        </p:nvSpPr>
        <p:spPr>
          <a:xfrm>
            <a:off x="7505699" y="2164843"/>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Predictive</a:t>
            </a:r>
          </a:p>
        </p:txBody>
      </p:sp>
      <p:sp>
        <p:nvSpPr>
          <p:cNvPr id="11" name="Right Arrow 10">
            <a:extLst>
              <a:ext uri="{FF2B5EF4-FFF2-40B4-BE49-F238E27FC236}">
                <a16:creationId xmlns:a16="http://schemas.microsoft.com/office/drawing/2014/main" id="{DD0D4C3A-526C-76CB-F794-7165AB6441E1}"/>
              </a:ext>
            </a:extLst>
          </p:cNvPr>
          <p:cNvSpPr/>
          <p:nvPr/>
        </p:nvSpPr>
        <p:spPr>
          <a:xfrm rot="3743277">
            <a:off x="8881700" y="3260213"/>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2A07DF87-DD44-BEA8-AA52-58A227E0FACD}"/>
              </a:ext>
            </a:extLst>
          </p:cNvPr>
          <p:cNvSpPr/>
          <p:nvPr/>
        </p:nvSpPr>
        <p:spPr>
          <a:xfrm>
            <a:off x="3488377" y="392581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Descriptive</a:t>
            </a:r>
          </a:p>
        </p:txBody>
      </p:sp>
      <p:sp>
        <p:nvSpPr>
          <p:cNvPr id="7" name="Right Arrow 6">
            <a:extLst>
              <a:ext uri="{FF2B5EF4-FFF2-40B4-BE49-F238E27FC236}">
                <a16:creationId xmlns:a16="http://schemas.microsoft.com/office/drawing/2014/main" id="{90FB8E53-FB0C-259D-CD09-AFD9C3DD9245}"/>
              </a:ext>
            </a:extLst>
          </p:cNvPr>
          <p:cNvSpPr/>
          <p:nvPr/>
        </p:nvSpPr>
        <p:spPr>
          <a:xfrm>
            <a:off x="5478483" y="4140701"/>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133E3A46-654D-3745-1B1B-F084CE632680}"/>
              </a:ext>
            </a:extLst>
          </p:cNvPr>
          <p:cNvSpPr/>
          <p:nvPr/>
        </p:nvSpPr>
        <p:spPr>
          <a:xfrm>
            <a:off x="6186055" y="392809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Diagnostic</a:t>
            </a:r>
          </a:p>
        </p:txBody>
      </p:sp>
      <p:sp>
        <p:nvSpPr>
          <p:cNvPr id="9" name="Right Arrow 8">
            <a:extLst>
              <a:ext uri="{FF2B5EF4-FFF2-40B4-BE49-F238E27FC236}">
                <a16:creationId xmlns:a16="http://schemas.microsoft.com/office/drawing/2014/main" id="{FA98941D-8F63-F9AC-5CD5-3FAB4E59CC08}"/>
              </a:ext>
            </a:extLst>
          </p:cNvPr>
          <p:cNvSpPr/>
          <p:nvPr/>
        </p:nvSpPr>
        <p:spPr>
          <a:xfrm rot="18801083">
            <a:off x="7438542" y="3227008"/>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F000CD9E-121F-6BC0-0916-DBD2C2A662F2}"/>
              </a:ext>
            </a:extLst>
          </p:cNvPr>
          <p:cNvSpPr/>
          <p:nvPr/>
        </p:nvSpPr>
        <p:spPr>
          <a:xfrm>
            <a:off x="8883733" y="392581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Prescriptive</a:t>
            </a:r>
          </a:p>
        </p:txBody>
      </p:sp>
      <p:sp>
        <p:nvSpPr>
          <p:cNvPr id="15" name="Magnetic Disk 14">
            <a:extLst>
              <a:ext uri="{FF2B5EF4-FFF2-40B4-BE49-F238E27FC236}">
                <a16:creationId xmlns:a16="http://schemas.microsoft.com/office/drawing/2014/main" id="{DDD59D53-0BF2-CBEC-7D6F-5D7CA63637DE}"/>
              </a:ext>
            </a:extLst>
          </p:cNvPr>
          <p:cNvSpPr/>
          <p:nvPr/>
        </p:nvSpPr>
        <p:spPr>
          <a:xfrm>
            <a:off x="1467592" y="4240264"/>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p:sp>
        <p:nvSpPr>
          <p:cNvPr id="18" name="Right Arrow 17">
            <a:extLst>
              <a:ext uri="{FF2B5EF4-FFF2-40B4-BE49-F238E27FC236}">
                <a16:creationId xmlns:a16="http://schemas.microsoft.com/office/drawing/2014/main" id="{85C562E6-0EB2-6FF1-9937-9E86B58AF423}"/>
              </a:ext>
            </a:extLst>
          </p:cNvPr>
          <p:cNvSpPr/>
          <p:nvPr/>
        </p:nvSpPr>
        <p:spPr>
          <a:xfrm>
            <a:off x="2780805" y="4202358"/>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54595E51-A76C-EB48-AF77-7A2F954F66A6}"/>
              </a:ext>
            </a:extLst>
          </p:cNvPr>
          <p:cNvGrpSpPr/>
          <p:nvPr/>
        </p:nvGrpSpPr>
        <p:grpSpPr>
          <a:xfrm>
            <a:off x="5478483" y="2015504"/>
            <a:ext cx="1163782" cy="1108548"/>
            <a:chOff x="997527" y="4004676"/>
            <a:chExt cx="1163782" cy="1108548"/>
          </a:xfrm>
        </p:grpSpPr>
        <p:sp>
          <p:nvSpPr>
            <p:cNvPr id="20" name="Magnetic Disk 19">
              <a:extLst>
                <a:ext uri="{FF2B5EF4-FFF2-40B4-BE49-F238E27FC236}">
                  <a16:creationId xmlns:a16="http://schemas.microsoft.com/office/drawing/2014/main" id="{C75A93FE-8E1C-DE7F-3F48-024E6627F04B}"/>
                </a:ext>
              </a:extLst>
            </p:cNvPr>
            <p:cNvSpPr/>
            <p:nvPr/>
          </p:nvSpPr>
          <p:spPr>
            <a:xfrm>
              <a:off x="997527" y="4702629"/>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Magnetic Disk 20">
              <a:extLst>
                <a:ext uri="{FF2B5EF4-FFF2-40B4-BE49-F238E27FC236}">
                  <a16:creationId xmlns:a16="http://schemas.microsoft.com/office/drawing/2014/main" id="{F5AB6600-3CE9-1A67-845B-C6554A26236F}"/>
                </a:ext>
              </a:extLst>
            </p:cNvPr>
            <p:cNvSpPr/>
            <p:nvPr/>
          </p:nvSpPr>
          <p:spPr>
            <a:xfrm>
              <a:off x="997527" y="4344931"/>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p:sp>
          <p:nvSpPr>
            <p:cNvPr id="22" name="Magnetic Disk 21">
              <a:extLst>
                <a:ext uri="{FF2B5EF4-FFF2-40B4-BE49-F238E27FC236}">
                  <a16:creationId xmlns:a16="http://schemas.microsoft.com/office/drawing/2014/main" id="{B7DDCEDA-194C-3B5F-DD08-FD26C999F49E}"/>
                </a:ext>
              </a:extLst>
            </p:cNvPr>
            <p:cNvSpPr/>
            <p:nvPr/>
          </p:nvSpPr>
          <p:spPr>
            <a:xfrm>
              <a:off x="997527" y="4004676"/>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ight Arrow 22">
            <a:extLst>
              <a:ext uri="{FF2B5EF4-FFF2-40B4-BE49-F238E27FC236}">
                <a16:creationId xmlns:a16="http://schemas.microsoft.com/office/drawing/2014/main" id="{1C945C0C-1E0E-1C8E-FFC4-B8AAFAEB88FE}"/>
              </a:ext>
            </a:extLst>
          </p:cNvPr>
          <p:cNvSpPr/>
          <p:nvPr/>
        </p:nvSpPr>
        <p:spPr>
          <a:xfrm>
            <a:off x="6791696" y="2369371"/>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9161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6EB5-FEC2-47DE-01A3-F0E170543F3C}"/>
              </a:ext>
            </a:extLst>
          </p:cNvPr>
          <p:cNvSpPr>
            <a:spLocks noGrp="1"/>
          </p:cNvSpPr>
          <p:nvPr>
            <p:ph type="title"/>
          </p:nvPr>
        </p:nvSpPr>
        <p:spPr/>
        <p:txBody>
          <a:bodyPr>
            <a:normAutofit/>
          </a:bodyPr>
          <a:lstStyle/>
          <a:p>
            <a:r>
              <a:rPr lang="en-GB"/>
              <a:t>Summary &amp; Looking Ahead</a:t>
            </a:r>
            <a:endParaRPr lang="en-US"/>
          </a:p>
        </p:txBody>
      </p:sp>
      <p:sp>
        <p:nvSpPr>
          <p:cNvPr id="3" name="Content Placeholder 2">
            <a:extLst>
              <a:ext uri="{FF2B5EF4-FFF2-40B4-BE49-F238E27FC236}">
                <a16:creationId xmlns:a16="http://schemas.microsoft.com/office/drawing/2014/main" id="{B7781857-C6C4-CF29-7D9F-C7FCD74ECA0D}"/>
              </a:ext>
            </a:extLst>
          </p:cNvPr>
          <p:cNvSpPr>
            <a:spLocks noGrp="1"/>
          </p:cNvSpPr>
          <p:nvPr>
            <p:ph idx="1"/>
          </p:nvPr>
        </p:nvSpPr>
        <p:spPr/>
        <p:txBody>
          <a:bodyPr/>
          <a:lstStyle/>
          <a:p>
            <a:r>
              <a:rPr lang="en-US" dirty="0"/>
              <a:t>The three domains describe where sport analytics is applied.</a:t>
            </a:r>
          </a:p>
          <a:p>
            <a:r>
              <a:rPr lang="en-US" dirty="0"/>
              <a:t>Descriptive, diagnostic, predictive, and prescriptive questions describe what the analysis is intended to accomplish.</a:t>
            </a:r>
          </a:p>
          <a:p>
            <a:pPr lvl="1"/>
            <a:r>
              <a:rPr lang="en-US" dirty="0"/>
              <a:t>These purposes are connected, but not every analysis requires all four.</a:t>
            </a:r>
          </a:p>
          <a:p>
            <a:r>
              <a:rPr lang="en-US" dirty="0"/>
              <a:t>The most valuable analysis is the one that provides credible evidence for a meaningful decision.</a:t>
            </a:r>
          </a:p>
          <a:p>
            <a:r>
              <a:rPr lang="en-US" dirty="0"/>
              <a:t>Next: Turning practitioner concerns into clear, testable analytical questions</a:t>
            </a:r>
          </a:p>
        </p:txBody>
      </p:sp>
    </p:spTree>
    <p:extLst>
      <p:ext uri="{BB962C8B-B14F-4D97-AF65-F5344CB8AC3E}">
        <p14:creationId xmlns:p14="http://schemas.microsoft.com/office/powerpoint/2010/main" val="22066921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610FF-6703-8068-7ABF-ED20489ECABF}"/>
              </a:ext>
            </a:extLst>
          </p:cNvPr>
          <p:cNvSpPr>
            <a:spLocks noGrp="1"/>
          </p:cNvSpPr>
          <p:nvPr>
            <p:ph type="title"/>
          </p:nvPr>
        </p:nvSpPr>
        <p:spPr/>
        <p:txBody>
          <a:bodyPr/>
          <a:lstStyle/>
          <a:p>
            <a:r>
              <a:rPr lang="en-US" dirty="0"/>
              <a:t>Scenarios </a:t>
            </a:r>
          </a:p>
        </p:txBody>
      </p:sp>
      <p:sp>
        <p:nvSpPr>
          <p:cNvPr id="3" name="Content Placeholder 2">
            <a:extLst>
              <a:ext uri="{FF2B5EF4-FFF2-40B4-BE49-F238E27FC236}">
                <a16:creationId xmlns:a16="http://schemas.microsoft.com/office/drawing/2014/main" id="{63906137-364A-DE22-57E2-CF9CEDECC6B1}"/>
              </a:ext>
            </a:extLst>
          </p:cNvPr>
          <p:cNvSpPr>
            <a:spLocks noGrp="1"/>
          </p:cNvSpPr>
          <p:nvPr>
            <p:ph idx="1"/>
          </p:nvPr>
        </p:nvSpPr>
        <p:spPr/>
        <p:txBody>
          <a:bodyPr>
            <a:normAutofit/>
          </a:bodyPr>
          <a:lstStyle/>
          <a:p>
            <a:r>
              <a:rPr lang="en-GB" dirty="0"/>
              <a:t>A basketball player completed considerably more high-intensity work than usual during the previous three days. The player needs to be ready for a game tomorrow.</a:t>
            </a:r>
          </a:p>
          <a:p>
            <a:r>
              <a:rPr lang="en-GB" dirty="0"/>
              <a:t>A basketball prospect scores 22 points per game. Your team is deciding whether to select the player in the first round of the draft.</a:t>
            </a:r>
          </a:p>
          <a:p>
            <a:r>
              <a:rPr lang="en-GB" dirty="0"/>
              <a:t>A soccer team has allowed five goals during its last four matches. How should the team prepare to play their next opponent.</a:t>
            </a:r>
            <a:endParaRPr lang="en-US" dirty="0"/>
          </a:p>
        </p:txBody>
      </p:sp>
    </p:spTree>
    <p:extLst>
      <p:ext uri="{BB962C8B-B14F-4D97-AF65-F5344CB8AC3E}">
        <p14:creationId xmlns:p14="http://schemas.microsoft.com/office/powerpoint/2010/main" val="12670128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F4149-77C5-51D6-6364-A5DC1666CA69}"/>
              </a:ext>
            </a:extLst>
          </p:cNvPr>
          <p:cNvSpPr>
            <a:spLocks noGrp="1"/>
          </p:cNvSpPr>
          <p:nvPr>
            <p:ph type="title"/>
          </p:nvPr>
        </p:nvSpPr>
        <p:spPr/>
        <p:txBody>
          <a:bodyPr/>
          <a:lstStyle/>
          <a:p>
            <a:r>
              <a:rPr lang="en-US" dirty="0"/>
              <a:t>Example </a:t>
            </a:r>
          </a:p>
        </p:txBody>
      </p:sp>
      <p:sp>
        <p:nvSpPr>
          <p:cNvPr id="3" name="Content Placeholder 2">
            <a:extLst>
              <a:ext uri="{FF2B5EF4-FFF2-40B4-BE49-F238E27FC236}">
                <a16:creationId xmlns:a16="http://schemas.microsoft.com/office/drawing/2014/main" id="{F4AC8398-083C-ED0D-65C7-FA16DBE6BCED}"/>
              </a:ext>
            </a:extLst>
          </p:cNvPr>
          <p:cNvSpPr>
            <a:spLocks noGrp="1"/>
          </p:cNvSpPr>
          <p:nvPr>
            <p:ph idx="1"/>
          </p:nvPr>
        </p:nvSpPr>
        <p:spPr/>
        <p:txBody>
          <a:bodyPr/>
          <a:lstStyle/>
          <a:p>
            <a:r>
              <a:rPr lang="en-GB" b="1" dirty="0"/>
              <a:t>Domain:</a:t>
            </a:r>
            <a:r>
              <a:rPr lang="en-GB" dirty="0"/>
              <a:t> Athlete monitoring</a:t>
            </a:r>
          </a:p>
          <a:p>
            <a:r>
              <a:rPr lang="en-GB" b="1" dirty="0"/>
              <a:t>Decision:</a:t>
            </a:r>
            <a:r>
              <a:rPr lang="en-GB" dirty="0"/>
              <a:t> Should a player’s training load be reduced today?</a:t>
            </a:r>
          </a:p>
          <a:p>
            <a:pPr lvl="1"/>
            <a:r>
              <a:rPr lang="en-GB" b="1" dirty="0"/>
              <a:t>Descriptive:</a:t>
            </a:r>
            <a:r>
              <a:rPr lang="en-GB" dirty="0"/>
              <a:t> The player completed substantially more high-intensity work than usual during the previous three days. </a:t>
            </a:r>
          </a:p>
          <a:p>
            <a:pPr lvl="1"/>
            <a:r>
              <a:rPr lang="en-GB" b="1" dirty="0"/>
              <a:t>Diagnostic:</a:t>
            </a:r>
            <a:r>
              <a:rPr lang="en-GB" dirty="0"/>
              <a:t> The increase resulted from additional drill repetitions and reduced recovery time. </a:t>
            </a:r>
          </a:p>
          <a:p>
            <a:pPr lvl="1"/>
            <a:r>
              <a:rPr lang="en-GB" b="1" dirty="0"/>
              <a:t>Predictive:</a:t>
            </a:r>
            <a:r>
              <a:rPr lang="en-GB" dirty="0"/>
              <a:t> Maintaining the planned load may increase the probability of poor performance or incomplete recovery tomorrow. </a:t>
            </a:r>
          </a:p>
          <a:p>
            <a:pPr lvl="1"/>
            <a:r>
              <a:rPr lang="en-GB" b="1" dirty="0"/>
              <a:t>Prescriptive:</a:t>
            </a:r>
            <a:r>
              <a:rPr lang="en-GB" dirty="0"/>
              <a:t> Reduce today’s high-intensity volume while maintaining lower-intensity tactical participation.</a:t>
            </a:r>
          </a:p>
          <a:p>
            <a:endParaRPr lang="en-US" dirty="0"/>
          </a:p>
        </p:txBody>
      </p:sp>
    </p:spTree>
    <p:extLst>
      <p:ext uri="{BB962C8B-B14F-4D97-AF65-F5344CB8AC3E}">
        <p14:creationId xmlns:p14="http://schemas.microsoft.com/office/powerpoint/2010/main" val="1069047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F538-931D-AD45-9EA7-DADA26B90B42}"/>
              </a:ext>
            </a:extLst>
          </p:cNvPr>
          <p:cNvSpPr>
            <a:spLocks noGrp="1"/>
          </p:cNvSpPr>
          <p:nvPr>
            <p:ph type="title"/>
          </p:nvPr>
        </p:nvSpPr>
        <p:spPr/>
        <p:txBody>
          <a:bodyPr>
            <a:noAutofit/>
          </a:bodyPr>
          <a:lstStyle/>
          <a:p>
            <a:r>
              <a:rPr lang="en-GB" sz="3600" dirty="0"/>
              <a:t>A basketball team has lost four of its last five games.</a:t>
            </a:r>
            <a:endParaRPr lang="en-US" sz="3600" dirty="0"/>
          </a:p>
        </p:txBody>
      </p:sp>
      <p:sp>
        <p:nvSpPr>
          <p:cNvPr id="3" name="Content Placeholder 2">
            <a:extLst>
              <a:ext uri="{FF2B5EF4-FFF2-40B4-BE49-F238E27FC236}">
                <a16:creationId xmlns:a16="http://schemas.microsoft.com/office/drawing/2014/main" id="{8B9E355C-4F74-80F1-6425-3FB7EAE6B2E6}"/>
              </a:ext>
            </a:extLst>
          </p:cNvPr>
          <p:cNvSpPr>
            <a:spLocks noGrp="1"/>
          </p:cNvSpPr>
          <p:nvPr>
            <p:ph idx="1"/>
          </p:nvPr>
        </p:nvSpPr>
        <p:spPr/>
        <p:txBody>
          <a:bodyPr/>
          <a:lstStyle/>
          <a:p>
            <a:pPr marL="0" indent="0" algn="ctr">
              <a:buNone/>
            </a:pPr>
            <a:r>
              <a:rPr lang="en-US" dirty="0"/>
              <a:t>Coach asks, “what is going on??”. How do we tackle this as the analyst?</a:t>
            </a:r>
          </a:p>
        </p:txBody>
      </p:sp>
    </p:spTree>
    <p:extLst>
      <p:ext uri="{BB962C8B-B14F-4D97-AF65-F5344CB8AC3E}">
        <p14:creationId xmlns:p14="http://schemas.microsoft.com/office/powerpoint/2010/main" val="4256448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AF3649-84EF-73B3-DB78-3A8C58E5C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013837-791B-5F03-753D-2E5EA52C17EF}"/>
              </a:ext>
            </a:extLst>
          </p:cNvPr>
          <p:cNvSpPr>
            <a:spLocks noGrp="1"/>
          </p:cNvSpPr>
          <p:nvPr>
            <p:ph type="title"/>
          </p:nvPr>
        </p:nvSpPr>
        <p:spPr/>
        <p:txBody>
          <a:bodyPr/>
          <a:lstStyle/>
          <a:p>
            <a:r>
              <a:rPr lang="en-US" dirty="0"/>
              <a:t>Scenarios </a:t>
            </a:r>
          </a:p>
        </p:txBody>
      </p:sp>
      <p:sp>
        <p:nvSpPr>
          <p:cNvPr id="3" name="Content Placeholder 2">
            <a:extLst>
              <a:ext uri="{FF2B5EF4-FFF2-40B4-BE49-F238E27FC236}">
                <a16:creationId xmlns:a16="http://schemas.microsoft.com/office/drawing/2014/main" id="{B4D682D1-FE5C-EC9F-1DA5-C852D5D53B85}"/>
              </a:ext>
            </a:extLst>
          </p:cNvPr>
          <p:cNvSpPr>
            <a:spLocks noGrp="1"/>
          </p:cNvSpPr>
          <p:nvPr>
            <p:ph idx="1"/>
          </p:nvPr>
        </p:nvSpPr>
        <p:spPr/>
        <p:txBody>
          <a:bodyPr>
            <a:normAutofit fontScale="92500" lnSpcReduction="10000"/>
          </a:bodyPr>
          <a:lstStyle/>
          <a:p>
            <a:r>
              <a:rPr lang="en-GB" dirty="0"/>
              <a:t>A basketball player completed considerably more high-intensity work than usual during the previous three days. The coaching staff added extra drill repetitions and shortened the recovery periods between drills. The player has an important game tomorrow.</a:t>
            </a:r>
          </a:p>
          <a:p>
            <a:r>
              <a:rPr lang="en-GB" dirty="0"/>
              <a:t>A basketball prospect scores 22 points per game, but most of those points come against weaker opponents. Against highly ranked teams, the player’s scoring efficiency and assists decrease while turnovers increase. Your team is deciding whether to select the player in the first round of the draft.</a:t>
            </a:r>
          </a:p>
          <a:p>
            <a:r>
              <a:rPr lang="en-GB" dirty="0"/>
              <a:t>A soccer team has allowed five goals during its last four matches. Four of the goals occurred after the team lost possession while its fullbacks were positioned high up the field. The team is preparing to play an opponent with fast attacking players.</a:t>
            </a:r>
            <a:endParaRPr lang="en-US" dirty="0"/>
          </a:p>
        </p:txBody>
      </p:sp>
    </p:spTree>
    <p:extLst>
      <p:ext uri="{BB962C8B-B14F-4D97-AF65-F5344CB8AC3E}">
        <p14:creationId xmlns:p14="http://schemas.microsoft.com/office/powerpoint/2010/main" val="22643373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1278</TotalTime>
  <Words>1822</Words>
  <Application>Microsoft Macintosh PowerPoint</Application>
  <PresentationFormat>Widescreen</PresentationFormat>
  <Paragraphs>236</Paragraphs>
  <Slides>29</Slides>
  <Notes>4</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Fira Sans</vt:lpstr>
      <vt:lpstr>Office Theme</vt:lpstr>
      <vt:lpstr>The Three Domains: Tracking, Scouting, and Strategy</vt:lpstr>
      <vt:lpstr>Overview</vt:lpstr>
      <vt:lpstr>The Three Domains</vt:lpstr>
      <vt:lpstr>A Domain Begins With a Decision</vt:lpstr>
      <vt:lpstr>Domain 1: Scouting &amp; Talent Evaluation</vt:lpstr>
      <vt:lpstr>Evaluation Depends on the Reference Point</vt:lpstr>
      <vt:lpstr>Scouting Combines Evidence From Different Sources</vt:lpstr>
      <vt:lpstr>Domain 2: Athlete Tracking and Monitoring</vt:lpstr>
      <vt:lpstr>Components of Athlete Tracking</vt:lpstr>
      <vt:lpstr>Load Monitoring Does Not Automatically Prevent Injury</vt:lpstr>
      <vt:lpstr>Domain 3: Strategy &amp; Tactical Optimization</vt:lpstr>
      <vt:lpstr>Context Changes the Meaning of a Game Event </vt:lpstr>
      <vt:lpstr>Developing an Analytical Question</vt:lpstr>
      <vt:lpstr>Four Types of Analytical Questions</vt:lpstr>
      <vt:lpstr>Descriptive Analytics</vt:lpstr>
      <vt:lpstr>Diagnostic Analytics</vt:lpstr>
      <vt:lpstr>Predictive Analytics</vt:lpstr>
      <vt:lpstr>Prescriptive Analytics</vt:lpstr>
      <vt:lpstr>“What is going on??”</vt:lpstr>
      <vt:lpstr>Analytics Chain Group Activity</vt:lpstr>
      <vt:lpstr>Analytics Chain in Each Domain</vt:lpstr>
      <vt:lpstr>More Advanced Does Not Mean More Valuable</vt:lpstr>
      <vt:lpstr>Analytics Is a Connected Process</vt:lpstr>
      <vt:lpstr>Analytics Is a Connected Process</vt:lpstr>
      <vt:lpstr>Summary &amp; Looking Ahead</vt:lpstr>
      <vt:lpstr>Scenarios </vt:lpstr>
      <vt:lpstr>Example </vt:lpstr>
      <vt:lpstr>A basketball team has lost four of its last five games.</vt:lpstr>
      <vt:lpstr>Scenarios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12</cp:revision>
  <dcterms:created xsi:type="dcterms:W3CDTF">2026-08-17T13:48:23Z</dcterms:created>
  <dcterms:modified xsi:type="dcterms:W3CDTF">2026-08-23T20:17:58Z</dcterms:modified>
</cp:coreProperties>
</file>