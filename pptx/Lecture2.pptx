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5"/>
  </p:notesMasterIdLst>
  <p:sldIdLst>
    <p:sldId id="256" r:id="rId2"/>
    <p:sldId id="303" r:id="rId3"/>
    <p:sldId id="270" r:id="rId4"/>
    <p:sldId id="295" r:id="rId5"/>
    <p:sldId id="296" r:id="rId6"/>
    <p:sldId id="271" r:id="rId7"/>
    <p:sldId id="297" r:id="rId8"/>
    <p:sldId id="298" r:id="rId9"/>
    <p:sldId id="272" r:id="rId10"/>
    <p:sldId id="276" r:id="rId11"/>
    <p:sldId id="299" r:id="rId12"/>
    <p:sldId id="277" r:id="rId13"/>
    <p:sldId id="273" r:id="rId14"/>
    <p:sldId id="304" r:id="rId15"/>
    <p:sldId id="302" r:id="rId16"/>
    <p:sldId id="300" r:id="rId17"/>
    <p:sldId id="274" r:id="rId18"/>
    <p:sldId id="286" r:id="rId19"/>
    <p:sldId id="287" r:id="rId20"/>
    <p:sldId id="305" r:id="rId21"/>
    <p:sldId id="288" r:id="rId22"/>
    <p:sldId id="289" r:id="rId23"/>
    <p:sldId id="292" r:id="rId24"/>
    <p:sldId id="293" r:id="rId25"/>
    <p:sldId id="282" r:id="rId26"/>
    <p:sldId id="283" r:id="rId27"/>
    <p:sldId id="284" r:id="rId28"/>
    <p:sldId id="301" r:id="rId29"/>
    <p:sldId id="281" r:id="rId30"/>
    <p:sldId id="278" r:id="rId31"/>
    <p:sldId id="280" r:id="rId32"/>
    <p:sldId id="291" r:id="rId33"/>
    <p:sldId id="285"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EECD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5717"/>
    <p:restoredTop sz="74247"/>
  </p:normalViewPr>
  <p:slideViewPr>
    <p:cSldViewPr snapToGrid="0">
      <p:cViewPr varScale="1">
        <p:scale>
          <a:sx n="92" d="100"/>
          <a:sy n="92" d="100"/>
        </p:scale>
        <p:origin x="832" y="192"/>
      </p:cViewPr>
      <p:guideLst/>
    </p:cSldViewPr>
  </p:slideViewPr>
  <p:notesTextViewPr>
    <p:cViewPr>
      <p:scale>
        <a:sx n="1" d="1"/>
        <a:sy n="1" d="1"/>
      </p:scale>
      <p:origin x="0" y="0"/>
    </p:cViewPr>
  </p:notesTextViewPr>
  <p:sorterViewPr>
    <p:cViewPr>
      <p:scale>
        <a:sx n="120" d="100"/>
        <a:sy n="12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diagrams/_rels/data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image" Target="../media/image1.svg"/></Relationships>
</file>

<file path=ppt/diagrams/_rels/data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 Id="rId4" Type="http://schemas.openxmlformats.org/officeDocument/2006/relationships/image" Target="../media/image7.svg"/></Relationships>
</file>

<file path=ppt/diagrams/_rels/drawing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image" Target="../media/image1.svg"/></Relationships>
</file>

<file path=ppt/diagrams/_rels/drawing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 Id="rId4" Type="http://schemas.openxmlformats.org/officeDocument/2006/relationships/image" Target="../media/image7.svg"/></Relationships>
</file>

<file path=ppt/diagrams/colors1.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a:alpha val="0"/>
      </a:schemeClr>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583CEDE-E647-47CA-A667-559E9030B27A}" type="doc">
      <dgm:prSet loTypeId="urn:microsoft.com/office/officeart/2018/5/layout/CenteredIconLabelDescriptionList" loCatId="icon" qsTypeId="urn:microsoft.com/office/officeart/2005/8/quickstyle/simple1#61" qsCatId="simple" csTypeId="urn:microsoft.com/office/officeart/2018/5/colors/Iconchunking_neutralbg_colorful1" csCatId="colorful" phldr="1"/>
      <dgm:spPr/>
      <dgm:t>
        <a:bodyPr/>
        <a:lstStyle/>
        <a:p>
          <a:endParaRPr lang="en-US"/>
        </a:p>
      </dgm:t>
    </dgm:pt>
    <dgm:pt modelId="{E7557560-20D7-45F3-93CA-59CA59F1FAFA}">
      <dgm:prSet custT="1"/>
      <dgm:spPr/>
      <dgm:t>
        <a:bodyPr/>
        <a:lstStyle/>
        <a:p>
          <a:pPr>
            <a:lnSpc>
              <a:spcPct val="100000"/>
            </a:lnSpc>
            <a:defRPr b="1"/>
          </a:pPr>
          <a:r>
            <a:rPr lang="en-GB" sz="2000" dirty="0"/>
            <a:t>Scouting &amp; Talent Evaluation</a:t>
          </a:r>
          <a:endParaRPr lang="en-US" sz="2000" dirty="0"/>
        </a:p>
      </dgm:t>
    </dgm:pt>
    <dgm:pt modelId="{E4CAD1B0-2735-4664-B73D-F7A5D7A98788}" type="parTrans" cxnId="{101328D3-F892-4573-9C2B-24C8E576A0FB}">
      <dgm:prSet/>
      <dgm:spPr/>
      <dgm:t>
        <a:bodyPr/>
        <a:lstStyle/>
        <a:p>
          <a:endParaRPr lang="en-US"/>
        </a:p>
      </dgm:t>
    </dgm:pt>
    <dgm:pt modelId="{6B5FF232-FFD8-464C-A2BF-F6879257252B}" type="sibTrans" cxnId="{101328D3-F892-4573-9C2B-24C8E576A0FB}">
      <dgm:prSet/>
      <dgm:spPr/>
      <dgm:t>
        <a:bodyPr/>
        <a:lstStyle/>
        <a:p>
          <a:endParaRPr lang="en-US"/>
        </a:p>
      </dgm:t>
    </dgm:pt>
    <dgm:pt modelId="{55068EE7-2CDE-410B-8408-2991BA615557}">
      <dgm:prSet custT="1"/>
      <dgm:spPr/>
      <dgm:t>
        <a:bodyPr/>
        <a:lstStyle/>
        <a:p>
          <a:pPr>
            <a:lnSpc>
              <a:spcPct val="100000"/>
            </a:lnSpc>
            <a:defRPr b="1"/>
          </a:pPr>
          <a:r>
            <a:rPr lang="en-GB" sz="2000" dirty="0"/>
            <a:t>Athlete Tracking</a:t>
          </a:r>
          <a:endParaRPr lang="en-US" sz="2000" dirty="0"/>
        </a:p>
      </dgm:t>
    </dgm:pt>
    <dgm:pt modelId="{EE46C4A3-0788-43EB-A140-AE6135C8C210}" type="parTrans" cxnId="{C90831B4-0F89-4842-AD65-49024538AF10}">
      <dgm:prSet/>
      <dgm:spPr/>
      <dgm:t>
        <a:bodyPr/>
        <a:lstStyle/>
        <a:p>
          <a:endParaRPr lang="en-US"/>
        </a:p>
      </dgm:t>
    </dgm:pt>
    <dgm:pt modelId="{E7B2F60A-DD8A-48A2-9F2F-E7CD45848433}" type="sibTrans" cxnId="{C90831B4-0F89-4842-AD65-49024538AF10}">
      <dgm:prSet/>
      <dgm:spPr/>
      <dgm:t>
        <a:bodyPr/>
        <a:lstStyle/>
        <a:p>
          <a:endParaRPr lang="en-US"/>
        </a:p>
      </dgm:t>
    </dgm:pt>
    <dgm:pt modelId="{08ACE292-7BB7-4DF5-A9BD-1B7A8660DA89}">
      <dgm:prSet/>
      <dgm:spPr/>
      <dgm:t>
        <a:bodyPr/>
        <a:lstStyle/>
        <a:p>
          <a:pPr>
            <a:lnSpc>
              <a:spcPct val="100000"/>
            </a:lnSpc>
            <a:defRPr b="1"/>
          </a:pPr>
          <a:r>
            <a:rPr lang="en-GB" dirty="0"/>
            <a:t>Strategy &amp; Tactical Optimization</a:t>
          </a:r>
          <a:endParaRPr lang="en-US" dirty="0"/>
        </a:p>
      </dgm:t>
    </dgm:pt>
    <dgm:pt modelId="{DC370E83-4313-4300-A10B-DBC8240DE5AA}" type="parTrans" cxnId="{0C22E3B0-2E25-4CB1-B905-D786EE9F523E}">
      <dgm:prSet/>
      <dgm:spPr/>
      <dgm:t>
        <a:bodyPr/>
        <a:lstStyle/>
        <a:p>
          <a:endParaRPr lang="en-US"/>
        </a:p>
      </dgm:t>
    </dgm:pt>
    <dgm:pt modelId="{AF45A36A-B36E-483A-9AAB-A482BE9224E7}" type="sibTrans" cxnId="{0C22E3B0-2E25-4CB1-B905-D786EE9F523E}">
      <dgm:prSet/>
      <dgm:spPr/>
      <dgm:t>
        <a:bodyPr/>
        <a:lstStyle/>
        <a:p>
          <a:endParaRPr lang="en-US"/>
        </a:p>
      </dgm:t>
    </dgm:pt>
    <dgm:pt modelId="{3213E622-B109-42DA-801F-B0F2BD5F8295}" type="pres">
      <dgm:prSet presAssocID="{A583CEDE-E647-47CA-A667-559E9030B27A}" presName="root" presStyleCnt="0">
        <dgm:presLayoutVars>
          <dgm:dir/>
          <dgm:resizeHandles val="exact"/>
        </dgm:presLayoutVars>
      </dgm:prSet>
      <dgm:spPr/>
    </dgm:pt>
    <dgm:pt modelId="{E56AC07C-FB60-4CF0-8860-E2D998A12AC2}" type="pres">
      <dgm:prSet presAssocID="{E7557560-20D7-45F3-93CA-59CA59F1FAFA}" presName="compNode" presStyleCnt="0"/>
      <dgm:spPr/>
    </dgm:pt>
    <dgm:pt modelId="{D7DEB794-E1E8-45CB-B56A-E1BEF5BF397D}" type="pres">
      <dgm:prSet presAssocID="{E7557560-20D7-45F3-93CA-59CA59F1FAFA}" presName="iconRect" presStyleLbl="node1" presStyleIdx="0" presStyleCnt="3"/>
      <dgm:spPr>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a:noFill/>
        </a:ln>
      </dgm:spPr>
      <dgm:extLst>
        <a:ext uri="{E40237B7-FDA0-4F09-8148-C483321AD2D9}">
          <dgm14:cNvPr xmlns:dgm14="http://schemas.microsoft.com/office/drawing/2010/diagram" id="0" name="" descr="Magnifying glass with solid fill"/>
        </a:ext>
      </dgm:extLst>
    </dgm:pt>
    <dgm:pt modelId="{77CA0889-87A2-4A01-A15E-D71A85BDF4AA}" type="pres">
      <dgm:prSet presAssocID="{E7557560-20D7-45F3-93CA-59CA59F1FAFA}" presName="iconSpace" presStyleCnt="0"/>
      <dgm:spPr/>
    </dgm:pt>
    <dgm:pt modelId="{A23C1CDD-357C-458D-8788-A42EEB8EFB3D}" type="pres">
      <dgm:prSet presAssocID="{E7557560-20D7-45F3-93CA-59CA59F1FAFA}" presName="parTx" presStyleLbl="revTx" presStyleIdx="0" presStyleCnt="6">
        <dgm:presLayoutVars>
          <dgm:chMax val="0"/>
          <dgm:chPref val="0"/>
        </dgm:presLayoutVars>
      </dgm:prSet>
      <dgm:spPr/>
    </dgm:pt>
    <dgm:pt modelId="{3F22567E-3953-4C71-8C53-DB2D58B1DC7E}" type="pres">
      <dgm:prSet presAssocID="{E7557560-20D7-45F3-93CA-59CA59F1FAFA}" presName="txSpace" presStyleCnt="0"/>
      <dgm:spPr/>
    </dgm:pt>
    <dgm:pt modelId="{B0C7D408-00F6-410C-8935-8E4506F76249}" type="pres">
      <dgm:prSet presAssocID="{E7557560-20D7-45F3-93CA-59CA59F1FAFA}" presName="desTx" presStyleLbl="revTx" presStyleIdx="1" presStyleCnt="6">
        <dgm:presLayoutVars/>
      </dgm:prSet>
      <dgm:spPr/>
    </dgm:pt>
    <dgm:pt modelId="{CB7F799C-3676-42EE-B818-1623F7C468CE}" type="pres">
      <dgm:prSet presAssocID="{6B5FF232-FFD8-464C-A2BF-F6879257252B}" presName="sibTrans" presStyleCnt="0"/>
      <dgm:spPr/>
    </dgm:pt>
    <dgm:pt modelId="{1C1F7804-62E5-4649-A4B1-B80505A7584E}" type="pres">
      <dgm:prSet presAssocID="{55068EE7-2CDE-410B-8408-2991BA615557}" presName="compNode" presStyleCnt="0"/>
      <dgm:spPr/>
    </dgm:pt>
    <dgm:pt modelId="{A431BDFC-AEE0-4655-9C58-0D3278EDB5F8}" type="pres">
      <dgm:prSet presAssocID="{55068EE7-2CDE-410B-8408-2991BA615557}"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Muscle Arm"/>
        </a:ext>
      </dgm:extLst>
    </dgm:pt>
    <dgm:pt modelId="{8E6FABD8-2220-464A-8FBC-D656631DC7F5}" type="pres">
      <dgm:prSet presAssocID="{55068EE7-2CDE-410B-8408-2991BA615557}" presName="iconSpace" presStyleCnt="0"/>
      <dgm:spPr/>
    </dgm:pt>
    <dgm:pt modelId="{832D6505-5A04-4327-86E1-02382CB34F7E}" type="pres">
      <dgm:prSet presAssocID="{55068EE7-2CDE-410B-8408-2991BA615557}" presName="parTx" presStyleLbl="revTx" presStyleIdx="2" presStyleCnt="6">
        <dgm:presLayoutVars>
          <dgm:chMax val="0"/>
          <dgm:chPref val="0"/>
        </dgm:presLayoutVars>
      </dgm:prSet>
      <dgm:spPr/>
    </dgm:pt>
    <dgm:pt modelId="{890A0B6E-9017-4AFE-A256-43A92A27A196}" type="pres">
      <dgm:prSet presAssocID="{55068EE7-2CDE-410B-8408-2991BA615557}" presName="txSpace" presStyleCnt="0"/>
      <dgm:spPr/>
    </dgm:pt>
    <dgm:pt modelId="{66D4A7D1-E564-4186-ADB0-C697680BC561}" type="pres">
      <dgm:prSet presAssocID="{55068EE7-2CDE-410B-8408-2991BA615557}" presName="desTx" presStyleLbl="revTx" presStyleIdx="3" presStyleCnt="6">
        <dgm:presLayoutVars/>
      </dgm:prSet>
      <dgm:spPr/>
    </dgm:pt>
    <dgm:pt modelId="{BDE5E34A-757E-42F6-A4B9-AFF77E915901}" type="pres">
      <dgm:prSet presAssocID="{E7B2F60A-DD8A-48A2-9F2F-E7CD45848433}" presName="sibTrans" presStyleCnt="0"/>
      <dgm:spPr/>
    </dgm:pt>
    <dgm:pt modelId="{44C1EF23-21E5-4B12-9A05-B8C38105D3D2}" type="pres">
      <dgm:prSet presAssocID="{08ACE292-7BB7-4DF5-A9BD-1B7A8660DA89}" presName="compNode" presStyleCnt="0"/>
      <dgm:spPr/>
    </dgm:pt>
    <dgm:pt modelId="{807C542B-62FB-4F2C-B6F2-73FA2E2B251A}" type="pres">
      <dgm:prSet presAssocID="{08ACE292-7BB7-4DF5-A9BD-1B7A8660DA89}" presName="iconRect" presStyleLbl="node1" presStyleIdx="2" presStyleCnt="3"/>
      <dgm:spPr>
        <a:blipFill>
          <a:blip xmlns:r="http://schemas.openxmlformats.org/officeDocument/2006/relationships">
            <a:extLst>
              <a:ext uri="{96DAC541-7B7A-43D3-8B79-37D633B846F1}">
                <asvg:svgBlip xmlns:asvg="http://schemas.microsoft.com/office/drawing/2016/SVG/main" r:embed="rId3"/>
              </a:ext>
            </a:extLst>
          </a:blip>
          <a:srcRect/>
          <a:stretch>
            <a:fillRect/>
          </a:stretch>
        </a:blipFill>
        <a:ln>
          <a:noFill/>
        </a:ln>
      </dgm:spPr>
      <dgm:extLst>
        <a:ext uri="{E40237B7-FDA0-4F09-8148-C483321AD2D9}">
          <dgm14:cNvPr xmlns:dgm14="http://schemas.microsoft.com/office/drawing/2010/diagram" id="0" name="" descr="Playbook with solid fill"/>
        </a:ext>
      </dgm:extLst>
    </dgm:pt>
    <dgm:pt modelId="{AB9D50C6-8063-450E-AFD9-F1CFDA68163A}" type="pres">
      <dgm:prSet presAssocID="{08ACE292-7BB7-4DF5-A9BD-1B7A8660DA89}" presName="iconSpace" presStyleCnt="0"/>
      <dgm:spPr/>
    </dgm:pt>
    <dgm:pt modelId="{780F3C3D-DDE2-4474-ADB3-A2AA4A868D0E}" type="pres">
      <dgm:prSet presAssocID="{08ACE292-7BB7-4DF5-A9BD-1B7A8660DA89}" presName="parTx" presStyleLbl="revTx" presStyleIdx="4" presStyleCnt="6">
        <dgm:presLayoutVars>
          <dgm:chMax val="0"/>
          <dgm:chPref val="0"/>
        </dgm:presLayoutVars>
      </dgm:prSet>
      <dgm:spPr/>
    </dgm:pt>
    <dgm:pt modelId="{04E9643E-1ECE-4DC2-8433-53432518B951}" type="pres">
      <dgm:prSet presAssocID="{08ACE292-7BB7-4DF5-A9BD-1B7A8660DA89}" presName="txSpace" presStyleCnt="0"/>
      <dgm:spPr/>
    </dgm:pt>
    <dgm:pt modelId="{EBBC1388-3B93-4130-A7B1-76FFBB48699A}" type="pres">
      <dgm:prSet presAssocID="{08ACE292-7BB7-4DF5-A9BD-1B7A8660DA89}" presName="desTx" presStyleLbl="revTx" presStyleIdx="5" presStyleCnt="6">
        <dgm:presLayoutVars/>
      </dgm:prSet>
      <dgm:spPr/>
    </dgm:pt>
  </dgm:ptLst>
  <dgm:cxnLst>
    <dgm:cxn modelId="{2A592928-8130-4D3F-B733-D66AC2B831E6}" type="presOf" srcId="{55068EE7-2CDE-410B-8408-2991BA615557}" destId="{832D6505-5A04-4327-86E1-02382CB34F7E}" srcOrd="0" destOrd="0" presId="urn:microsoft.com/office/officeart/2018/5/layout/CenteredIconLabelDescriptionList"/>
    <dgm:cxn modelId="{DF47FA2E-5A25-41C2-BC5B-3BB074AAD85B}" type="presOf" srcId="{08ACE292-7BB7-4DF5-A9BD-1B7A8660DA89}" destId="{780F3C3D-DDE2-4474-ADB3-A2AA4A868D0E}" srcOrd="0" destOrd="0" presId="urn:microsoft.com/office/officeart/2018/5/layout/CenteredIconLabelDescriptionList"/>
    <dgm:cxn modelId="{D0A69632-A509-4AC9-88C5-1C58E2E6D928}" type="presOf" srcId="{A583CEDE-E647-47CA-A667-559E9030B27A}" destId="{3213E622-B109-42DA-801F-B0F2BD5F8295}" srcOrd="0" destOrd="0" presId="urn:microsoft.com/office/officeart/2018/5/layout/CenteredIconLabelDescriptionList"/>
    <dgm:cxn modelId="{0C22E3B0-2E25-4CB1-B905-D786EE9F523E}" srcId="{A583CEDE-E647-47CA-A667-559E9030B27A}" destId="{08ACE292-7BB7-4DF5-A9BD-1B7A8660DA89}" srcOrd="2" destOrd="0" parTransId="{DC370E83-4313-4300-A10B-DBC8240DE5AA}" sibTransId="{AF45A36A-B36E-483A-9AAB-A482BE9224E7}"/>
    <dgm:cxn modelId="{C90831B4-0F89-4842-AD65-49024538AF10}" srcId="{A583CEDE-E647-47CA-A667-559E9030B27A}" destId="{55068EE7-2CDE-410B-8408-2991BA615557}" srcOrd="1" destOrd="0" parTransId="{EE46C4A3-0788-43EB-A140-AE6135C8C210}" sibTransId="{E7B2F60A-DD8A-48A2-9F2F-E7CD45848433}"/>
    <dgm:cxn modelId="{101328D3-F892-4573-9C2B-24C8E576A0FB}" srcId="{A583CEDE-E647-47CA-A667-559E9030B27A}" destId="{E7557560-20D7-45F3-93CA-59CA59F1FAFA}" srcOrd="0" destOrd="0" parTransId="{E4CAD1B0-2735-4664-B73D-F7A5D7A98788}" sibTransId="{6B5FF232-FFD8-464C-A2BF-F6879257252B}"/>
    <dgm:cxn modelId="{67985ED8-9027-4E07-B24D-E6D60FACAE96}" type="presOf" srcId="{E7557560-20D7-45F3-93CA-59CA59F1FAFA}" destId="{A23C1CDD-357C-458D-8788-A42EEB8EFB3D}" srcOrd="0" destOrd="0" presId="urn:microsoft.com/office/officeart/2018/5/layout/CenteredIconLabelDescriptionList"/>
    <dgm:cxn modelId="{A22EC50F-A737-431A-97B9-362C746C21FB}" type="presParOf" srcId="{3213E622-B109-42DA-801F-B0F2BD5F8295}" destId="{E56AC07C-FB60-4CF0-8860-E2D998A12AC2}" srcOrd="0" destOrd="0" presId="urn:microsoft.com/office/officeart/2018/5/layout/CenteredIconLabelDescriptionList"/>
    <dgm:cxn modelId="{0CF9B889-83E8-4F18-AC5E-3E1DDE4B8DC6}" type="presParOf" srcId="{E56AC07C-FB60-4CF0-8860-E2D998A12AC2}" destId="{D7DEB794-E1E8-45CB-B56A-E1BEF5BF397D}" srcOrd="0" destOrd="0" presId="urn:microsoft.com/office/officeart/2018/5/layout/CenteredIconLabelDescriptionList"/>
    <dgm:cxn modelId="{6E756A4F-E8A0-4725-812C-DABB41FB0587}" type="presParOf" srcId="{E56AC07C-FB60-4CF0-8860-E2D998A12AC2}" destId="{77CA0889-87A2-4A01-A15E-D71A85BDF4AA}" srcOrd="1" destOrd="0" presId="urn:microsoft.com/office/officeart/2018/5/layout/CenteredIconLabelDescriptionList"/>
    <dgm:cxn modelId="{D393ECF4-3E95-4AC4-A241-C1EB5D0E0625}" type="presParOf" srcId="{E56AC07C-FB60-4CF0-8860-E2D998A12AC2}" destId="{A23C1CDD-357C-458D-8788-A42EEB8EFB3D}" srcOrd="2" destOrd="0" presId="urn:microsoft.com/office/officeart/2018/5/layout/CenteredIconLabelDescriptionList"/>
    <dgm:cxn modelId="{708932CB-CEA3-4A18-83CE-583716BA6A52}" type="presParOf" srcId="{E56AC07C-FB60-4CF0-8860-E2D998A12AC2}" destId="{3F22567E-3953-4C71-8C53-DB2D58B1DC7E}" srcOrd="3" destOrd="0" presId="urn:microsoft.com/office/officeart/2018/5/layout/CenteredIconLabelDescriptionList"/>
    <dgm:cxn modelId="{C51E8F33-4641-47B8-A482-493071D71040}" type="presParOf" srcId="{E56AC07C-FB60-4CF0-8860-E2D998A12AC2}" destId="{B0C7D408-00F6-410C-8935-8E4506F76249}" srcOrd="4" destOrd="0" presId="urn:microsoft.com/office/officeart/2018/5/layout/CenteredIconLabelDescriptionList"/>
    <dgm:cxn modelId="{4A7E5707-CED8-4429-A710-85CE992F52C0}" type="presParOf" srcId="{3213E622-B109-42DA-801F-B0F2BD5F8295}" destId="{CB7F799C-3676-42EE-B818-1623F7C468CE}" srcOrd="1" destOrd="0" presId="urn:microsoft.com/office/officeart/2018/5/layout/CenteredIconLabelDescriptionList"/>
    <dgm:cxn modelId="{6ABDD80C-B84E-49D2-9DA1-5D151CBDFCD3}" type="presParOf" srcId="{3213E622-B109-42DA-801F-B0F2BD5F8295}" destId="{1C1F7804-62E5-4649-A4B1-B80505A7584E}" srcOrd="2" destOrd="0" presId="urn:microsoft.com/office/officeart/2018/5/layout/CenteredIconLabelDescriptionList"/>
    <dgm:cxn modelId="{3E816AD2-C949-47B5-B5D7-25B3B888DDBD}" type="presParOf" srcId="{1C1F7804-62E5-4649-A4B1-B80505A7584E}" destId="{A431BDFC-AEE0-4655-9C58-0D3278EDB5F8}" srcOrd="0" destOrd="0" presId="urn:microsoft.com/office/officeart/2018/5/layout/CenteredIconLabelDescriptionList"/>
    <dgm:cxn modelId="{8A5C84A1-3AF0-4761-8D99-8F6395FD73E1}" type="presParOf" srcId="{1C1F7804-62E5-4649-A4B1-B80505A7584E}" destId="{8E6FABD8-2220-464A-8FBC-D656631DC7F5}" srcOrd="1" destOrd="0" presId="urn:microsoft.com/office/officeart/2018/5/layout/CenteredIconLabelDescriptionList"/>
    <dgm:cxn modelId="{01AE3FC9-CD10-4ED5-8F2C-5246DD13D88B}" type="presParOf" srcId="{1C1F7804-62E5-4649-A4B1-B80505A7584E}" destId="{832D6505-5A04-4327-86E1-02382CB34F7E}" srcOrd="2" destOrd="0" presId="urn:microsoft.com/office/officeart/2018/5/layout/CenteredIconLabelDescriptionList"/>
    <dgm:cxn modelId="{846BD028-8250-434E-9DF7-8A6A8E57800F}" type="presParOf" srcId="{1C1F7804-62E5-4649-A4B1-B80505A7584E}" destId="{890A0B6E-9017-4AFE-A256-43A92A27A196}" srcOrd="3" destOrd="0" presId="urn:microsoft.com/office/officeart/2018/5/layout/CenteredIconLabelDescriptionList"/>
    <dgm:cxn modelId="{0DDE3176-5104-4C90-BCD6-999363D3B3A7}" type="presParOf" srcId="{1C1F7804-62E5-4649-A4B1-B80505A7584E}" destId="{66D4A7D1-E564-4186-ADB0-C697680BC561}" srcOrd="4" destOrd="0" presId="urn:microsoft.com/office/officeart/2018/5/layout/CenteredIconLabelDescriptionList"/>
    <dgm:cxn modelId="{2643A944-7271-448E-84E1-161C730A29F1}" type="presParOf" srcId="{3213E622-B109-42DA-801F-B0F2BD5F8295}" destId="{BDE5E34A-757E-42F6-A4B9-AFF77E915901}" srcOrd="3" destOrd="0" presId="urn:microsoft.com/office/officeart/2018/5/layout/CenteredIconLabelDescriptionList"/>
    <dgm:cxn modelId="{64DA158F-76C5-44D4-A138-80DB1FEBC6DB}" type="presParOf" srcId="{3213E622-B109-42DA-801F-B0F2BD5F8295}" destId="{44C1EF23-21E5-4B12-9A05-B8C38105D3D2}" srcOrd="4" destOrd="0" presId="urn:microsoft.com/office/officeart/2018/5/layout/CenteredIconLabelDescriptionList"/>
    <dgm:cxn modelId="{EC2323E2-E5CE-4D60-B1FD-A429572152D9}" type="presParOf" srcId="{44C1EF23-21E5-4B12-9A05-B8C38105D3D2}" destId="{807C542B-62FB-4F2C-B6F2-73FA2E2B251A}" srcOrd="0" destOrd="0" presId="urn:microsoft.com/office/officeart/2018/5/layout/CenteredIconLabelDescriptionList"/>
    <dgm:cxn modelId="{02B0A021-A457-4C97-A025-714F7D332301}" type="presParOf" srcId="{44C1EF23-21E5-4B12-9A05-B8C38105D3D2}" destId="{AB9D50C6-8063-450E-AFD9-F1CFDA68163A}" srcOrd="1" destOrd="0" presId="urn:microsoft.com/office/officeart/2018/5/layout/CenteredIconLabelDescriptionList"/>
    <dgm:cxn modelId="{56A0F445-0B1A-4AA4-94EA-28708E1F5F4A}" type="presParOf" srcId="{44C1EF23-21E5-4B12-9A05-B8C38105D3D2}" destId="{780F3C3D-DDE2-4474-ADB3-A2AA4A868D0E}" srcOrd="2" destOrd="0" presId="urn:microsoft.com/office/officeart/2018/5/layout/CenteredIconLabelDescriptionList"/>
    <dgm:cxn modelId="{8D244324-EB91-4BBC-AC45-4C26D8951B2D}" type="presParOf" srcId="{44C1EF23-21E5-4B12-9A05-B8C38105D3D2}" destId="{04E9643E-1ECE-4DC2-8433-53432518B951}" srcOrd="3" destOrd="0" presId="urn:microsoft.com/office/officeart/2018/5/layout/CenteredIconLabelDescriptionList"/>
    <dgm:cxn modelId="{BC393C2E-1E38-4B82-8C27-81138203C25C}" type="presParOf" srcId="{44C1EF23-21E5-4B12-9A05-B8C38105D3D2}" destId="{EBBC1388-3B93-4130-A7B1-76FFBB48699A}" srcOrd="4" destOrd="0" presId="urn:microsoft.com/office/officeart/2018/5/layout/CenteredIconLabelDescription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83BC92FE-39A7-43AA-B371-06FC86F327F9}" type="doc">
      <dgm:prSet loTypeId="urn:microsoft.com/office/officeart/2018/2/layout/IconLabelDescriptionList" loCatId="icon" qsTypeId="urn:microsoft.com/office/officeart/2005/8/quickstyle/simple1#64" qsCatId="simple" csTypeId="urn:microsoft.com/office/officeart/2018/5/colors/Iconchunking_neutralbg_colorful2" csCatId="colorful" phldr="1"/>
      <dgm:spPr/>
      <dgm:t>
        <a:bodyPr/>
        <a:lstStyle/>
        <a:p>
          <a:endParaRPr lang="en-US"/>
        </a:p>
      </dgm:t>
    </dgm:pt>
    <dgm:pt modelId="{BF707721-8F8B-47D7-804D-3109819BE9E5}">
      <dgm:prSet/>
      <dgm:spPr/>
      <dgm:t>
        <a:bodyPr/>
        <a:lstStyle/>
        <a:p>
          <a:pPr>
            <a:lnSpc>
              <a:spcPct val="100000"/>
            </a:lnSpc>
            <a:defRPr b="1"/>
          </a:pPr>
          <a:r>
            <a:rPr lang="en-GB" dirty="0"/>
            <a:t>1. Descriptive</a:t>
          </a:r>
          <a:endParaRPr lang="en-US" dirty="0"/>
        </a:p>
      </dgm:t>
    </dgm:pt>
    <dgm:pt modelId="{0FC4F028-2679-4C1A-B02A-BBF2B9F63150}" type="parTrans" cxnId="{B7533276-D027-4A08-AAC4-F4BA9C626469}">
      <dgm:prSet/>
      <dgm:spPr/>
      <dgm:t>
        <a:bodyPr/>
        <a:lstStyle/>
        <a:p>
          <a:endParaRPr lang="en-US"/>
        </a:p>
      </dgm:t>
    </dgm:pt>
    <dgm:pt modelId="{AD3A7166-8836-435B-B8AE-8C254DF1AADE}" type="sibTrans" cxnId="{B7533276-D027-4A08-AAC4-F4BA9C626469}">
      <dgm:prSet/>
      <dgm:spPr/>
      <dgm:t>
        <a:bodyPr/>
        <a:lstStyle/>
        <a:p>
          <a:endParaRPr lang="en-US"/>
        </a:p>
      </dgm:t>
    </dgm:pt>
    <dgm:pt modelId="{B926BFFD-0A0C-4EEB-8DDF-BEC101799EE4}">
      <dgm:prSet/>
      <dgm:spPr/>
      <dgm:t>
        <a:bodyPr/>
        <a:lstStyle/>
        <a:p>
          <a:pPr>
            <a:lnSpc>
              <a:spcPct val="100000"/>
            </a:lnSpc>
          </a:pPr>
          <a:r>
            <a:rPr lang="en-GB" dirty="0"/>
            <a:t>What happened?</a:t>
          </a:r>
          <a:endParaRPr lang="en-US" dirty="0"/>
        </a:p>
      </dgm:t>
    </dgm:pt>
    <dgm:pt modelId="{384DE573-DE35-423E-ADF0-85DCBE7F93AC}" type="parTrans" cxnId="{070E2886-5A38-4F04-B146-077C50F2C998}">
      <dgm:prSet/>
      <dgm:spPr/>
      <dgm:t>
        <a:bodyPr/>
        <a:lstStyle/>
        <a:p>
          <a:endParaRPr lang="en-US"/>
        </a:p>
      </dgm:t>
    </dgm:pt>
    <dgm:pt modelId="{8440D828-B4A6-4F66-BA98-5086977F3C49}" type="sibTrans" cxnId="{070E2886-5A38-4F04-B146-077C50F2C998}">
      <dgm:prSet/>
      <dgm:spPr/>
      <dgm:t>
        <a:bodyPr/>
        <a:lstStyle/>
        <a:p>
          <a:endParaRPr lang="en-US"/>
        </a:p>
      </dgm:t>
    </dgm:pt>
    <dgm:pt modelId="{136F4BFD-0582-4579-82A5-A95C73D55870}">
      <dgm:prSet/>
      <dgm:spPr/>
      <dgm:t>
        <a:bodyPr/>
        <a:lstStyle/>
        <a:p>
          <a:pPr>
            <a:lnSpc>
              <a:spcPct val="100000"/>
            </a:lnSpc>
            <a:defRPr b="1"/>
          </a:pPr>
          <a:r>
            <a:rPr lang="en-GB"/>
            <a:t>2. Diagnostic</a:t>
          </a:r>
          <a:endParaRPr lang="en-US"/>
        </a:p>
      </dgm:t>
    </dgm:pt>
    <dgm:pt modelId="{C67336CF-F313-49B9-A40A-B41BFDE55BC3}" type="parTrans" cxnId="{E62F4FD4-71A7-44CA-9422-49F00DCFAD4F}">
      <dgm:prSet/>
      <dgm:spPr/>
      <dgm:t>
        <a:bodyPr/>
        <a:lstStyle/>
        <a:p>
          <a:endParaRPr lang="en-US"/>
        </a:p>
      </dgm:t>
    </dgm:pt>
    <dgm:pt modelId="{A648417D-217C-434C-9334-E0774764047B}" type="sibTrans" cxnId="{E62F4FD4-71A7-44CA-9422-49F00DCFAD4F}">
      <dgm:prSet/>
      <dgm:spPr/>
      <dgm:t>
        <a:bodyPr/>
        <a:lstStyle/>
        <a:p>
          <a:endParaRPr lang="en-US"/>
        </a:p>
      </dgm:t>
    </dgm:pt>
    <dgm:pt modelId="{3902D11C-F772-4D98-AD43-68757266B871}">
      <dgm:prSet/>
      <dgm:spPr/>
      <dgm:t>
        <a:bodyPr/>
        <a:lstStyle/>
        <a:p>
          <a:pPr>
            <a:lnSpc>
              <a:spcPct val="100000"/>
            </a:lnSpc>
          </a:pPr>
          <a:r>
            <a:rPr lang="en-GB" dirty="0"/>
            <a:t>Why / how did it happen?</a:t>
          </a:r>
          <a:endParaRPr lang="en-US" dirty="0"/>
        </a:p>
      </dgm:t>
    </dgm:pt>
    <dgm:pt modelId="{604A71A0-6B61-4D71-83AF-2F99DB02191E}" type="parTrans" cxnId="{29660571-F26F-45B6-8E2C-167DA4BE26D0}">
      <dgm:prSet/>
      <dgm:spPr/>
      <dgm:t>
        <a:bodyPr/>
        <a:lstStyle/>
        <a:p>
          <a:endParaRPr lang="en-US"/>
        </a:p>
      </dgm:t>
    </dgm:pt>
    <dgm:pt modelId="{90F04341-BC2E-414C-B73C-082CA4A032F2}" type="sibTrans" cxnId="{29660571-F26F-45B6-8E2C-167DA4BE26D0}">
      <dgm:prSet/>
      <dgm:spPr/>
      <dgm:t>
        <a:bodyPr/>
        <a:lstStyle/>
        <a:p>
          <a:endParaRPr lang="en-US"/>
        </a:p>
      </dgm:t>
    </dgm:pt>
    <dgm:pt modelId="{D02B5C5A-D5CF-4981-88F1-9872057F386D}">
      <dgm:prSet/>
      <dgm:spPr/>
      <dgm:t>
        <a:bodyPr/>
        <a:lstStyle/>
        <a:p>
          <a:pPr>
            <a:lnSpc>
              <a:spcPct val="100000"/>
            </a:lnSpc>
            <a:defRPr b="1"/>
          </a:pPr>
          <a:r>
            <a:rPr lang="en-GB"/>
            <a:t>3. Predictive </a:t>
          </a:r>
          <a:endParaRPr lang="en-US"/>
        </a:p>
      </dgm:t>
    </dgm:pt>
    <dgm:pt modelId="{28D3AB59-3A7D-4C16-AFF5-5CE3FB30E651}" type="parTrans" cxnId="{EA80F0A2-D621-404F-AC17-FF86954DC666}">
      <dgm:prSet/>
      <dgm:spPr/>
      <dgm:t>
        <a:bodyPr/>
        <a:lstStyle/>
        <a:p>
          <a:endParaRPr lang="en-US"/>
        </a:p>
      </dgm:t>
    </dgm:pt>
    <dgm:pt modelId="{E8926A1D-43E6-4A00-9FAA-64901C7B3941}" type="sibTrans" cxnId="{EA80F0A2-D621-404F-AC17-FF86954DC666}">
      <dgm:prSet/>
      <dgm:spPr/>
      <dgm:t>
        <a:bodyPr/>
        <a:lstStyle/>
        <a:p>
          <a:endParaRPr lang="en-US"/>
        </a:p>
      </dgm:t>
    </dgm:pt>
    <dgm:pt modelId="{5D7E3DDE-E800-40BB-8333-6FA2DC05CC7E}">
      <dgm:prSet/>
      <dgm:spPr/>
      <dgm:t>
        <a:bodyPr/>
        <a:lstStyle/>
        <a:p>
          <a:pPr>
            <a:lnSpc>
              <a:spcPct val="100000"/>
            </a:lnSpc>
          </a:pPr>
          <a:r>
            <a:rPr lang="en-GB"/>
            <a:t>What is likely to happen?</a:t>
          </a:r>
          <a:endParaRPr lang="en-US"/>
        </a:p>
      </dgm:t>
    </dgm:pt>
    <dgm:pt modelId="{0CEE91DF-5475-4D34-BB77-D1BD09D119CB}" type="parTrans" cxnId="{FCD80AA3-A162-42C3-BD4E-10B046F1EC8F}">
      <dgm:prSet/>
      <dgm:spPr/>
      <dgm:t>
        <a:bodyPr/>
        <a:lstStyle/>
        <a:p>
          <a:endParaRPr lang="en-US"/>
        </a:p>
      </dgm:t>
    </dgm:pt>
    <dgm:pt modelId="{D50F909D-B1A2-4D59-AF8A-4C59330DC506}" type="sibTrans" cxnId="{FCD80AA3-A162-42C3-BD4E-10B046F1EC8F}">
      <dgm:prSet/>
      <dgm:spPr/>
      <dgm:t>
        <a:bodyPr/>
        <a:lstStyle/>
        <a:p>
          <a:endParaRPr lang="en-US"/>
        </a:p>
      </dgm:t>
    </dgm:pt>
    <dgm:pt modelId="{60FFA69C-7C61-4DA1-AD1E-3AA5351D8F7B}">
      <dgm:prSet/>
      <dgm:spPr/>
      <dgm:t>
        <a:bodyPr/>
        <a:lstStyle/>
        <a:p>
          <a:pPr>
            <a:lnSpc>
              <a:spcPct val="100000"/>
            </a:lnSpc>
            <a:defRPr b="1"/>
          </a:pPr>
          <a:r>
            <a:rPr lang="en-GB"/>
            <a:t>4. Prescriptive</a:t>
          </a:r>
          <a:endParaRPr lang="en-US"/>
        </a:p>
      </dgm:t>
    </dgm:pt>
    <dgm:pt modelId="{F7703B36-43F1-4FDD-9CC8-8BE666BA12DB}" type="parTrans" cxnId="{0FEE528B-D499-48FD-B7B0-186A736EB87F}">
      <dgm:prSet/>
      <dgm:spPr/>
      <dgm:t>
        <a:bodyPr/>
        <a:lstStyle/>
        <a:p>
          <a:endParaRPr lang="en-US"/>
        </a:p>
      </dgm:t>
    </dgm:pt>
    <dgm:pt modelId="{26831936-AA72-4136-92B5-044BA81B31BD}" type="sibTrans" cxnId="{0FEE528B-D499-48FD-B7B0-186A736EB87F}">
      <dgm:prSet/>
      <dgm:spPr/>
      <dgm:t>
        <a:bodyPr/>
        <a:lstStyle/>
        <a:p>
          <a:endParaRPr lang="en-US"/>
        </a:p>
      </dgm:t>
    </dgm:pt>
    <dgm:pt modelId="{D2FB5E07-4AE8-4A52-A529-EAF5514CCBF0}">
      <dgm:prSet/>
      <dgm:spPr/>
      <dgm:t>
        <a:bodyPr/>
        <a:lstStyle/>
        <a:p>
          <a:pPr>
            <a:lnSpc>
              <a:spcPct val="100000"/>
            </a:lnSpc>
          </a:pPr>
          <a:r>
            <a:rPr lang="en-GB"/>
            <a:t>What should we do about it?</a:t>
          </a:r>
          <a:endParaRPr lang="en-US"/>
        </a:p>
      </dgm:t>
    </dgm:pt>
    <dgm:pt modelId="{0E861B8B-27B2-4E4C-9D13-45B7E6978B81}" type="parTrans" cxnId="{BEE89AEF-8C6A-4222-867F-211FB33D3B2F}">
      <dgm:prSet/>
      <dgm:spPr/>
      <dgm:t>
        <a:bodyPr/>
        <a:lstStyle/>
        <a:p>
          <a:endParaRPr lang="en-US"/>
        </a:p>
      </dgm:t>
    </dgm:pt>
    <dgm:pt modelId="{F4542E72-ED74-4F26-A65A-2BCFEF551534}" type="sibTrans" cxnId="{BEE89AEF-8C6A-4222-867F-211FB33D3B2F}">
      <dgm:prSet/>
      <dgm:spPr/>
      <dgm:t>
        <a:bodyPr/>
        <a:lstStyle/>
        <a:p>
          <a:endParaRPr lang="en-US"/>
        </a:p>
      </dgm:t>
    </dgm:pt>
    <dgm:pt modelId="{6D871FBD-051F-44D1-B00F-6FBA349FEA21}" type="pres">
      <dgm:prSet presAssocID="{83BC92FE-39A7-43AA-B371-06FC86F327F9}" presName="root" presStyleCnt="0">
        <dgm:presLayoutVars>
          <dgm:dir/>
          <dgm:resizeHandles val="exact"/>
        </dgm:presLayoutVars>
      </dgm:prSet>
      <dgm:spPr/>
    </dgm:pt>
    <dgm:pt modelId="{39E77AD7-91C5-4D46-9BC8-CF6809AC7A23}" type="pres">
      <dgm:prSet presAssocID="{BF707721-8F8B-47D7-804D-3109819BE9E5}" presName="compNode" presStyleCnt="0"/>
      <dgm:spPr/>
    </dgm:pt>
    <dgm:pt modelId="{E4928810-BCC7-4F98-A356-F4FA46189ED3}" type="pres">
      <dgm:prSet presAssocID="{BF707721-8F8B-47D7-804D-3109819BE9E5}" presName="iconRect" presStyleLbl="node1" presStyleIdx="0" presStyleCnt="4" custLinFactNeighborX="-500"/>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Customer Review"/>
        </a:ext>
      </dgm:extLst>
    </dgm:pt>
    <dgm:pt modelId="{01BDB177-DEDC-410D-AA8A-55B9A4315704}" type="pres">
      <dgm:prSet presAssocID="{BF707721-8F8B-47D7-804D-3109819BE9E5}" presName="iconSpace" presStyleCnt="0"/>
      <dgm:spPr/>
    </dgm:pt>
    <dgm:pt modelId="{8E6B3E7A-9238-4392-BD23-80F64B24C815}" type="pres">
      <dgm:prSet presAssocID="{BF707721-8F8B-47D7-804D-3109819BE9E5}" presName="parTx" presStyleLbl="revTx" presStyleIdx="0" presStyleCnt="8">
        <dgm:presLayoutVars>
          <dgm:chMax val="0"/>
          <dgm:chPref val="0"/>
        </dgm:presLayoutVars>
      </dgm:prSet>
      <dgm:spPr/>
    </dgm:pt>
    <dgm:pt modelId="{47E5C1E9-8383-481E-92CA-34243039DDD4}" type="pres">
      <dgm:prSet presAssocID="{BF707721-8F8B-47D7-804D-3109819BE9E5}" presName="txSpace" presStyleCnt="0"/>
      <dgm:spPr/>
    </dgm:pt>
    <dgm:pt modelId="{A745A52F-9E23-45EE-8F17-4DA17BE2B6CF}" type="pres">
      <dgm:prSet presAssocID="{BF707721-8F8B-47D7-804D-3109819BE9E5}" presName="desTx" presStyleLbl="revTx" presStyleIdx="1" presStyleCnt="8">
        <dgm:presLayoutVars/>
      </dgm:prSet>
      <dgm:spPr/>
    </dgm:pt>
    <dgm:pt modelId="{34250BE4-3296-42CC-9373-F6519E695556}" type="pres">
      <dgm:prSet presAssocID="{AD3A7166-8836-435B-B8AE-8C254DF1AADE}" presName="sibTrans" presStyleCnt="0"/>
      <dgm:spPr/>
    </dgm:pt>
    <dgm:pt modelId="{D0C5416B-BCCD-4943-A68B-BAA03102CA37}" type="pres">
      <dgm:prSet presAssocID="{136F4BFD-0582-4579-82A5-A95C73D55870}" presName="compNode" presStyleCnt="0"/>
      <dgm:spPr/>
    </dgm:pt>
    <dgm:pt modelId="{E4CCD96E-359E-4AA4-B588-048619C54F92}" type="pres">
      <dgm:prSet presAssocID="{136F4BFD-0582-4579-82A5-A95C73D55870}"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Question mark"/>
        </a:ext>
      </dgm:extLst>
    </dgm:pt>
    <dgm:pt modelId="{91DF6E32-7FF9-4D0B-8C00-DF1D4138C330}" type="pres">
      <dgm:prSet presAssocID="{136F4BFD-0582-4579-82A5-A95C73D55870}" presName="iconSpace" presStyleCnt="0"/>
      <dgm:spPr/>
    </dgm:pt>
    <dgm:pt modelId="{CAE12482-5CF7-471D-81B3-93E1D402E333}" type="pres">
      <dgm:prSet presAssocID="{136F4BFD-0582-4579-82A5-A95C73D55870}" presName="parTx" presStyleLbl="revTx" presStyleIdx="2" presStyleCnt="8">
        <dgm:presLayoutVars>
          <dgm:chMax val="0"/>
          <dgm:chPref val="0"/>
        </dgm:presLayoutVars>
      </dgm:prSet>
      <dgm:spPr/>
    </dgm:pt>
    <dgm:pt modelId="{1EFD1EB2-FA81-4FA8-9196-9D983B07D33D}" type="pres">
      <dgm:prSet presAssocID="{136F4BFD-0582-4579-82A5-A95C73D55870}" presName="txSpace" presStyleCnt="0"/>
      <dgm:spPr/>
    </dgm:pt>
    <dgm:pt modelId="{DF164D61-735C-4C87-8347-8B99FE586313}" type="pres">
      <dgm:prSet presAssocID="{136F4BFD-0582-4579-82A5-A95C73D55870}" presName="desTx" presStyleLbl="revTx" presStyleIdx="3" presStyleCnt="8">
        <dgm:presLayoutVars/>
      </dgm:prSet>
      <dgm:spPr/>
    </dgm:pt>
    <dgm:pt modelId="{87346C0F-81A6-42B5-B781-B793D5482864}" type="pres">
      <dgm:prSet presAssocID="{A648417D-217C-434C-9334-E0774764047B}" presName="sibTrans" presStyleCnt="0"/>
      <dgm:spPr/>
    </dgm:pt>
    <dgm:pt modelId="{0716210E-F8B6-4C61-B850-54652405DE05}" type="pres">
      <dgm:prSet presAssocID="{D02B5C5A-D5CF-4981-88F1-9872057F386D}" presName="compNode" presStyleCnt="0"/>
      <dgm:spPr/>
    </dgm:pt>
    <dgm:pt modelId="{666A0142-3994-4944-9021-255BBA065A0C}" type="pres">
      <dgm:prSet presAssocID="{D02B5C5A-D5CF-4981-88F1-9872057F386D}"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Dice"/>
        </a:ext>
      </dgm:extLst>
    </dgm:pt>
    <dgm:pt modelId="{3FCEF46A-B042-495E-8C45-25640ADB92BE}" type="pres">
      <dgm:prSet presAssocID="{D02B5C5A-D5CF-4981-88F1-9872057F386D}" presName="iconSpace" presStyleCnt="0"/>
      <dgm:spPr/>
    </dgm:pt>
    <dgm:pt modelId="{336AF011-C230-4B81-BC26-BF1B3B4EA562}" type="pres">
      <dgm:prSet presAssocID="{D02B5C5A-D5CF-4981-88F1-9872057F386D}" presName="parTx" presStyleLbl="revTx" presStyleIdx="4" presStyleCnt="8">
        <dgm:presLayoutVars>
          <dgm:chMax val="0"/>
          <dgm:chPref val="0"/>
        </dgm:presLayoutVars>
      </dgm:prSet>
      <dgm:spPr/>
    </dgm:pt>
    <dgm:pt modelId="{61DEFD93-FCFF-4DDA-86C5-8A382E4DFBC5}" type="pres">
      <dgm:prSet presAssocID="{D02B5C5A-D5CF-4981-88F1-9872057F386D}" presName="txSpace" presStyleCnt="0"/>
      <dgm:spPr/>
    </dgm:pt>
    <dgm:pt modelId="{BC429B17-4FF9-4CFE-A522-B522D9FDB460}" type="pres">
      <dgm:prSet presAssocID="{D02B5C5A-D5CF-4981-88F1-9872057F386D}" presName="desTx" presStyleLbl="revTx" presStyleIdx="5" presStyleCnt="8">
        <dgm:presLayoutVars/>
      </dgm:prSet>
      <dgm:spPr/>
    </dgm:pt>
    <dgm:pt modelId="{6491C7AE-4ACD-4A46-AF45-29C36013C418}" type="pres">
      <dgm:prSet presAssocID="{E8926A1D-43E6-4A00-9FAA-64901C7B3941}" presName="sibTrans" presStyleCnt="0"/>
      <dgm:spPr/>
    </dgm:pt>
    <dgm:pt modelId="{FB2B048C-C5E8-4D16-9310-B1807DED3D42}" type="pres">
      <dgm:prSet presAssocID="{60FFA69C-7C61-4DA1-AD1E-3AA5351D8F7B}" presName="compNode" presStyleCnt="0"/>
      <dgm:spPr/>
    </dgm:pt>
    <dgm:pt modelId="{3B74E4F1-1538-449B-978E-E9FFF5835B2B}" type="pres">
      <dgm:prSet presAssocID="{60FFA69C-7C61-4DA1-AD1E-3AA5351D8F7B}"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Venn Diagram"/>
        </a:ext>
      </dgm:extLst>
    </dgm:pt>
    <dgm:pt modelId="{63052B2B-EF66-4454-B27A-47B91830E209}" type="pres">
      <dgm:prSet presAssocID="{60FFA69C-7C61-4DA1-AD1E-3AA5351D8F7B}" presName="iconSpace" presStyleCnt="0"/>
      <dgm:spPr/>
    </dgm:pt>
    <dgm:pt modelId="{146C8532-5FED-4962-B4DE-1032849C3828}" type="pres">
      <dgm:prSet presAssocID="{60FFA69C-7C61-4DA1-AD1E-3AA5351D8F7B}" presName="parTx" presStyleLbl="revTx" presStyleIdx="6" presStyleCnt="8">
        <dgm:presLayoutVars>
          <dgm:chMax val="0"/>
          <dgm:chPref val="0"/>
        </dgm:presLayoutVars>
      </dgm:prSet>
      <dgm:spPr/>
    </dgm:pt>
    <dgm:pt modelId="{B31F5CE5-9315-4CD9-B103-ABA8AF8165A7}" type="pres">
      <dgm:prSet presAssocID="{60FFA69C-7C61-4DA1-AD1E-3AA5351D8F7B}" presName="txSpace" presStyleCnt="0"/>
      <dgm:spPr/>
    </dgm:pt>
    <dgm:pt modelId="{FDA8A98A-01BE-42F2-BDE9-E61C616C5813}" type="pres">
      <dgm:prSet presAssocID="{60FFA69C-7C61-4DA1-AD1E-3AA5351D8F7B}" presName="desTx" presStyleLbl="revTx" presStyleIdx="7" presStyleCnt="8">
        <dgm:presLayoutVars/>
      </dgm:prSet>
      <dgm:spPr/>
    </dgm:pt>
  </dgm:ptLst>
  <dgm:cxnLst>
    <dgm:cxn modelId="{790FDC00-E3FF-4B63-887A-8ACFB0540A48}" type="presOf" srcId="{136F4BFD-0582-4579-82A5-A95C73D55870}" destId="{CAE12482-5CF7-471D-81B3-93E1D402E333}" srcOrd="0" destOrd="0" presId="urn:microsoft.com/office/officeart/2018/2/layout/IconLabelDescriptionList"/>
    <dgm:cxn modelId="{A4A1FA4D-CC62-41D9-B89B-8C82D955DCA7}" type="presOf" srcId="{BF707721-8F8B-47D7-804D-3109819BE9E5}" destId="{8E6B3E7A-9238-4392-BD23-80F64B24C815}" srcOrd="0" destOrd="0" presId="urn:microsoft.com/office/officeart/2018/2/layout/IconLabelDescriptionList"/>
    <dgm:cxn modelId="{EB4A6A4F-8117-4111-8788-25BAA3A3086B}" type="presOf" srcId="{60FFA69C-7C61-4DA1-AD1E-3AA5351D8F7B}" destId="{146C8532-5FED-4962-B4DE-1032849C3828}" srcOrd="0" destOrd="0" presId="urn:microsoft.com/office/officeart/2018/2/layout/IconLabelDescriptionList"/>
    <dgm:cxn modelId="{1ADAC26C-C21D-4F5E-80D2-8F2BD6A07754}" type="presOf" srcId="{3902D11C-F772-4D98-AD43-68757266B871}" destId="{DF164D61-735C-4C87-8347-8B99FE586313}" srcOrd="0" destOrd="0" presId="urn:microsoft.com/office/officeart/2018/2/layout/IconLabelDescriptionList"/>
    <dgm:cxn modelId="{29660571-F26F-45B6-8E2C-167DA4BE26D0}" srcId="{136F4BFD-0582-4579-82A5-A95C73D55870}" destId="{3902D11C-F772-4D98-AD43-68757266B871}" srcOrd="0" destOrd="0" parTransId="{604A71A0-6B61-4D71-83AF-2F99DB02191E}" sibTransId="{90F04341-BC2E-414C-B73C-082CA4A032F2}"/>
    <dgm:cxn modelId="{3E5FE871-02BD-482D-BC2F-0212E6353F34}" type="presOf" srcId="{D02B5C5A-D5CF-4981-88F1-9872057F386D}" destId="{336AF011-C230-4B81-BC26-BF1B3B4EA562}" srcOrd="0" destOrd="0" presId="urn:microsoft.com/office/officeart/2018/2/layout/IconLabelDescriptionList"/>
    <dgm:cxn modelId="{B7533276-D027-4A08-AAC4-F4BA9C626469}" srcId="{83BC92FE-39A7-43AA-B371-06FC86F327F9}" destId="{BF707721-8F8B-47D7-804D-3109819BE9E5}" srcOrd="0" destOrd="0" parTransId="{0FC4F028-2679-4C1A-B02A-BBF2B9F63150}" sibTransId="{AD3A7166-8836-435B-B8AE-8C254DF1AADE}"/>
    <dgm:cxn modelId="{CB594185-3462-4788-9746-2E3AF6B2657E}" type="presOf" srcId="{5D7E3DDE-E800-40BB-8333-6FA2DC05CC7E}" destId="{BC429B17-4FF9-4CFE-A522-B522D9FDB460}" srcOrd="0" destOrd="0" presId="urn:microsoft.com/office/officeart/2018/2/layout/IconLabelDescriptionList"/>
    <dgm:cxn modelId="{070E2886-5A38-4F04-B146-077C50F2C998}" srcId="{BF707721-8F8B-47D7-804D-3109819BE9E5}" destId="{B926BFFD-0A0C-4EEB-8DDF-BEC101799EE4}" srcOrd="0" destOrd="0" parTransId="{384DE573-DE35-423E-ADF0-85DCBE7F93AC}" sibTransId="{8440D828-B4A6-4F66-BA98-5086977F3C49}"/>
    <dgm:cxn modelId="{0FEE528B-D499-48FD-B7B0-186A736EB87F}" srcId="{83BC92FE-39A7-43AA-B371-06FC86F327F9}" destId="{60FFA69C-7C61-4DA1-AD1E-3AA5351D8F7B}" srcOrd="3" destOrd="0" parTransId="{F7703B36-43F1-4FDD-9CC8-8BE666BA12DB}" sibTransId="{26831936-AA72-4136-92B5-044BA81B31BD}"/>
    <dgm:cxn modelId="{CD3D908F-F1F6-457A-94E9-93A5C91C8257}" type="presOf" srcId="{B926BFFD-0A0C-4EEB-8DDF-BEC101799EE4}" destId="{A745A52F-9E23-45EE-8F17-4DA17BE2B6CF}" srcOrd="0" destOrd="0" presId="urn:microsoft.com/office/officeart/2018/2/layout/IconLabelDescriptionList"/>
    <dgm:cxn modelId="{AC664A9E-E110-4A3B-8F8B-CE0C2EAA5D46}" type="presOf" srcId="{83BC92FE-39A7-43AA-B371-06FC86F327F9}" destId="{6D871FBD-051F-44D1-B00F-6FBA349FEA21}" srcOrd="0" destOrd="0" presId="urn:microsoft.com/office/officeart/2018/2/layout/IconLabelDescriptionList"/>
    <dgm:cxn modelId="{EA80F0A2-D621-404F-AC17-FF86954DC666}" srcId="{83BC92FE-39A7-43AA-B371-06FC86F327F9}" destId="{D02B5C5A-D5CF-4981-88F1-9872057F386D}" srcOrd="2" destOrd="0" parTransId="{28D3AB59-3A7D-4C16-AFF5-5CE3FB30E651}" sibTransId="{E8926A1D-43E6-4A00-9FAA-64901C7B3941}"/>
    <dgm:cxn modelId="{FCD80AA3-A162-42C3-BD4E-10B046F1EC8F}" srcId="{D02B5C5A-D5CF-4981-88F1-9872057F386D}" destId="{5D7E3DDE-E800-40BB-8333-6FA2DC05CC7E}" srcOrd="0" destOrd="0" parTransId="{0CEE91DF-5475-4D34-BB77-D1BD09D119CB}" sibTransId="{D50F909D-B1A2-4D59-AF8A-4C59330DC506}"/>
    <dgm:cxn modelId="{E62F4FD4-71A7-44CA-9422-49F00DCFAD4F}" srcId="{83BC92FE-39A7-43AA-B371-06FC86F327F9}" destId="{136F4BFD-0582-4579-82A5-A95C73D55870}" srcOrd="1" destOrd="0" parTransId="{C67336CF-F313-49B9-A40A-B41BFDE55BC3}" sibTransId="{A648417D-217C-434C-9334-E0774764047B}"/>
    <dgm:cxn modelId="{0D2EE2E9-11FF-4CDC-A2D5-8F236743A8AA}" type="presOf" srcId="{D2FB5E07-4AE8-4A52-A529-EAF5514CCBF0}" destId="{FDA8A98A-01BE-42F2-BDE9-E61C616C5813}" srcOrd="0" destOrd="0" presId="urn:microsoft.com/office/officeart/2018/2/layout/IconLabelDescriptionList"/>
    <dgm:cxn modelId="{BEE89AEF-8C6A-4222-867F-211FB33D3B2F}" srcId="{60FFA69C-7C61-4DA1-AD1E-3AA5351D8F7B}" destId="{D2FB5E07-4AE8-4A52-A529-EAF5514CCBF0}" srcOrd="0" destOrd="0" parTransId="{0E861B8B-27B2-4E4C-9D13-45B7E6978B81}" sibTransId="{F4542E72-ED74-4F26-A65A-2BCFEF551534}"/>
    <dgm:cxn modelId="{5A210101-2428-4748-9B7C-F01CC61E2D8D}" type="presParOf" srcId="{6D871FBD-051F-44D1-B00F-6FBA349FEA21}" destId="{39E77AD7-91C5-4D46-9BC8-CF6809AC7A23}" srcOrd="0" destOrd="0" presId="urn:microsoft.com/office/officeart/2018/2/layout/IconLabelDescriptionList"/>
    <dgm:cxn modelId="{A6692499-9E2D-4AA0-ACAD-EEBE32EDF7D1}" type="presParOf" srcId="{39E77AD7-91C5-4D46-9BC8-CF6809AC7A23}" destId="{E4928810-BCC7-4F98-A356-F4FA46189ED3}" srcOrd="0" destOrd="0" presId="urn:microsoft.com/office/officeart/2018/2/layout/IconLabelDescriptionList"/>
    <dgm:cxn modelId="{6BC281F6-4181-4E26-AEC5-8B0DCEEE2CF9}" type="presParOf" srcId="{39E77AD7-91C5-4D46-9BC8-CF6809AC7A23}" destId="{01BDB177-DEDC-410D-AA8A-55B9A4315704}" srcOrd="1" destOrd="0" presId="urn:microsoft.com/office/officeart/2018/2/layout/IconLabelDescriptionList"/>
    <dgm:cxn modelId="{ACA90FB5-3C18-4458-A604-4F4FF4A28E31}" type="presParOf" srcId="{39E77AD7-91C5-4D46-9BC8-CF6809AC7A23}" destId="{8E6B3E7A-9238-4392-BD23-80F64B24C815}" srcOrd="2" destOrd="0" presId="urn:microsoft.com/office/officeart/2018/2/layout/IconLabelDescriptionList"/>
    <dgm:cxn modelId="{B83B1686-8091-4ACC-BBC2-BE2982AC4B78}" type="presParOf" srcId="{39E77AD7-91C5-4D46-9BC8-CF6809AC7A23}" destId="{47E5C1E9-8383-481E-92CA-34243039DDD4}" srcOrd="3" destOrd="0" presId="urn:microsoft.com/office/officeart/2018/2/layout/IconLabelDescriptionList"/>
    <dgm:cxn modelId="{1498D413-0DD9-453E-9092-1D080AAA8455}" type="presParOf" srcId="{39E77AD7-91C5-4D46-9BC8-CF6809AC7A23}" destId="{A745A52F-9E23-45EE-8F17-4DA17BE2B6CF}" srcOrd="4" destOrd="0" presId="urn:microsoft.com/office/officeart/2018/2/layout/IconLabelDescriptionList"/>
    <dgm:cxn modelId="{91932EBE-21BB-483F-BA4A-0A3500441470}" type="presParOf" srcId="{6D871FBD-051F-44D1-B00F-6FBA349FEA21}" destId="{34250BE4-3296-42CC-9373-F6519E695556}" srcOrd="1" destOrd="0" presId="urn:microsoft.com/office/officeart/2018/2/layout/IconLabelDescriptionList"/>
    <dgm:cxn modelId="{3B7A05A4-8225-4263-A57A-DC12855BE69D}" type="presParOf" srcId="{6D871FBD-051F-44D1-B00F-6FBA349FEA21}" destId="{D0C5416B-BCCD-4943-A68B-BAA03102CA37}" srcOrd="2" destOrd="0" presId="urn:microsoft.com/office/officeart/2018/2/layout/IconLabelDescriptionList"/>
    <dgm:cxn modelId="{5F7A82B8-3135-468C-BDD9-EACBAA60DC48}" type="presParOf" srcId="{D0C5416B-BCCD-4943-A68B-BAA03102CA37}" destId="{E4CCD96E-359E-4AA4-B588-048619C54F92}" srcOrd="0" destOrd="0" presId="urn:microsoft.com/office/officeart/2018/2/layout/IconLabelDescriptionList"/>
    <dgm:cxn modelId="{FD2FD98B-4A49-414B-8224-8EB09D9D1AD3}" type="presParOf" srcId="{D0C5416B-BCCD-4943-A68B-BAA03102CA37}" destId="{91DF6E32-7FF9-4D0B-8C00-DF1D4138C330}" srcOrd="1" destOrd="0" presId="urn:microsoft.com/office/officeart/2018/2/layout/IconLabelDescriptionList"/>
    <dgm:cxn modelId="{B570D716-47C2-4334-B4C4-1379BF03C009}" type="presParOf" srcId="{D0C5416B-BCCD-4943-A68B-BAA03102CA37}" destId="{CAE12482-5CF7-471D-81B3-93E1D402E333}" srcOrd="2" destOrd="0" presId="urn:microsoft.com/office/officeart/2018/2/layout/IconLabelDescriptionList"/>
    <dgm:cxn modelId="{F0B3E5C7-48A9-4E7F-8E16-F90C2E41B229}" type="presParOf" srcId="{D0C5416B-BCCD-4943-A68B-BAA03102CA37}" destId="{1EFD1EB2-FA81-4FA8-9196-9D983B07D33D}" srcOrd="3" destOrd="0" presId="urn:microsoft.com/office/officeart/2018/2/layout/IconLabelDescriptionList"/>
    <dgm:cxn modelId="{43E2B326-5AC8-48E4-A365-CF332ED94CB7}" type="presParOf" srcId="{D0C5416B-BCCD-4943-A68B-BAA03102CA37}" destId="{DF164D61-735C-4C87-8347-8B99FE586313}" srcOrd="4" destOrd="0" presId="urn:microsoft.com/office/officeart/2018/2/layout/IconLabelDescriptionList"/>
    <dgm:cxn modelId="{71228B75-5A14-4431-A997-62644AC50B46}" type="presParOf" srcId="{6D871FBD-051F-44D1-B00F-6FBA349FEA21}" destId="{87346C0F-81A6-42B5-B781-B793D5482864}" srcOrd="3" destOrd="0" presId="urn:microsoft.com/office/officeart/2018/2/layout/IconLabelDescriptionList"/>
    <dgm:cxn modelId="{D94326D5-3F34-4BC3-99E2-8C9BA353C343}" type="presParOf" srcId="{6D871FBD-051F-44D1-B00F-6FBA349FEA21}" destId="{0716210E-F8B6-4C61-B850-54652405DE05}" srcOrd="4" destOrd="0" presId="urn:microsoft.com/office/officeart/2018/2/layout/IconLabelDescriptionList"/>
    <dgm:cxn modelId="{102B466B-3E04-4D2B-9017-C89508287AD1}" type="presParOf" srcId="{0716210E-F8B6-4C61-B850-54652405DE05}" destId="{666A0142-3994-4944-9021-255BBA065A0C}" srcOrd="0" destOrd="0" presId="urn:microsoft.com/office/officeart/2018/2/layout/IconLabelDescriptionList"/>
    <dgm:cxn modelId="{27145EAF-93CA-4ADE-84AC-22A80FAF913B}" type="presParOf" srcId="{0716210E-F8B6-4C61-B850-54652405DE05}" destId="{3FCEF46A-B042-495E-8C45-25640ADB92BE}" srcOrd="1" destOrd="0" presId="urn:microsoft.com/office/officeart/2018/2/layout/IconLabelDescriptionList"/>
    <dgm:cxn modelId="{327C89F1-DD04-4D54-B8F2-D6CBAEA328F2}" type="presParOf" srcId="{0716210E-F8B6-4C61-B850-54652405DE05}" destId="{336AF011-C230-4B81-BC26-BF1B3B4EA562}" srcOrd="2" destOrd="0" presId="urn:microsoft.com/office/officeart/2018/2/layout/IconLabelDescriptionList"/>
    <dgm:cxn modelId="{9DB92405-B1D5-4014-A33D-FBC193CC2066}" type="presParOf" srcId="{0716210E-F8B6-4C61-B850-54652405DE05}" destId="{61DEFD93-FCFF-4DDA-86C5-8A382E4DFBC5}" srcOrd="3" destOrd="0" presId="urn:microsoft.com/office/officeart/2018/2/layout/IconLabelDescriptionList"/>
    <dgm:cxn modelId="{76457AEA-1F3C-4595-B9FE-E1D628DF2E42}" type="presParOf" srcId="{0716210E-F8B6-4C61-B850-54652405DE05}" destId="{BC429B17-4FF9-4CFE-A522-B522D9FDB460}" srcOrd="4" destOrd="0" presId="urn:microsoft.com/office/officeart/2018/2/layout/IconLabelDescriptionList"/>
    <dgm:cxn modelId="{91072E67-FA61-4A76-98C7-0692E6462604}" type="presParOf" srcId="{6D871FBD-051F-44D1-B00F-6FBA349FEA21}" destId="{6491C7AE-4ACD-4A46-AF45-29C36013C418}" srcOrd="5" destOrd="0" presId="urn:microsoft.com/office/officeart/2018/2/layout/IconLabelDescriptionList"/>
    <dgm:cxn modelId="{F8E19062-B512-4AF9-BA00-ED2EC0EA9FD5}" type="presParOf" srcId="{6D871FBD-051F-44D1-B00F-6FBA349FEA21}" destId="{FB2B048C-C5E8-4D16-9310-B1807DED3D42}" srcOrd="6" destOrd="0" presId="urn:microsoft.com/office/officeart/2018/2/layout/IconLabelDescriptionList"/>
    <dgm:cxn modelId="{4CDBD21E-D432-49AD-94D5-50F9390223CB}" type="presParOf" srcId="{FB2B048C-C5E8-4D16-9310-B1807DED3D42}" destId="{3B74E4F1-1538-449B-978E-E9FFF5835B2B}" srcOrd="0" destOrd="0" presId="urn:microsoft.com/office/officeart/2018/2/layout/IconLabelDescriptionList"/>
    <dgm:cxn modelId="{A75D244A-8BD2-4300-8F3D-C927C1182D2F}" type="presParOf" srcId="{FB2B048C-C5E8-4D16-9310-B1807DED3D42}" destId="{63052B2B-EF66-4454-B27A-47B91830E209}" srcOrd="1" destOrd="0" presId="urn:microsoft.com/office/officeart/2018/2/layout/IconLabelDescriptionList"/>
    <dgm:cxn modelId="{1ED5FC35-CE64-4102-A33F-3010B3025CD3}" type="presParOf" srcId="{FB2B048C-C5E8-4D16-9310-B1807DED3D42}" destId="{146C8532-5FED-4962-B4DE-1032849C3828}" srcOrd="2" destOrd="0" presId="urn:microsoft.com/office/officeart/2018/2/layout/IconLabelDescriptionList"/>
    <dgm:cxn modelId="{B35B5942-C9F6-4CDA-9744-A58C4B6428DC}" type="presParOf" srcId="{FB2B048C-C5E8-4D16-9310-B1807DED3D42}" destId="{B31F5CE5-9315-4CD9-B103-ABA8AF8165A7}" srcOrd="3" destOrd="0" presId="urn:microsoft.com/office/officeart/2018/2/layout/IconLabelDescriptionList"/>
    <dgm:cxn modelId="{BFD92C6F-DCB6-413E-BE77-CAD24C90762E}" type="presParOf" srcId="{FB2B048C-C5E8-4D16-9310-B1807DED3D42}" destId="{FDA8A98A-01BE-42F2-BDE9-E61C616C5813}" srcOrd="4" destOrd="0" presId="urn:microsoft.com/office/officeart/2018/2/layout/IconLabelDescription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7DEB794-E1E8-45CB-B56A-E1BEF5BF397D}">
      <dsp:nvSpPr>
        <dsp:cNvPr id="0" name=""/>
        <dsp:cNvSpPr/>
      </dsp:nvSpPr>
      <dsp:spPr>
        <a:xfrm>
          <a:off x="1061437" y="472477"/>
          <a:ext cx="1141382" cy="1141382"/>
        </a:xfrm>
        <a:prstGeom prst="rect">
          <a:avLst/>
        </a:prstGeom>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23C1CDD-357C-458D-8788-A42EEB8EFB3D}">
      <dsp:nvSpPr>
        <dsp:cNvPr id="0" name=""/>
        <dsp:cNvSpPr/>
      </dsp:nvSpPr>
      <dsp:spPr>
        <a:xfrm>
          <a:off x="1582" y="1713204"/>
          <a:ext cx="3261093" cy="6267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100000"/>
            </a:lnSpc>
            <a:spcBef>
              <a:spcPct val="0"/>
            </a:spcBef>
            <a:spcAft>
              <a:spcPct val="35000"/>
            </a:spcAft>
            <a:buNone/>
            <a:defRPr b="1"/>
          </a:pPr>
          <a:r>
            <a:rPr lang="en-GB" sz="2000" kern="1200" dirty="0"/>
            <a:t>Scouting &amp; Talent Evaluation</a:t>
          </a:r>
          <a:endParaRPr lang="en-US" sz="2000" kern="1200" dirty="0"/>
        </a:p>
      </dsp:txBody>
      <dsp:txXfrm>
        <a:off x="1582" y="1713204"/>
        <a:ext cx="3261093" cy="626741"/>
      </dsp:txXfrm>
    </dsp:sp>
    <dsp:sp modelId="{B0C7D408-00F6-410C-8935-8E4506F76249}">
      <dsp:nvSpPr>
        <dsp:cNvPr id="0" name=""/>
        <dsp:cNvSpPr/>
      </dsp:nvSpPr>
      <dsp:spPr>
        <a:xfrm>
          <a:off x="1582" y="2386152"/>
          <a:ext cx="3261093" cy="396657"/>
        </a:xfrm>
        <a:prstGeom prst="rect">
          <a:avLst/>
        </a:prstGeom>
        <a:noFill/>
        <a:ln>
          <a:noFill/>
        </a:ln>
        <a:effectLst/>
      </dsp:spPr>
      <dsp:style>
        <a:lnRef idx="0">
          <a:scrgbClr r="0" g="0" b="0"/>
        </a:lnRef>
        <a:fillRef idx="0">
          <a:scrgbClr r="0" g="0" b="0"/>
        </a:fillRef>
        <a:effectRef idx="0">
          <a:scrgbClr r="0" g="0" b="0"/>
        </a:effectRef>
        <a:fontRef idx="minor"/>
      </dsp:style>
    </dsp:sp>
    <dsp:sp modelId="{A431BDFC-AEE0-4655-9C58-0D3278EDB5F8}">
      <dsp:nvSpPr>
        <dsp:cNvPr id="0" name=""/>
        <dsp:cNvSpPr/>
      </dsp:nvSpPr>
      <dsp:spPr>
        <a:xfrm>
          <a:off x="4893223" y="472477"/>
          <a:ext cx="1141382" cy="114138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32D6505-5A04-4327-86E1-02382CB34F7E}">
      <dsp:nvSpPr>
        <dsp:cNvPr id="0" name=""/>
        <dsp:cNvSpPr/>
      </dsp:nvSpPr>
      <dsp:spPr>
        <a:xfrm>
          <a:off x="3833367" y="1713204"/>
          <a:ext cx="3261093" cy="6267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100000"/>
            </a:lnSpc>
            <a:spcBef>
              <a:spcPct val="0"/>
            </a:spcBef>
            <a:spcAft>
              <a:spcPct val="35000"/>
            </a:spcAft>
            <a:buNone/>
            <a:defRPr b="1"/>
          </a:pPr>
          <a:r>
            <a:rPr lang="en-GB" sz="2000" kern="1200" dirty="0"/>
            <a:t>Athlete Tracking</a:t>
          </a:r>
          <a:endParaRPr lang="en-US" sz="2000" kern="1200" dirty="0"/>
        </a:p>
      </dsp:txBody>
      <dsp:txXfrm>
        <a:off x="3833367" y="1713204"/>
        <a:ext cx="3261093" cy="626741"/>
      </dsp:txXfrm>
    </dsp:sp>
    <dsp:sp modelId="{66D4A7D1-E564-4186-ADB0-C697680BC561}">
      <dsp:nvSpPr>
        <dsp:cNvPr id="0" name=""/>
        <dsp:cNvSpPr/>
      </dsp:nvSpPr>
      <dsp:spPr>
        <a:xfrm>
          <a:off x="3833367" y="2386152"/>
          <a:ext cx="3261093" cy="396657"/>
        </a:xfrm>
        <a:prstGeom prst="rect">
          <a:avLst/>
        </a:prstGeom>
        <a:noFill/>
        <a:ln>
          <a:noFill/>
        </a:ln>
        <a:effectLst/>
      </dsp:spPr>
      <dsp:style>
        <a:lnRef idx="0">
          <a:scrgbClr r="0" g="0" b="0"/>
        </a:lnRef>
        <a:fillRef idx="0">
          <a:scrgbClr r="0" g="0" b="0"/>
        </a:fillRef>
        <a:effectRef idx="0">
          <a:scrgbClr r="0" g="0" b="0"/>
        </a:effectRef>
        <a:fontRef idx="minor"/>
      </dsp:style>
    </dsp:sp>
    <dsp:sp modelId="{807C542B-62FB-4F2C-B6F2-73FA2E2B251A}">
      <dsp:nvSpPr>
        <dsp:cNvPr id="0" name=""/>
        <dsp:cNvSpPr/>
      </dsp:nvSpPr>
      <dsp:spPr>
        <a:xfrm>
          <a:off x="8725008" y="472477"/>
          <a:ext cx="1141382" cy="1141382"/>
        </a:xfrm>
        <a:prstGeom prst="rect">
          <a:avLst/>
        </a:prstGeom>
        <a:blipFill>
          <a:blip xmlns:r="http://schemas.openxmlformats.org/officeDocument/2006/relationships">
            <a:extLst>
              <a:ext uri="{96DAC541-7B7A-43D3-8B79-37D633B846F1}">
                <asvg:svgBlip xmlns:asvg="http://schemas.microsoft.com/office/drawing/2016/SVG/main" r:embed="rId3"/>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80F3C3D-DDE2-4474-ADB3-A2AA4A868D0E}">
      <dsp:nvSpPr>
        <dsp:cNvPr id="0" name=""/>
        <dsp:cNvSpPr/>
      </dsp:nvSpPr>
      <dsp:spPr>
        <a:xfrm>
          <a:off x="7665152" y="1713204"/>
          <a:ext cx="3261093" cy="6267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100000"/>
            </a:lnSpc>
            <a:spcBef>
              <a:spcPct val="0"/>
            </a:spcBef>
            <a:spcAft>
              <a:spcPct val="35000"/>
            </a:spcAft>
            <a:buNone/>
            <a:defRPr b="1"/>
          </a:pPr>
          <a:r>
            <a:rPr lang="en-GB" sz="2000" kern="1200" dirty="0"/>
            <a:t>Strategy &amp; Tactical Optimization</a:t>
          </a:r>
          <a:endParaRPr lang="en-US" sz="2000" kern="1200" dirty="0"/>
        </a:p>
      </dsp:txBody>
      <dsp:txXfrm>
        <a:off x="7665152" y="1713204"/>
        <a:ext cx="3261093" cy="626741"/>
      </dsp:txXfrm>
    </dsp:sp>
    <dsp:sp modelId="{EBBC1388-3B93-4130-A7B1-76FFBB48699A}">
      <dsp:nvSpPr>
        <dsp:cNvPr id="0" name=""/>
        <dsp:cNvSpPr/>
      </dsp:nvSpPr>
      <dsp:spPr>
        <a:xfrm>
          <a:off x="7665152" y="2386152"/>
          <a:ext cx="3261093" cy="396657"/>
        </a:xfrm>
        <a:prstGeom prst="rect">
          <a:avLst/>
        </a:prstGeom>
        <a:noFill/>
        <a:ln>
          <a:noFill/>
        </a:ln>
        <a:effectLst/>
      </dsp:spPr>
      <dsp:style>
        <a:lnRef idx="0">
          <a:scrgbClr r="0" g="0" b="0"/>
        </a:lnRef>
        <a:fillRef idx="0">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4928810-BCC7-4F98-A356-F4FA46189ED3}">
      <dsp:nvSpPr>
        <dsp:cNvPr id="0" name=""/>
        <dsp:cNvSpPr/>
      </dsp:nvSpPr>
      <dsp:spPr>
        <a:xfrm>
          <a:off x="0" y="712772"/>
          <a:ext cx="844593" cy="844593"/>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E6B3E7A-9238-4392-BD23-80F64B24C815}">
      <dsp:nvSpPr>
        <dsp:cNvPr id="0" name=""/>
        <dsp:cNvSpPr/>
      </dsp:nvSpPr>
      <dsp:spPr>
        <a:xfrm>
          <a:off x="4219" y="1637501"/>
          <a:ext cx="2413125" cy="3619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022350">
            <a:lnSpc>
              <a:spcPct val="100000"/>
            </a:lnSpc>
            <a:spcBef>
              <a:spcPct val="0"/>
            </a:spcBef>
            <a:spcAft>
              <a:spcPct val="35000"/>
            </a:spcAft>
            <a:buNone/>
            <a:defRPr b="1"/>
          </a:pPr>
          <a:r>
            <a:rPr lang="en-GB" sz="2300" kern="1200" dirty="0"/>
            <a:t>1. Descriptive</a:t>
          </a:r>
          <a:endParaRPr lang="en-US" sz="2300" kern="1200" dirty="0"/>
        </a:p>
      </dsp:txBody>
      <dsp:txXfrm>
        <a:off x="4219" y="1637501"/>
        <a:ext cx="2413125" cy="361968"/>
      </dsp:txXfrm>
    </dsp:sp>
    <dsp:sp modelId="{A745A52F-9E23-45EE-8F17-4DA17BE2B6CF}">
      <dsp:nvSpPr>
        <dsp:cNvPr id="0" name=""/>
        <dsp:cNvSpPr/>
      </dsp:nvSpPr>
      <dsp:spPr>
        <a:xfrm>
          <a:off x="4219" y="2036742"/>
          <a:ext cx="2413125" cy="5396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55650">
            <a:lnSpc>
              <a:spcPct val="100000"/>
            </a:lnSpc>
            <a:spcBef>
              <a:spcPct val="0"/>
            </a:spcBef>
            <a:spcAft>
              <a:spcPct val="35000"/>
            </a:spcAft>
            <a:buNone/>
          </a:pPr>
          <a:r>
            <a:rPr lang="en-GB" sz="1700" kern="1200" dirty="0"/>
            <a:t>What happened?</a:t>
          </a:r>
          <a:endParaRPr lang="en-US" sz="1700" kern="1200" dirty="0"/>
        </a:p>
      </dsp:txBody>
      <dsp:txXfrm>
        <a:off x="4219" y="2036742"/>
        <a:ext cx="2413125" cy="539639"/>
      </dsp:txXfrm>
    </dsp:sp>
    <dsp:sp modelId="{E4CCD96E-359E-4AA4-B588-048619C54F92}">
      <dsp:nvSpPr>
        <dsp:cNvPr id="0" name=""/>
        <dsp:cNvSpPr/>
      </dsp:nvSpPr>
      <dsp:spPr>
        <a:xfrm>
          <a:off x="2839641" y="712772"/>
          <a:ext cx="844593" cy="844593"/>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AE12482-5CF7-471D-81B3-93E1D402E333}">
      <dsp:nvSpPr>
        <dsp:cNvPr id="0" name=""/>
        <dsp:cNvSpPr/>
      </dsp:nvSpPr>
      <dsp:spPr>
        <a:xfrm>
          <a:off x="2839641" y="1637501"/>
          <a:ext cx="2413125" cy="3619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022350">
            <a:lnSpc>
              <a:spcPct val="100000"/>
            </a:lnSpc>
            <a:spcBef>
              <a:spcPct val="0"/>
            </a:spcBef>
            <a:spcAft>
              <a:spcPct val="35000"/>
            </a:spcAft>
            <a:buNone/>
            <a:defRPr b="1"/>
          </a:pPr>
          <a:r>
            <a:rPr lang="en-GB" sz="2300" kern="1200"/>
            <a:t>2. Diagnostic</a:t>
          </a:r>
          <a:endParaRPr lang="en-US" sz="2300" kern="1200"/>
        </a:p>
      </dsp:txBody>
      <dsp:txXfrm>
        <a:off x="2839641" y="1637501"/>
        <a:ext cx="2413125" cy="361968"/>
      </dsp:txXfrm>
    </dsp:sp>
    <dsp:sp modelId="{DF164D61-735C-4C87-8347-8B99FE586313}">
      <dsp:nvSpPr>
        <dsp:cNvPr id="0" name=""/>
        <dsp:cNvSpPr/>
      </dsp:nvSpPr>
      <dsp:spPr>
        <a:xfrm>
          <a:off x="2839641" y="2036742"/>
          <a:ext cx="2413125" cy="5396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55650">
            <a:lnSpc>
              <a:spcPct val="100000"/>
            </a:lnSpc>
            <a:spcBef>
              <a:spcPct val="0"/>
            </a:spcBef>
            <a:spcAft>
              <a:spcPct val="35000"/>
            </a:spcAft>
            <a:buNone/>
          </a:pPr>
          <a:r>
            <a:rPr lang="en-GB" sz="1700" kern="1200" dirty="0"/>
            <a:t>Why / how did it happen?</a:t>
          </a:r>
          <a:endParaRPr lang="en-US" sz="1700" kern="1200" dirty="0"/>
        </a:p>
      </dsp:txBody>
      <dsp:txXfrm>
        <a:off x="2839641" y="2036742"/>
        <a:ext cx="2413125" cy="539639"/>
      </dsp:txXfrm>
    </dsp:sp>
    <dsp:sp modelId="{666A0142-3994-4944-9021-255BBA065A0C}">
      <dsp:nvSpPr>
        <dsp:cNvPr id="0" name=""/>
        <dsp:cNvSpPr/>
      </dsp:nvSpPr>
      <dsp:spPr>
        <a:xfrm>
          <a:off x="5675062" y="712772"/>
          <a:ext cx="844593" cy="844593"/>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36AF011-C230-4B81-BC26-BF1B3B4EA562}">
      <dsp:nvSpPr>
        <dsp:cNvPr id="0" name=""/>
        <dsp:cNvSpPr/>
      </dsp:nvSpPr>
      <dsp:spPr>
        <a:xfrm>
          <a:off x="5675062" y="1637501"/>
          <a:ext cx="2413125" cy="3619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022350">
            <a:lnSpc>
              <a:spcPct val="100000"/>
            </a:lnSpc>
            <a:spcBef>
              <a:spcPct val="0"/>
            </a:spcBef>
            <a:spcAft>
              <a:spcPct val="35000"/>
            </a:spcAft>
            <a:buNone/>
            <a:defRPr b="1"/>
          </a:pPr>
          <a:r>
            <a:rPr lang="en-GB" sz="2300" kern="1200"/>
            <a:t>3. Predictive </a:t>
          </a:r>
          <a:endParaRPr lang="en-US" sz="2300" kern="1200"/>
        </a:p>
      </dsp:txBody>
      <dsp:txXfrm>
        <a:off x="5675062" y="1637501"/>
        <a:ext cx="2413125" cy="361968"/>
      </dsp:txXfrm>
    </dsp:sp>
    <dsp:sp modelId="{BC429B17-4FF9-4CFE-A522-B522D9FDB460}">
      <dsp:nvSpPr>
        <dsp:cNvPr id="0" name=""/>
        <dsp:cNvSpPr/>
      </dsp:nvSpPr>
      <dsp:spPr>
        <a:xfrm>
          <a:off x="5675062" y="2036742"/>
          <a:ext cx="2413125" cy="5396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55650">
            <a:lnSpc>
              <a:spcPct val="100000"/>
            </a:lnSpc>
            <a:spcBef>
              <a:spcPct val="0"/>
            </a:spcBef>
            <a:spcAft>
              <a:spcPct val="35000"/>
            </a:spcAft>
            <a:buNone/>
          </a:pPr>
          <a:r>
            <a:rPr lang="en-GB" sz="1700" kern="1200"/>
            <a:t>What is likely to happen?</a:t>
          </a:r>
          <a:endParaRPr lang="en-US" sz="1700" kern="1200"/>
        </a:p>
      </dsp:txBody>
      <dsp:txXfrm>
        <a:off x="5675062" y="2036742"/>
        <a:ext cx="2413125" cy="539639"/>
      </dsp:txXfrm>
    </dsp:sp>
    <dsp:sp modelId="{3B74E4F1-1538-449B-978E-E9FFF5835B2B}">
      <dsp:nvSpPr>
        <dsp:cNvPr id="0" name=""/>
        <dsp:cNvSpPr/>
      </dsp:nvSpPr>
      <dsp:spPr>
        <a:xfrm>
          <a:off x="8510484" y="712772"/>
          <a:ext cx="844593" cy="844593"/>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46C8532-5FED-4962-B4DE-1032849C3828}">
      <dsp:nvSpPr>
        <dsp:cNvPr id="0" name=""/>
        <dsp:cNvSpPr/>
      </dsp:nvSpPr>
      <dsp:spPr>
        <a:xfrm>
          <a:off x="8510484" y="1637501"/>
          <a:ext cx="2413125" cy="3619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022350">
            <a:lnSpc>
              <a:spcPct val="100000"/>
            </a:lnSpc>
            <a:spcBef>
              <a:spcPct val="0"/>
            </a:spcBef>
            <a:spcAft>
              <a:spcPct val="35000"/>
            </a:spcAft>
            <a:buNone/>
            <a:defRPr b="1"/>
          </a:pPr>
          <a:r>
            <a:rPr lang="en-GB" sz="2300" kern="1200"/>
            <a:t>4. Prescriptive</a:t>
          </a:r>
          <a:endParaRPr lang="en-US" sz="2300" kern="1200"/>
        </a:p>
      </dsp:txBody>
      <dsp:txXfrm>
        <a:off x="8510484" y="1637501"/>
        <a:ext cx="2413125" cy="361968"/>
      </dsp:txXfrm>
    </dsp:sp>
    <dsp:sp modelId="{FDA8A98A-01BE-42F2-BDE9-E61C616C5813}">
      <dsp:nvSpPr>
        <dsp:cNvPr id="0" name=""/>
        <dsp:cNvSpPr/>
      </dsp:nvSpPr>
      <dsp:spPr>
        <a:xfrm>
          <a:off x="8510484" y="2036742"/>
          <a:ext cx="2413125" cy="5396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55650">
            <a:lnSpc>
              <a:spcPct val="100000"/>
            </a:lnSpc>
            <a:spcBef>
              <a:spcPct val="0"/>
            </a:spcBef>
            <a:spcAft>
              <a:spcPct val="35000"/>
            </a:spcAft>
            <a:buNone/>
          </a:pPr>
          <a:r>
            <a:rPr lang="en-GB" sz="1700" kern="1200"/>
            <a:t>What should we do about it?</a:t>
          </a:r>
          <a:endParaRPr lang="en-US" sz="1700" kern="1200"/>
        </a:p>
      </dsp:txBody>
      <dsp:txXfrm>
        <a:off x="8510484" y="2036742"/>
        <a:ext cx="2413125" cy="539639"/>
      </dsp:txXfrm>
    </dsp:sp>
  </dsp:spTree>
</dsp:drawing>
</file>

<file path=ppt/diagrams/layout1.xml><?xml version="1.0" encoding="utf-8"?>
<dgm:layoutDef xmlns:dgm="http://schemas.openxmlformats.org/drawingml/2006/diagram" xmlns:a="http://schemas.openxmlformats.org/drawingml/2006/main" uniqueId="urn:microsoft.com/office/officeart/2018/5/layout/CenteredIconLabelDescriptionList">
  <dgm:title val="Centered 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ctrX" for="ch" forName="iconRect" refType="w" fact="0.5"/>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LabelDescriptionList">
  <dgm:title val="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l" for="ch" forName="iconRect"/>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6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64">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995A223-E7C9-A243-9A70-FE01E1A1DD65}" type="datetimeFigureOut">
              <a:rPr lang="en-US" smtClean="0"/>
              <a:t>8/31/26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17D17FD-8842-8E4F-8C3E-EC8B634B2D5A}" type="slidenum">
              <a:rPr lang="en-US" smtClean="0"/>
              <a:t>‹#›</a:t>
            </a:fld>
            <a:endParaRPr lang="en-US"/>
          </a:p>
        </p:txBody>
      </p:sp>
    </p:spTree>
    <p:extLst>
      <p:ext uri="{BB962C8B-B14F-4D97-AF65-F5344CB8AC3E}">
        <p14:creationId xmlns:p14="http://schemas.microsoft.com/office/powerpoint/2010/main" val="20038813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kern="1200" dirty="0">
                <a:solidFill>
                  <a:schemeClr val="tx1"/>
                </a:solidFill>
                <a:effectLst/>
                <a:latin typeface="+mn-lt"/>
                <a:ea typeface="+mn-ea"/>
                <a:cs typeface="+mn-cs"/>
              </a:rPr>
              <a:t>Overview of the three domains (Tracking, Scouting, Strategy) and how data changes sports decisions.</a:t>
            </a:r>
          </a:p>
          <a:p>
            <a:endParaRPr lang="en-US" dirty="0"/>
          </a:p>
        </p:txBody>
      </p:sp>
      <p:sp>
        <p:nvSpPr>
          <p:cNvPr id="4" name="Slide Number Placeholder 3"/>
          <p:cNvSpPr>
            <a:spLocks noGrp="1"/>
          </p:cNvSpPr>
          <p:nvPr>
            <p:ph type="sldNum" sz="quarter" idx="5"/>
          </p:nvPr>
        </p:nvSpPr>
        <p:spPr/>
        <p:txBody>
          <a:bodyPr/>
          <a:lstStyle/>
          <a:p>
            <a:fld id="{117D17FD-8842-8E4F-8C3E-EC8B634B2D5A}" type="slidenum">
              <a:rPr lang="en-US" smtClean="0"/>
              <a:t>1</a:t>
            </a:fld>
            <a:endParaRPr lang="en-US"/>
          </a:p>
        </p:txBody>
      </p:sp>
    </p:spTree>
    <p:extLst>
      <p:ext uri="{BB962C8B-B14F-4D97-AF65-F5344CB8AC3E}">
        <p14:creationId xmlns:p14="http://schemas.microsoft.com/office/powerpoint/2010/main" val="24824580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SHOULD BE ABLE TO IDENTIFY WHICH DOMAIN THEIR QUESTION IS IN</a:t>
            </a:r>
          </a:p>
          <a:p>
            <a:pPr marL="171450" indent="-171450">
              <a:buFontTx/>
              <a:buChar char="-"/>
            </a:pPr>
            <a:r>
              <a:rPr lang="en-US" dirty="0"/>
              <a:t>Is it about signing talent?</a:t>
            </a:r>
          </a:p>
          <a:p>
            <a:pPr marL="171450" indent="-171450">
              <a:buFontTx/>
              <a:buChar char="-"/>
            </a:pPr>
            <a:r>
              <a:rPr lang="en-US" dirty="0"/>
              <a:t>Is it about athlete’s training?</a:t>
            </a:r>
          </a:p>
          <a:p>
            <a:pPr marL="171450" indent="-171450">
              <a:buFontTx/>
              <a:buChar char="-"/>
            </a:pPr>
            <a:r>
              <a:rPr lang="en-US" dirty="0"/>
              <a:t>Is it about how we play the game?</a:t>
            </a:r>
          </a:p>
          <a:p>
            <a:pPr marL="171450" indent="-171450">
              <a:buFontTx/>
              <a:buChar char="-"/>
            </a:pPr>
            <a:endParaRPr lang="en-US" dirty="0"/>
          </a:p>
        </p:txBody>
      </p:sp>
      <p:sp>
        <p:nvSpPr>
          <p:cNvPr id="4" name="Slide Number Placeholder 3"/>
          <p:cNvSpPr>
            <a:spLocks noGrp="1"/>
          </p:cNvSpPr>
          <p:nvPr>
            <p:ph type="sldNum" sz="quarter" idx="5"/>
          </p:nvPr>
        </p:nvSpPr>
        <p:spPr/>
        <p:txBody>
          <a:bodyPr/>
          <a:lstStyle/>
          <a:p>
            <a:fld id="{117D17FD-8842-8E4F-8C3E-EC8B634B2D5A}" type="slidenum">
              <a:rPr lang="en-US" smtClean="0"/>
              <a:t>4</a:t>
            </a:fld>
            <a:endParaRPr lang="en-US"/>
          </a:p>
        </p:txBody>
      </p:sp>
    </p:spTree>
    <p:extLst>
      <p:ext uri="{BB962C8B-B14F-4D97-AF65-F5344CB8AC3E}">
        <p14:creationId xmlns:p14="http://schemas.microsoft.com/office/powerpoint/2010/main" val="11537060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things to consider when investigating scouting domain</a:t>
            </a:r>
          </a:p>
        </p:txBody>
      </p:sp>
      <p:sp>
        <p:nvSpPr>
          <p:cNvPr id="4" name="Slide Number Placeholder 3"/>
          <p:cNvSpPr>
            <a:spLocks noGrp="1"/>
          </p:cNvSpPr>
          <p:nvPr>
            <p:ph type="sldNum" sz="quarter" idx="5"/>
          </p:nvPr>
        </p:nvSpPr>
        <p:spPr/>
        <p:txBody>
          <a:bodyPr/>
          <a:lstStyle/>
          <a:p>
            <a:fld id="{117D17FD-8842-8E4F-8C3E-EC8B634B2D5A}" type="slidenum">
              <a:rPr lang="en-US" smtClean="0"/>
              <a:t>7</a:t>
            </a:fld>
            <a:endParaRPr lang="en-US"/>
          </a:p>
        </p:txBody>
      </p:sp>
    </p:spTree>
    <p:extLst>
      <p:ext uri="{BB962C8B-B14F-4D97-AF65-F5344CB8AC3E}">
        <p14:creationId xmlns:p14="http://schemas.microsoft.com/office/powerpoint/2010/main" val="34750430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Often times scouting does not rely on a single data point (it may in your project)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solidFill>
                  <a:srgbClr val="FF0000"/>
                </a:solidFill>
              </a:rPr>
              <a:t>Which source would you trust most?</a:t>
            </a:r>
            <a:endParaRPr lang="en-US" dirty="0">
              <a:solidFill>
                <a:srgbClr val="FF0000"/>
              </a:solidFill>
            </a:endParaRPr>
          </a:p>
          <a:p>
            <a:r>
              <a:rPr lang="en-US" dirty="0"/>
              <a:t> and why?</a:t>
            </a:r>
          </a:p>
        </p:txBody>
      </p:sp>
      <p:sp>
        <p:nvSpPr>
          <p:cNvPr id="4" name="Slide Number Placeholder 3"/>
          <p:cNvSpPr>
            <a:spLocks noGrp="1"/>
          </p:cNvSpPr>
          <p:nvPr>
            <p:ph type="sldNum" sz="quarter" idx="5"/>
          </p:nvPr>
        </p:nvSpPr>
        <p:spPr/>
        <p:txBody>
          <a:bodyPr/>
          <a:lstStyle/>
          <a:p>
            <a:fld id="{117D17FD-8842-8E4F-8C3E-EC8B634B2D5A}" type="slidenum">
              <a:rPr lang="en-US" smtClean="0"/>
              <a:t>8</a:t>
            </a:fld>
            <a:endParaRPr lang="en-US"/>
          </a:p>
        </p:txBody>
      </p:sp>
    </p:spTree>
    <p:extLst>
      <p:ext uri="{BB962C8B-B14F-4D97-AF65-F5344CB8AC3E}">
        <p14:creationId xmlns:p14="http://schemas.microsoft.com/office/powerpoint/2010/main" val="13715831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the context here?</a:t>
            </a:r>
          </a:p>
        </p:txBody>
      </p:sp>
      <p:sp>
        <p:nvSpPr>
          <p:cNvPr id="4" name="Slide Number Placeholder 3"/>
          <p:cNvSpPr>
            <a:spLocks noGrp="1"/>
          </p:cNvSpPr>
          <p:nvPr>
            <p:ph type="sldNum" sz="quarter" idx="5"/>
          </p:nvPr>
        </p:nvSpPr>
        <p:spPr/>
        <p:txBody>
          <a:bodyPr/>
          <a:lstStyle/>
          <a:p>
            <a:fld id="{117D17FD-8842-8E4F-8C3E-EC8B634B2D5A}" type="slidenum">
              <a:rPr lang="en-US" smtClean="0"/>
              <a:t>11</a:t>
            </a:fld>
            <a:endParaRPr lang="en-US"/>
          </a:p>
        </p:txBody>
      </p:sp>
    </p:spTree>
    <p:extLst>
      <p:ext uri="{BB962C8B-B14F-4D97-AF65-F5344CB8AC3E}">
        <p14:creationId xmlns:p14="http://schemas.microsoft.com/office/powerpoint/2010/main" val="32780331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domain tells us </a:t>
            </a:r>
            <a:r>
              <a:rPr lang="en-GB" b="1" dirty="0"/>
              <a:t>where the problem lives</a:t>
            </a:r>
            <a:r>
              <a:rPr lang="en-GB" dirty="0"/>
              <a:t>. </a:t>
            </a:r>
          </a:p>
          <a:p>
            <a:r>
              <a:rPr lang="en-GB" dirty="0"/>
              <a:t>It does not tell us </a:t>
            </a:r>
            <a:r>
              <a:rPr lang="en-GB" b="1" dirty="0"/>
              <a:t>what the analysis needs to accomplish</a:t>
            </a:r>
            <a:r>
              <a:rPr lang="en-GB" dirty="0"/>
              <a:t>.</a:t>
            </a:r>
          </a:p>
          <a:p>
            <a:r>
              <a:rPr lang="en-GB" dirty="0"/>
              <a:t>Within any domain, we might describe, diagnose, predict, or prescribe.</a:t>
            </a:r>
            <a:endParaRPr lang="en-US" dirty="0"/>
          </a:p>
        </p:txBody>
      </p:sp>
      <p:sp>
        <p:nvSpPr>
          <p:cNvPr id="4" name="Slide Number Placeholder 3"/>
          <p:cNvSpPr>
            <a:spLocks noGrp="1"/>
          </p:cNvSpPr>
          <p:nvPr>
            <p:ph type="sldNum" sz="quarter" idx="5"/>
          </p:nvPr>
        </p:nvSpPr>
        <p:spPr/>
        <p:txBody>
          <a:bodyPr/>
          <a:lstStyle/>
          <a:p>
            <a:fld id="{117D17FD-8842-8E4F-8C3E-EC8B634B2D5A}" type="slidenum">
              <a:rPr lang="en-US" smtClean="0"/>
              <a:t>14</a:t>
            </a:fld>
            <a:endParaRPr lang="en-US"/>
          </a:p>
        </p:txBody>
      </p:sp>
    </p:spTree>
    <p:extLst>
      <p:ext uri="{BB962C8B-B14F-4D97-AF65-F5344CB8AC3E}">
        <p14:creationId xmlns:p14="http://schemas.microsoft.com/office/powerpoint/2010/main" val="32955581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Very important, we will come back to this later</a:t>
            </a:r>
          </a:p>
        </p:txBody>
      </p:sp>
      <p:sp>
        <p:nvSpPr>
          <p:cNvPr id="4" name="Slide Number Placeholder 3"/>
          <p:cNvSpPr>
            <a:spLocks noGrp="1"/>
          </p:cNvSpPr>
          <p:nvPr>
            <p:ph type="sldNum" sz="quarter" idx="5"/>
          </p:nvPr>
        </p:nvSpPr>
        <p:spPr/>
        <p:txBody>
          <a:bodyPr/>
          <a:lstStyle/>
          <a:p>
            <a:fld id="{117D17FD-8842-8E4F-8C3E-EC8B634B2D5A}" type="slidenum">
              <a:rPr lang="en-US" smtClean="0"/>
              <a:t>20</a:t>
            </a:fld>
            <a:endParaRPr lang="en-US"/>
          </a:p>
        </p:txBody>
      </p:sp>
    </p:spTree>
    <p:extLst>
      <p:ext uri="{BB962C8B-B14F-4D97-AF65-F5344CB8AC3E}">
        <p14:creationId xmlns:p14="http://schemas.microsoft.com/office/powerpoint/2010/main" val="137943928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19824E-912C-DDF9-3D68-7365C0A880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9A5BD0-99D6-37BA-74FD-C644C27CA8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438432-4124-3B40-4588-C4080AD43971}"/>
              </a:ext>
            </a:extLst>
          </p:cNvPr>
          <p:cNvSpPr>
            <a:spLocks noGrp="1"/>
          </p:cNvSpPr>
          <p:nvPr>
            <p:ph type="body" idx="1"/>
          </p:nvPr>
        </p:nvSpPr>
        <p:spPr/>
        <p:txBody>
          <a:bodyPr/>
          <a:lstStyle/>
          <a:p>
            <a:r>
              <a:rPr lang="en-US" dirty="0"/>
              <a:t>EXPLAIN</a:t>
            </a:r>
          </a:p>
        </p:txBody>
      </p:sp>
      <p:sp>
        <p:nvSpPr>
          <p:cNvPr id="4" name="Slide Number Placeholder 3">
            <a:extLst>
              <a:ext uri="{FF2B5EF4-FFF2-40B4-BE49-F238E27FC236}">
                <a16:creationId xmlns:a16="http://schemas.microsoft.com/office/drawing/2014/main" id="{5C00A71E-B712-7EBC-E168-3A3405E9C4E4}"/>
              </a:ext>
            </a:extLst>
          </p:cNvPr>
          <p:cNvSpPr>
            <a:spLocks noGrp="1"/>
          </p:cNvSpPr>
          <p:nvPr>
            <p:ph type="sldNum" sz="quarter" idx="5"/>
          </p:nvPr>
        </p:nvSpPr>
        <p:spPr/>
        <p:txBody>
          <a:bodyPr/>
          <a:lstStyle/>
          <a:p>
            <a:fld id="{117D17FD-8842-8E4F-8C3E-EC8B634B2D5A}" type="slidenum">
              <a:rPr lang="en-US" smtClean="0"/>
              <a:t>23</a:t>
            </a:fld>
            <a:endParaRPr lang="en-US"/>
          </a:p>
        </p:txBody>
      </p:sp>
    </p:spTree>
    <p:extLst>
      <p:ext uri="{BB962C8B-B14F-4D97-AF65-F5344CB8AC3E}">
        <p14:creationId xmlns:p14="http://schemas.microsoft.com/office/powerpoint/2010/main" val="3599920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Sports analytics is not defined by how complicated the method is. It is defined by whether data are being used thoughtfully to understand a problem and support a decision. Sometimes that requires a predictive model. Often, it requires accurate reporting, appropriate context, and clear communication.</a:t>
            </a:r>
          </a:p>
          <a:p>
            <a:endParaRPr lang="en-US" dirty="0"/>
          </a:p>
        </p:txBody>
      </p:sp>
      <p:sp>
        <p:nvSpPr>
          <p:cNvPr id="4" name="Slide Number Placeholder 3"/>
          <p:cNvSpPr>
            <a:spLocks noGrp="1"/>
          </p:cNvSpPr>
          <p:nvPr>
            <p:ph type="sldNum" sz="quarter" idx="5"/>
          </p:nvPr>
        </p:nvSpPr>
        <p:spPr/>
        <p:txBody>
          <a:bodyPr/>
          <a:lstStyle/>
          <a:p>
            <a:fld id="{117D17FD-8842-8E4F-8C3E-EC8B634B2D5A}" type="slidenum">
              <a:rPr lang="en-US" smtClean="0"/>
              <a:t>27</a:t>
            </a:fld>
            <a:endParaRPr lang="en-US"/>
          </a:p>
        </p:txBody>
      </p:sp>
    </p:spTree>
    <p:extLst>
      <p:ext uri="{BB962C8B-B14F-4D97-AF65-F5344CB8AC3E}">
        <p14:creationId xmlns:p14="http://schemas.microsoft.com/office/powerpoint/2010/main" val="178297308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a:t>
            </a:r>
          </a:p>
        </p:txBody>
      </p:sp>
      <p:sp>
        <p:nvSpPr>
          <p:cNvPr id="4" name="Slide Number Placeholder 3"/>
          <p:cNvSpPr>
            <a:spLocks noGrp="1"/>
          </p:cNvSpPr>
          <p:nvPr>
            <p:ph type="sldNum" sz="quarter" idx="5"/>
          </p:nvPr>
        </p:nvSpPr>
        <p:spPr/>
        <p:txBody>
          <a:bodyPr/>
          <a:lstStyle/>
          <a:p>
            <a:fld id="{117D17FD-8842-8E4F-8C3E-EC8B634B2D5A}" type="slidenum">
              <a:rPr lang="en-US" smtClean="0"/>
              <a:t>32</a:t>
            </a:fld>
            <a:endParaRPr lang="en-US"/>
          </a:p>
        </p:txBody>
      </p:sp>
    </p:spTree>
    <p:extLst>
      <p:ext uri="{BB962C8B-B14F-4D97-AF65-F5344CB8AC3E}">
        <p14:creationId xmlns:p14="http://schemas.microsoft.com/office/powerpoint/2010/main" val="4923962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EEECD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B78C46-97B5-06A6-FCEF-1A1F72D6F7BD}"/>
              </a:ext>
            </a:extLst>
          </p:cNvPr>
          <p:cNvSpPr>
            <a:spLocks noGrp="1"/>
          </p:cNvSpPr>
          <p:nvPr>
            <p:ph type="ctrTitle"/>
          </p:nvPr>
        </p:nvSpPr>
        <p:spPr>
          <a:xfrm>
            <a:off x="838200" y="1122363"/>
            <a:ext cx="10515600" cy="2387600"/>
          </a:xfrm>
        </p:spPr>
        <p:txBody>
          <a:bodyPr anchor="b"/>
          <a:lstStyle>
            <a:lvl1pPr algn="l">
              <a:defRPr sz="6000"/>
            </a:lvl1pPr>
          </a:lstStyle>
          <a:p>
            <a:r>
              <a:rPr lang="en-GB" dirty="0"/>
              <a:t>Click to edit Master title style</a:t>
            </a:r>
            <a:endParaRPr lang="en-US" dirty="0"/>
          </a:p>
        </p:txBody>
      </p:sp>
      <p:sp>
        <p:nvSpPr>
          <p:cNvPr id="3" name="Subtitle 2">
            <a:extLst>
              <a:ext uri="{FF2B5EF4-FFF2-40B4-BE49-F238E27FC236}">
                <a16:creationId xmlns:a16="http://schemas.microsoft.com/office/drawing/2014/main" id="{DED3A6AC-3ACF-3E00-27EA-CDC21E0D0CE2}"/>
              </a:ext>
            </a:extLst>
          </p:cNvPr>
          <p:cNvSpPr>
            <a:spLocks noGrp="1"/>
          </p:cNvSpPr>
          <p:nvPr>
            <p:ph type="subTitle" idx="1"/>
          </p:nvPr>
        </p:nvSpPr>
        <p:spPr>
          <a:xfrm>
            <a:off x="838199" y="3602038"/>
            <a:ext cx="10515599" cy="1655762"/>
          </a:xfrm>
        </p:spPr>
        <p:txBody>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4" name="Date Placeholder 3">
            <a:extLst>
              <a:ext uri="{FF2B5EF4-FFF2-40B4-BE49-F238E27FC236}">
                <a16:creationId xmlns:a16="http://schemas.microsoft.com/office/drawing/2014/main" id="{E82D74E7-FB50-6453-FBC4-4FF2059E7DD6}"/>
              </a:ext>
            </a:extLst>
          </p:cNvPr>
          <p:cNvSpPr>
            <a:spLocks noGrp="1"/>
          </p:cNvSpPr>
          <p:nvPr>
            <p:ph type="dt" sz="half" idx="10"/>
          </p:nvPr>
        </p:nvSpPr>
        <p:spPr/>
        <p:txBody>
          <a:bodyPr/>
          <a:lstStyle/>
          <a:p>
            <a:fld id="{1BF61C71-767E-B84C-BFB3-7B18856D27F4}" type="datetimeFigureOut">
              <a:rPr lang="en-US" smtClean="0"/>
              <a:t>8/31/26</a:t>
            </a:fld>
            <a:endParaRPr lang="en-US"/>
          </a:p>
        </p:txBody>
      </p:sp>
      <p:sp>
        <p:nvSpPr>
          <p:cNvPr id="5" name="Footer Placeholder 4">
            <a:extLst>
              <a:ext uri="{FF2B5EF4-FFF2-40B4-BE49-F238E27FC236}">
                <a16:creationId xmlns:a16="http://schemas.microsoft.com/office/drawing/2014/main" id="{D3DEC381-9EAC-65CA-E2D4-E9753C63FC8E}"/>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08E85E49-459E-7153-8DCA-00BFA12DD9A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5335308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244AAB-14A7-7BCA-3837-4F570792F39B}"/>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933DB745-E89B-BA25-707B-D3F4B483C33B}"/>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1A29DF3-7131-344B-BE29-3470A6E4AD53}"/>
              </a:ext>
            </a:extLst>
          </p:cNvPr>
          <p:cNvSpPr>
            <a:spLocks noGrp="1"/>
          </p:cNvSpPr>
          <p:nvPr>
            <p:ph type="dt" sz="half" idx="10"/>
          </p:nvPr>
        </p:nvSpPr>
        <p:spPr/>
        <p:txBody>
          <a:bodyPr/>
          <a:lstStyle/>
          <a:p>
            <a:fld id="{1BF61C71-767E-B84C-BFB3-7B18856D27F4}" type="datetimeFigureOut">
              <a:rPr lang="en-US" smtClean="0"/>
              <a:t>8/31/26</a:t>
            </a:fld>
            <a:endParaRPr lang="en-US"/>
          </a:p>
        </p:txBody>
      </p:sp>
      <p:sp>
        <p:nvSpPr>
          <p:cNvPr id="5" name="Footer Placeholder 4">
            <a:extLst>
              <a:ext uri="{FF2B5EF4-FFF2-40B4-BE49-F238E27FC236}">
                <a16:creationId xmlns:a16="http://schemas.microsoft.com/office/drawing/2014/main" id="{2E19C8A0-82E3-D43A-B433-03BD0E8A131B}"/>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49EC3461-EED3-DA55-3A67-403D2D4F603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5908945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9DEF06-5D11-579D-7B22-EDF525B072C0}"/>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6C3F87EE-121E-981D-94B0-7DD81A7608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EA509C7F-68AA-F83B-0CC2-643C7451C3BF}"/>
              </a:ext>
            </a:extLst>
          </p:cNvPr>
          <p:cNvSpPr>
            <a:spLocks noGrp="1"/>
          </p:cNvSpPr>
          <p:nvPr>
            <p:ph type="dt" sz="half" idx="10"/>
          </p:nvPr>
        </p:nvSpPr>
        <p:spPr/>
        <p:txBody>
          <a:bodyPr/>
          <a:lstStyle/>
          <a:p>
            <a:fld id="{1BF61C71-767E-B84C-BFB3-7B18856D27F4}" type="datetimeFigureOut">
              <a:rPr lang="en-US" smtClean="0"/>
              <a:t>8/31/26</a:t>
            </a:fld>
            <a:endParaRPr lang="en-US"/>
          </a:p>
        </p:txBody>
      </p:sp>
      <p:sp>
        <p:nvSpPr>
          <p:cNvPr id="5" name="Footer Placeholder 4">
            <a:extLst>
              <a:ext uri="{FF2B5EF4-FFF2-40B4-BE49-F238E27FC236}">
                <a16:creationId xmlns:a16="http://schemas.microsoft.com/office/drawing/2014/main" id="{5ABFDF23-F262-A143-3D94-2E03C5E8059D}"/>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A01BCC86-AF79-D336-B20B-1E34423D79D2}"/>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6466718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FE23E6-4994-ADDB-53EF-33DAC6204821}"/>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5511385E-3FBA-00D8-820B-01457DE095D5}"/>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5C400107-976D-189B-D5B8-F3309A029F37}"/>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C8421288-007A-64D1-177C-EC493AB351E6}"/>
              </a:ext>
            </a:extLst>
          </p:cNvPr>
          <p:cNvSpPr>
            <a:spLocks noGrp="1"/>
          </p:cNvSpPr>
          <p:nvPr>
            <p:ph type="dt" sz="half" idx="10"/>
          </p:nvPr>
        </p:nvSpPr>
        <p:spPr/>
        <p:txBody>
          <a:bodyPr/>
          <a:lstStyle/>
          <a:p>
            <a:fld id="{1BF61C71-767E-B84C-BFB3-7B18856D27F4}" type="datetimeFigureOut">
              <a:rPr lang="en-US" smtClean="0"/>
              <a:t>8/31/26</a:t>
            </a:fld>
            <a:endParaRPr lang="en-US"/>
          </a:p>
        </p:txBody>
      </p:sp>
      <p:sp>
        <p:nvSpPr>
          <p:cNvPr id="6" name="Footer Placeholder 5">
            <a:extLst>
              <a:ext uri="{FF2B5EF4-FFF2-40B4-BE49-F238E27FC236}">
                <a16:creationId xmlns:a16="http://schemas.microsoft.com/office/drawing/2014/main" id="{D18BDC7E-1ED0-A64E-B741-2BD6DCC161E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97110B18-79B2-CA9A-54E7-8E270EA6CAF9}"/>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1561133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0DBA0C-D408-C89D-A5A4-EE49BFEFE6E9}"/>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25C15059-44C0-5CAB-DD62-331CAEACC2C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2E8210DA-60F4-E204-139F-488557C3AC4F}"/>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99C6D382-4432-4F54-9B2C-18EA1D35025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D00DFF74-3B74-1F87-68E5-7C634623838A}"/>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963D8442-0A79-241F-AD71-72BAE08747AF}"/>
              </a:ext>
            </a:extLst>
          </p:cNvPr>
          <p:cNvSpPr>
            <a:spLocks noGrp="1"/>
          </p:cNvSpPr>
          <p:nvPr>
            <p:ph type="dt" sz="half" idx="10"/>
          </p:nvPr>
        </p:nvSpPr>
        <p:spPr/>
        <p:txBody>
          <a:bodyPr/>
          <a:lstStyle/>
          <a:p>
            <a:fld id="{1BF61C71-767E-B84C-BFB3-7B18856D27F4}" type="datetimeFigureOut">
              <a:rPr lang="en-US" smtClean="0"/>
              <a:t>8/31/26</a:t>
            </a:fld>
            <a:endParaRPr lang="en-US"/>
          </a:p>
        </p:txBody>
      </p:sp>
      <p:sp>
        <p:nvSpPr>
          <p:cNvPr id="8" name="Footer Placeholder 7">
            <a:extLst>
              <a:ext uri="{FF2B5EF4-FFF2-40B4-BE49-F238E27FC236}">
                <a16:creationId xmlns:a16="http://schemas.microsoft.com/office/drawing/2014/main" id="{81BD044B-09B6-F478-2B54-1F15413514FF}"/>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a:extLst>
              <a:ext uri="{FF2B5EF4-FFF2-40B4-BE49-F238E27FC236}">
                <a16:creationId xmlns:a16="http://schemas.microsoft.com/office/drawing/2014/main" id="{E5518B98-54E9-0248-CDC2-25F053D11E93}"/>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477298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98611-FF70-0739-AB12-3A0D4D68852C}"/>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1D6340F8-BFC2-15DC-7097-138E7417B933}"/>
              </a:ext>
            </a:extLst>
          </p:cNvPr>
          <p:cNvSpPr>
            <a:spLocks noGrp="1"/>
          </p:cNvSpPr>
          <p:nvPr>
            <p:ph type="dt" sz="half" idx="10"/>
          </p:nvPr>
        </p:nvSpPr>
        <p:spPr/>
        <p:txBody>
          <a:bodyPr/>
          <a:lstStyle/>
          <a:p>
            <a:fld id="{1BF61C71-767E-B84C-BFB3-7B18856D27F4}" type="datetimeFigureOut">
              <a:rPr lang="en-US" smtClean="0"/>
              <a:t>8/31/26</a:t>
            </a:fld>
            <a:endParaRPr lang="en-US"/>
          </a:p>
        </p:txBody>
      </p:sp>
      <p:sp>
        <p:nvSpPr>
          <p:cNvPr id="4" name="Footer Placeholder 3">
            <a:extLst>
              <a:ext uri="{FF2B5EF4-FFF2-40B4-BE49-F238E27FC236}">
                <a16:creationId xmlns:a16="http://schemas.microsoft.com/office/drawing/2014/main" id="{0987FFF2-E8C5-FBDB-D95A-12987FF75CB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a:extLst>
              <a:ext uri="{FF2B5EF4-FFF2-40B4-BE49-F238E27FC236}">
                <a16:creationId xmlns:a16="http://schemas.microsoft.com/office/drawing/2014/main" id="{4B02AAC0-7C6B-411F-8B27-54187B087820}"/>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7188407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C24E59-43B1-B0E4-7BB5-449B4E620269}"/>
              </a:ext>
            </a:extLst>
          </p:cNvPr>
          <p:cNvSpPr>
            <a:spLocks noGrp="1"/>
          </p:cNvSpPr>
          <p:nvPr>
            <p:ph type="dt" sz="half" idx="10"/>
          </p:nvPr>
        </p:nvSpPr>
        <p:spPr/>
        <p:txBody>
          <a:bodyPr/>
          <a:lstStyle/>
          <a:p>
            <a:fld id="{1BF61C71-767E-B84C-BFB3-7B18856D27F4}" type="datetimeFigureOut">
              <a:rPr lang="en-US" smtClean="0"/>
              <a:t>8/31/26</a:t>
            </a:fld>
            <a:endParaRPr lang="en-US"/>
          </a:p>
        </p:txBody>
      </p:sp>
      <p:sp>
        <p:nvSpPr>
          <p:cNvPr id="3" name="Footer Placeholder 2">
            <a:extLst>
              <a:ext uri="{FF2B5EF4-FFF2-40B4-BE49-F238E27FC236}">
                <a16:creationId xmlns:a16="http://schemas.microsoft.com/office/drawing/2014/main" id="{209DB2FC-A612-3F77-71B9-89F90F23EC7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BE7EA5C7-5EFB-A99C-8686-6EB2C8FCFA5F}"/>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7151730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96815E-33A2-36BD-141A-20E6987BFB9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E64EB718-3207-923E-BB2A-3A6A8B97CF8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B6D8BF2C-0530-D542-CEA1-66680DF2CF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291246F5-476E-F02E-8D52-52095AD76408}"/>
              </a:ext>
            </a:extLst>
          </p:cNvPr>
          <p:cNvSpPr>
            <a:spLocks noGrp="1"/>
          </p:cNvSpPr>
          <p:nvPr>
            <p:ph type="dt" sz="half" idx="10"/>
          </p:nvPr>
        </p:nvSpPr>
        <p:spPr/>
        <p:txBody>
          <a:bodyPr/>
          <a:lstStyle/>
          <a:p>
            <a:fld id="{1BF61C71-767E-B84C-BFB3-7B18856D27F4}" type="datetimeFigureOut">
              <a:rPr lang="en-US" smtClean="0"/>
              <a:t>8/31/26</a:t>
            </a:fld>
            <a:endParaRPr lang="en-US"/>
          </a:p>
        </p:txBody>
      </p:sp>
      <p:sp>
        <p:nvSpPr>
          <p:cNvPr id="6" name="Footer Placeholder 5">
            <a:extLst>
              <a:ext uri="{FF2B5EF4-FFF2-40B4-BE49-F238E27FC236}">
                <a16:creationId xmlns:a16="http://schemas.microsoft.com/office/drawing/2014/main" id="{4ACCBF9F-FEBA-A17C-67EF-779BF698253E}"/>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C33091D5-A6B8-C1A9-58A4-732980B56A1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6873461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BF53C8-34AC-4EC3-9EF2-7646130C5F5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CD95296B-D06F-EC13-3B4B-D0804D56AD1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AC15AD4-D0C4-4B3F-01A9-C4EB16F15D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B85DC77-4EA3-68F2-C1B1-3B61F9D48ACD}"/>
              </a:ext>
            </a:extLst>
          </p:cNvPr>
          <p:cNvSpPr>
            <a:spLocks noGrp="1"/>
          </p:cNvSpPr>
          <p:nvPr>
            <p:ph type="dt" sz="half" idx="10"/>
          </p:nvPr>
        </p:nvSpPr>
        <p:spPr/>
        <p:txBody>
          <a:bodyPr/>
          <a:lstStyle/>
          <a:p>
            <a:fld id="{1BF61C71-767E-B84C-BFB3-7B18856D27F4}" type="datetimeFigureOut">
              <a:rPr lang="en-US" smtClean="0"/>
              <a:t>8/31/26</a:t>
            </a:fld>
            <a:endParaRPr lang="en-US"/>
          </a:p>
        </p:txBody>
      </p:sp>
      <p:sp>
        <p:nvSpPr>
          <p:cNvPr id="6" name="Footer Placeholder 5">
            <a:extLst>
              <a:ext uri="{FF2B5EF4-FFF2-40B4-BE49-F238E27FC236}">
                <a16:creationId xmlns:a16="http://schemas.microsoft.com/office/drawing/2014/main" id="{5028E95B-5416-3489-B8F3-9294F9EAD56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E7231B0D-A406-6B24-1768-98B5238CCD11}"/>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7744629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E7492E-5097-4D4A-B212-B9541B6D396F}"/>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7D2B2462-C37E-9A16-D9B2-03FE3550DC70}"/>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B765E3E0-2253-2E4B-C45D-9DD87541ECCF}"/>
              </a:ext>
            </a:extLst>
          </p:cNvPr>
          <p:cNvSpPr>
            <a:spLocks noGrp="1"/>
          </p:cNvSpPr>
          <p:nvPr>
            <p:ph type="dt" sz="half" idx="10"/>
          </p:nvPr>
        </p:nvSpPr>
        <p:spPr/>
        <p:txBody>
          <a:bodyPr/>
          <a:lstStyle/>
          <a:p>
            <a:fld id="{1BF61C71-767E-B84C-BFB3-7B18856D27F4}" type="datetimeFigureOut">
              <a:rPr lang="en-US" smtClean="0"/>
              <a:t>8/31/26</a:t>
            </a:fld>
            <a:endParaRPr lang="en-US"/>
          </a:p>
        </p:txBody>
      </p:sp>
      <p:sp>
        <p:nvSpPr>
          <p:cNvPr id="5" name="Footer Placeholder 4">
            <a:extLst>
              <a:ext uri="{FF2B5EF4-FFF2-40B4-BE49-F238E27FC236}">
                <a16:creationId xmlns:a16="http://schemas.microsoft.com/office/drawing/2014/main" id="{A3E8D6ED-F324-5EA4-EBC1-32D8A8A80467}"/>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78926162-D880-6B17-AFBB-2555E585E2D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3558128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27EF97A-4C14-3B96-B570-63221FE42632}"/>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061FCF3E-3E21-12E5-F093-CD2EBC62CD8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26EEB50E-0940-C414-1C80-43A1C4CBF31A}"/>
              </a:ext>
            </a:extLst>
          </p:cNvPr>
          <p:cNvSpPr>
            <a:spLocks noGrp="1"/>
          </p:cNvSpPr>
          <p:nvPr>
            <p:ph type="dt" sz="half" idx="10"/>
          </p:nvPr>
        </p:nvSpPr>
        <p:spPr/>
        <p:txBody>
          <a:bodyPr/>
          <a:lstStyle/>
          <a:p>
            <a:fld id="{1BF61C71-767E-B84C-BFB3-7B18856D27F4}" type="datetimeFigureOut">
              <a:rPr lang="en-US" smtClean="0"/>
              <a:t>8/31/26</a:t>
            </a:fld>
            <a:endParaRPr lang="en-US"/>
          </a:p>
        </p:txBody>
      </p:sp>
      <p:sp>
        <p:nvSpPr>
          <p:cNvPr id="5" name="Footer Placeholder 4">
            <a:extLst>
              <a:ext uri="{FF2B5EF4-FFF2-40B4-BE49-F238E27FC236}">
                <a16:creationId xmlns:a16="http://schemas.microsoft.com/office/drawing/2014/main" id="{01434562-A92B-8D3C-4A79-2489A9975210}"/>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1247ADD3-AF08-2898-D3BF-4768616B38DE}"/>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8915101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EEECDD"/>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5C7E355-A6C3-ABB7-5FB3-07B7718D6981}"/>
              </a:ext>
            </a:extLst>
          </p:cNvPr>
          <p:cNvSpPr>
            <a:spLocks noGrp="1"/>
          </p:cNvSpPr>
          <p:nvPr>
            <p:ph type="title"/>
          </p:nvPr>
        </p:nvSpPr>
        <p:spPr>
          <a:xfrm>
            <a:off x="838200" y="365126"/>
            <a:ext cx="10515600" cy="912690"/>
          </a:xfrm>
          <a:prstGeom prst="rect">
            <a:avLst/>
          </a:prstGeom>
        </p:spPr>
        <p:txBody>
          <a:bodyPr vert="horz" lIns="91440" tIns="45720" rIns="91440" bIns="45720" rtlCol="0" anchor="ctr">
            <a:normAutofit/>
          </a:bodyPr>
          <a:lstStyle/>
          <a:p>
            <a:r>
              <a:rPr lang="en-GB" dirty="0"/>
              <a:t>Click to edit Master title style</a:t>
            </a:r>
            <a:endParaRPr lang="en-US" dirty="0"/>
          </a:p>
        </p:txBody>
      </p:sp>
      <p:sp>
        <p:nvSpPr>
          <p:cNvPr id="3" name="Text Placeholder 2">
            <a:extLst>
              <a:ext uri="{FF2B5EF4-FFF2-40B4-BE49-F238E27FC236}">
                <a16:creationId xmlns:a16="http://schemas.microsoft.com/office/drawing/2014/main" id="{73BE3536-C253-FE9A-75A8-6625508B8089}"/>
              </a:ext>
            </a:extLst>
          </p:cNvPr>
          <p:cNvSpPr>
            <a:spLocks noGrp="1"/>
          </p:cNvSpPr>
          <p:nvPr>
            <p:ph type="body" idx="1"/>
          </p:nvPr>
        </p:nvSpPr>
        <p:spPr>
          <a:xfrm>
            <a:off x="838200" y="1441938"/>
            <a:ext cx="10515600" cy="4735025"/>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727838E-35A9-F96A-354A-AE0FF3F8534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BF61C71-767E-B84C-BFB3-7B18856D27F4}" type="datetimeFigureOut">
              <a:rPr lang="en-US" smtClean="0"/>
              <a:t>8/31/26</a:t>
            </a:fld>
            <a:endParaRPr lang="en-US"/>
          </a:p>
        </p:txBody>
      </p:sp>
      <p:sp>
        <p:nvSpPr>
          <p:cNvPr id="6" name="Slide Number Placeholder 5">
            <a:extLst>
              <a:ext uri="{FF2B5EF4-FFF2-40B4-BE49-F238E27FC236}">
                <a16:creationId xmlns:a16="http://schemas.microsoft.com/office/drawing/2014/main" id="{8E6CBC5A-10F1-AA57-C7EC-9CDC8A53A5A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BCCEFD2-39D4-B845-AAFB-DDCB27801685}" type="slidenum">
              <a:rPr lang="en-US" smtClean="0"/>
              <a:t>‹#›</a:t>
            </a:fld>
            <a:endParaRPr lang="en-US"/>
          </a:p>
        </p:txBody>
      </p:sp>
      <p:sp>
        <p:nvSpPr>
          <p:cNvPr id="7" name="Footer Placeholder 6">
            <a:extLst>
              <a:ext uri="{FF2B5EF4-FFF2-40B4-BE49-F238E27FC236}">
                <a16:creationId xmlns:a16="http://schemas.microsoft.com/office/drawing/2014/main" id="{2EEC1130-6658-3CAB-3F94-0FA0AAB8447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Tree>
    <p:extLst>
      <p:ext uri="{BB962C8B-B14F-4D97-AF65-F5344CB8AC3E}">
        <p14:creationId xmlns:p14="http://schemas.microsoft.com/office/powerpoint/2010/main" val="412320721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EECD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D9270D-14C3-FED3-E83A-AD4E36EC7A85}"/>
              </a:ext>
            </a:extLst>
          </p:cNvPr>
          <p:cNvSpPr>
            <a:spLocks noGrp="1"/>
          </p:cNvSpPr>
          <p:nvPr>
            <p:ph type="ctrTitle"/>
          </p:nvPr>
        </p:nvSpPr>
        <p:spPr/>
        <p:txBody>
          <a:bodyPr>
            <a:normAutofit/>
          </a:bodyPr>
          <a:lstStyle/>
          <a:p>
            <a:r>
              <a:rPr lang="en-GB" dirty="0"/>
              <a:t>The Three Domains: Scouting, Tracking, and Strategy</a:t>
            </a:r>
          </a:p>
        </p:txBody>
      </p:sp>
      <p:sp>
        <p:nvSpPr>
          <p:cNvPr id="3" name="Subtitle 2">
            <a:extLst>
              <a:ext uri="{FF2B5EF4-FFF2-40B4-BE49-F238E27FC236}">
                <a16:creationId xmlns:a16="http://schemas.microsoft.com/office/drawing/2014/main" id="{FE03FB66-255C-9B0B-8F15-F85AACB34CEA}"/>
              </a:ext>
            </a:extLst>
          </p:cNvPr>
          <p:cNvSpPr>
            <a:spLocks noGrp="1"/>
          </p:cNvSpPr>
          <p:nvPr>
            <p:ph type="subTitle" idx="1"/>
          </p:nvPr>
        </p:nvSpPr>
        <p:spPr/>
        <p:txBody>
          <a:bodyPr/>
          <a:lstStyle/>
          <a:p>
            <a:r>
              <a:rPr lang="en-GB" dirty="0"/>
              <a:t>Saryu Onishi</a:t>
            </a:r>
          </a:p>
          <a:p>
            <a:r>
              <a:rPr lang="en-GB" dirty="0"/>
              <a:t>HES 3000-002, Sport Performance Analytics</a:t>
            </a:r>
          </a:p>
        </p:txBody>
      </p:sp>
    </p:spTree>
    <p:extLst>
      <p:ext uri="{BB962C8B-B14F-4D97-AF65-F5344CB8AC3E}">
        <p14:creationId xmlns:p14="http://schemas.microsoft.com/office/powerpoint/2010/main" val="32942738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CAACAD-479A-5540-2B73-60664184C99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EC320E6E-FE53-FEB1-D63A-3B7F021626D7}"/>
              </a:ext>
            </a:extLst>
          </p:cNvPr>
          <p:cNvSpPr>
            <a:spLocks noGrp="1"/>
          </p:cNvSpPr>
          <p:nvPr>
            <p:ph idx="1"/>
          </p:nvPr>
        </p:nvSpPr>
        <p:spPr/>
        <p:txBody>
          <a:bodyPr>
            <a:normAutofit/>
          </a:bodyPr>
          <a:lstStyle/>
          <a:p>
            <a:r>
              <a:rPr lang="en-US" dirty="0"/>
              <a:t>Write down a question or decision you are interested in analyzing.</a:t>
            </a:r>
          </a:p>
          <a:p>
            <a:endParaRPr lang="en-US" dirty="0"/>
          </a:p>
          <a:p>
            <a:r>
              <a:rPr lang="en-US" dirty="0"/>
              <a:t>If you don’t have one, chose one:</a:t>
            </a:r>
          </a:p>
          <a:p>
            <a:pPr lvl="1"/>
            <a:r>
              <a:rPr lang="en-GB" dirty="0"/>
              <a:t>Should we recruit this athlete? </a:t>
            </a:r>
          </a:p>
          <a:p>
            <a:pPr lvl="1"/>
            <a:r>
              <a:rPr lang="en-GB" dirty="0"/>
              <a:t>Which defensive lineup should we use against our next opponent? </a:t>
            </a:r>
          </a:p>
          <a:p>
            <a:pPr lvl="1"/>
            <a:r>
              <a:rPr lang="en-GB" dirty="0"/>
              <a:t>Which part of a player’s game should be prioritized for development? </a:t>
            </a:r>
          </a:p>
          <a:p>
            <a:pPr lvl="1"/>
            <a:r>
              <a:rPr lang="en-GB" dirty="0"/>
              <a:t>Why is the team conceding so many opportunities after losing possession?</a:t>
            </a:r>
          </a:p>
          <a:p>
            <a:pPr lvl="1"/>
            <a:endParaRPr lang="en-GB" dirty="0"/>
          </a:p>
          <a:p>
            <a:endParaRPr lang="en-US" dirty="0"/>
          </a:p>
        </p:txBody>
      </p:sp>
      <p:sp>
        <p:nvSpPr>
          <p:cNvPr id="5" name="TextBox 4">
            <a:extLst>
              <a:ext uri="{FF2B5EF4-FFF2-40B4-BE49-F238E27FC236}">
                <a16:creationId xmlns:a16="http://schemas.microsoft.com/office/drawing/2014/main" id="{17A8E1B5-3D72-0E48-63AF-3280E9F9EE60}"/>
              </a:ext>
            </a:extLst>
          </p:cNvPr>
          <p:cNvSpPr txBox="1"/>
          <p:nvPr/>
        </p:nvSpPr>
        <p:spPr>
          <a:xfrm>
            <a:off x="1101436" y="5154452"/>
            <a:ext cx="9989127" cy="523220"/>
          </a:xfrm>
          <a:prstGeom prst="rect">
            <a:avLst/>
          </a:prstGeom>
          <a:noFill/>
        </p:spPr>
        <p:txBody>
          <a:bodyPr wrap="square">
            <a:spAutoFit/>
          </a:bodyPr>
          <a:lstStyle/>
          <a:p>
            <a:r>
              <a:rPr lang="en-GB" sz="2800" dirty="0">
                <a:solidFill>
                  <a:srgbClr val="FF0000"/>
                </a:solidFill>
              </a:rPr>
              <a:t>Think about how today’s lecture applies to your topic of interest</a:t>
            </a:r>
          </a:p>
        </p:txBody>
      </p:sp>
    </p:spTree>
    <p:extLst>
      <p:ext uri="{BB962C8B-B14F-4D97-AF65-F5344CB8AC3E}">
        <p14:creationId xmlns:p14="http://schemas.microsoft.com/office/powerpoint/2010/main" val="37398006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892A2B-5817-51A8-D2A2-29D0DEAEF021}"/>
              </a:ext>
            </a:extLst>
          </p:cNvPr>
          <p:cNvSpPr>
            <a:spLocks noGrp="1"/>
          </p:cNvSpPr>
          <p:nvPr>
            <p:ph type="title"/>
          </p:nvPr>
        </p:nvSpPr>
        <p:spPr/>
        <p:txBody>
          <a:bodyPr>
            <a:normAutofit/>
          </a:bodyPr>
          <a:lstStyle/>
          <a:p>
            <a:r>
              <a:rPr lang="en-GB" dirty="0"/>
              <a:t>Overview</a:t>
            </a:r>
            <a:endParaRPr lang="en-US" dirty="0"/>
          </a:p>
        </p:txBody>
      </p:sp>
      <p:sp>
        <p:nvSpPr>
          <p:cNvPr id="3" name="Content Placeholder 2">
            <a:extLst>
              <a:ext uri="{FF2B5EF4-FFF2-40B4-BE49-F238E27FC236}">
                <a16:creationId xmlns:a16="http://schemas.microsoft.com/office/drawing/2014/main" id="{01A1AA7A-7F93-5D7D-958E-1D9C62FF0B50}"/>
              </a:ext>
            </a:extLst>
          </p:cNvPr>
          <p:cNvSpPr>
            <a:spLocks noGrp="1"/>
          </p:cNvSpPr>
          <p:nvPr>
            <p:ph idx="1"/>
          </p:nvPr>
        </p:nvSpPr>
        <p:spPr/>
        <p:txBody>
          <a:bodyPr>
            <a:normAutofit/>
          </a:bodyPr>
          <a:lstStyle/>
          <a:p>
            <a:pPr lvl="0"/>
            <a:r>
              <a:rPr lang="en-GB" dirty="0"/>
              <a:t>Understand where sport performance analytics is applied and how each domain supports real-world decisions.</a:t>
            </a:r>
          </a:p>
        </p:txBody>
      </p:sp>
      <p:graphicFrame>
        <p:nvGraphicFramePr>
          <p:cNvPr id="4" name="Content Placeholder 2">
            <a:extLst>
              <a:ext uri="{FF2B5EF4-FFF2-40B4-BE49-F238E27FC236}">
                <a16:creationId xmlns:a16="http://schemas.microsoft.com/office/drawing/2014/main" id="{81DA72B8-9C87-E1AF-B98A-35BB87112E7F}"/>
              </a:ext>
            </a:extLst>
          </p:cNvPr>
          <p:cNvGraphicFramePr>
            <a:graphicFrameLocks/>
          </p:cNvGraphicFramePr>
          <p:nvPr>
            <p:extLst>
              <p:ext uri="{D42A27DB-BD31-4B8C-83A1-F6EECF244321}">
                <p14:modId xmlns:p14="http://schemas.microsoft.com/office/powerpoint/2010/main" val="1750847204"/>
              </p:ext>
            </p:extLst>
          </p:nvPr>
        </p:nvGraphicFramePr>
        <p:xfrm>
          <a:off x="838200" y="2921675"/>
          <a:ext cx="10927829" cy="32552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555552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A8DFB2-CE6D-8D09-7A4F-E5EAB91230AC}"/>
              </a:ext>
            </a:extLst>
          </p:cNvPr>
          <p:cNvSpPr>
            <a:spLocks noGrp="1"/>
          </p:cNvSpPr>
          <p:nvPr>
            <p:ph type="title"/>
          </p:nvPr>
        </p:nvSpPr>
        <p:spPr/>
        <p:txBody>
          <a:bodyPr>
            <a:normAutofit fontScale="90000"/>
          </a:bodyPr>
          <a:lstStyle/>
          <a:p>
            <a:r>
              <a:rPr lang="en-GB" dirty="0"/>
              <a:t>Domains and the Different Decision Environments</a:t>
            </a:r>
            <a:endParaRPr lang="en-US" dirty="0"/>
          </a:p>
        </p:txBody>
      </p:sp>
      <p:sp>
        <p:nvSpPr>
          <p:cNvPr id="3" name="Content Placeholder 2">
            <a:extLst>
              <a:ext uri="{FF2B5EF4-FFF2-40B4-BE49-F238E27FC236}">
                <a16:creationId xmlns:a16="http://schemas.microsoft.com/office/drawing/2014/main" id="{EAD64D41-7567-2E1C-0750-CDA1D99E6696}"/>
              </a:ext>
            </a:extLst>
          </p:cNvPr>
          <p:cNvSpPr>
            <a:spLocks noGrp="1"/>
          </p:cNvSpPr>
          <p:nvPr>
            <p:ph idx="1"/>
          </p:nvPr>
        </p:nvSpPr>
        <p:spPr/>
        <p:txBody>
          <a:bodyPr/>
          <a:lstStyle/>
          <a:p>
            <a:pPr lvl="0"/>
            <a:r>
              <a:rPr lang="en-GB" b="1" dirty="0"/>
              <a:t>Scouting and Talent Evaluation</a:t>
            </a:r>
            <a:endParaRPr lang="en-GB" dirty="0"/>
          </a:p>
          <a:p>
            <a:pPr lvl="1"/>
            <a:r>
              <a:rPr lang="en-GB" dirty="0"/>
              <a:t>Evaluating athletes, projecting future performance, and informing recruitment.</a:t>
            </a:r>
          </a:p>
          <a:p>
            <a:pPr lvl="0"/>
            <a:r>
              <a:rPr lang="en-GB" b="1" dirty="0"/>
              <a:t>Athlete Tracking and Monitoring</a:t>
            </a:r>
            <a:endParaRPr lang="en-GB" dirty="0"/>
          </a:p>
          <a:p>
            <a:pPr lvl="1"/>
            <a:r>
              <a:rPr lang="en-GB" dirty="0"/>
              <a:t>Understanding training, competition demands, and athlete responses over time.</a:t>
            </a:r>
          </a:p>
          <a:p>
            <a:pPr lvl="0"/>
            <a:r>
              <a:rPr lang="en-GB" b="1" dirty="0"/>
              <a:t>Strategy and Tactical Analysis</a:t>
            </a:r>
            <a:endParaRPr lang="en-GB" dirty="0"/>
          </a:p>
          <a:p>
            <a:pPr lvl="1"/>
            <a:r>
              <a:rPr lang="en-GB" dirty="0"/>
              <a:t>Understanding how games unfold and supporting decisions about how to compete.</a:t>
            </a:r>
          </a:p>
          <a:p>
            <a:endParaRPr lang="en-US" dirty="0"/>
          </a:p>
        </p:txBody>
      </p:sp>
      <p:sp>
        <p:nvSpPr>
          <p:cNvPr id="5" name="TextBox 4">
            <a:extLst>
              <a:ext uri="{FF2B5EF4-FFF2-40B4-BE49-F238E27FC236}">
                <a16:creationId xmlns:a16="http://schemas.microsoft.com/office/drawing/2014/main" id="{054ECB83-3DBA-34CE-AFBB-623A4072F058}"/>
              </a:ext>
            </a:extLst>
          </p:cNvPr>
          <p:cNvSpPr txBox="1"/>
          <p:nvPr/>
        </p:nvSpPr>
        <p:spPr>
          <a:xfrm>
            <a:off x="1600200" y="5707007"/>
            <a:ext cx="8991600" cy="369332"/>
          </a:xfrm>
          <a:prstGeom prst="rect">
            <a:avLst/>
          </a:prstGeom>
          <a:noFill/>
        </p:spPr>
        <p:txBody>
          <a:bodyPr wrap="square">
            <a:spAutoFit/>
          </a:bodyPr>
          <a:lstStyle/>
          <a:p>
            <a:r>
              <a:rPr lang="en-GB" dirty="0"/>
              <a:t>The domains describe </a:t>
            </a:r>
            <a:r>
              <a:rPr lang="en-GB" b="1" dirty="0"/>
              <a:t>where</a:t>
            </a:r>
            <a:r>
              <a:rPr lang="en-GB" dirty="0"/>
              <a:t> analytics is applied and </a:t>
            </a:r>
            <a:r>
              <a:rPr lang="en-GB" b="1" dirty="0"/>
              <a:t>which decisions </a:t>
            </a:r>
            <a:r>
              <a:rPr lang="en-GB" dirty="0"/>
              <a:t>it supports.</a:t>
            </a:r>
            <a:endParaRPr lang="en-GB" sz="2250" b="0" i="0" dirty="0">
              <a:solidFill>
                <a:srgbClr val="1A292C"/>
              </a:solidFill>
              <a:effectLst/>
              <a:latin typeface="Fira Sans" panose="020B0503050000020004" pitchFamily="34" charset="0"/>
            </a:endParaRPr>
          </a:p>
        </p:txBody>
      </p:sp>
    </p:spTree>
    <p:extLst>
      <p:ext uri="{BB962C8B-B14F-4D97-AF65-F5344CB8AC3E}">
        <p14:creationId xmlns:p14="http://schemas.microsoft.com/office/powerpoint/2010/main" val="23473562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104B99-C0BE-C514-46EC-CAE531CB329A}"/>
              </a:ext>
            </a:extLst>
          </p:cNvPr>
          <p:cNvSpPr>
            <a:spLocks noGrp="1"/>
          </p:cNvSpPr>
          <p:nvPr>
            <p:ph type="title"/>
          </p:nvPr>
        </p:nvSpPr>
        <p:spPr/>
        <p:txBody>
          <a:bodyPr>
            <a:normAutofit/>
          </a:bodyPr>
          <a:lstStyle/>
          <a:p>
            <a:r>
              <a:rPr lang="en-GB" dirty="0"/>
              <a:t>Sport Analytics Begins With a Decision</a:t>
            </a:r>
            <a:endParaRPr lang="en-US" dirty="0"/>
          </a:p>
        </p:txBody>
      </p:sp>
      <p:sp>
        <p:nvSpPr>
          <p:cNvPr id="3" name="Content Placeholder 2">
            <a:extLst>
              <a:ext uri="{FF2B5EF4-FFF2-40B4-BE49-F238E27FC236}">
                <a16:creationId xmlns:a16="http://schemas.microsoft.com/office/drawing/2014/main" id="{35EC063E-392D-93CE-404B-5B2C5A5F6B12}"/>
              </a:ext>
            </a:extLst>
          </p:cNvPr>
          <p:cNvSpPr>
            <a:spLocks noGrp="1"/>
          </p:cNvSpPr>
          <p:nvPr>
            <p:ph idx="1"/>
          </p:nvPr>
        </p:nvSpPr>
        <p:spPr/>
        <p:txBody>
          <a:bodyPr>
            <a:normAutofit/>
          </a:bodyPr>
          <a:lstStyle/>
          <a:p>
            <a:pPr marL="0" indent="0">
              <a:buNone/>
            </a:pPr>
            <a:r>
              <a:rPr lang="en-GB" dirty="0"/>
              <a:t>For any sport analytics problem, ask:</a:t>
            </a:r>
          </a:p>
          <a:p>
            <a:pPr marL="971550" lvl="1" indent="-514350">
              <a:buFont typeface="+mj-lt"/>
              <a:buAutoNum type="arabicPeriod"/>
            </a:pPr>
            <a:r>
              <a:rPr lang="en-GB" dirty="0"/>
              <a:t>Who will use the analysis? </a:t>
            </a:r>
          </a:p>
          <a:p>
            <a:pPr marL="971550" lvl="1" indent="-514350">
              <a:buFont typeface="+mj-lt"/>
              <a:buAutoNum type="arabicPeriod"/>
            </a:pPr>
            <a:r>
              <a:rPr lang="en-GB" dirty="0"/>
              <a:t>What decision are they trying to make? </a:t>
            </a:r>
          </a:p>
          <a:p>
            <a:pPr marL="971550" lvl="1" indent="-514350">
              <a:buFont typeface="+mj-lt"/>
              <a:buAutoNum type="arabicPeriod"/>
            </a:pPr>
            <a:r>
              <a:rPr lang="en-GB" dirty="0"/>
              <a:t>What information could improve that decision? </a:t>
            </a:r>
          </a:p>
          <a:p>
            <a:pPr marL="971550" lvl="1" indent="-514350">
              <a:buFont typeface="+mj-lt"/>
              <a:buAutoNum type="arabicPeriod"/>
            </a:pPr>
            <a:r>
              <a:rPr lang="en-GB" dirty="0"/>
              <a:t>What are the consequences of being wrong? </a:t>
            </a:r>
          </a:p>
          <a:p>
            <a:pPr marL="971550" lvl="1" indent="-514350">
              <a:buFont typeface="+mj-lt"/>
              <a:buAutoNum type="arabicPeriod"/>
            </a:pPr>
            <a:r>
              <a:rPr lang="en-GB" dirty="0"/>
              <a:t>What data might provide that information?</a:t>
            </a:r>
          </a:p>
        </p:txBody>
      </p:sp>
    </p:spTree>
    <p:extLst>
      <p:ext uri="{BB962C8B-B14F-4D97-AF65-F5344CB8AC3E}">
        <p14:creationId xmlns:p14="http://schemas.microsoft.com/office/powerpoint/2010/main" val="24778085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B54136-6AB5-567E-BCA2-30F498FB6009}"/>
              </a:ext>
            </a:extLst>
          </p:cNvPr>
          <p:cNvSpPr>
            <a:spLocks noGrp="1"/>
          </p:cNvSpPr>
          <p:nvPr>
            <p:ph type="title"/>
          </p:nvPr>
        </p:nvSpPr>
        <p:spPr/>
        <p:txBody>
          <a:bodyPr>
            <a:normAutofit/>
          </a:bodyPr>
          <a:lstStyle/>
          <a:p>
            <a:r>
              <a:rPr lang="en-GB" dirty="0"/>
              <a:t>Domain 1: Scouting &amp; Talent Evaluation</a:t>
            </a:r>
            <a:endParaRPr lang="en-US" dirty="0"/>
          </a:p>
        </p:txBody>
      </p:sp>
      <p:sp>
        <p:nvSpPr>
          <p:cNvPr id="3" name="Content Placeholder 2">
            <a:extLst>
              <a:ext uri="{FF2B5EF4-FFF2-40B4-BE49-F238E27FC236}">
                <a16:creationId xmlns:a16="http://schemas.microsoft.com/office/drawing/2014/main" id="{363BB0BD-3051-24B4-5424-4207D8E4259C}"/>
              </a:ext>
            </a:extLst>
          </p:cNvPr>
          <p:cNvSpPr>
            <a:spLocks noGrp="1"/>
          </p:cNvSpPr>
          <p:nvPr>
            <p:ph idx="1"/>
          </p:nvPr>
        </p:nvSpPr>
        <p:spPr/>
        <p:txBody>
          <a:bodyPr>
            <a:normAutofit/>
          </a:bodyPr>
          <a:lstStyle/>
          <a:p>
            <a:pPr lvl="0"/>
            <a:r>
              <a:rPr lang="en-GB" dirty="0"/>
              <a:t>Evaluate current ability, understand development, and estimate future fit or performance.</a:t>
            </a:r>
          </a:p>
          <a:p>
            <a:pPr lvl="0"/>
            <a:endParaRPr lang="en-GB" dirty="0"/>
          </a:p>
        </p:txBody>
      </p:sp>
      <p:sp>
        <p:nvSpPr>
          <p:cNvPr id="4" name="Rounded Rectangle 3">
            <a:extLst>
              <a:ext uri="{FF2B5EF4-FFF2-40B4-BE49-F238E27FC236}">
                <a16:creationId xmlns:a16="http://schemas.microsoft.com/office/drawing/2014/main" id="{76E16221-1AC7-206D-F7E7-4283DB69983B}"/>
              </a:ext>
            </a:extLst>
          </p:cNvPr>
          <p:cNvSpPr/>
          <p:nvPr/>
        </p:nvSpPr>
        <p:spPr>
          <a:xfrm>
            <a:off x="6525491" y="2673927"/>
            <a:ext cx="4828309" cy="3186546"/>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r>
              <a:rPr lang="en-GB" sz="2400" b="1" dirty="0"/>
              <a:t>Common information</a:t>
            </a:r>
            <a:endParaRPr lang="en-GB" sz="2400" dirty="0"/>
          </a:p>
          <a:p>
            <a:pPr marL="342900" indent="-342900">
              <a:buFont typeface="Arial" panose="020B0604020202020204" pitchFamily="34" charset="0"/>
              <a:buChar char="•"/>
            </a:pPr>
            <a:r>
              <a:rPr lang="en-GB" sz="2000" dirty="0"/>
              <a:t>Performance history</a:t>
            </a:r>
          </a:p>
          <a:p>
            <a:pPr marL="342900" indent="-342900">
              <a:buFont typeface="Arial" panose="020B0604020202020204" pitchFamily="34" charset="0"/>
              <a:buChar char="•"/>
            </a:pPr>
            <a:r>
              <a:rPr lang="en-GB" sz="2000" dirty="0"/>
              <a:t>Training history</a:t>
            </a:r>
          </a:p>
          <a:p>
            <a:pPr marL="342900" indent="-342900">
              <a:buFont typeface="Arial" panose="020B0604020202020204" pitchFamily="34" charset="0"/>
              <a:buChar char="•"/>
            </a:pPr>
            <a:r>
              <a:rPr lang="en-GB" sz="2000" dirty="0"/>
              <a:t>Physical and technical profile</a:t>
            </a:r>
          </a:p>
          <a:p>
            <a:pPr marL="342900" indent="-342900">
              <a:buFont typeface="Arial" panose="020B0604020202020204" pitchFamily="34" charset="0"/>
              <a:buChar char="•"/>
            </a:pPr>
            <a:r>
              <a:rPr lang="en-GB" sz="2000" dirty="0"/>
              <a:t>Competition context</a:t>
            </a:r>
          </a:p>
          <a:p>
            <a:pPr marL="342900" indent="-342900">
              <a:buFont typeface="Arial" panose="020B0604020202020204" pitchFamily="34" charset="0"/>
              <a:buChar char="•"/>
            </a:pPr>
            <a:r>
              <a:rPr lang="en-GB" sz="2000" dirty="0"/>
              <a:t>Age</a:t>
            </a:r>
            <a:endParaRPr lang="en-US" sz="2000" dirty="0"/>
          </a:p>
        </p:txBody>
      </p:sp>
      <p:sp>
        <p:nvSpPr>
          <p:cNvPr id="5" name="Rounded Rectangle 4">
            <a:extLst>
              <a:ext uri="{FF2B5EF4-FFF2-40B4-BE49-F238E27FC236}">
                <a16:creationId xmlns:a16="http://schemas.microsoft.com/office/drawing/2014/main" id="{51598009-99A9-1900-5EDE-D2E3B9B9F140}"/>
              </a:ext>
            </a:extLst>
          </p:cNvPr>
          <p:cNvSpPr/>
          <p:nvPr/>
        </p:nvSpPr>
        <p:spPr>
          <a:xfrm>
            <a:off x="838200" y="2743200"/>
            <a:ext cx="4828309" cy="3186546"/>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r>
              <a:rPr lang="en-GB" sz="2400" b="1" dirty="0"/>
              <a:t>Common decisions</a:t>
            </a:r>
          </a:p>
          <a:p>
            <a:pPr marL="342900" indent="-342900">
              <a:buFont typeface="Arial" panose="020B0604020202020204" pitchFamily="34" charset="0"/>
              <a:buChar char="•"/>
            </a:pPr>
            <a:r>
              <a:rPr lang="en-GB" sz="2000" dirty="0"/>
              <a:t>Recruit or draft an athlete</a:t>
            </a:r>
          </a:p>
          <a:p>
            <a:pPr marL="342900" indent="-342900">
              <a:buFont typeface="Arial" panose="020B0604020202020204" pitchFamily="34" charset="0"/>
              <a:buChar char="•"/>
            </a:pPr>
            <a:r>
              <a:rPr lang="en-GB" sz="2000" dirty="0"/>
              <a:t>Compare potential prospects</a:t>
            </a:r>
          </a:p>
          <a:p>
            <a:pPr marL="342900" indent="-342900">
              <a:buFont typeface="Arial" panose="020B0604020202020204" pitchFamily="34" charset="0"/>
              <a:buChar char="•"/>
            </a:pPr>
            <a:r>
              <a:rPr lang="en-GB" sz="2000" dirty="0"/>
              <a:t>Identify development priorities</a:t>
            </a:r>
          </a:p>
          <a:p>
            <a:pPr marL="342900" indent="-342900">
              <a:buFont typeface="Arial" panose="020B0604020202020204" pitchFamily="34" charset="0"/>
              <a:buChar char="•"/>
            </a:pPr>
            <a:r>
              <a:rPr lang="en-GB" sz="2000" dirty="0"/>
              <a:t>Build a balanced roster</a:t>
            </a:r>
          </a:p>
          <a:p>
            <a:pPr algn="ctr"/>
            <a:endParaRPr lang="en-US" sz="2400" b="1" dirty="0"/>
          </a:p>
        </p:txBody>
      </p:sp>
    </p:spTree>
    <p:extLst>
      <p:ext uri="{BB962C8B-B14F-4D97-AF65-F5344CB8AC3E}">
        <p14:creationId xmlns:p14="http://schemas.microsoft.com/office/powerpoint/2010/main" val="20699122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8AAF79-5196-4304-D2BA-8C5841BFF09C}"/>
              </a:ext>
            </a:extLst>
          </p:cNvPr>
          <p:cNvSpPr>
            <a:spLocks noGrp="1"/>
          </p:cNvSpPr>
          <p:nvPr>
            <p:ph type="title"/>
          </p:nvPr>
        </p:nvSpPr>
        <p:spPr/>
        <p:txBody>
          <a:bodyPr>
            <a:normAutofit/>
          </a:bodyPr>
          <a:lstStyle/>
          <a:p>
            <a:r>
              <a:rPr lang="en-GB" dirty="0"/>
              <a:t>Evaluation Depends on the Reference Point</a:t>
            </a:r>
            <a:endParaRPr lang="en-US" dirty="0"/>
          </a:p>
        </p:txBody>
      </p:sp>
      <p:sp>
        <p:nvSpPr>
          <p:cNvPr id="3" name="Content Placeholder 2">
            <a:extLst>
              <a:ext uri="{FF2B5EF4-FFF2-40B4-BE49-F238E27FC236}">
                <a16:creationId xmlns:a16="http://schemas.microsoft.com/office/drawing/2014/main" id="{A3888892-CBFC-012B-DD3C-CB4D5B9251CB}"/>
              </a:ext>
            </a:extLst>
          </p:cNvPr>
          <p:cNvSpPr>
            <a:spLocks noGrp="1"/>
          </p:cNvSpPr>
          <p:nvPr>
            <p:ph idx="1"/>
          </p:nvPr>
        </p:nvSpPr>
        <p:spPr/>
        <p:txBody>
          <a:bodyPr/>
          <a:lstStyle/>
          <a:p>
            <a:pPr marL="0" indent="0">
              <a:buNone/>
            </a:pPr>
            <a:r>
              <a:rPr lang="en-GB" dirty="0"/>
              <a:t>Consider the claim: “This athlete is an excellent shooter.”</a:t>
            </a:r>
          </a:p>
          <a:p>
            <a:r>
              <a:rPr lang="en-GB" dirty="0"/>
              <a:t>Excellent compared with what?</a:t>
            </a:r>
          </a:p>
          <a:p>
            <a:pPr lvl="1"/>
            <a:r>
              <a:rPr lang="en-GB" dirty="0"/>
              <a:t>Teammates? </a:t>
            </a:r>
          </a:p>
          <a:p>
            <a:pPr lvl="1"/>
            <a:r>
              <a:rPr lang="en-GB" dirty="0"/>
              <a:t>Players at the same position? </a:t>
            </a:r>
          </a:p>
          <a:p>
            <a:pPr lvl="1"/>
            <a:r>
              <a:rPr lang="en-GB" dirty="0"/>
              <a:t>Players of the same age? </a:t>
            </a:r>
          </a:p>
          <a:p>
            <a:pPr lvl="1"/>
            <a:r>
              <a:rPr lang="en-GB" dirty="0"/>
              <a:t>Players in the current league? </a:t>
            </a:r>
          </a:p>
          <a:p>
            <a:pPr lvl="1"/>
            <a:r>
              <a:rPr lang="en-GB" dirty="0"/>
              <a:t>Players at the level being considered?</a:t>
            </a:r>
          </a:p>
          <a:p>
            <a:pPr lvl="1"/>
            <a:endParaRPr lang="en-US" dirty="0"/>
          </a:p>
        </p:txBody>
      </p:sp>
      <p:sp>
        <p:nvSpPr>
          <p:cNvPr id="5" name="TextBox 4">
            <a:extLst>
              <a:ext uri="{FF2B5EF4-FFF2-40B4-BE49-F238E27FC236}">
                <a16:creationId xmlns:a16="http://schemas.microsoft.com/office/drawing/2014/main" id="{F6049910-3D7F-B243-1D1A-6A64D459F79B}"/>
              </a:ext>
            </a:extLst>
          </p:cNvPr>
          <p:cNvSpPr txBox="1"/>
          <p:nvPr/>
        </p:nvSpPr>
        <p:spPr>
          <a:xfrm>
            <a:off x="2126672" y="5046730"/>
            <a:ext cx="7938655" cy="369332"/>
          </a:xfrm>
          <a:prstGeom prst="rect">
            <a:avLst/>
          </a:prstGeom>
          <a:noFill/>
        </p:spPr>
        <p:txBody>
          <a:bodyPr wrap="square">
            <a:spAutoFit/>
          </a:bodyPr>
          <a:lstStyle/>
          <a:p>
            <a:r>
              <a:rPr lang="en-GB" sz="1800" b="0" i="0" dirty="0">
                <a:solidFill>
                  <a:srgbClr val="FF0000"/>
                </a:solidFill>
                <a:effectLst/>
                <a:latin typeface="+mn-lt"/>
              </a:rPr>
              <a:t>A number becomes evaluative only when it has a meaningful comparison.</a:t>
            </a:r>
            <a:endParaRPr lang="en-US" dirty="0">
              <a:solidFill>
                <a:srgbClr val="FF0000"/>
              </a:solidFill>
            </a:endParaRPr>
          </a:p>
        </p:txBody>
      </p:sp>
    </p:spTree>
    <p:extLst>
      <p:ext uri="{BB962C8B-B14F-4D97-AF65-F5344CB8AC3E}">
        <p14:creationId xmlns:p14="http://schemas.microsoft.com/office/powerpoint/2010/main" val="8948604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9011B7-D164-DCF2-8F93-9836E1AD22D4}"/>
              </a:ext>
            </a:extLst>
          </p:cNvPr>
          <p:cNvSpPr>
            <a:spLocks noGrp="1"/>
          </p:cNvSpPr>
          <p:nvPr>
            <p:ph type="title"/>
          </p:nvPr>
        </p:nvSpPr>
        <p:spPr/>
        <p:txBody>
          <a:bodyPr>
            <a:normAutofit/>
          </a:bodyPr>
          <a:lstStyle/>
          <a:p>
            <a:r>
              <a:rPr lang="en-GB" dirty="0"/>
              <a:t>Evidence From Different Sources</a:t>
            </a:r>
            <a:endParaRPr lang="en-US" dirty="0"/>
          </a:p>
        </p:txBody>
      </p:sp>
      <p:sp>
        <p:nvSpPr>
          <p:cNvPr id="3" name="Content Placeholder 2">
            <a:extLst>
              <a:ext uri="{FF2B5EF4-FFF2-40B4-BE49-F238E27FC236}">
                <a16:creationId xmlns:a16="http://schemas.microsoft.com/office/drawing/2014/main" id="{B4A0B40D-236F-2A3B-8951-44CB5B325A31}"/>
              </a:ext>
            </a:extLst>
          </p:cNvPr>
          <p:cNvSpPr>
            <a:spLocks noGrp="1"/>
          </p:cNvSpPr>
          <p:nvPr>
            <p:ph idx="1"/>
          </p:nvPr>
        </p:nvSpPr>
        <p:spPr/>
        <p:txBody>
          <a:bodyPr/>
          <a:lstStyle/>
          <a:p>
            <a:pPr marL="0" lvl="0" indent="0">
              <a:buNone/>
            </a:pPr>
            <a:r>
              <a:rPr lang="en-GB" dirty="0"/>
              <a:t>In scouting:</a:t>
            </a:r>
          </a:p>
          <a:p>
            <a:pPr lvl="0"/>
            <a:r>
              <a:rPr lang="en-GB" b="1" dirty="0"/>
              <a:t>Statistical performance:</a:t>
            </a:r>
            <a:r>
              <a:rPr lang="en-GB" dirty="0"/>
              <a:t> what the athlete has produced </a:t>
            </a:r>
          </a:p>
          <a:p>
            <a:pPr lvl="0"/>
            <a:r>
              <a:rPr lang="en-GB" b="1" dirty="0"/>
              <a:t>Video and observation:</a:t>
            </a:r>
            <a:r>
              <a:rPr lang="en-GB" dirty="0"/>
              <a:t> how that performance occurred </a:t>
            </a:r>
          </a:p>
          <a:p>
            <a:pPr lvl="0"/>
            <a:r>
              <a:rPr lang="en-GB" b="1" dirty="0"/>
              <a:t>Physical testing:</a:t>
            </a:r>
            <a:r>
              <a:rPr lang="en-GB" dirty="0"/>
              <a:t> the athlete’s specific capabilities </a:t>
            </a:r>
          </a:p>
          <a:p>
            <a:pPr lvl="0"/>
            <a:r>
              <a:rPr lang="en-GB" b="1" dirty="0"/>
              <a:t>Interviews and background:</a:t>
            </a:r>
            <a:r>
              <a:rPr lang="en-GB" dirty="0"/>
              <a:t> the athlete’s role, experience, and environment</a:t>
            </a:r>
          </a:p>
          <a:p>
            <a:endParaRPr lang="en-US" dirty="0"/>
          </a:p>
        </p:txBody>
      </p:sp>
      <p:sp>
        <p:nvSpPr>
          <p:cNvPr id="4" name="TextBox 3">
            <a:extLst>
              <a:ext uri="{FF2B5EF4-FFF2-40B4-BE49-F238E27FC236}">
                <a16:creationId xmlns:a16="http://schemas.microsoft.com/office/drawing/2014/main" id="{B2B901C3-E3FF-43F3-077E-FDA8B95413BC}"/>
              </a:ext>
            </a:extLst>
          </p:cNvPr>
          <p:cNvSpPr txBox="1"/>
          <p:nvPr/>
        </p:nvSpPr>
        <p:spPr>
          <a:xfrm>
            <a:off x="1653020" y="5530632"/>
            <a:ext cx="8885960" cy="646331"/>
          </a:xfrm>
          <a:prstGeom prst="rect">
            <a:avLst/>
          </a:prstGeom>
          <a:noFill/>
        </p:spPr>
        <p:txBody>
          <a:bodyPr wrap="square" rtlCol="0">
            <a:spAutoFit/>
          </a:bodyPr>
          <a:lstStyle/>
          <a:p>
            <a:r>
              <a:rPr lang="en-GB" dirty="0"/>
              <a:t>The challenge is combining evidence when each source measures something different and has different limitations.</a:t>
            </a:r>
            <a:endParaRPr lang="en-US" dirty="0"/>
          </a:p>
        </p:txBody>
      </p:sp>
      <p:sp>
        <p:nvSpPr>
          <p:cNvPr id="6" name="TextBox 5">
            <a:extLst>
              <a:ext uri="{FF2B5EF4-FFF2-40B4-BE49-F238E27FC236}">
                <a16:creationId xmlns:a16="http://schemas.microsoft.com/office/drawing/2014/main" id="{C58C4524-EF60-14DA-411A-B965D6CA29A3}"/>
              </a:ext>
            </a:extLst>
          </p:cNvPr>
          <p:cNvSpPr txBox="1"/>
          <p:nvPr/>
        </p:nvSpPr>
        <p:spPr>
          <a:xfrm>
            <a:off x="4038600" y="4894573"/>
            <a:ext cx="4114800" cy="369332"/>
          </a:xfrm>
          <a:prstGeom prst="rect">
            <a:avLst/>
          </a:prstGeom>
          <a:noFill/>
        </p:spPr>
        <p:txBody>
          <a:bodyPr wrap="square">
            <a:spAutoFit/>
          </a:bodyPr>
          <a:lstStyle/>
          <a:p>
            <a:pPr algn="ctr"/>
            <a:r>
              <a:rPr lang="en-GB" dirty="0">
                <a:solidFill>
                  <a:srgbClr val="FF0000"/>
                </a:solidFill>
              </a:rPr>
              <a:t>Which source would you trust most?</a:t>
            </a:r>
            <a:endParaRPr lang="en-US" dirty="0">
              <a:solidFill>
                <a:srgbClr val="FF0000"/>
              </a:solidFill>
            </a:endParaRPr>
          </a:p>
        </p:txBody>
      </p:sp>
    </p:spTree>
    <p:extLst>
      <p:ext uri="{BB962C8B-B14F-4D97-AF65-F5344CB8AC3E}">
        <p14:creationId xmlns:p14="http://schemas.microsoft.com/office/powerpoint/2010/main" val="21609278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BC6C524E-B2B4-7A6C-16BF-529B5D15D21E}"/>
              </a:ext>
            </a:extLst>
          </p:cNvPr>
          <p:cNvSpPr/>
          <p:nvPr/>
        </p:nvSpPr>
        <p:spPr>
          <a:xfrm>
            <a:off x="838200" y="2618509"/>
            <a:ext cx="4828309" cy="3186546"/>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r>
              <a:rPr lang="en-GB" sz="2400" b="1" dirty="0"/>
              <a:t>Common decisions</a:t>
            </a:r>
          </a:p>
          <a:p>
            <a:pPr marL="342900" indent="-342900">
              <a:buFont typeface="Arial" panose="020B0604020202020204" pitchFamily="34" charset="0"/>
              <a:buChar char="•"/>
            </a:pPr>
            <a:r>
              <a:rPr lang="en-GB" sz="2000" dirty="0"/>
              <a:t>Adjust training</a:t>
            </a:r>
          </a:p>
          <a:p>
            <a:pPr marL="342900" indent="-342900">
              <a:buFont typeface="Arial" panose="020B0604020202020204" pitchFamily="34" charset="0"/>
              <a:buChar char="•"/>
            </a:pPr>
            <a:r>
              <a:rPr lang="en-GB" sz="2000" dirty="0"/>
              <a:t>Plan recovery</a:t>
            </a:r>
          </a:p>
          <a:p>
            <a:pPr marL="342900" indent="-342900">
              <a:buFont typeface="Arial" panose="020B0604020202020204" pitchFamily="34" charset="0"/>
              <a:buChar char="•"/>
            </a:pPr>
            <a:r>
              <a:rPr lang="en-GB" sz="2000" dirty="0"/>
              <a:t>Prepare for competition demands</a:t>
            </a:r>
          </a:p>
          <a:p>
            <a:pPr marL="342900" indent="-342900">
              <a:buFont typeface="Arial" panose="020B0604020202020204" pitchFamily="34" charset="0"/>
              <a:buChar char="•"/>
            </a:pPr>
            <a:r>
              <a:rPr lang="en-GB" sz="2000" dirty="0"/>
              <a:t>Evaluate return-to-play progression</a:t>
            </a:r>
          </a:p>
        </p:txBody>
      </p:sp>
      <p:sp>
        <p:nvSpPr>
          <p:cNvPr id="2" name="Title 1">
            <a:extLst>
              <a:ext uri="{FF2B5EF4-FFF2-40B4-BE49-F238E27FC236}">
                <a16:creationId xmlns:a16="http://schemas.microsoft.com/office/drawing/2014/main" id="{1688469D-40F7-7830-05F1-2D005D4F89DE}"/>
              </a:ext>
            </a:extLst>
          </p:cNvPr>
          <p:cNvSpPr>
            <a:spLocks noGrp="1"/>
          </p:cNvSpPr>
          <p:nvPr>
            <p:ph type="title"/>
          </p:nvPr>
        </p:nvSpPr>
        <p:spPr/>
        <p:txBody>
          <a:bodyPr>
            <a:normAutofit/>
          </a:bodyPr>
          <a:lstStyle/>
          <a:p>
            <a:r>
              <a:rPr lang="en-GB" dirty="0"/>
              <a:t>Domain 2: Athlete Tracking and Monitoring</a:t>
            </a:r>
            <a:endParaRPr lang="en-US" dirty="0"/>
          </a:p>
        </p:txBody>
      </p:sp>
      <p:sp>
        <p:nvSpPr>
          <p:cNvPr id="3" name="Content Placeholder 2">
            <a:extLst>
              <a:ext uri="{FF2B5EF4-FFF2-40B4-BE49-F238E27FC236}">
                <a16:creationId xmlns:a16="http://schemas.microsoft.com/office/drawing/2014/main" id="{6A687C13-1F8F-6A9D-FF31-C0F3288FE451}"/>
              </a:ext>
            </a:extLst>
          </p:cNvPr>
          <p:cNvSpPr>
            <a:spLocks noGrp="1"/>
          </p:cNvSpPr>
          <p:nvPr>
            <p:ph idx="1"/>
          </p:nvPr>
        </p:nvSpPr>
        <p:spPr/>
        <p:txBody>
          <a:bodyPr>
            <a:normAutofit/>
          </a:bodyPr>
          <a:lstStyle/>
          <a:p>
            <a:pPr lvl="0"/>
            <a:r>
              <a:rPr lang="en-GB" dirty="0"/>
              <a:t>Understand what athletes do and how they respond across training and competition.</a:t>
            </a:r>
          </a:p>
        </p:txBody>
      </p:sp>
      <p:sp>
        <p:nvSpPr>
          <p:cNvPr id="4" name="Rounded Rectangle 3">
            <a:extLst>
              <a:ext uri="{FF2B5EF4-FFF2-40B4-BE49-F238E27FC236}">
                <a16:creationId xmlns:a16="http://schemas.microsoft.com/office/drawing/2014/main" id="{CC26C4C5-D99B-CDA1-7F9C-769BF13A41A9}"/>
              </a:ext>
            </a:extLst>
          </p:cNvPr>
          <p:cNvSpPr/>
          <p:nvPr/>
        </p:nvSpPr>
        <p:spPr>
          <a:xfrm>
            <a:off x="6525491" y="2618509"/>
            <a:ext cx="4828309" cy="3186546"/>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r>
              <a:rPr lang="en-GB" sz="2400" b="1" dirty="0"/>
              <a:t>Common information</a:t>
            </a:r>
            <a:endParaRPr lang="en-GB" sz="2400" dirty="0"/>
          </a:p>
          <a:p>
            <a:pPr marL="342900" indent="-342900">
              <a:buFont typeface="Arial" panose="020B0604020202020204" pitchFamily="34" charset="0"/>
              <a:buChar char="•"/>
            </a:pPr>
            <a:r>
              <a:rPr lang="en-GB" sz="2000" dirty="0"/>
              <a:t>External load</a:t>
            </a:r>
          </a:p>
          <a:p>
            <a:pPr marL="342900" indent="-342900">
              <a:buFont typeface="Arial" panose="020B0604020202020204" pitchFamily="34" charset="0"/>
              <a:buChar char="•"/>
            </a:pPr>
            <a:r>
              <a:rPr lang="en-GB" sz="2000" dirty="0"/>
              <a:t>Internal load</a:t>
            </a:r>
          </a:p>
          <a:p>
            <a:pPr marL="342900" indent="-342900">
              <a:buFont typeface="Arial" panose="020B0604020202020204" pitchFamily="34" charset="0"/>
              <a:buChar char="•"/>
            </a:pPr>
            <a:r>
              <a:rPr lang="en-GB" sz="2000" dirty="0"/>
              <a:t>Wellness and readiness</a:t>
            </a:r>
          </a:p>
          <a:p>
            <a:pPr marL="342900" indent="-342900">
              <a:buFont typeface="Arial" panose="020B0604020202020204" pitchFamily="34" charset="0"/>
              <a:buChar char="•"/>
            </a:pPr>
            <a:r>
              <a:rPr lang="en-GB" sz="2000" dirty="0"/>
              <a:t>Performance-test results</a:t>
            </a:r>
            <a:endParaRPr lang="en-US" sz="2000" dirty="0"/>
          </a:p>
        </p:txBody>
      </p:sp>
    </p:spTree>
    <p:extLst>
      <p:ext uri="{BB962C8B-B14F-4D97-AF65-F5344CB8AC3E}">
        <p14:creationId xmlns:p14="http://schemas.microsoft.com/office/powerpoint/2010/main" val="3814524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620C65-AACC-AC0A-76CE-4647060FAA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51E9B5-E8BC-BC83-E6EF-9F91BC10D46E}"/>
              </a:ext>
            </a:extLst>
          </p:cNvPr>
          <p:cNvSpPr>
            <a:spLocks noGrp="1"/>
          </p:cNvSpPr>
          <p:nvPr>
            <p:ph type="title"/>
          </p:nvPr>
        </p:nvSpPr>
        <p:spPr>
          <a:xfrm>
            <a:off x="838200" y="365126"/>
            <a:ext cx="10515600" cy="1311274"/>
          </a:xfrm>
        </p:spPr>
        <p:txBody>
          <a:bodyPr>
            <a:normAutofit/>
          </a:bodyPr>
          <a:lstStyle/>
          <a:p>
            <a:r>
              <a:rPr lang="en-GB" dirty="0"/>
              <a:t>Tracking Connects the Training Plan, Completed Work, and Athlete Response</a:t>
            </a:r>
            <a:endParaRPr lang="en-US" dirty="0"/>
          </a:p>
        </p:txBody>
      </p:sp>
      <p:sp>
        <p:nvSpPr>
          <p:cNvPr id="3" name="Content Placeholder 2">
            <a:extLst>
              <a:ext uri="{FF2B5EF4-FFF2-40B4-BE49-F238E27FC236}">
                <a16:creationId xmlns:a16="http://schemas.microsoft.com/office/drawing/2014/main" id="{E2888A1B-7759-ED77-C7D4-03E0BC0B381C}"/>
              </a:ext>
            </a:extLst>
          </p:cNvPr>
          <p:cNvSpPr>
            <a:spLocks noGrp="1"/>
          </p:cNvSpPr>
          <p:nvPr>
            <p:ph idx="1"/>
          </p:nvPr>
        </p:nvSpPr>
        <p:spPr>
          <a:xfrm>
            <a:off x="838200" y="1828800"/>
            <a:ext cx="10515600" cy="4348163"/>
          </a:xfrm>
        </p:spPr>
        <p:txBody>
          <a:bodyPr>
            <a:normAutofit/>
          </a:bodyPr>
          <a:lstStyle/>
          <a:p>
            <a:pPr lvl="0"/>
            <a:r>
              <a:rPr lang="en-GB" dirty="0"/>
              <a:t>What was prescribed?</a:t>
            </a:r>
          </a:p>
          <a:p>
            <a:pPr lvl="1"/>
            <a:r>
              <a:rPr lang="en-GB" dirty="0"/>
              <a:t>The planned training or competition demand</a:t>
            </a:r>
          </a:p>
          <a:p>
            <a:pPr lvl="1"/>
            <a:endParaRPr lang="en-GB" dirty="0"/>
          </a:p>
          <a:p>
            <a:pPr lvl="0"/>
            <a:r>
              <a:rPr lang="en-GB" dirty="0"/>
              <a:t>What did the athlete complete?</a:t>
            </a:r>
          </a:p>
          <a:p>
            <a:pPr lvl="1"/>
            <a:r>
              <a:rPr lang="en-GB" dirty="0"/>
              <a:t>Duration, distance, accelerations, impacts, repetitions</a:t>
            </a:r>
          </a:p>
          <a:p>
            <a:pPr lvl="1"/>
            <a:endParaRPr lang="en-GB" dirty="0"/>
          </a:p>
          <a:p>
            <a:pPr lvl="0"/>
            <a:r>
              <a:rPr lang="en-GB" dirty="0"/>
              <a:t>How did the athlete respond?</a:t>
            </a:r>
          </a:p>
          <a:p>
            <a:pPr lvl="1"/>
            <a:r>
              <a:rPr lang="en-GB" dirty="0"/>
              <a:t>Heart rate, RPE, soreness, wellness, performance changes</a:t>
            </a:r>
          </a:p>
        </p:txBody>
      </p:sp>
      <p:sp>
        <p:nvSpPr>
          <p:cNvPr id="4" name="TextBox 3">
            <a:extLst>
              <a:ext uri="{FF2B5EF4-FFF2-40B4-BE49-F238E27FC236}">
                <a16:creationId xmlns:a16="http://schemas.microsoft.com/office/drawing/2014/main" id="{1C475B5E-C7BA-FAD6-E9CD-CB2AB1EB4ACE}"/>
              </a:ext>
            </a:extLst>
          </p:cNvPr>
          <p:cNvSpPr txBox="1"/>
          <p:nvPr/>
        </p:nvSpPr>
        <p:spPr>
          <a:xfrm>
            <a:off x="1572491" y="5960031"/>
            <a:ext cx="9047018" cy="369332"/>
          </a:xfrm>
          <a:prstGeom prst="rect">
            <a:avLst/>
          </a:prstGeom>
          <a:noFill/>
        </p:spPr>
        <p:txBody>
          <a:bodyPr wrap="square">
            <a:spAutoFit/>
          </a:bodyPr>
          <a:lstStyle/>
          <a:p>
            <a:pPr lvl="1" algn="ctr"/>
            <a:r>
              <a:rPr lang="en-GB" dirty="0"/>
              <a:t>Workload has meaning only when interpreted in context.</a:t>
            </a:r>
            <a:endParaRPr lang="en-GB" sz="2400" b="1" dirty="0">
              <a:solidFill>
                <a:srgbClr val="FF0000"/>
              </a:solidFill>
            </a:endParaRPr>
          </a:p>
        </p:txBody>
      </p:sp>
    </p:spTree>
    <p:extLst>
      <p:ext uri="{BB962C8B-B14F-4D97-AF65-F5344CB8AC3E}">
        <p14:creationId xmlns:p14="http://schemas.microsoft.com/office/powerpoint/2010/main" val="33263461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83AD42-60BD-21B3-61E1-DFB92D3CD1C6}"/>
              </a:ext>
            </a:extLst>
          </p:cNvPr>
          <p:cNvSpPr>
            <a:spLocks noGrp="1"/>
          </p:cNvSpPr>
          <p:nvPr>
            <p:ph type="title"/>
          </p:nvPr>
        </p:nvSpPr>
        <p:spPr/>
        <p:txBody>
          <a:bodyPr>
            <a:normAutofit/>
          </a:bodyPr>
          <a:lstStyle/>
          <a:p>
            <a:r>
              <a:rPr lang="en-GB" dirty="0"/>
              <a:t>Monitoring Data Requires Interpretation</a:t>
            </a:r>
            <a:endParaRPr lang="en-US" dirty="0"/>
          </a:p>
        </p:txBody>
      </p:sp>
      <p:sp>
        <p:nvSpPr>
          <p:cNvPr id="3" name="Content Placeholder 2">
            <a:extLst>
              <a:ext uri="{FF2B5EF4-FFF2-40B4-BE49-F238E27FC236}">
                <a16:creationId xmlns:a16="http://schemas.microsoft.com/office/drawing/2014/main" id="{5EEE94A3-5163-F037-E798-2DCEA765AE73}"/>
              </a:ext>
            </a:extLst>
          </p:cNvPr>
          <p:cNvSpPr>
            <a:spLocks noGrp="1"/>
          </p:cNvSpPr>
          <p:nvPr>
            <p:ph idx="1"/>
          </p:nvPr>
        </p:nvSpPr>
        <p:spPr/>
        <p:txBody>
          <a:bodyPr>
            <a:normAutofit/>
          </a:bodyPr>
          <a:lstStyle/>
          <a:p>
            <a:pPr lvl="0"/>
            <a:r>
              <a:rPr lang="en-GB" dirty="0"/>
              <a:t>Athlete monitoring data can identify unusual patterns or changes. </a:t>
            </a:r>
          </a:p>
          <a:p>
            <a:pPr lvl="1"/>
            <a:endParaRPr lang="en-GB" dirty="0"/>
          </a:p>
          <a:p>
            <a:pPr lvl="0"/>
            <a:r>
              <a:rPr lang="en-GB" dirty="0"/>
              <a:t>A flag indicates that something may deserve </a:t>
            </a:r>
            <a:r>
              <a:rPr lang="en-GB" b="1" dirty="0"/>
              <a:t>attention </a:t>
            </a:r>
            <a:r>
              <a:rPr lang="en-GB" dirty="0"/>
              <a:t>but does not diagnose a problem. </a:t>
            </a:r>
          </a:p>
          <a:p>
            <a:pPr lvl="0"/>
            <a:endParaRPr lang="en-GB" dirty="0"/>
          </a:p>
          <a:p>
            <a:pPr lvl="0"/>
            <a:r>
              <a:rPr lang="en-GB" dirty="0"/>
              <a:t>Coaches and practitioners must interpret the information within the athlete’s broader </a:t>
            </a:r>
            <a:r>
              <a:rPr lang="en-GB" b="1" dirty="0"/>
              <a:t>context</a:t>
            </a:r>
            <a:r>
              <a:rPr lang="en-GB" dirty="0"/>
              <a:t>.</a:t>
            </a:r>
          </a:p>
        </p:txBody>
      </p:sp>
    </p:spTree>
    <p:extLst>
      <p:ext uri="{BB962C8B-B14F-4D97-AF65-F5344CB8AC3E}">
        <p14:creationId xmlns:p14="http://schemas.microsoft.com/office/powerpoint/2010/main" val="10203529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7492E-1A95-E2DA-32AA-CCE155FA43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39C891-583F-87DA-AC76-852BE7EE3482}"/>
              </a:ext>
            </a:extLst>
          </p:cNvPr>
          <p:cNvSpPr>
            <a:spLocks noGrp="1"/>
          </p:cNvSpPr>
          <p:nvPr>
            <p:ph type="title"/>
          </p:nvPr>
        </p:nvSpPr>
        <p:spPr/>
        <p:txBody>
          <a:bodyPr>
            <a:normAutofit/>
          </a:bodyPr>
          <a:lstStyle/>
          <a:p>
            <a:r>
              <a:rPr lang="en-GB" dirty="0"/>
              <a:t>Domain 3: Strategy &amp; Tactical Analysis</a:t>
            </a:r>
            <a:endParaRPr lang="en-US" dirty="0"/>
          </a:p>
        </p:txBody>
      </p:sp>
      <p:sp>
        <p:nvSpPr>
          <p:cNvPr id="3" name="Content Placeholder 2">
            <a:extLst>
              <a:ext uri="{FF2B5EF4-FFF2-40B4-BE49-F238E27FC236}">
                <a16:creationId xmlns:a16="http://schemas.microsoft.com/office/drawing/2014/main" id="{64A63C36-4A2B-4B2F-2821-321706FDBBFE}"/>
              </a:ext>
            </a:extLst>
          </p:cNvPr>
          <p:cNvSpPr>
            <a:spLocks noGrp="1"/>
          </p:cNvSpPr>
          <p:nvPr>
            <p:ph idx="1"/>
          </p:nvPr>
        </p:nvSpPr>
        <p:spPr/>
        <p:txBody>
          <a:bodyPr>
            <a:normAutofit/>
          </a:bodyPr>
          <a:lstStyle/>
          <a:p>
            <a:pPr lvl="0"/>
            <a:r>
              <a:rPr lang="en-GB" dirty="0"/>
              <a:t>Understand patterns of play and support decisions about how to compete.</a:t>
            </a:r>
          </a:p>
        </p:txBody>
      </p:sp>
      <p:sp>
        <p:nvSpPr>
          <p:cNvPr id="4" name="Rounded Rectangle 3">
            <a:extLst>
              <a:ext uri="{FF2B5EF4-FFF2-40B4-BE49-F238E27FC236}">
                <a16:creationId xmlns:a16="http://schemas.microsoft.com/office/drawing/2014/main" id="{D6C42FA8-19F9-6724-9126-2281495E58FA}"/>
              </a:ext>
            </a:extLst>
          </p:cNvPr>
          <p:cNvSpPr/>
          <p:nvPr/>
        </p:nvSpPr>
        <p:spPr>
          <a:xfrm>
            <a:off x="838199" y="2618509"/>
            <a:ext cx="4846320" cy="3186546"/>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r>
              <a:rPr lang="en-GB" sz="2400" b="1" dirty="0"/>
              <a:t>Common information</a:t>
            </a:r>
            <a:endParaRPr lang="en-GB" sz="2400" dirty="0"/>
          </a:p>
          <a:p>
            <a:pPr marL="342900" indent="-342900">
              <a:buFont typeface="Arial" panose="020B0604020202020204" pitchFamily="34" charset="0"/>
              <a:buChar char="•"/>
            </a:pPr>
            <a:r>
              <a:rPr lang="en-GB" sz="2400" dirty="0"/>
              <a:t>Events and outcomes</a:t>
            </a:r>
          </a:p>
          <a:p>
            <a:pPr marL="342900" indent="-342900">
              <a:buFont typeface="Arial" panose="020B0604020202020204" pitchFamily="34" charset="0"/>
              <a:buChar char="•"/>
            </a:pPr>
            <a:r>
              <a:rPr lang="en-GB" sz="2400" dirty="0"/>
              <a:t>Spatial patterns</a:t>
            </a:r>
          </a:p>
          <a:p>
            <a:pPr marL="342900" indent="-342900">
              <a:buFont typeface="Arial" panose="020B0604020202020204" pitchFamily="34" charset="0"/>
              <a:buChar char="•"/>
            </a:pPr>
            <a:r>
              <a:rPr lang="en-GB" sz="2400" dirty="0"/>
              <a:t>Situational tendencies</a:t>
            </a:r>
          </a:p>
          <a:p>
            <a:pPr marL="342900" indent="-342900">
              <a:buFont typeface="Arial" panose="020B0604020202020204" pitchFamily="34" charset="0"/>
              <a:buChar char="•"/>
            </a:pPr>
            <a:r>
              <a:rPr lang="en-GB" sz="2400" dirty="0"/>
              <a:t>Probabilities and expected value</a:t>
            </a:r>
            <a:endParaRPr lang="en-US" sz="2400" dirty="0"/>
          </a:p>
        </p:txBody>
      </p:sp>
      <p:sp>
        <p:nvSpPr>
          <p:cNvPr id="5" name="Rounded Rectangle 4">
            <a:extLst>
              <a:ext uri="{FF2B5EF4-FFF2-40B4-BE49-F238E27FC236}">
                <a16:creationId xmlns:a16="http://schemas.microsoft.com/office/drawing/2014/main" id="{EE4C124B-F576-640F-99B6-413600FB67D6}"/>
              </a:ext>
            </a:extLst>
          </p:cNvPr>
          <p:cNvSpPr/>
          <p:nvPr/>
        </p:nvSpPr>
        <p:spPr>
          <a:xfrm>
            <a:off x="6525490" y="2618509"/>
            <a:ext cx="4846320" cy="3186546"/>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r>
              <a:rPr lang="en-GB" sz="2400" b="1" dirty="0"/>
              <a:t>Common decisions</a:t>
            </a:r>
          </a:p>
          <a:p>
            <a:pPr marL="342900" indent="-342900">
              <a:buFont typeface="Arial" panose="020B0604020202020204" pitchFamily="34" charset="0"/>
              <a:buChar char="•"/>
            </a:pPr>
            <a:r>
              <a:rPr lang="en-GB" sz="2400" dirty="0"/>
              <a:t>Select lineups or rotations</a:t>
            </a:r>
          </a:p>
          <a:p>
            <a:pPr marL="342900" indent="-342900">
              <a:buFont typeface="Arial" panose="020B0604020202020204" pitchFamily="34" charset="0"/>
              <a:buChar char="•"/>
            </a:pPr>
            <a:r>
              <a:rPr lang="en-GB" sz="2400" dirty="0"/>
              <a:t>Prepare for an opponent</a:t>
            </a:r>
          </a:p>
          <a:p>
            <a:pPr marL="342900" indent="-342900">
              <a:buFont typeface="Arial" panose="020B0604020202020204" pitchFamily="34" charset="0"/>
              <a:buChar char="•"/>
            </a:pPr>
            <a:r>
              <a:rPr lang="en-GB" sz="2400" dirty="0"/>
              <a:t>Choose offensive or defensive tactics</a:t>
            </a:r>
          </a:p>
          <a:p>
            <a:pPr marL="342900" indent="-342900">
              <a:buFont typeface="Arial" panose="020B0604020202020204" pitchFamily="34" charset="0"/>
              <a:buChar char="•"/>
            </a:pPr>
            <a:r>
              <a:rPr lang="en-GB" sz="2400" dirty="0"/>
              <a:t>Make in-game adjustments</a:t>
            </a:r>
          </a:p>
        </p:txBody>
      </p:sp>
    </p:spTree>
    <p:extLst>
      <p:ext uri="{BB962C8B-B14F-4D97-AF65-F5344CB8AC3E}">
        <p14:creationId xmlns:p14="http://schemas.microsoft.com/office/powerpoint/2010/main" val="42331461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00091-86A6-44ED-8B85-AF5B811FD243}"/>
              </a:ext>
            </a:extLst>
          </p:cNvPr>
          <p:cNvSpPr>
            <a:spLocks noGrp="1"/>
          </p:cNvSpPr>
          <p:nvPr>
            <p:ph type="title"/>
          </p:nvPr>
        </p:nvSpPr>
        <p:spPr/>
        <p:txBody>
          <a:bodyPr>
            <a:normAutofit/>
          </a:bodyPr>
          <a:lstStyle/>
          <a:p>
            <a:r>
              <a:rPr lang="en-GB" dirty="0"/>
              <a:t>Situational Context and Game Event	</a:t>
            </a:r>
          </a:p>
        </p:txBody>
      </p:sp>
      <p:sp>
        <p:nvSpPr>
          <p:cNvPr id="3" name="Content Placeholder 2">
            <a:extLst>
              <a:ext uri="{FF2B5EF4-FFF2-40B4-BE49-F238E27FC236}">
                <a16:creationId xmlns:a16="http://schemas.microsoft.com/office/drawing/2014/main" id="{70846D2A-36B4-B854-420B-C54066EF71E3}"/>
              </a:ext>
            </a:extLst>
          </p:cNvPr>
          <p:cNvSpPr>
            <a:spLocks noGrp="1"/>
          </p:cNvSpPr>
          <p:nvPr>
            <p:ph idx="1"/>
          </p:nvPr>
        </p:nvSpPr>
        <p:spPr/>
        <p:txBody>
          <a:bodyPr>
            <a:normAutofit/>
          </a:bodyPr>
          <a:lstStyle/>
          <a:p>
            <a:r>
              <a:rPr lang="en-GB" dirty="0"/>
              <a:t>The value of a shot, pass, or play depends on:</a:t>
            </a:r>
          </a:p>
          <a:p>
            <a:pPr lvl="1"/>
            <a:endParaRPr lang="en-GB" dirty="0"/>
          </a:p>
          <a:p>
            <a:pPr lvl="1"/>
            <a:r>
              <a:rPr lang="en-GB" b="1" dirty="0"/>
              <a:t>When </a:t>
            </a:r>
            <a:r>
              <a:rPr lang="en-GB" dirty="0"/>
              <a:t>it occurred: score, time remaining, and game situation </a:t>
            </a:r>
          </a:p>
          <a:p>
            <a:pPr lvl="1"/>
            <a:endParaRPr lang="en-GB" dirty="0"/>
          </a:p>
          <a:p>
            <a:pPr lvl="1"/>
            <a:r>
              <a:rPr lang="en-GB" b="1" dirty="0"/>
              <a:t>Where </a:t>
            </a:r>
            <a:r>
              <a:rPr lang="en-GB" dirty="0"/>
              <a:t>it occurred: player location and defensive pressure </a:t>
            </a:r>
          </a:p>
          <a:p>
            <a:pPr lvl="1"/>
            <a:endParaRPr lang="en-GB" dirty="0"/>
          </a:p>
          <a:p>
            <a:pPr lvl="1"/>
            <a:r>
              <a:rPr lang="en-GB" b="1" dirty="0"/>
              <a:t>Who </a:t>
            </a:r>
            <a:r>
              <a:rPr lang="en-GB" dirty="0"/>
              <a:t>was involved: opponent, matchup, and teammates on the court or field</a:t>
            </a:r>
          </a:p>
          <a:p>
            <a:endParaRPr lang="en-GB" dirty="0"/>
          </a:p>
        </p:txBody>
      </p:sp>
      <p:sp>
        <p:nvSpPr>
          <p:cNvPr id="4" name="TextBox 3">
            <a:extLst>
              <a:ext uri="{FF2B5EF4-FFF2-40B4-BE49-F238E27FC236}">
                <a16:creationId xmlns:a16="http://schemas.microsoft.com/office/drawing/2014/main" id="{A846A89B-06FB-BADD-6211-2E10A63ADC10}"/>
              </a:ext>
            </a:extLst>
          </p:cNvPr>
          <p:cNvSpPr txBox="1"/>
          <p:nvPr/>
        </p:nvSpPr>
        <p:spPr>
          <a:xfrm>
            <a:off x="1572491" y="5185229"/>
            <a:ext cx="9047018" cy="369332"/>
          </a:xfrm>
          <a:prstGeom prst="rect">
            <a:avLst/>
          </a:prstGeom>
          <a:noFill/>
        </p:spPr>
        <p:txBody>
          <a:bodyPr wrap="square">
            <a:spAutoFit/>
          </a:bodyPr>
          <a:lstStyle/>
          <a:p>
            <a:pPr lvl="1" algn="ctr"/>
            <a:r>
              <a:rPr lang="en-GB" dirty="0"/>
              <a:t>Strategy analysis asks not only what happened, but when, where, and against whom.</a:t>
            </a:r>
            <a:endParaRPr lang="en-GB" sz="2400" b="1" dirty="0">
              <a:solidFill>
                <a:srgbClr val="FF0000"/>
              </a:solidFill>
            </a:endParaRPr>
          </a:p>
        </p:txBody>
      </p:sp>
    </p:spTree>
    <p:extLst>
      <p:ext uri="{BB962C8B-B14F-4D97-AF65-F5344CB8AC3E}">
        <p14:creationId xmlns:p14="http://schemas.microsoft.com/office/powerpoint/2010/main" val="18601062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D4665-7DBF-8A56-8432-CC0037900FFD}"/>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id="{6E10B1F5-5C90-B50C-2694-2E70097DA589}"/>
              </a:ext>
            </a:extLst>
          </p:cNvPr>
          <p:cNvSpPr>
            <a:spLocks noGrp="1"/>
          </p:cNvSpPr>
          <p:nvPr>
            <p:ph idx="1"/>
          </p:nvPr>
        </p:nvSpPr>
        <p:spPr/>
        <p:txBody>
          <a:bodyPr/>
          <a:lstStyle/>
          <a:p>
            <a:r>
              <a:rPr lang="en-US" dirty="0"/>
              <a:t>Which domain is your decision or question in?</a:t>
            </a:r>
          </a:p>
          <a:p>
            <a:pPr lvl="1"/>
            <a:r>
              <a:rPr lang="en-GB" dirty="0"/>
              <a:t>Scouting and talent evaluation </a:t>
            </a:r>
          </a:p>
          <a:p>
            <a:pPr lvl="1"/>
            <a:r>
              <a:rPr lang="en-GB" dirty="0"/>
              <a:t>Athlete tracking and monitoring </a:t>
            </a:r>
          </a:p>
          <a:p>
            <a:pPr lvl="1"/>
            <a:r>
              <a:rPr lang="en-GB" dirty="0"/>
              <a:t>Strategy and tactical analysis</a:t>
            </a:r>
          </a:p>
          <a:p>
            <a:pPr lvl="1"/>
            <a:endParaRPr lang="en-US" dirty="0"/>
          </a:p>
        </p:txBody>
      </p:sp>
      <p:sp>
        <p:nvSpPr>
          <p:cNvPr id="5" name="TextBox 4">
            <a:extLst>
              <a:ext uri="{FF2B5EF4-FFF2-40B4-BE49-F238E27FC236}">
                <a16:creationId xmlns:a16="http://schemas.microsoft.com/office/drawing/2014/main" id="{045FE3CE-CCD9-81B0-25CC-B7A223ACD2BF}"/>
              </a:ext>
            </a:extLst>
          </p:cNvPr>
          <p:cNvSpPr txBox="1"/>
          <p:nvPr/>
        </p:nvSpPr>
        <p:spPr>
          <a:xfrm>
            <a:off x="3048000" y="4186489"/>
            <a:ext cx="6096000" cy="646331"/>
          </a:xfrm>
          <a:prstGeom prst="rect">
            <a:avLst/>
          </a:prstGeom>
          <a:noFill/>
        </p:spPr>
        <p:txBody>
          <a:bodyPr wrap="square">
            <a:spAutoFit/>
          </a:bodyPr>
          <a:lstStyle/>
          <a:p>
            <a:r>
              <a:rPr lang="en-GB" dirty="0">
                <a:solidFill>
                  <a:srgbClr val="FF0000"/>
                </a:solidFill>
              </a:rPr>
              <a:t>What information would you want before making that decision?</a:t>
            </a:r>
            <a:endParaRPr lang="en-US" dirty="0">
              <a:solidFill>
                <a:srgbClr val="FF0000"/>
              </a:solidFill>
            </a:endParaRPr>
          </a:p>
        </p:txBody>
      </p:sp>
    </p:spTree>
    <p:extLst>
      <p:ext uri="{BB962C8B-B14F-4D97-AF65-F5344CB8AC3E}">
        <p14:creationId xmlns:p14="http://schemas.microsoft.com/office/powerpoint/2010/main" val="36376658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009AD9-21AB-F292-D8DE-189FC1682897}"/>
              </a:ext>
            </a:extLst>
          </p:cNvPr>
          <p:cNvSpPr>
            <a:spLocks noGrp="1"/>
          </p:cNvSpPr>
          <p:nvPr>
            <p:ph type="title"/>
          </p:nvPr>
        </p:nvSpPr>
        <p:spPr/>
        <p:txBody>
          <a:bodyPr>
            <a:normAutofit/>
          </a:bodyPr>
          <a:lstStyle/>
          <a:p>
            <a:r>
              <a:rPr lang="en-US" sz="4800" dirty="0"/>
              <a:t>Developing an Analytical Question</a:t>
            </a:r>
          </a:p>
        </p:txBody>
      </p:sp>
      <p:sp>
        <p:nvSpPr>
          <p:cNvPr id="3" name="Text Placeholder 2">
            <a:extLst>
              <a:ext uri="{FF2B5EF4-FFF2-40B4-BE49-F238E27FC236}">
                <a16:creationId xmlns:a16="http://schemas.microsoft.com/office/drawing/2014/main" id="{4FFB6CB8-04B0-5CB0-1F16-6718FEDB96DD}"/>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9300764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6BF151-17A3-BE94-563E-EEC74FD042FD}"/>
              </a:ext>
            </a:extLst>
          </p:cNvPr>
          <p:cNvSpPr>
            <a:spLocks noGrp="1"/>
          </p:cNvSpPr>
          <p:nvPr>
            <p:ph type="title"/>
          </p:nvPr>
        </p:nvSpPr>
        <p:spPr/>
        <p:txBody>
          <a:bodyPr>
            <a:normAutofit fontScale="90000"/>
          </a:bodyPr>
          <a:lstStyle/>
          <a:p>
            <a:r>
              <a:rPr lang="en-GB" dirty="0"/>
              <a:t>Analytical Questions Serve Different Purposes</a:t>
            </a:r>
            <a:endParaRPr lang="en-US" dirty="0"/>
          </a:p>
        </p:txBody>
      </p:sp>
      <p:sp>
        <p:nvSpPr>
          <p:cNvPr id="3" name="Content Placeholder 2">
            <a:extLst>
              <a:ext uri="{FF2B5EF4-FFF2-40B4-BE49-F238E27FC236}">
                <a16:creationId xmlns:a16="http://schemas.microsoft.com/office/drawing/2014/main" id="{13FE2B59-4E9C-1A2A-0D85-1247AFC5E9FD}"/>
              </a:ext>
            </a:extLst>
          </p:cNvPr>
          <p:cNvSpPr>
            <a:spLocks noGrp="1"/>
          </p:cNvSpPr>
          <p:nvPr>
            <p:ph idx="1"/>
          </p:nvPr>
        </p:nvSpPr>
        <p:spPr/>
        <p:txBody>
          <a:bodyPr/>
          <a:lstStyle/>
          <a:p>
            <a:r>
              <a:rPr lang="en-GB" dirty="0"/>
              <a:t>Within any domain, we might want to:</a:t>
            </a:r>
          </a:p>
          <a:p>
            <a:pPr lvl="1"/>
            <a:endParaRPr lang="en-GB" b="1" dirty="0"/>
          </a:p>
          <a:p>
            <a:pPr lvl="1"/>
            <a:r>
              <a:rPr lang="en-GB" b="1" dirty="0"/>
              <a:t>Describe</a:t>
            </a:r>
            <a:r>
              <a:rPr lang="en-GB" dirty="0"/>
              <a:t> what occurred </a:t>
            </a:r>
          </a:p>
          <a:p>
            <a:pPr lvl="1"/>
            <a:endParaRPr lang="en-GB" dirty="0"/>
          </a:p>
          <a:p>
            <a:pPr lvl="1"/>
            <a:r>
              <a:rPr lang="en-GB" b="1" dirty="0"/>
              <a:t>Diagnose</a:t>
            </a:r>
            <a:r>
              <a:rPr lang="en-GB" dirty="0"/>
              <a:t> why it may have occurred </a:t>
            </a:r>
          </a:p>
          <a:p>
            <a:pPr lvl="1"/>
            <a:endParaRPr lang="en-GB" dirty="0"/>
          </a:p>
          <a:p>
            <a:pPr lvl="1"/>
            <a:r>
              <a:rPr lang="en-GB" b="1" dirty="0"/>
              <a:t>Predict</a:t>
            </a:r>
            <a:r>
              <a:rPr lang="en-GB" dirty="0"/>
              <a:t> what may occur next </a:t>
            </a:r>
          </a:p>
          <a:p>
            <a:pPr lvl="1"/>
            <a:endParaRPr lang="en-GB" dirty="0"/>
          </a:p>
          <a:p>
            <a:pPr lvl="1"/>
            <a:r>
              <a:rPr lang="en-GB" b="1" dirty="0"/>
              <a:t>Prescribe</a:t>
            </a:r>
            <a:r>
              <a:rPr lang="en-GB" dirty="0"/>
              <a:t> what action should be taken</a:t>
            </a:r>
          </a:p>
          <a:p>
            <a:pPr lvl="1"/>
            <a:endParaRPr lang="en-US" dirty="0"/>
          </a:p>
        </p:txBody>
      </p:sp>
    </p:spTree>
    <p:extLst>
      <p:ext uri="{BB962C8B-B14F-4D97-AF65-F5344CB8AC3E}">
        <p14:creationId xmlns:p14="http://schemas.microsoft.com/office/powerpoint/2010/main" val="22343987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56E687-775F-7437-EDC7-D51CFF5AD815}"/>
              </a:ext>
            </a:extLst>
          </p:cNvPr>
          <p:cNvSpPr>
            <a:spLocks noGrp="1"/>
          </p:cNvSpPr>
          <p:nvPr>
            <p:ph type="title"/>
          </p:nvPr>
        </p:nvSpPr>
        <p:spPr>
          <a:xfrm>
            <a:off x="838200" y="365126"/>
            <a:ext cx="10515600" cy="1269710"/>
          </a:xfrm>
        </p:spPr>
        <p:txBody>
          <a:bodyPr>
            <a:normAutofit/>
          </a:bodyPr>
          <a:lstStyle/>
          <a:p>
            <a:r>
              <a:rPr lang="en-GB" dirty="0"/>
              <a:t>Four Types of Analytical Questions</a:t>
            </a:r>
          </a:p>
        </p:txBody>
      </p:sp>
      <p:graphicFrame>
        <p:nvGraphicFramePr>
          <p:cNvPr id="4" name="Content Placeholder 2">
            <a:extLst>
              <a:ext uri="{FF2B5EF4-FFF2-40B4-BE49-F238E27FC236}">
                <a16:creationId xmlns:a16="http://schemas.microsoft.com/office/drawing/2014/main" id="{EC7561EA-9584-52D2-BAC5-64D0CEFB10AE}"/>
              </a:ext>
            </a:extLst>
          </p:cNvPr>
          <p:cNvGraphicFramePr>
            <a:graphicFrameLocks/>
          </p:cNvGraphicFramePr>
          <p:nvPr>
            <p:extLst>
              <p:ext uri="{D42A27DB-BD31-4B8C-83A1-F6EECF244321}">
                <p14:modId xmlns:p14="http://schemas.microsoft.com/office/powerpoint/2010/main" val="2765187922"/>
              </p:ext>
            </p:extLst>
          </p:nvPr>
        </p:nvGraphicFramePr>
        <p:xfrm>
          <a:off x="644056" y="2112580"/>
          <a:ext cx="10927829" cy="328915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TextBox 5">
            <a:extLst>
              <a:ext uri="{FF2B5EF4-FFF2-40B4-BE49-F238E27FC236}">
                <a16:creationId xmlns:a16="http://schemas.microsoft.com/office/drawing/2014/main" id="{CD501C34-509A-81FF-B053-22366C2BFE5A}"/>
              </a:ext>
            </a:extLst>
          </p:cNvPr>
          <p:cNvSpPr txBox="1"/>
          <p:nvPr/>
        </p:nvSpPr>
        <p:spPr>
          <a:xfrm>
            <a:off x="3059970" y="5197894"/>
            <a:ext cx="6096000" cy="369332"/>
          </a:xfrm>
          <a:prstGeom prst="rect">
            <a:avLst/>
          </a:prstGeom>
          <a:noFill/>
        </p:spPr>
        <p:txBody>
          <a:bodyPr wrap="square">
            <a:spAutoFit/>
          </a:bodyPr>
          <a:lstStyle/>
          <a:p>
            <a:pPr marL="0" indent="0" algn="ctr">
              <a:buNone/>
            </a:pPr>
            <a:r>
              <a:rPr lang="en-GB" sz="1800" b="0" i="0" dirty="0">
                <a:solidFill>
                  <a:srgbClr val="FF0000"/>
                </a:solidFill>
                <a:effectLst/>
                <a:latin typeface="+mn-lt"/>
              </a:rPr>
              <a:t>These are different purposes. </a:t>
            </a:r>
            <a:r>
              <a:rPr lang="en-GB" sz="1800" b="1" i="0" dirty="0">
                <a:solidFill>
                  <a:srgbClr val="FF0000"/>
                </a:solidFill>
                <a:effectLst/>
                <a:latin typeface="+mn-lt"/>
              </a:rPr>
              <a:t>Not </a:t>
            </a:r>
            <a:r>
              <a:rPr lang="en-GB" sz="1800" b="0" i="0" dirty="0">
                <a:solidFill>
                  <a:srgbClr val="FF0000"/>
                </a:solidFill>
                <a:effectLst/>
                <a:latin typeface="+mn-lt"/>
              </a:rPr>
              <a:t>a ranking</a:t>
            </a:r>
            <a:endParaRPr lang="en-GB" sz="2250" b="0" i="0" dirty="0">
              <a:solidFill>
                <a:srgbClr val="FF0000"/>
              </a:solidFill>
              <a:effectLst/>
              <a:latin typeface="Fira Sans" panose="020B0503050000020004" pitchFamily="34" charset="0"/>
            </a:endParaRPr>
          </a:p>
        </p:txBody>
      </p:sp>
    </p:spTree>
    <p:extLst>
      <p:ext uri="{BB962C8B-B14F-4D97-AF65-F5344CB8AC3E}">
        <p14:creationId xmlns:p14="http://schemas.microsoft.com/office/powerpoint/2010/main" val="28127422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EC1E5-3253-BE3B-A177-555F6256FD6E}"/>
              </a:ext>
            </a:extLst>
          </p:cNvPr>
          <p:cNvSpPr>
            <a:spLocks noGrp="1"/>
          </p:cNvSpPr>
          <p:nvPr>
            <p:ph type="title"/>
          </p:nvPr>
        </p:nvSpPr>
        <p:spPr/>
        <p:txBody>
          <a:bodyPr/>
          <a:lstStyle/>
          <a:p>
            <a:r>
              <a:rPr lang="en-GB" dirty="0"/>
              <a:t>Descriptive Analytics</a:t>
            </a:r>
            <a:endParaRPr lang="en-US" dirty="0"/>
          </a:p>
        </p:txBody>
      </p:sp>
      <p:sp>
        <p:nvSpPr>
          <p:cNvPr id="3" name="Content Placeholder 2">
            <a:extLst>
              <a:ext uri="{FF2B5EF4-FFF2-40B4-BE49-F238E27FC236}">
                <a16:creationId xmlns:a16="http://schemas.microsoft.com/office/drawing/2014/main" id="{FFF80534-F617-B253-BAEF-A99C9EDB1A0C}"/>
              </a:ext>
            </a:extLst>
          </p:cNvPr>
          <p:cNvSpPr>
            <a:spLocks noGrp="1"/>
          </p:cNvSpPr>
          <p:nvPr>
            <p:ph idx="1"/>
          </p:nvPr>
        </p:nvSpPr>
        <p:spPr/>
        <p:txBody>
          <a:bodyPr>
            <a:normAutofit/>
          </a:bodyPr>
          <a:lstStyle/>
          <a:p>
            <a:r>
              <a:rPr lang="en-GB" dirty="0"/>
              <a:t>Descriptive analytics summarizes past or current data to show what occurred.</a:t>
            </a:r>
          </a:p>
          <a:p>
            <a:r>
              <a:rPr lang="en-GB" dirty="0"/>
              <a:t>Identifies patterns and results, but it does not explain why they occurred.</a:t>
            </a:r>
            <a:endParaRPr lang="en-US" dirty="0"/>
          </a:p>
          <a:p>
            <a:endParaRPr lang="en-GB" dirty="0"/>
          </a:p>
          <a:p>
            <a:r>
              <a:rPr lang="en-GB" dirty="0"/>
              <a:t>Examples:</a:t>
            </a:r>
          </a:p>
          <a:p>
            <a:pPr lvl="1"/>
            <a:r>
              <a:rPr lang="en-GB" b="1" dirty="0"/>
              <a:t>Tracking:</a:t>
            </a:r>
            <a:r>
              <a:rPr lang="en-GB" dirty="0"/>
              <a:t> How much high-intensity work did the athlete complete? </a:t>
            </a:r>
          </a:p>
          <a:p>
            <a:pPr lvl="1"/>
            <a:r>
              <a:rPr lang="en-GB" b="1" dirty="0"/>
              <a:t>Scouting:</a:t>
            </a:r>
            <a:r>
              <a:rPr lang="en-GB" dirty="0"/>
              <a:t> What are the prospect’s current performance statistics? </a:t>
            </a:r>
          </a:p>
          <a:p>
            <a:pPr lvl="1"/>
            <a:r>
              <a:rPr lang="en-GB" b="1" dirty="0"/>
              <a:t>Strategy:</a:t>
            </a:r>
            <a:r>
              <a:rPr lang="en-GB" dirty="0"/>
              <a:t> Which players created the most scoring opportunities?</a:t>
            </a:r>
          </a:p>
          <a:p>
            <a:pPr lvl="1"/>
            <a:endParaRPr lang="en-GB" dirty="0"/>
          </a:p>
        </p:txBody>
      </p:sp>
    </p:spTree>
    <p:extLst>
      <p:ext uri="{BB962C8B-B14F-4D97-AF65-F5344CB8AC3E}">
        <p14:creationId xmlns:p14="http://schemas.microsoft.com/office/powerpoint/2010/main" val="8425385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7CB77-6EDD-8F3F-C963-1FA974FEB4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AD6ED2-15F2-DD91-5BA2-2809D02699B0}"/>
              </a:ext>
            </a:extLst>
          </p:cNvPr>
          <p:cNvSpPr>
            <a:spLocks noGrp="1"/>
          </p:cNvSpPr>
          <p:nvPr>
            <p:ph type="title"/>
          </p:nvPr>
        </p:nvSpPr>
        <p:spPr/>
        <p:txBody>
          <a:bodyPr/>
          <a:lstStyle/>
          <a:p>
            <a:r>
              <a:rPr lang="en-GB" dirty="0"/>
              <a:t>Diagnostic Analytics</a:t>
            </a:r>
            <a:endParaRPr lang="en-US" dirty="0"/>
          </a:p>
        </p:txBody>
      </p:sp>
      <p:sp>
        <p:nvSpPr>
          <p:cNvPr id="3" name="Content Placeholder 2">
            <a:extLst>
              <a:ext uri="{FF2B5EF4-FFF2-40B4-BE49-F238E27FC236}">
                <a16:creationId xmlns:a16="http://schemas.microsoft.com/office/drawing/2014/main" id="{E0A06E8A-DA09-6CFB-6676-2D8217C9C0D9}"/>
              </a:ext>
            </a:extLst>
          </p:cNvPr>
          <p:cNvSpPr>
            <a:spLocks noGrp="1"/>
          </p:cNvSpPr>
          <p:nvPr>
            <p:ph idx="1"/>
          </p:nvPr>
        </p:nvSpPr>
        <p:spPr/>
        <p:txBody>
          <a:bodyPr>
            <a:normAutofit/>
          </a:bodyPr>
          <a:lstStyle/>
          <a:p>
            <a:r>
              <a:rPr lang="en-GB" dirty="0"/>
              <a:t>Diagnostic analytics uses data to investigate the </a:t>
            </a:r>
            <a:r>
              <a:rPr lang="en-GB" b="1" dirty="0"/>
              <a:t>possible</a:t>
            </a:r>
            <a:r>
              <a:rPr lang="en-GB" dirty="0"/>
              <a:t> reasons behind an outcome.</a:t>
            </a:r>
          </a:p>
          <a:p>
            <a:r>
              <a:rPr lang="en-GB" dirty="0"/>
              <a:t>May identify </a:t>
            </a:r>
            <a:r>
              <a:rPr lang="en-GB" b="1" dirty="0"/>
              <a:t>possible</a:t>
            </a:r>
            <a:r>
              <a:rPr lang="en-GB" i="1" dirty="0"/>
              <a:t> </a:t>
            </a:r>
            <a:r>
              <a:rPr lang="en-GB" dirty="0"/>
              <a:t>explanations, but an observed relationship </a:t>
            </a:r>
            <a:r>
              <a:rPr lang="en-GB" b="1" dirty="0"/>
              <a:t>does not prove </a:t>
            </a:r>
            <a:r>
              <a:rPr lang="en-GB" dirty="0"/>
              <a:t>causation.</a:t>
            </a:r>
          </a:p>
          <a:p>
            <a:endParaRPr lang="en-GB" dirty="0"/>
          </a:p>
          <a:p>
            <a:r>
              <a:rPr lang="en-GB" dirty="0"/>
              <a:t>Examples:</a:t>
            </a:r>
          </a:p>
          <a:p>
            <a:pPr lvl="1"/>
            <a:r>
              <a:rPr lang="en-GB" dirty="0"/>
              <a:t>Did workload increase because practice was longer or more intense? </a:t>
            </a:r>
          </a:p>
          <a:p>
            <a:pPr lvl="1"/>
            <a:r>
              <a:rPr lang="en-GB" dirty="0"/>
              <a:t>Did the player perform differently against stronger opponents? </a:t>
            </a:r>
          </a:p>
          <a:p>
            <a:pPr lvl="1"/>
            <a:r>
              <a:rPr lang="en-GB" dirty="0"/>
              <a:t>Did turnovers contribute to the team allowing more shots?</a:t>
            </a:r>
          </a:p>
          <a:p>
            <a:pPr lvl="1"/>
            <a:endParaRPr lang="en-GB" dirty="0"/>
          </a:p>
        </p:txBody>
      </p:sp>
    </p:spTree>
    <p:extLst>
      <p:ext uri="{BB962C8B-B14F-4D97-AF65-F5344CB8AC3E}">
        <p14:creationId xmlns:p14="http://schemas.microsoft.com/office/powerpoint/2010/main" val="419265137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2A467B-B4E5-CEF4-9E7B-8AC4FA62029D}"/>
              </a:ext>
            </a:extLst>
          </p:cNvPr>
          <p:cNvSpPr>
            <a:spLocks noGrp="1"/>
          </p:cNvSpPr>
          <p:nvPr>
            <p:ph type="title"/>
          </p:nvPr>
        </p:nvSpPr>
        <p:spPr/>
        <p:txBody>
          <a:bodyPr/>
          <a:lstStyle/>
          <a:p>
            <a:r>
              <a:rPr lang="en-US" dirty="0"/>
              <a:t>Spurious correlation</a:t>
            </a:r>
          </a:p>
        </p:txBody>
      </p:sp>
      <p:sp>
        <p:nvSpPr>
          <p:cNvPr id="3" name="Content Placeholder 2">
            <a:extLst>
              <a:ext uri="{FF2B5EF4-FFF2-40B4-BE49-F238E27FC236}">
                <a16:creationId xmlns:a16="http://schemas.microsoft.com/office/drawing/2014/main" id="{3611D64F-8619-3164-2F4C-D3C09F926A77}"/>
              </a:ext>
            </a:extLst>
          </p:cNvPr>
          <p:cNvSpPr>
            <a:spLocks noGrp="1"/>
          </p:cNvSpPr>
          <p:nvPr>
            <p:ph idx="1"/>
          </p:nvPr>
        </p:nvSpPr>
        <p:spPr/>
        <p:txBody>
          <a:bodyPr/>
          <a:lstStyle/>
          <a:p>
            <a:r>
              <a:rPr lang="en-US" dirty="0"/>
              <a:t>Relationship in which two or more events or variables are associated but not causally related</a:t>
            </a:r>
          </a:p>
          <a:p>
            <a:r>
              <a:rPr lang="en-US" dirty="0"/>
              <a:t>Relationship may be driven by coincidence or a </a:t>
            </a:r>
            <a:r>
              <a:rPr lang="en-US" b="1" dirty="0"/>
              <a:t>confounding variable </a:t>
            </a:r>
          </a:p>
        </p:txBody>
      </p:sp>
      <p:pic>
        <p:nvPicPr>
          <p:cNvPr id="5" name="Picture 4" descr="Ice cream consumption correlates with The divorce rate in Florida (r=0.92)">
            <a:extLst>
              <a:ext uri="{FF2B5EF4-FFF2-40B4-BE49-F238E27FC236}">
                <a16:creationId xmlns:a16="http://schemas.microsoft.com/office/drawing/2014/main" id="{ADD224F3-D444-44EA-BB69-857B14A8B293}"/>
              </a:ext>
            </a:extLst>
          </p:cNvPr>
          <p:cNvPicPr>
            <a:picLocks noChangeAspect="1"/>
          </p:cNvPicPr>
          <p:nvPr/>
        </p:nvPicPr>
        <p:blipFill>
          <a:blip r:embed="rId3"/>
          <a:srcRect b="6910"/>
          <a:stretch>
            <a:fillRect/>
          </a:stretch>
        </p:blipFill>
        <p:spPr>
          <a:xfrm>
            <a:off x="4105448" y="3270246"/>
            <a:ext cx="3981104" cy="3222628"/>
          </a:xfrm>
          <a:prstGeom prst="rect">
            <a:avLst/>
          </a:prstGeom>
        </p:spPr>
      </p:pic>
    </p:spTree>
    <p:extLst>
      <p:ext uri="{BB962C8B-B14F-4D97-AF65-F5344CB8AC3E}">
        <p14:creationId xmlns:p14="http://schemas.microsoft.com/office/powerpoint/2010/main" val="295455786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0ACC08-6958-F7A2-ACE4-B776B9A570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25E0C7-70E6-46DA-F9E1-7120A1519F70}"/>
              </a:ext>
            </a:extLst>
          </p:cNvPr>
          <p:cNvSpPr>
            <a:spLocks noGrp="1"/>
          </p:cNvSpPr>
          <p:nvPr>
            <p:ph type="title"/>
          </p:nvPr>
        </p:nvSpPr>
        <p:spPr/>
        <p:txBody>
          <a:bodyPr/>
          <a:lstStyle/>
          <a:p>
            <a:r>
              <a:rPr lang="en-GB" dirty="0"/>
              <a:t>Predictive Analytics</a:t>
            </a:r>
            <a:endParaRPr lang="en-US" dirty="0"/>
          </a:p>
        </p:txBody>
      </p:sp>
      <p:sp>
        <p:nvSpPr>
          <p:cNvPr id="3" name="Content Placeholder 2">
            <a:extLst>
              <a:ext uri="{FF2B5EF4-FFF2-40B4-BE49-F238E27FC236}">
                <a16:creationId xmlns:a16="http://schemas.microsoft.com/office/drawing/2014/main" id="{4A0030B7-F5DE-72F2-FE6B-F9F7C08DA6DE}"/>
              </a:ext>
            </a:extLst>
          </p:cNvPr>
          <p:cNvSpPr>
            <a:spLocks noGrp="1"/>
          </p:cNvSpPr>
          <p:nvPr>
            <p:ph idx="1"/>
          </p:nvPr>
        </p:nvSpPr>
        <p:spPr/>
        <p:txBody>
          <a:bodyPr/>
          <a:lstStyle/>
          <a:p>
            <a:r>
              <a:rPr lang="en-GB" dirty="0"/>
              <a:t>Predictive analytics uses available information to estimate an unknown outcome, often in the future.</a:t>
            </a:r>
          </a:p>
          <a:p>
            <a:r>
              <a:rPr lang="en-GB" dirty="0"/>
              <a:t>Predictions are uncertain and depend on the quality of the data and assumptions.</a:t>
            </a:r>
          </a:p>
          <a:p>
            <a:endParaRPr lang="en-GB" dirty="0"/>
          </a:p>
          <a:p>
            <a:r>
              <a:rPr lang="en-GB" dirty="0"/>
              <a:t>Examples:</a:t>
            </a:r>
          </a:p>
          <a:p>
            <a:pPr lvl="1"/>
            <a:r>
              <a:rPr lang="en-GB" dirty="0"/>
              <a:t>How is the athlete likely to perform in the next game? </a:t>
            </a:r>
          </a:p>
          <a:p>
            <a:pPr lvl="1"/>
            <a:r>
              <a:rPr lang="en-GB" dirty="0"/>
              <a:t>Which prospect is most likely to succeed at the next level? </a:t>
            </a:r>
          </a:p>
          <a:p>
            <a:pPr lvl="1"/>
            <a:r>
              <a:rPr lang="en-GB" dirty="0"/>
              <a:t>What is the probability that a possession produces a score?</a:t>
            </a:r>
          </a:p>
          <a:p>
            <a:pPr lvl="1"/>
            <a:endParaRPr lang="en-GB" dirty="0"/>
          </a:p>
        </p:txBody>
      </p:sp>
    </p:spTree>
    <p:extLst>
      <p:ext uri="{BB962C8B-B14F-4D97-AF65-F5344CB8AC3E}">
        <p14:creationId xmlns:p14="http://schemas.microsoft.com/office/powerpoint/2010/main" val="327563908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AF98FE-CCCB-1001-6CB6-CA9D38D9BF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82EED7-BE09-3B77-081C-C5843302AEA0}"/>
              </a:ext>
            </a:extLst>
          </p:cNvPr>
          <p:cNvSpPr>
            <a:spLocks noGrp="1"/>
          </p:cNvSpPr>
          <p:nvPr>
            <p:ph type="title"/>
          </p:nvPr>
        </p:nvSpPr>
        <p:spPr/>
        <p:txBody>
          <a:bodyPr/>
          <a:lstStyle/>
          <a:p>
            <a:r>
              <a:rPr lang="en-GB" dirty="0"/>
              <a:t>Prescriptive Analytics</a:t>
            </a:r>
            <a:endParaRPr lang="en-US" dirty="0"/>
          </a:p>
        </p:txBody>
      </p:sp>
      <p:sp>
        <p:nvSpPr>
          <p:cNvPr id="3" name="Content Placeholder 2">
            <a:extLst>
              <a:ext uri="{FF2B5EF4-FFF2-40B4-BE49-F238E27FC236}">
                <a16:creationId xmlns:a16="http://schemas.microsoft.com/office/drawing/2014/main" id="{82C24FAB-9362-0D28-BF87-CA3A0A1FD587}"/>
              </a:ext>
            </a:extLst>
          </p:cNvPr>
          <p:cNvSpPr>
            <a:spLocks noGrp="1"/>
          </p:cNvSpPr>
          <p:nvPr>
            <p:ph idx="1"/>
          </p:nvPr>
        </p:nvSpPr>
        <p:spPr/>
        <p:txBody>
          <a:bodyPr>
            <a:normAutofit/>
          </a:bodyPr>
          <a:lstStyle/>
          <a:p>
            <a:r>
              <a:rPr lang="en-GB" dirty="0"/>
              <a:t>Prescriptive analytics uses evidence to compare possible actions and recommend what should be done.</a:t>
            </a:r>
          </a:p>
          <a:p>
            <a:r>
              <a:rPr lang="en-GB" dirty="0"/>
              <a:t>May </a:t>
            </a:r>
            <a:r>
              <a:rPr lang="en-GB" b="1" u="sng" dirty="0"/>
              <a:t>guide</a:t>
            </a:r>
            <a:r>
              <a:rPr lang="en-GB" dirty="0"/>
              <a:t> decisions, but the final choice also depends on context, priorities, experience, and human judgment.</a:t>
            </a:r>
          </a:p>
          <a:p>
            <a:endParaRPr lang="en-GB" dirty="0"/>
          </a:p>
          <a:p>
            <a:r>
              <a:rPr lang="en-GB" dirty="0"/>
              <a:t>Examples:</a:t>
            </a:r>
          </a:p>
          <a:p>
            <a:pPr lvl="1"/>
            <a:r>
              <a:rPr lang="en-GB" dirty="0"/>
              <a:t>Should the athlete’s training be modified? </a:t>
            </a:r>
          </a:p>
          <a:p>
            <a:pPr lvl="1"/>
            <a:r>
              <a:rPr lang="en-GB" dirty="0"/>
              <a:t>Which prospect should the team select? </a:t>
            </a:r>
          </a:p>
          <a:p>
            <a:pPr lvl="1"/>
            <a:r>
              <a:rPr lang="en-GB" dirty="0"/>
              <a:t>Which defensive strategy should the team use?</a:t>
            </a:r>
          </a:p>
        </p:txBody>
      </p:sp>
    </p:spTree>
    <p:extLst>
      <p:ext uri="{BB962C8B-B14F-4D97-AF65-F5344CB8AC3E}">
        <p14:creationId xmlns:p14="http://schemas.microsoft.com/office/powerpoint/2010/main" val="72116196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22E2CF-A80A-AF59-D558-526F3B121E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2580D1-4049-1628-7F57-F500A7F6380D}"/>
              </a:ext>
            </a:extLst>
          </p:cNvPr>
          <p:cNvSpPr>
            <a:spLocks noGrp="1"/>
          </p:cNvSpPr>
          <p:nvPr>
            <p:ph type="title"/>
          </p:nvPr>
        </p:nvSpPr>
        <p:spPr/>
        <p:txBody>
          <a:bodyPr>
            <a:noAutofit/>
          </a:bodyPr>
          <a:lstStyle/>
          <a:p>
            <a:r>
              <a:rPr lang="en-GB" sz="4000" dirty="0"/>
              <a:t>Turning a Concern Into Analytical Questions</a:t>
            </a:r>
            <a:endParaRPr lang="en-US" sz="4000" dirty="0"/>
          </a:p>
        </p:txBody>
      </p:sp>
      <p:sp>
        <p:nvSpPr>
          <p:cNvPr id="3" name="Content Placeholder 2">
            <a:extLst>
              <a:ext uri="{FF2B5EF4-FFF2-40B4-BE49-F238E27FC236}">
                <a16:creationId xmlns:a16="http://schemas.microsoft.com/office/drawing/2014/main" id="{87AACD65-58A7-C8D7-2F7D-E8AD7B05383E}"/>
              </a:ext>
            </a:extLst>
          </p:cNvPr>
          <p:cNvSpPr>
            <a:spLocks noGrp="1"/>
          </p:cNvSpPr>
          <p:nvPr>
            <p:ph idx="1"/>
          </p:nvPr>
        </p:nvSpPr>
        <p:spPr/>
        <p:txBody>
          <a:bodyPr>
            <a:normAutofit/>
          </a:bodyPr>
          <a:lstStyle/>
          <a:p>
            <a:pPr marL="0" indent="0">
              <a:buNone/>
            </a:pPr>
            <a:r>
              <a:rPr lang="en-GB" dirty="0"/>
              <a:t>A basketball team has lost four of its last five games.</a:t>
            </a:r>
          </a:p>
          <a:p>
            <a:r>
              <a:rPr lang="en-GB" dirty="0"/>
              <a:t>The coach asks: “What is going on?”</a:t>
            </a:r>
          </a:p>
          <a:p>
            <a:pPr marL="914400" lvl="1" indent="-457200">
              <a:buFont typeface="+mj-lt"/>
              <a:buAutoNum type="arabicPeriod"/>
            </a:pPr>
            <a:endParaRPr lang="en-GB" dirty="0"/>
          </a:p>
          <a:p>
            <a:r>
              <a:rPr lang="en-GB" dirty="0"/>
              <a:t>Working with your group:</a:t>
            </a:r>
          </a:p>
          <a:p>
            <a:pPr lvl="1"/>
            <a:r>
              <a:rPr lang="en-GB" dirty="0"/>
              <a:t>Identify the domain. </a:t>
            </a:r>
          </a:p>
          <a:p>
            <a:pPr lvl="1"/>
            <a:r>
              <a:rPr lang="en-GB" dirty="0"/>
              <a:t>Write one question for each analytical purpose: </a:t>
            </a:r>
          </a:p>
          <a:p>
            <a:pPr lvl="2"/>
            <a:r>
              <a:rPr lang="en-GB" dirty="0"/>
              <a:t>Descriptive </a:t>
            </a:r>
          </a:p>
          <a:p>
            <a:pPr lvl="2"/>
            <a:r>
              <a:rPr lang="en-GB" dirty="0"/>
              <a:t>Diagnostic </a:t>
            </a:r>
          </a:p>
          <a:p>
            <a:pPr lvl="2"/>
            <a:r>
              <a:rPr lang="en-GB" dirty="0"/>
              <a:t>Predictive </a:t>
            </a:r>
          </a:p>
          <a:p>
            <a:pPr lvl="2"/>
            <a:r>
              <a:rPr lang="en-GB" dirty="0"/>
              <a:t>Prescriptive</a:t>
            </a:r>
          </a:p>
          <a:p>
            <a:pPr marL="0" indent="0">
              <a:buNone/>
            </a:pPr>
            <a:endParaRPr lang="en-GB" dirty="0"/>
          </a:p>
        </p:txBody>
      </p:sp>
    </p:spTree>
    <p:extLst>
      <p:ext uri="{BB962C8B-B14F-4D97-AF65-F5344CB8AC3E}">
        <p14:creationId xmlns:p14="http://schemas.microsoft.com/office/powerpoint/2010/main" val="34293523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06E13-5384-F6B8-7FF6-738F2767EA41}"/>
              </a:ext>
            </a:extLst>
          </p:cNvPr>
          <p:cNvSpPr>
            <a:spLocks noGrp="1"/>
          </p:cNvSpPr>
          <p:nvPr>
            <p:ph type="title"/>
          </p:nvPr>
        </p:nvSpPr>
        <p:spPr/>
        <p:txBody>
          <a:bodyPr/>
          <a:lstStyle/>
          <a:p>
            <a:r>
              <a:rPr lang="en-GB" dirty="0"/>
              <a:t>Analytics Chain in Each Domain</a:t>
            </a:r>
            <a:endParaRPr lang="en-US" dirty="0"/>
          </a:p>
        </p:txBody>
      </p:sp>
      <p:graphicFrame>
        <p:nvGraphicFramePr>
          <p:cNvPr id="4" name="Content Placeholder 3">
            <a:extLst>
              <a:ext uri="{FF2B5EF4-FFF2-40B4-BE49-F238E27FC236}">
                <a16:creationId xmlns:a16="http://schemas.microsoft.com/office/drawing/2014/main" id="{D75AD1FB-31AD-54B2-4A9C-187608065DF9}"/>
              </a:ext>
            </a:extLst>
          </p:cNvPr>
          <p:cNvGraphicFramePr>
            <a:graphicFrameLocks noGrp="1"/>
          </p:cNvGraphicFramePr>
          <p:nvPr>
            <p:ph idx="1"/>
            <p:extLst>
              <p:ext uri="{D42A27DB-BD31-4B8C-83A1-F6EECF244321}">
                <p14:modId xmlns:p14="http://schemas.microsoft.com/office/powerpoint/2010/main" val="23440987"/>
              </p:ext>
            </p:extLst>
          </p:nvPr>
        </p:nvGraphicFramePr>
        <p:xfrm>
          <a:off x="838200" y="2254726"/>
          <a:ext cx="10515600" cy="3108960"/>
        </p:xfrm>
        <a:graphic>
          <a:graphicData uri="http://schemas.openxmlformats.org/drawingml/2006/table">
            <a:tbl>
              <a:tblPr firstRow="1">
                <a:tableStyleId>{9D7B26C5-4107-4FEC-AEDC-1716B250A1EF}</a:tableStyleId>
              </a:tblPr>
              <a:tblGrid>
                <a:gridCol w="2103120">
                  <a:extLst>
                    <a:ext uri="{9D8B030D-6E8A-4147-A177-3AD203B41FA5}">
                      <a16:colId xmlns:a16="http://schemas.microsoft.com/office/drawing/2014/main" val="2551643942"/>
                    </a:ext>
                  </a:extLst>
                </a:gridCol>
                <a:gridCol w="2103120">
                  <a:extLst>
                    <a:ext uri="{9D8B030D-6E8A-4147-A177-3AD203B41FA5}">
                      <a16:colId xmlns:a16="http://schemas.microsoft.com/office/drawing/2014/main" val="3147451326"/>
                    </a:ext>
                  </a:extLst>
                </a:gridCol>
                <a:gridCol w="2103120">
                  <a:extLst>
                    <a:ext uri="{9D8B030D-6E8A-4147-A177-3AD203B41FA5}">
                      <a16:colId xmlns:a16="http://schemas.microsoft.com/office/drawing/2014/main" val="681552066"/>
                    </a:ext>
                  </a:extLst>
                </a:gridCol>
                <a:gridCol w="2103120">
                  <a:extLst>
                    <a:ext uri="{9D8B030D-6E8A-4147-A177-3AD203B41FA5}">
                      <a16:colId xmlns:a16="http://schemas.microsoft.com/office/drawing/2014/main" val="89738688"/>
                    </a:ext>
                  </a:extLst>
                </a:gridCol>
                <a:gridCol w="2103120">
                  <a:extLst>
                    <a:ext uri="{9D8B030D-6E8A-4147-A177-3AD203B41FA5}">
                      <a16:colId xmlns:a16="http://schemas.microsoft.com/office/drawing/2014/main" val="2244665788"/>
                    </a:ext>
                  </a:extLst>
                </a:gridCol>
              </a:tblGrid>
              <a:tr h="0">
                <a:tc>
                  <a:txBody>
                    <a:bodyPr/>
                    <a:lstStyle/>
                    <a:p>
                      <a:pPr>
                        <a:buNone/>
                      </a:pPr>
                      <a:r>
                        <a:rPr lang="en-GB"/>
                        <a:t>Domain</a:t>
                      </a:r>
                    </a:p>
                  </a:txBody>
                  <a:tcPr anchor="ctr"/>
                </a:tc>
                <a:tc>
                  <a:txBody>
                    <a:bodyPr/>
                    <a:lstStyle/>
                    <a:p>
                      <a:pPr>
                        <a:buNone/>
                      </a:pPr>
                      <a:r>
                        <a:rPr lang="en-GB"/>
                        <a:t>Descriptive</a:t>
                      </a:r>
                    </a:p>
                  </a:txBody>
                  <a:tcPr anchor="ctr"/>
                </a:tc>
                <a:tc>
                  <a:txBody>
                    <a:bodyPr/>
                    <a:lstStyle/>
                    <a:p>
                      <a:pPr>
                        <a:buNone/>
                      </a:pPr>
                      <a:r>
                        <a:rPr lang="en-GB"/>
                        <a:t>Diagnostic</a:t>
                      </a:r>
                    </a:p>
                  </a:txBody>
                  <a:tcPr anchor="ctr"/>
                </a:tc>
                <a:tc>
                  <a:txBody>
                    <a:bodyPr/>
                    <a:lstStyle/>
                    <a:p>
                      <a:pPr>
                        <a:buNone/>
                      </a:pPr>
                      <a:r>
                        <a:rPr lang="en-GB"/>
                        <a:t>Predictive</a:t>
                      </a:r>
                    </a:p>
                  </a:txBody>
                  <a:tcPr anchor="ctr"/>
                </a:tc>
                <a:tc>
                  <a:txBody>
                    <a:bodyPr/>
                    <a:lstStyle/>
                    <a:p>
                      <a:pPr>
                        <a:buNone/>
                      </a:pPr>
                      <a:r>
                        <a:rPr lang="en-GB"/>
                        <a:t>Prescriptive</a:t>
                      </a:r>
                    </a:p>
                  </a:txBody>
                  <a:tcPr anchor="ctr"/>
                </a:tc>
                <a:extLst>
                  <a:ext uri="{0D108BD9-81ED-4DB2-BD59-A6C34878D82A}">
                    <a16:rowId xmlns:a16="http://schemas.microsoft.com/office/drawing/2014/main" val="256435077"/>
                  </a:ext>
                </a:extLst>
              </a:tr>
              <a:tr h="0">
                <a:tc>
                  <a:txBody>
                    <a:bodyPr/>
                    <a:lstStyle/>
                    <a:p>
                      <a:pPr>
                        <a:buNone/>
                      </a:pPr>
                      <a:r>
                        <a:rPr lang="en-GB" dirty="0"/>
                        <a:t>Scouting</a:t>
                      </a:r>
                    </a:p>
                  </a:txBody>
                  <a:tcPr anchor="ctr"/>
                </a:tc>
                <a:tc>
                  <a:txBody>
                    <a:bodyPr/>
                    <a:lstStyle/>
                    <a:p>
                      <a:pPr>
                        <a:buNone/>
                      </a:pPr>
                      <a:r>
                        <a:rPr lang="en-GB"/>
                        <a:t>What has the player done?</a:t>
                      </a:r>
                    </a:p>
                  </a:txBody>
                  <a:tcPr anchor="ctr"/>
                </a:tc>
                <a:tc>
                  <a:txBody>
                    <a:bodyPr/>
                    <a:lstStyle/>
                    <a:p>
                      <a:pPr>
                        <a:buNone/>
                      </a:pPr>
                      <a:r>
                        <a:rPr lang="en-GB"/>
                        <a:t>Why has performance varied?</a:t>
                      </a:r>
                    </a:p>
                  </a:txBody>
                  <a:tcPr anchor="ctr"/>
                </a:tc>
                <a:tc>
                  <a:txBody>
                    <a:bodyPr/>
                    <a:lstStyle/>
                    <a:p>
                      <a:pPr>
                        <a:buNone/>
                      </a:pPr>
                      <a:r>
                        <a:rPr lang="en-GB"/>
                        <a:t>How might the player perform at the next level?</a:t>
                      </a:r>
                    </a:p>
                  </a:txBody>
                  <a:tcPr anchor="ctr"/>
                </a:tc>
                <a:tc>
                  <a:txBody>
                    <a:bodyPr/>
                    <a:lstStyle/>
                    <a:p>
                      <a:pPr>
                        <a:buNone/>
                      </a:pPr>
                      <a:r>
                        <a:rPr lang="en-GB"/>
                        <a:t>Should we recruit or draft the player?</a:t>
                      </a:r>
                    </a:p>
                  </a:txBody>
                  <a:tcPr anchor="ctr"/>
                </a:tc>
                <a:extLst>
                  <a:ext uri="{0D108BD9-81ED-4DB2-BD59-A6C34878D82A}">
                    <a16:rowId xmlns:a16="http://schemas.microsoft.com/office/drawing/2014/main" val="1982786549"/>
                  </a:ext>
                </a:extLst>
              </a:tr>
              <a:tr h="0">
                <a:tc>
                  <a:txBody>
                    <a:bodyPr/>
                    <a:lstStyle/>
                    <a:p>
                      <a:pPr>
                        <a:buNone/>
                      </a:pPr>
                      <a:r>
                        <a:rPr lang="en-GB"/>
                        <a:t>Athlete monitoring</a:t>
                      </a:r>
                    </a:p>
                  </a:txBody>
                  <a:tcPr anchor="ctr"/>
                </a:tc>
                <a:tc>
                  <a:txBody>
                    <a:bodyPr/>
                    <a:lstStyle/>
                    <a:p>
                      <a:pPr>
                        <a:buNone/>
                      </a:pPr>
                      <a:r>
                        <a:rPr lang="en-GB"/>
                        <a:t>What work did the athlete complete?</a:t>
                      </a:r>
                    </a:p>
                  </a:txBody>
                  <a:tcPr anchor="ctr"/>
                </a:tc>
                <a:tc>
                  <a:txBody>
                    <a:bodyPr/>
                    <a:lstStyle/>
                    <a:p>
                      <a:pPr>
                        <a:buNone/>
                      </a:pPr>
                      <a:r>
                        <a:rPr lang="en-GB"/>
                        <a:t>Why did workload or readiness change?</a:t>
                      </a:r>
                    </a:p>
                  </a:txBody>
                  <a:tcPr anchor="ctr"/>
                </a:tc>
                <a:tc>
                  <a:txBody>
                    <a:bodyPr/>
                    <a:lstStyle/>
                    <a:p>
                      <a:pPr>
                        <a:buNone/>
                      </a:pPr>
                      <a:r>
                        <a:rPr lang="en-GB"/>
                        <a:t>How might the athlete respond tomorrow?</a:t>
                      </a:r>
                    </a:p>
                  </a:txBody>
                  <a:tcPr anchor="ctr"/>
                </a:tc>
                <a:tc>
                  <a:txBody>
                    <a:bodyPr/>
                    <a:lstStyle/>
                    <a:p>
                      <a:pPr>
                        <a:buNone/>
                      </a:pPr>
                      <a:r>
                        <a:rPr lang="en-GB"/>
                        <a:t>Should training be modified?</a:t>
                      </a:r>
                    </a:p>
                  </a:txBody>
                  <a:tcPr anchor="ctr"/>
                </a:tc>
                <a:extLst>
                  <a:ext uri="{0D108BD9-81ED-4DB2-BD59-A6C34878D82A}">
                    <a16:rowId xmlns:a16="http://schemas.microsoft.com/office/drawing/2014/main" val="357560826"/>
                  </a:ext>
                </a:extLst>
              </a:tr>
              <a:tr h="0">
                <a:tc>
                  <a:txBody>
                    <a:bodyPr/>
                    <a:lstStyle/>
                    <a:p>
                      <a:pPr>
                        <a:buNone/>
                      </a:pPr>
                      <a:r>
                        <a:rPr lang="en-GB"/>
                        <a:t>Game strategy</a:t>
                      </a:r>
                    </a:p>
                  </a:txBody>
                  <a:tcPr anchor="ctr"/>
                </a:tc>
                <a:tc>
                  <a:txBody>
                    <a:bodyPr/>
                    <a:lstStyle/>
                    <a:p>
                      <a:pPr>
                        <a:buNone/>
                      </a:pPr>
                      <a:r>
                        <a:rPr lang="en-GB"/>
                        <a:t>What happened during the game?</a:t>
                      </a:r>
                    </a:p>
                  </a:txBody>
                  <a:tcPr anchor="ctr"/>
                </a:tc>
                <a:tc>
                  <a:txBody>
                    <a:bodyPr/>
                    <a:lstStyle/>
                    <a:p>
                      <a:pPr>
                        <a:buNone/>
                      </a:pPr>
                      <a:r>
                        <a:rPr lang="en-GB"/>
                        <a:t>Why did the strategy succeed or fail?</a:t>
                      </a:r>
                    </a:p>
                  </a:txBody>
                  <a:tcPr anchor="ctr"/>
                </a:tc>
                <a:tc>
                  <a:txBody>
                    <a:bodyPr/>
                    <a:lstStyle/>
                    <a:p>
                      <a:pPr>
                        <a:buNone/>
                      </a:pPr>
                      <a:r>
                        <a:rPr lang="en-GB"/>
                        <a:t>What is likely against the next opponent?</a:t>
                      </a:r>
                    </a:p>
                  </a:txBody>
                  <a:tcPr anchor="ctr"/>
                </a:tc>
                <a:tc>
                  <a:txBody>
                    <a:bodyPr/>
                    <a:lstStyle/>
                    <a:p>
                      <a:pPr>
                        <a:buNone/>
                      </a:pPr>
                      <a:r>
                        <a:rPr lang="en-GB" dirty="0"/>
                        <a:t>What strategy should the team use?</a:t>
                      </a:r>
                    </a:p>
                  </a:txBody>
                  <a:tcPr anchor="ctr"/>
                </a:tc>
                <a:extLst>
                  <a:ext uri="{0D108BD9-81ED-4DB2-BD59-A6C34878D82A}">
                    <a16:rowId xmlns:a16="http://schemas.microsoft.com/office/drawing/2014/main" val="2657443498"/>
                  </a:ext>
                </a:extLst>
              </a:tr>
            </a:tbl>
          </a:graphicData>
        </a:graphic>
      </p:graphicFrame>
    </p:spTree>
    <p:extLst>
      <p:ext uri="{BB962C8B-B14F-4D97-AF65-F5344CB8AC3E}">
        <p14:creationId xmlns:p14="http://schemas.microsoft.com/office/powerpoint/2010/main" val="85263536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C3AABE-630C-BE7E-C207-7F502C7BE442}"/>
              </a:ext>
            </a:extLst>
          </p:cNvPr>
          <p:cNvSpPr>
            <a:spLocks noGrp="1"/>
          </p:cNvSpPr>
          <p:nvPr>
            <p:ph type="title"/>
          </p:nvPr>
        </p:nvSpPr>
        <p:spPr/>
        <p:txBody>
          <a:bodyPr/>
          <a:lstStyle/>
          <a:p>
            <a:r>
              <a:rPr lang="en-GB" dirty="0"/>
              <a:t>Analytics Is a Connected Process</a:t>
            </a:r>
            <a:endParaRPr lang="en-US" dirty="0"/>
          </a:p>
        </p:txBody>
      </p:sp>
      <p:sp>
        <p:nvSpPr>
          <p:cNvPr id="3" name="Content Placeholder 2">
            <a:extLst>
              <a:ext uri="{FF2B5EF4-FFF2-40B4-BE49-F238E27FC236}">
                <a16:creationId xmlns:a16="http://schemas.microsoft.com/office/drawing/2014/main" id="{DBB74CFF-8068-9093-0DB3-427FA9D01C70}"/>
              </a:ext>
            </a:extLst>
          </p:cNvPr>
          <p:cNvSpPr>
            <a:spLocks noGrp="1"/>
          </p:cNvSpPr>
          <p:nvPr>
            <p:ph idx="1"/>
          </p:nvPr>
        </p:nvSpPr>
        <p:spPr/>
        <p:txBody>
          <a:bodyPr/>
          <a:lstStyle/>
          <a:p>
            <a:r>
              <a:rPr lang="en-GB" dirty="0"/>
              <a:t>Description can support diagnosis, diagnosis can inform prediction, and all three can contribute to a recommendation.</a:t>
            </a:r>
            <a:endParaRPr lang="en-US" dirty="0"/>
          </a:p>
        </p:txBody>
      </p:sp>
      <p:sp>
        <p:nvSpPr>
          <p:cNvPr id="4" name="Rounded Rectangle 3">
            <a:extLst>
              <a:ext uri="{FF2B5EF4-FFF2-40B4-BE49-F238E27FC236}">
                <a16:creationId xmlns:a16="http://schemas.microsoft.com/office/drawing/2014/main" id="{4A782F88-38E0-4B72-24A8-1306D30D5582}"/>
              </a:ext>
            </a:extLst>
          </p:cNvPr>
          <p:cNvSpPr/>
          <p:nvPr/>
        </p:nvSpPr>
        <p:spPr>
          <a:xfrm>
            <a:off x="1148937" y="3352250"/>
            <a:ext cx="1840675" cy="9144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Descriptive</a:t>
            </a:r>
          </a:p>
        </p:txBody>
      </p:sp>
      <p:sp>
        <p:nvSpPr>
          <p:cNvPr id="7" name="Right Arrow 6">
            <a:extLst>
              <a:ext uri="{FF2B5EF4-FFF2-40B4-BE49-F238E27FC236}">
                <a16:creationId xmlns:a16="http://schemas.microsoft.com/office/drawing/2014/main" id="{8588D409-93BC-51D5-47E6-7F11165C0988}"/>
              </a:ext>
            </a:extLst>
          </p:cNvPr>
          <p:cNvSpPr/>
          <p:nvPr/>
        </p:nvSpPr>
        <p:spPr>
          <a:xfrm>
            <a:off x="3139043" y="3567134"/>
            <a:ext cx="558141"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6EAEB840-F944-BEEA-38E9-63C242B5BBF2}"/>
              </a:ext>
            </a:extLst>
          </p:cNvPr>
          <p:cNvSpPr/>
          <p:nvPr/>
        </p:nvSpPr>
        <p:spPr>
          <a:xfrm>
            <a:off x="3846615" y="3354530"/>
            <a:ext cx="1840675" cy="9144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Diagnostic</a:t>
            </a:r>
          </a:p>
        </p:txBody>
      </p:sp>
      <p:sp>
        <p:nvSpPr>
          <p:cNvPr id="9" name="Right Arrow 8">
            <a:extLst>
              <a:ext uri="{FF2B5EF4-FFF2-40B4-BE49-F238E27FC236}">
                <a16:creationId xmlns:a16="http://schemas.microsoft.com/office/drawing/2014/main" id="{6D3B2D4F-E522-6E84-5A49-48B9DD093CFA}"/>
              </a:ext>
            </a:extLst>
          </p:cNvPr>
          <p:cNvSpPr/>
          <p:nvPr/>
        </p:nvSpPr>
        <p:spPr>
          <a:xfrm>
            <a:off x="5836721" y="3569414"/>
            <a:ext cx="558141"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ounded Rectangle 9">
            <a:extLst>
              <a:ext uri="{FF2B5EF4-FFF2-40B4-BE49-F238E27FC236}">
                <a16:creationId xmlns:a16="http://schemas.microsoft.com/office/drawing/2014/main" id="{740115D1-850B-3AF9-77F6-E126493420F4}"/>
              </a:ext>
            </a:extLst>
          </p:cNvPr>
          <p:cNvSpPr/>
          <p:nvPr/>
        </p:nvSpPr>
        <p:spPr>
          <a:xfrm>
            <a:off x="6504710" y="3352250"/>
            <a:ext cx="1840675" cy="9144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Predictive</a:t>
            </a:r>
          </a:p>
        </p:txBody>
      </p:sp>
      <p:sp>
        <p:nvSpPr>
          <p:cNvPr id="11" name="Right Arrow 10">
            <a:extLst>
              <a:ext uri="{FF2B5EF4-FFF2-40B4-BE49-F238E27FC236}">
                <a16:creationId xmlns:a16="http://schemas.microsoft.com/office/drawing/2014/main" id="{26C186F5-3E52-E86C-00AF-9BB5162BA1B8}"/>
              </a:ext>
            </a:extLst>
          </p:cNvPr>
          <p:cNvSpPr/>
          <p:nvPr/>
        </p:nvSpPr>
        <p:spPr>
          <a:xfrm>
            <a:off x="8494816" y="3567134"/>
            <a:ext cx="558141"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11">
            <a:extLst>
              <a:ext uri="{FF2B5EF4-FFF2-40B4-BE49-F238E27FC236}">
                <a16:creationId xmlns:a16="http://schemas.microsoft.com/office/drawing/2014/main" id="{92ECBD38-13DC-59A9-C95E-2D7966D40DDC}"/>
              </a:ext>
            </a:extLst>
          </p:cNvPr>
          <p:cNvSpPr/>
          <p:nvPr/>
        </p:nvSpPr>
        <p:spPr>
          <a:xfrm>
            <a:off x="9202388" y="3331908"/>
            <a:ext cx="1840675" cy="9144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Prescriptive</a:t>
            </a:r>
          </a:p>
        </p:txBody>
      </p:sp>
    </p:spTree>
    <p:extLst>
      <p:ext uri="{BB962C8B-B14F-4D97-AF65-F5344CB8AC3E}">
        <p14:creationId xmlns:p14="http://schemas.microsoft.com/office/powerpoint/2010/main" val="80150852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F8D775-A112-9AF9-5D1F-F62BCE0203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DC6960-7901-AB28-CBA3-949C04823044}"/>
              </a:ext>
            </a:extLst>
          </p:cNvPr>
          <p:cNvSpPr>
            <a:spLocks noGrp="1"/>
          </p:cNvSpPr>
          <p:nvPr>
            <p:ph type="title"/>
          </p:nvPr>
        </p:nvSpPr>
        <p:spPr/>
        <p:txBody>
          <a:bodyPr/>
          <a:lstStyle/>
          <a:p>
            <a:r>
              <a:rPr lang="en-GB" dirty="0"/>
              <a:t>Real Analytical Work Is Rarely Linear</a:t>
            </a:r>
            <a:endParaRPr lang="en-US" dirty="0"/>
          </a:p>
        </p:txBody>
      </p:sp>
      <p:sp>
        <p:nvSpPr>
          <p:cNvPr id="3" name="Content Placeholder 2">
            <a:extLst>
              <a:ext uri="{FF2B5EF4-FFF2-40B4-BE49-F238E27FC236}">
                <a16:creationId xmlns:a16="http://schemas.microsoft.com/office/drawing/2014/main" id="{1BC90F12-59E9-B91B-B183-BF4016A59BD7}"/>
              </a:ext>
            </a:extLst>
          </p:cNvPr>
          <p:cNvSpPr>
            <a:spLocks noGrp="1"/>
          </p:cNvSpPr>
          <p:nvPr>
            <p:ph idx="1"/>
          </p:nvPr>
        </p:nvSpPr>
        <p:spPr/>
        <p:txBody>
          <a:bodyPr/>
          <a:lstStyle/>
          <a:p>
            <a:endParaRPr lang="en-US" dirty="0"/>
          </a:p>
        </p:txBody>
      </p:sp>
      <p:sp>
        <p:nvSpPr>
          <p:cNvPr id="10" name="Rounded Rectangle 9">
            <a:extLst>
              <a:ext uri="{FF2B5EF4-FFF2-40B4-BE49-F238E27FC236}">
                <a16:creationId xmlns:a16="http://schemas.microsoft.com/office/drawing/2014/main" id="{66CAA5F0-6E53-A555-1152-E733DCFDF09C}"/>
              </a:ext>
            </a:extLst>
          </p:cNvPr>
          <p:cNvSpPr/>
          <p:nvPr/>
        </p:nvSpPr>
        <p:spPr>
          <a:xfrm>
            <a:off x="7505699" y="2164843"/>
            <a:ext cx="1840675" cy="9144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Predictive</a:t>
            </a:r>
          </a:p>
        </p:txBody>
      </p:sp>
      <p:sp>
        <p:nvSpPr>
          <p:cNvPr id="11" name="Right Arrow 10">
            <a:extLst>
              <a:ext uri="{FF2B5EF4-FFF2-40B4-BE49-F238E27FC236}">
                <a16:creationId xmlns:a16="http://schemas.microsoft.com/office/drawing/2014/main" id="{DD0D4C3A-526C-76CB-F794-7165AB6441E1}"/>
              </a:ext>
            </a:extLst>
          </p:cNvPr>
          <p:cNvSpPr/>
          <p:nvPr/>
        </p:nvSpPr>
        <p:spPr>
          <a:xfrm rot="3743277">
            <a:off x="8881700" y="3260213"/>
            <a:ext cx="558141"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ounded Rectangle 3">
            <a:extLst>
              <a:ext uri="{FF2B5EF4-FFF2-40B4-BE49-F238E27FC236}">
                <a16:creationId xmlns:a16="http://schemas.microsoft.com/office/drawing/2014/main" id="{2A07DF87-DD44-BEA8-AA52-58A227E0FACD}"/>
              </a:ext>
            </a:extLst>
          </p:cNvPr>
          <p:cNvSpPr/>
          <p:nvPr/>
        </p:nvSpPr>
        <p:spPr>
          <a:xfrm>
            <a:off x="3488377" y="3925817"/>
            <a:ext cx="1840675" cy="9144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Descriptive</a:t>
            </a:r>
          </a:p>
        </p:txBody>
      </p:sp>
      <p:sp>
        <p:nvSpPr>
          <p:cNvPr id="7" name="Right Arrow 6">
            <a:extLst>
              <a:ext uri="{FF2B5EF4-FFF2-40B4-BE49-F238E27FC236}">
                <a16:creationId xmlns:a16="http://schemas.microsoft.com/office/drawing/2014/main" id="{90FB8E53-FB0C-259D-CD09-AFD9C3DD9245}"/>
              </a:ext>
            </a:extLst>
          </p:cNvPr>
          <p:cNvSpPr/>
          <p:nvPr/>
        </p:nvSpPr>
        <p:spPr>
          <a:xfrm>
            <a:off x="5478483" y="4140701"/>
            <a:ext cx="558141"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133E3A46-654D-3745-1B1B-F084CE632680}"/>
              </a:ext>
            </a:extLst>
          </p:cNvPr>
          <p:cNvSpPr/>
          <p:nvPr/>
        </p:nvSpPr>
        <p:spPr>
          <a:xfrm>
            <a:off x="6186055" y="3928097"/>
            <a:ext cx="1840675" cy="9144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Diagnostic</a:t>
            </a:r>
          </a:p>
        </p:txBody>
      </p:sp>
      <p:sp>
        <p:nvSpPr>
          <p:cNvPr id="9" name="Right Arrow 8">
            <a:extLst>
              <a:ext uri="{FF2B5EF4-FFF2-40B4-BE49-F238E27FC236}">
                <a16:creationId xmlns:a16="http://schemas.microsoft.com/office/drawing/2014/main" id="{FA98941D-8F63-F9AC-5CD5-3FAB4E59CC08}"/>
              </a:ext>
            </a:extLst>
          </p:cNvPr>
          <p:cNvSpPr/>
          <p:nvPr/>
        </p:nvSpPr>
        <p:spPr>
          <a:xfrm rot="18801083">
            <a:off x="7438542" y="3227008"/>
            <a:ext cx="558141"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11">
            <a:extLst>
              <a:ext uri="{FF2B5EF4-FFF2-40B4-BE49-F238E27FC236}">
                <a16:creationId xmlns:a16="http://schemas.microsoft.com/office/drawing/2014/main" id="{F000CD9E-121F-6BC0-0916-DBD2C2A662F2}"/>
              </a:ext>
            </a:extLst>
          </p:cNvPr>
          <p:cNvSpPr/>
          <p:nvPr/>
        </p:nvSpPr>
        <p:spPr>
          <a:xfrm>
            <a:off x="8883733" y="3925817"/>
            <a:ext cx="1840675" cy="9144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Prescriptive</a:t>
            </a:r>
          </a:p>
        </p:txBody>
      </p:sp>
      <p:sp>
        <p:nvSpPr>
          <p:cNvPr id="15" name="Magnetic Disk 14">
            <a:extLst>
              <a:ext uri="{FF2B5EF4-FFF2-40B4-BE49-F238E27FC236}">
                <a16:creationId xmlns:a16="http://schemas.microsoft.com/office/drawing/2014/main" id="{DDD59D53-0BF2-CBEC-7D6F-5D7CA63637DE}"/>
              </a:ext>
            </a:extLst>
          </p:cNvPr>
          <p:cNvSpPr/>
          <p:nvPr/>
        </p:nvSpPr>
        <p:spPr>
          <a:xfrm>
            <a:off x="1467592" y="4240264"/>
            <a:ext cx="1163782" cy="410595"/>
          </a:xfrm>
          <a:prstGeom prst="flowChartMagneticDisk">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a:t>
            </a:r>
          </a:p>
        </p:txBody>
      </p:sp>
      <p:sp>
        <p:nvSpPr>
          <p:cNvPr id="18" name="Right Arrow 17">
            <a:extLst>
              <a:ext uri="{FF2B5EF4-FFF2-40B4-BE49-F238E27FC236}">
                <a16:creationId xmlns:a16="http://schemas.microsoft.com/office/drawing/2014/main" id="{85C562E6-0EB2-6FF1-9937-9E86B58AF423}"/>
              </a:ext>
            </a:extLst>
          </p:cNvPr>
          <p:cNvSpPr/>
          <p:nvPr/>
        </p:nvSpPr>
        <p:spPr>
          <a:xfrm>
            <a:off x="2780805" y="4202358"/>
            <a:ext cx="558141"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 name="Group 18">
            <a:extLst>
              <a:ext uri="{FF2B5EF4-FFF2-40B4-BE49-F238E27FC236}">
                <a16:creationId xmlns:a16="http://schemas.microsoft.com/office/drawing/2014/main" id="{54595E51-A76C-EB48-AF77-7A2F954F66A6}"/>
              </a:ext>
            </a:extLst>
          </p:cNvPr>
          <p:cNvGrpSpPr/>
          <p:nvPr/>
        </p:nvGrpSpPr>
        <p:grpSpPr>
          <a:xfrm>
            <a:off x="5478483" y="2015504"/>
            <a:ext cx="1163782" cy="1108548"/>
            <a:chOff x="997527" y="4004676"/>
            <a:chExt cx="1163782" cy="1108548"/>
          </a:xfrm>
        </p:grpSpPr>
        <p:sp>
          <p:nvSpPr>
            <p:cNvPr id="20" name="Magnetic Disk 19">
              <a:extLst>
                <a:ext uri="{FF2B5EF4-FFF2-40B4-BE49-F238E27FC236}">
                  <a16:creationId xmlns:a16="http://schemas.microsoft.com/office/drawing/2014/main" id="{C75A93FE-8E1C-DE7F-3F48-024E6627F04B}"/>
                </a:ext>
              </a:extLst>
            </p:cNvPr>
            <p:cNvSpPr/>
            <p:nvPr/>
          </p:nvSpPr>
          <p:spPr>
            <a:xfrm>
              <a:off x="997527" y="4702629"/>
              <a:ext cx="1163782" cy="410595"/>
            </a:xfrm>
            <a:prstGeom prst="flowChartMagneticDisk">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Magnetic Disk 20">
              <a:extLst>
                <a:ext uri="{FF2B5EF4-FFF2-40B4-BE49-F238E27FC236}">
                  <a16:creationId xmlns:a16="http://schemas.microsoft.com/office/drawing/2014/main" id="{F5AB6600-3CE9-1A67-845B-C6554A26236F}"/>
                </a:ext>
              </a:extLst>
            </p:cNvPr>
            <p:cNvSpPr/>
            <p:nvPr/>
          </p:nvSpPr>
          <p:spPr>
            <a:xfrm>
              <a:off x="997527" y="4344931"/>
              <a:ext cx="1163782" cy="410595"/>
            </a:xfrm>
            <a:prstGeom prst="flowChartMagneticDisk">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a:t>
              </a:r>
            </a:p>
          </p:txBody>
        </p:sp>
        <p:sp>
          <p:nvSpPr>
            <p:cNvPr id="22" name="Magnetic Disk 21">
              <a:extLst>
                <a:ext uri="{FF2B5EF4-FFF2-40B4-BE49-F238E27FC236}">
                  <a16:creationId xmlns:a16="http://schemas.microsoft.com/office/drawing/2014/main" id="{B7DDCEDA-194C-3B5F-DD08-FD26C999F49E}"/>
                </a:ext>
              </a:extLst>
            </p:cNvPr>
            <p:cNvSpPr/>
            <p:nvPr/>
          </p:nvSpPr>
          <p:spPr>
            <a:xfrm>
              <a:off x="997527" y="4004676"/>
              <a:ext cx="1163782" cy="410595"/>
            </a:xfrm>
            <a:prstGeom prst="flowChartMagneticDisk">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3" name="Right Arrow 22">
            <a:extLst>
              <a:ext uri="{FF2B5EF4-FFF2-40B4-BE49-F238E27FC236}">
                <a16:creationId xmlns:a16="http://schemas.microsoft.com/office/drawing/2014/main" id="{1C945C0C-1E0E-1C8E-FFC4-B8AAFAEB88FE}"/>
              </a:ext>
            </a:extLst>
          </p:cNvPr>
          <p:cNvSpPr/>
          <p:nvPr/>
        </p:nvSpPr>
        <p:spPr>
          <a:xfrm>
            <a:off x="6791696" y="2369371"/>
            <a:ext cx="558141"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7491613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BC448-0E80-7EFF-4754-8229B404CA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416AE1-4E7C-4C41-76FF-F2538718C69D}"/>
              </a:ext>
            </a:extLst>
          </p:cNvPr>
          <p:cNvSpPr>
            <a:spLocks noGrp="1"/>
          </p:cNvSpPr>
          <p:nvPr>
            <p:ph type="title"/>
          </p:nvPr>
        </p:nvSpPr>
        <p:spPr/>
        <p:txBody>
          <a:bodyPr>
            <a:normAutofit/>
          </a:bodyPr>
          <a:lstStyle/>
          <a:p>
            <a:r>
              <a:rPr lang="en-GB" dirty="0"/>
              <a:t>More Complex ≠ More Valuable</a:t>
            </a:r>
            <a:endParaRPr lang="en-US" dirty="0"/>
          </a:p>
        </p:txBody>
      </p:sp>
      <p:sp>
        <p:nvSpPr>
          <p:cNvPr id="3" name="Content Placeholder 2">
            <a:extLst>
              <a:ext uri="{FF2B5EF4-FFF2-40B4-BE49-F238E27FC236}">
                <a16:creationId xmlns:a16="http://schemas.microsoft.com/office/drawing/2014/main" id="{7FFAA4CE-A3EC-AB3B-0675-93654EC1B928}"/>
              </a:ext>
            </a:extLst>
          </p:cNvPr>
          <p:cNvSpPr>
            <a:spLocks noGrp="1"/>
          </p:cNvSpPr>
          <p:nvPr>
            <p:ph idx="1"/>
          </p:nvPr>
        </p:nvSpPr>
        <p:spPr/>
        <p:txBody>
          <a:bodyPr>
            <a:normAutofit/>
          </a:bodyPr>
          <a:lstStyle/>
          <a:p>
            <a:r>
              <a:rPr lang="en-GB" dirty="0"/>
              <a:t>Much of the daily work in sport analytics involves:</a:t>
            </a:r>
          </a:p>
          <a:p>
            <a:pPr lvl="1"/>
            <a:r>
              <a:rPr lang="en-GB" dirty="0"/>
              <a:t>Collecting, cleaning, and organizing data </a:t>
            </a:r>
          </a:p>
          <a:p>
            <a:pPr lvl="1"/>
            <a:r>
              <a:rPr lang="en-GB" dirty="0"/>
              <a:t>Defining metrics consistently </a:t>
            </a:r>
          </a:p>
          <a:p>
            <a:pPr lvl="1"/>
            <a:r>
              <a:rPr lang="en-GB" dirty="0"/>
              <a:t>Identifying meaningful changes and patterns </a:t>
            </a:r>
          </a:p>
          <a:p>
            <a:pPr lvl="1"/>
            <a:r>
              <a:rPr lang="en-GB" dirty="0"/>
              <a:t>Communicating findings to decision-makers </a:t>
            </a:r>
          </a:p>
          <a:p>
            <a:pPr lvl="1"/>
            <a:endParaRPr lang="en-GB" dirty="0"/>
          </a:p>
          <a:p>
            <a:pPr marL="0" indent="0">
              <a:buNone/>
            </a:pPr>
            <a:r>
              <a:rPr lang="en-GB" dirty="0"/>
              <a:t>Predictive models can be valuable, but only when they address a real decision and are supported by reliable foundational work.</a:t>
            </a:r>
          </a:p>
        </p:txBody>
      </p:sp>
    </p:spTree>
    <p:extLst>
      <p:ext uri="{BB962C8B-B14F-4D97-AF65-F5344CB8AC3E}">
        <p14:creationId xmlns:p14="http://schemas.microsoft.com/office/powerpoint/2010/main" val="232933683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FD6EB5-FEC2-47DE-01A3-F0E170543F3C}"/>
              </a:ext>
            </a:extLst>
          </p:cNvPr>
          <p:cNvSpPr>
            <a:spLocks noGrp="1"/>
          </p:cNvSpPr>
          <p:nvPr>
            <p:ph type="title"/>
          </p:nvPr>
        </p:nvSpPr>
        <p:spPr/>
        <p:txBody>
          <a:bodyPr>
            <a:normAutofit/>
          </a:bodyPr>
          <a:lstStyle/>
          <a:p>
            <a:r>
              <a:rPr lang="en-GB"/>
              <a:t>Summary &amp; Looking Ahead</a:t>
            </a:r>
            <a:endParaRPr lang="en-US"/>
          </a:p>
        </p:txBody>
      </p:sp>
      <p:sp>
        <p:nvSpPr>
          <p:cNvPr id="3" name="Content Placeholder 2">
            <a:extLst>
              <a:ext uri="{FF2B5EF4-FFF2-40B4-BE49-F238E27FC236}">
                <a16:creationId xmlns:a16="http://schemas.microsoft.com/office/drawing/2014/main" id="{B7781857-C6C4-CF29-7D9F-C7FCD74ECA0D}"/>
              </a:ext>
            </a:extLst>
          </p:cNvPr>
          <p:cNvSpPr>
            <a:spLocks noGrp="1"/>
          </p:cNvSpPr>
          <p:nvPr>
            <p:ph idx="1"/>
          </p:nvPr>
        </p:nvSpPr>
        <p:spPr/>
        <p:txBody>
          <a:bodyPr/>
          <a:lstStyle/>
          <a:p>
            <a:pPr lvl="0"/>
            <a:r>
              <a:rPr lang="en-GB" dirty="0"/>
              <a:t>The three domains describe where sport analytics is applied. </a:t>
            </a:r>
          </a:p>
          <a:p>
            <a:pPr lvl="0"/>
            <a:r>
              <a:rPr lang="en-GB" dirty="0"/>
              <a:t>Descriptive, diagnostic, predictive, and prescriptive questions describe what the analysis is intended to accomplish.</a:t>
            </a:r>
          </a:p>
          <a:p>
            <a:r>
              <a:rPr lang="en-US" dirty="0"/>
              <a:t>Next: Turning practitioner concerns into clear, testable analytical questions</a:t>
            </a:r>
          </a:p>
        </p:txBody>
      </p:sp>
    </p:spTree>
    <p:extLst>
      <p:ext uri="{BB962C8B-B14F-4D97-AF65-F5344CB8AC3E}">
        <p14:creationId xmlns:p14="http://schemas.microsoft.com/office/powerpoint/2010/main" val="220669215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D610FF-6703-8068-7ABF-ED20489ECABF}"/>
              </a:ext>
            </a:extLst>
          </p:cNvPr>
          <p:cNvSpPr>
            <a:spLocks noGrp="1"/>
          </p:cNvSpPr>
          <p:nvPr>
            <p:ph type="title"/>
          </p:nvPr>
        </p:nvSpPr>
        <p:spPr/>
        <p:txBody>
          <a:bodyPr/>
          <a:lstStyle/>
          <a:p>
            <a:r>
              <a:rPr lang="en-US" dirty="0"/>
              <a:t>Scenarios </a:t>
            </a:r>
          </a:p>
        </p:txBody>
      </p:sp>
      <p:sp>
        <p:nvSpPr>
          <p:cNvPr id="3" name="Content Placeholder 2">
            <a:extLst>
              <a:ext uri="{FF2B5EF4-FFF2-40B4-BE49-F238E27FC236}">
                <a16:creationId xmlns:a16="http://schemas.microsoft.com/office/drawing/2014/main" id="{63906137-364A-DE22-57E2-CF9CEDECC6B1}"/>
              </a:ext>
            </a:extLst>
          </p:cNvPr>
          <p:cNvSpPr>
            <a:spLocks noGrp="1"/>
          </p:cNvSpPr>
          <p:nvPr>
            <p:ph idx="1"/>
          </p:nvPr>
        </p:nvSpPr>
        <p:spPr/>
        <p:txBody>
          <a:bodyPr>
            <a:normAutofit/>
          </a:bodyPr>
          <a:lstStyle/>
          <a:p>
            <a:r>
              <a:rPr lang="en-GB" dirty="0"/>
              <a:t>A basketball player completed considerably more high-intensity work than usual during the previous three days. The player needs to be ready for a game tomorrow.</a:t>
            </a:r>
          </a:p>
          <a:p>
            <a:r>
              <a:rPr lang="en-GB" dirty="0"/>
              <a:t>A basketball prospect scores 22 points per game. Your team is deciding whether to select the player in the first round of the draft.</a:t>
            </a:r>
          </a:p>
          <a:p>
            <a:r>
              <a:rPr lang="en-GB" dirty="0"/>
              <a:t>A soccer team has allowed five goals during its last four matches. How should the team prepare to play their next opponent.</a:t>
            </a:r>
            <a:endParaRPr lang="en-US" dirty="0"/>
          </a:p>
        </p:txBody>
      </p:sp>
    </p:spTree>
    <p:extLst>
      <p:ext uri="{BB962C8B-B14F-4D97-AF65-F5344CB8AC3E}">
        <p14:creationId xmlns:p14="http://schemas.microsoft.com/office/powerpoint/2010/main" val="126701288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75FA4-E434-23A9-7B99-775F67F02828}"/>
              </a:ext>
            </a:extLst>
          </p:cNvPr>
          <p:cNvSpPr>
            <a:spLocks noGrp="1"/>
          </p:cNvSpPr>
          <p:nvPr>
            <p:ph type="title"/>
          </p:nvPr>
        </p:nvSpPr>
        <p:spPr/>
        <p:txBody>
          <a:bodyPr/>
          <a:lstStyle/>
          <a:p>
            <a:r>
              <a:rPr lang="en-GB" dirty="0"/>
              <a:t>Analytics Chain Group Activity</a:t>
            </a:r>
            <a:endParaRPr lang="en-US" dirty="0"/>
          </a:p>
        </p:txBody>
      </p:sp>
      <p:sp>
        <p:nvSpPr>
          <p:cNvPr id="3" name="Content Placeholder 2">
            <a:extLst>
              <a:ext uri="{FF2B5EF4-FFF2-40B4-BE49-F238E27FC236}">
                <a16:creationId xmlns:a16="http://schemas.microsoft.com/office/drawing/2014/main" id="{AA6FD731-E03D-15A3-6104-3691E3E5E0BE}"/>
              </a:ext>
            </a:extLst>
          </p:cNvPr>
          <p:cNvSpPr>
            <a:spLocks noGrp="1"/>
          </p:cNvSpPr>
          <p:nvPr>
            <p:ph idx="1"/>
          </p:nvPr>
        </p:nvSpPr>
        <p:spPr/>
        <p:txBody>
          <a:bodyPr/>
          <a:lstStyle/>
          <a:p>
            <a:r>
              <a:rPr lang="en-GB" dirty="0"/>
              <a:t>Working with your group, read the assigned scenario and create a four-step analytics chain:</a:t>
            </a:r>
          </a:p>
          <a:p>
            <a:pPr lvl="1"/>
            <a:r>
              <a:rPr lang="en-GB" dirty="0"/>
              <a:t>Descriptive: State what happened.</a:t>
            </a:r>
          </a:p>
          <a:p>
            <a:pPr lvl="1"/>
            <a:r>
              <a:rPr lang="en-GB" dirty="0"/>
              <a:t>Diagnostic: Identify the most likely reason it happened.</a:t>
            </a:r>
          </a:p>
          <a:p>
            <a:pPr lvl="1"/>
            <a:r>
              <a:rPr lang="en-GB" dirty="0"/>
              <a:t>Predictive: Explain what could happen next if nothing changes.</a:t>
            </a:r>
          </a:p>
          <a:p>
            <a:pPr lvl="1"/>
            <a:r>
              <a:rPr lang="en-GB" dirty="0"/>
              <a:t>Prescriptive: Recommend what the team should do.</a:t>
            </a:r>
          </a:p>
          <a:p>
            <a:r>
              <a:rPr lang="en-GB" dirty="0"/>
              <a:t>Write one clear sentence for each step.</a:t>
            </a:r>
          </a:p>
          <a:p>
            <a:endParaRPr lang="en-US" dirty="0"/>
          </a:p>
        </p:txBody>
      </p:sp>
    </p:spTree>
    <p:extLst>
      <p:ext uri="{BB962C8B-B14F-4D97-AF65-F5344CB8AC3E}">
        <p14:creationId xmlns:p14="http://schemas.microsoft.com/office/powerpoint/2010/main" val="378530417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F4149-77C5-51D6-6364-A5DC1666CA69}"/>
              </a:ext>
            </a:extLst>
          </p:cNvPr>
          <p:cNvSpPr>
            <a:spLocks noGrp="1"/>
          </p:cNvSpPr>
          <p:nvPr>
            <p:ph type="title"/>
          </p:nvPr>
        </p:nvSpPr>
        <p:spPr/>
        <p:txBody>
          <a:bodyPr/>
          <a:lstStyle/>
          <a:p>
            <a:r>
              <a:rPr lang="en-US" dirty="0"/>
              <a:t>Example </a:t>
            </a:r>
          </a:p>
        </p:txBody>
      </p:sp>
      <p:sp>
        <p:nvSpPr>
          <p:cNvPr id="3" name="Content Placeholder 2">
            <a:extLst>
              <a:ext uri="{FF2B5EF4-FFF2-40B4-BE49-F238E27FC236}">
                <a16:creationId xmlns:a16="http://schemas.microsoft.com/office/drawing/2014/main" id="{F4AC8398-083C-ED0D-65C7-FA16DBE6BCED}"/>
              </a:ext>
            </a:extLst>
          </p:cNvPr>
          <p:cNvSpPr>
            <a:spLocks noGrp="1"/>
          </p:cNvSpPr>
          <p:nvPr>
            <p:ph idx="1"/>
          </p:nvPr>
        </p:nvSpPr>
        <p:spPr/>
        <p:txBody>
          <a:bodyPr/>
          <a:lstStyle/>
          <a:p>
            <a:r>
              <a:rPr lang="en-GB" b="1" dirty="0"/>
              <a:t>Domain:</a:t>
            </a:r>
            <a:r>
              <a:rPr lang="en-GB" dirty="0"/>
              <a:t> Athlete monitoring</a:t>
            </a:r>
          </a:p>
          <a:p>
            <a:r>
              <a:rPr lang="en-GB" b="1" dirty="0"/>
              <a:t>Decision:</a:t>
            </a:r>
            <a:r>
              <a:rPr lang="en-GB" dirty="0"/>
              <a:t> Should a player’s training load be reduced today?</a:t>
            </a:r>
          </a:p>
          <a:p>
            <a:pPr lvl="1"/>
            <a:r>
              <a:rPr lang="en-GB" b="1" dirty="0"/>
              <a:t>Descriptive:</a:t>
            </a:r>
            <a:r>
              <a:rPr lang="en-GB" dirty="0"/>
              <a:t> The player completed substantially more high-intensity work than usual during the previous three days. </a:t>
            </a:r>
          </a:p>
          <a:p>
            <a:pPr lvl="1"/>
            <a:r>
              <a:rPr lang="en-GB" b="1" dirty="0"/>
              <a:t>Diagnostic:</a:t>
            </a:r>
            <a:r>
              <a:rPr lang="en-GB" dirty="0"/>
              <a:t> The increase resulted from additional drill repetitions and reduced recovery time. </a:t>
            </a:r>
          </a:p>
          <a:p>
            <a:pPr lvl="1"/>
            <a:r>
              <a:rPr lang="en-GB" b="1" dirty="0"/>
              <a:t>Predictive:</a:t>
            </a:r>
            <a:r>
              <a:rPr lang="en-GB" dirty="0"/>
              <a:t> Maintaining the planned load may increase the probability of poor performance or incomplete recovery tomorrow. </a:t>
            </a:r>
          </a:p>
          <a:p>
            <a:pPr lvl="1"/>
            <a:r>
              <a:rPr lang="en-GB" b="1" dirty="0"/>
              <a:t>Prescriptive:</a:t>
            </a:r>
            <a:r>
              <a:rPr lang="en-GB" dirty="0"/>
              <a:t> Reduce today’s high-intensity volume while maintaining lower-intensity tactical participation.</a:t>
            </a:r>
          </a:p>
          <a:p>
            <a:endParaRPr lang="en-US" dirty="0"/>
          </a:p>
        </p:txBody>
      </p:sp>
    </p:spTree>
    <p:extLst>
      <p:ext uri="{BB962C8B-B14F-4D97-AF65-F5344CB8AC3E}">
        <p14:creationId xmlns:p14="http://schemas.microsoft.com/office/powerpoint/2010/main" val="106904780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E6F538-931D-AD45-9EA7-DADA26B90B42}"/>
              </a:ext>
            </a:extLst>
          </p:cNvPr>
          <p:cNvSpPr>
            <a:spLocks noGrp="1"/>
          </p:cNvSpPr>
          <p:nvPr>
            <p:ph type="title"/>
          </p:nvPr>
        </p:nvSpPr>
        <p:spPr/>
        <p:txBody>
          <a:bodyPr>
            <a:noAutofit/>
          </a:bodyPr>
          <a:lstStyle/>
          <a:p>
            <a:r>
              <a:rPr lang="en-GB" sz="3600" dirty="0"/>
              <a:t>A basketball team has lost four of its last five games.</a:t>
            </a:r>
            <a:endParaRPr lang="en-US" sz="3600" dirty="0"/>
          </a:p>
        </p:txBody>
      </p:sp>
      <p:sp>
        <p:nvSpPr>
          <p:cNvPr id="3" name="Content Placeholder 2">
            <a:extLst>
              <a:ext uri="{FF2B5EF4-FFF2-40B4-BE49-F238E27FC236}">
                <a16:creationId xmlns:a16="http://schemas.microsoft.com/office/drawing/2014/main" id="{8B9E355C-4F74-80F1-6425-3FB7EAE6B2E6}"/>
              </a:ext>
            </a:extLst>
          </p:cNvPr>
          <p:cNvSpPr>
            <a:spLocks noGrp="1"/>
          </p:cNvSpPr>
          <p:nvPr>
            <p:ph idx="1"/>
          </p:nvPr>
        </p:nvSpPr>
        <p:spPr/>
        <p:txBody>
          <a:bodyPr/>
          <a:lstStyle/>
          <a:p>
            <a:pPr marL="0" indent="0" algn="ctr">
              <a:buNone/>
            </a:pPr>
            <a:r>
              <a:rPr lang="en-US" dirty="0"/>
              <a:t>Coach asks, “what is going on??”. How do we tackle this as the analyst?</a:t>
            </a:r>
          </a:p>
        </p:txBody>
      </p:sp>
    </p:spTree>
    <p:extLst>
      <p:ext uri="{BB962C8B-B14F-4D97-AF65-F5344CB8AC3E}">
        <p14:creationId xmlns:p14="http://schemas.microsoft.com/office/powerpoint/2010/main" val="42564485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0AF3649-84EF-73B3-DB78-3A8C58E5C2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013837-791B-5F03-753D-2E5EA52C17EF}"/>
              </a:ext>
            </a:extLst>
          </p:cNvPr>
          <p:cNvSpPr>
            <a:spLocks noGrp="1"/>
          </p:cNvSpPr>
          <p:nvPr>
            <p:ph type="title"/>
          </p:nvPr>
        </p:nvSpPr>
        <p:spPr/>
        <p:txBody>
          <a:bodyPr/>
          <a:lstStyle/>
          <a:p>
            <a:r>
              <a:rPr lang="en-US" dirty="0"/>
              <a:t>Scenarios </a:t>
            </a:r>
          </a:p>
        </p:txBody>
      </p:sp>
      <p:sp>
        <p:nvSpPr>
          <p:cNvPr id="3" name="Content Placeholder 2">
            <a:extLst>
              <a:ext uri="{FF2B5EF4-FFF2-40B4-BE49-F238E27FC236}">
                <a16:creationId xmlns:a16="http://schemas.microsoft.com/office/drawing/2014/main" id="{B4D682D1-FE5C-EC9F-1DA5-C852D5D53B85}"/>
              </a:ext>
            </a:extLst>
          </p:cNvPr>
          <p:cNvSpPr>
            <a:spLocks noGrp="1"/>
          </p:cNvSpPr>
          <p:nvPr>
            <p:ph idx="1"/>
          </p:nvPr>
        </p:nvSpPr>
        <p:spPr/>
        <p:txBody>
          <a:bodyPr>
            <a:normAutofit fontScale="92500" lnSpcReduction="10000"/>
          </a:bodyPr>
          <a:lstStyle/>
          <a:p>
            <a:r>
              <a:rPr lang="en-GB" dirty="0"/>
              <a:t>A basketball player completed considerably more high-intensity work than usual during the previous three days. The coaching staff added extra drill repetitions and shortened the recovery periods between drills. The player has an important game tomorrow.</a:t>
            </a:r>
          </a:p>
          <a:p>
            <a:r>
              <a:rPr lang="en-GB" dirty="0"/>
              <a:t>A basketball prospect scores 22 points per game, but most of those points come against weaker opponents. Against highly ranked teams, the player’s scoring efficiency and assists decrease while turnovers increase. Your team is deciding whether to select the player in the first round of the draft.</a:t>
            </a:r>
          </a:p>
          <a:p>
            <a:r>
              <a:rPr lang="en-GB" dirty="0"/>
              <a:t>A soccer team has allowed five goals during its last four matches. Four of the goals occurred after the team lost possession while its fullbacks were positioned high up the field. The team is preparing to play an opponent with fast attacking players.</a:t>
            </a:r>
            <a:endParaRPr lang="en-US" dirty="0"/>
          </a:p>
        </p:txBody>
      </p:sp>
    </p:spTree>
    <p:extLst>
      <p:ext uri="{BB962C8B-B14F-4D97-AF65-F5344CB8AC3E}">
        <p14:creationId xmlns:p14="http://schemas.microsoft.com/office/powerpoint/2010/main" val="226433733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2801</TotalTime>
  <Words>1960</Words>
  <Application>Microsoft Macintosh PowerPoint</Application>
  <PresentationFormat>Widescreen</PresentationFormat>
  <Paragraphs>280</Paragraphs>
  <Slides>33</Slides>
  <Notes>10</Notes>
  <HiddenSlides>5</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33</vt:i4>
      </vt:variant>
    </vt:vector>
  </HeadingPairs>
  <TitlesOfParts>
    <vt:vector size="38" baseType="lpstr">
      <vt:lpstr>Aptos</vt:lpstr>
      <vt:lpstr>Aptos Display</vt:lpstr>
      <vt:lpstr>Arial</vt:lpstr>
      <vt:lpstr>Fira Sans</vt:lpstr>
      <vt:lpstr>Office Theme</vt:lpstr>
      <vt:lpstr>The Three Domains: Scouting, Tracking, and Strategy</vt:lpstr>
      <vt:lpstr>PowerPoint Presentation</vt:lpstr>
      <vt:lpstr>Overview</vt:lpstr>
      <vt:lpstr>Domains and the Different Decision Environments</vt:lpstr>
      <vt:lpstr>Sport Analytics Begins With a Decision</vt:lpstr>
      <vt:lpstr>Domain 1: Scouting &amp; Talent Evaluation</vt:lpstr>
      <vt:lpstr>Evaluation Depends on the Reference Point</vt:lpstr>
      <vt:lpstr>Evidence From Different Sources</vt:lpstr>
      <vt:lpstr>Domain 2: Athlete Tracking and Monitoring</vt:lpstr>
      <vt:lpstr>Tracking Connects the Training Plan, Completed Work, and Athlete Response</vt:lpstr>
      <vt:lpstr>Monitoring Data Requires Interpretation</vt:lpstr>
      <vt:lpstr>Domain 3: Strategy &amp; Tactical Analysis</vt:lpstr>
      <vt:lpstr>Situational Context and Game Event </vt:lpstr>
      <vt:lpstr>PowerPoint Presentation</vt:lpstr>
      <vt:lpstr>Developing an Analytical Question</vt:lpstr>
      <vt:lpstr>Analytical Questions Serve Different Purposes</vt:lpstr>
      <vt:lpstr>Four Types of Analytical Questions</vt:lpstr>
      <vt:lpstr>Descriptive Analytics</vt:lpstr>
      <vt:lpstr>Diagnostic Analytics</vt:lpstr>
      <vt:lpstr>Spurious correlation</vt:lpstr>
      <vt:lpstr>Predictive Analytics</vt:lpstr>
      <vt:lpstr>Prescriptive Analytics</vt:lpstr>
      <vt:lpstr>Turning a Concern Into Analytical Questions</vt:lpstr>
      <vt:lpstr>Analytics Chain in Each Domain</vt:lpstr>
      <vt:lpstr>Analytics Is a Connected Process</vt:lpstr>
      <vt:lpstr>Real Analytical Work Is Rarely Linear</vt:lpstr>
      <vt:lpstr>More Complex ≠ More Valuable</vt:lpstr>
      <vt:lpstr>Summary &amp; Looking Ahead</vt:lpstr>
      <vt:lpstr>Scenarios </vt:lpstr>
      <vt:lpstr>Analytics Chain Group Activity</vt:lpstr>
      <vt:lpstr>Example </vt:lpstr>
      <vt:lpstr>A basketball team has lost four of its last five games.</vt:lpstr>
      <vt:lpstr>Scenarios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Onishi, Saryu</dc:creator>
  <cp:lastModifiedBy>Onishi, Saryu</cp:lastModifiedBy>
  <cp:revision>16</cp:revision>
  <dcterms:created xsi:type="dcterms:W3CDTF">2026-08-17T13:48:23Z</dcterms:created>
  <dcterms:modified xsi:type="dcterms:W3CDTF">2026-09-01T15:17:46Z</dcterms:modified>
</cp:coreProperties>
</file>